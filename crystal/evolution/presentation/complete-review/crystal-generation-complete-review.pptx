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4.xml" ContentType="application/vnd.openxmlformats-officedocument.drawingml.chart+xml"/>
  <Override PartName="/ppt/notesSlides/notesSlide26.xml" ContentType="application/vnd.openxmlformats-officedocument.presentationml.notesSlide+xml"/>
  <Override PartName="/ppt/charts/chart5.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6.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7.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A原子</c:v>
          </c:tx>
          <c:spPr>
            <a:ln w="0">
              <a:noFill/>
            </a:ln>
          </c:spPr>
          <c:marker>
            <c:symbol val="circle"/>
            <c:size val="12"/>
            <c:spPr>
              <a:solidFill>
                <a:srgbClr val="173E67"/>
              </a:solidFill>
            </c:spPr>
          </c:marker>
          <c:xVal>
            <c:numRef>
              <c:f>'Chart Data'!$A$2:$A$5</c:f>
              <c:numCache>
                <c:formatCode>General</c:formatCode>
                <c:ptCount val="4"/>
                <c:pt idx="0">
                  <c:v>0.05</c:v>
                </c:pt>
                <c:pt idx="1">
                  <c:v>1.05</c:v>
                </c:pt>
                <c:pt idx="2">
                  <c:v>0.05</c:v>
                </c:pt>
                <c:pt idx="3">
                  <c:v>1.05</c:v>
                </c:pt>
              </c:numCache>
            </c:numRef>
          </c:xVal>
          <c:yVal>
            <c:numRef>
              <c:f>'Chart Data'!$B$2:$B$5</c:f>
              <c:numCache>
                <c:formatCode>0</c:formatCode>
                <c:ptCount val="4"/>
                <c:pt idx="0">
                  <c:v>0.2</c:v>
                </c:pt>
                <c:pt idx="1">
                  <c:v>0.2</c:v>
                </c:pt>
                <c:pt idx="2">
                  <c:v>1.2</c:v>
                </c:pt>
                <c:pt idx="3">
                  <c:v>1.2</c:v>
                </c:pt>
              </c:numCache>
            </c:numRef>
          </c:yVal>
          <c:smooth val="1"/>
          <c:extLst>
            <c:ext xmlns:c16="http://schemas.microsoft.com/office/drawing/2014/chart" uri="{C3380CC4-5D6E-409C-BE32-E72D297353CC}">
              <c16:uniqueId val="{00000000-84AC-469E-8EB3-3681D3069F46}"/>
            </c:ext>
          </c:extLst>
        </c:ser>
        <c:ser>
          <c:idx val="1"/>
          <c:order val="1"/>
          <c:tx>
            <c:v>B原子</c:v>
          </c:tx>
          <c:spPr>
            <a:ln w="0">
              <a:noFill/>
            </a:ln>
          </c:spPr>
          <c:marker>
            <c:symbol val="circle"/>
            <c:size val="12"/>
            <c:spPr>
              <a:solidFill>
                <a:srgbClr val="A3664E"/>
              </a:solidFill>
            </c:spPr>
          </c:marker>
          <c:xVal>
            <c:numRef>
              <c:f>'Chart Data'!$C$2:$C$5</c:f>
              <c:numCache>
                <c:formatCode>General</c:formatCode>
                <c:ptCount val="4"/>
                <c:pt idx="0">
                  <c:v>0.95</c:v>
                </c:pt>
                <c:pt idx="1">
                  <c:v>1.95</c:v>
                </c:pt>
                <c:pt idx="2">
                  <c:v>0.95</c:v>
                </c:pt>
                <c:pt idx="3">
                  <c:v>1.95</c:v>
                </c:pt>
              </c:numCache>
            </c:numRef>
          </c:xVal>
          <c:yVal>
            <c:numRef>
              <c:f>'Chart Data'!$D$2:$D$5</c:f>
              <c:numCache>
                <c:formatCode>0</c:formatCode>
                <c:ptCount val="4"/>
                <c:pt idx="0">
                  <c:v>0.2</c:v>
                </c:pt>
                <c:pt idx="1">
                  <c:v>0.2</c:v>
                </c:pt>
                <c:pt idx="2">
                  <c:v>1.2</c:v>
                </c:pt>
                <c:pt idx="3">
                  <c:v>1.2</c:v>
                </c:pt>
              </c:numCache>
            </c:numRef>
          </c:yVal>
          <c:smooth val="1"/>
          <c:extLst>
            <c:ext xmlns:c16="http://schemas.microsoft.com/office/drawing/2014/chart" uri="{C3380CC4-5D6E-409C-BE32-E72D297353CC}">
              <c16:uniqueId val="{00000001-84AC-469E-8EB3-3681D3069F46}"/>
            </c:ext>
          </c:extLst>
        </c:ser>
        <c:dLbls>
          <c:showLegendKey val="0"/>
          <c:showVal val="0"/>
          <c:showCatName val="0"/>
          <c:showSerName val="0"/>
          <c:showPercent val="0"/>
          <c:showBubbleSize val="0"/>
        </c:dLbls>
        <c:axId val="48650112"/>
        <c:axId val="48672768"/>
      </c:scatterChart>
      <c:valAx>
        <c:axId val="48672768"/>
        <c:scaling>
          <c:orientation val="minMax"/>
          <c:max val="2"/>
          <c:min val="0"/>
        </c:scaling>
        <c:delete val="0"/>
        <c:axPos val="l"/>
        <c:majorGridlines>
          <c:spPr>
            <a:ln w="9525">
              <a:solidFill>
                <a:srgbClr val="D5DCE3"/>
              </a:solidFill>
            </a:ln>
          </c:spPr>
        </c:majorGridlines>
        <c:numFmt formatCode="0"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50112"/>
        <c:crossesAt val="0"/>
        <c:crossBetween val="midCat"/>
        <c:majorUnit val="1"/>
      </c:valAx>
      <c:valAx>
        <c:axId val="48650112"/>
        <c:scaling>
          <c:orientation val="minMax"/>
          <c:max val="2"/>
          <c:min val="0"/>
        </c:scaling>
        <c:delete val="0"/>
        <c:axPos val="b"/>
        <c:majorGridlines>
          <c:spPr>
            <a:ln w="9525">
              <a:solidFill>
                <a:srgbClr val="D5DCE3"/>
              </a:solidFill>
            </a:ln>
          </c:spPr>
        </c:majorGridlines>
        <c:numFmt formatCode="General" sourceLinked="1"/>
        <c:majorTickMark val="none"/>
        <c:minorTickMark val="none"/>
        <c:tickLblPos val="low"/>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crossBetween val="midCat"/>
        <c:majorUnit val="1"/>
      </c:valAx>
      <c:spPr>
        <a:solidFill>
          <a:srgbClr val="FFFFFF"/>
        </a:solidFill>
        <a:ln w="0">
          <a:noFill/>
        </a:ln>
      </c:spPr>
    </c:plotArea>
    <c:legend>
      <c:legendPos val="b"/>
      <c:overlay val="0"/>
      <c:txPr>
        <a:bodyPr anchorCtr="1"/>
        <a:lstStyle/>
        <a:p>
          <a:pPr>
            <a:defRPr sz="1425">
              <a:solidFill>
                <a:srgbClr val="1B2533"/>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0"/>
        <c:ser>
          <c:idx val="0"/>
          <c:order val="0"/>
          <c:tx>
            <c:v>固定参考包</c:v>
          </c:tx>
          <c:spPr>
            <a:ln w="21908">
              <a:solidFill>
                <a:srgbClr val="6B7C8C"/>
              </a:solidFill>
            </a:ln>
          </c:spPr>
          <c:marker>
            <c:symbol val="circle"/>
            <c:size val="7"/>
            <c:spPr>
              <a:solidFill>
                <a:srgbClr val="6B7C8C"/>
              </a:solidFill>
            </c:spPr>
          </c:marker>
          <c:xVal>
            <c:numRef>
              <c:f>'Chart Data'!$A$2:$A$6</c:f>
              <c:numCache>
                <c:formatCode>General</c:formatCode>
                <c:ptCount val="5"/>
                <c:pt idx="0">
                  <c:v>0</c:v>
                </c:pt>
                <c:pt idx="1">
                  <c:v>0.25</c:v>
                </c:pt>
                <c:pt idx="2">
                  <c:v>0.5</c:v>
                </c:pt>
                <c:pt idx="3">
                  <c:v>0.75</c:v>
                </c:pt>
                <c:pt idx="4">
                  <c:v>1</c:v>
                </c:pt>
              </c:numCache>
            </c:numRef>
          </c:xVal>
          <c:yVal>
            <c:numRef>
              <c:f>'Chart Data'!$B$2:$B$6</c:f>
              <c:numCache>
                <c:formatCode>0.0</c:formatCode>
                <c:ptCount val="5"/>
                <c:pt idx="0">
                  <c:v>0</c:v>
                </c:pt>
                <c:pt idx="1">
                  <c:v>-0.3</c:v>
                </c:pt>
                <c:pt idx="2">
                  <c:v>-0.5</c:v>
                </c:pt>
                <c:pt idx="3">
                  <c:v>-0.3</c:v>
                </c:pt>
                <c:pt idx="4">
                  <c:v>0</c:v>
                </c:pt>
              </c:numCache>
            </c:numRef>
          </c:yVal>
          <c:smooth val="0"/>
          <c:extLst>
            <c:ext xmlns:c16="http://schemas.microsoft.com/office/drawing/2014/chart" uri="{C3380CC4-5D6E-409C-BE32-E72D297353CC}">
              <c16:uniqueId val="{00000000-E124-4A69-924C-739166648D5F}"/>
            </c:ext>
          </c:extLst>
        </c:ser>
        <c:ser>
          <c:idx val="1"/>
          <c:order val="1"/>
          <c:tx>
            <c:v>新候选</c:v>
          </c:tx>
          <c:marker>
            <c:symbol val="diamond"/>
            <c:size val="12"/>
            <c:spPr>
              <a:solidFill>
                <a:srgbClr val="173E67"/>
              </a:solidFill>
            </c:spPr>
          </c:marker>
          <c:xVal>
            <c:numRef>
              <c:f>'Chart Data'!$C$2:$C$2</c:f>
              <c:numCache>
                <c:formatCode>General</c:formatCode>
                <c:ptCount val="1"/>
                <c:pt idx="0">
                  <c:v>0.333333333333</c:v>
                </c:pt>
              </c:numCache>
            </c:numRef>
          </c:xVal>
          <c:yVal>
            <c:numRef>
              <c:f>'Chart Data'!$D$2:$D$2</c:f>
              <c:numCache>
                <c:formatCode>0.0</c:formatCode>
                <c:ptCount val="1"/>
                <c:pt idx="0">
                  <c:v>-0.45</c:v>
                </c:pt>
              </c:numCache>
            </c:numRef>
          </c:yVal>
          <c:smooth val="0"/>
          <c:extLst>
            <c:ext xmlns:c16="http://schemas.microsoft.com/office/drawing/2014/chart" uri="{C3380CC4-5D6E-409C-BE32-E72D297353CC}">
              <c16:uniqueId val="{00000001-E124-4A69-924C-739166648D5F}"/>
            </c:ext>
          </c:extLst>
        </c:ser>
        <c:ser>
          <c:idx val="2"/>
          <c:order val="2"/>
          <c:tx>
            <c:v>较高能多晶型</c:v>
          </c:tx>
          <c:marker>
            <c:symbol val="square"/>
            <c:size val="10"/>
            <c:spPr>
              <a:solidFill>
                <a:srgbClr val="A3664E"/>
              </a:solidFill>
            </c:spPr>
          </c:marker>
          <c:xVal>
            <c:numRef>
              <c:f>'Chart Data'!$E$2:$E$2</c:f>
              <c:numCache>
                <c:formatCode>General</c:formatCode>
                <c:ptCount val="1"/>
                <c:pt idx="0">
                  <c:v>0.333333333333</c:v>
                </c:pt>
              </c:numCache>
            </c:numRef>
          </c:xVal>
          <c:yVal>
            <c:numRef>
              <c:f>'Chart Data'!$F$2:$F$2</c:f>
              <c:numCache>
                <c:formatCode>0.0</c:formatCode>
                <c:ptCount val="1"/>
                <c:pt idx="0">
                  <c:v>-0.2</c:v>
                </c:pt>
              </c:numCache>
            </c:numRef>
          </c:yVal>
          <c:smooth val="0"/>
          <c:extLst>
            <c:ext xmlns:c16="http://schemas.microsoft.com/office/drawing/2014/chart" uri="{C3380CC4-5D6E-409C-BE32-E72D297353CC}">
              <c16:uniqueId val="{00000002-E124-4A69-924C-739166648D5F}"/>
            </c:ext>
          </c:extLst>
        </c:ser>
        <c:dLbls>
          <c:showLegendKey val="0"/>
          <c:showVal val="0"/>
          <c:showCatName val="0"/>
          <c:showSerName val="0"/>
          <c:showPercent val="0"/>
          <c:showBubbleSize val="0"/>
        </c:dLbls>
        <c:axId val="48650112"/>
        <c:axId val="48672768"/>
      </c:scatterChart>
      <c:valAx>
        <c:axId val="48672768"/>
        <c:scaling>
          <c:orientation val="minMax"/>
          <c:max val="0"/>
          <c:min val="-0.6"/>
        </c:scaling>
        <c:delete val="0"/>
        <c:axPos val="l"/>
        <c:majorGridlines>
          <c:spPr>
            <a:ln w="9525">
              <a:solidFill>
                <a:srgbClr val="D5DCE3"/>
              </a:solidFill>
            </a:ln>
          </c:spPr>
        </c:majorGridlines>
        <c:numFmt formatCode="0.0"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50112"/>
        <c:crossesAt val="-0.6"/>
        <c:crossBetween val="midCat"/>
        <c:majorUnit val="0.1"/>
      </c:valAx>
      <c:valAx>
        <c:axId val="48650112"/>
        <c:scaling>
          <c:orientation val="minMax"/>
          <c:max val="1"/>
          <c:min val="0"/>
        </c:scaling>
        <c:delete val="0"/>
        <c:axPos val="b"/>
        <c:majorGridlines>
          <c:spPr>
            <a:ln w="9525">
              <a:solidFill>
                <a:srgbClr val="D5DCE3"/>
              </a:solidFill>
            </a:ln>
          </c:spPr>
        </c:majorGridlines>
        <c:numFmt formatCode="General" sourceLinked="1"/>
        <c:majorTickMark val="none"/>
        <c:minorTickMark val="none"/>
        <c:tickLblPos val="low"/>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crossBetween val="midCat"/>
        <c:majorUnit val="0.25"/>
      </c:valAx>
      <c:spPr>
        <a:solidFill>
          <a:srgbClr val="FFFFFF"/>
        </a:solidFill>
        <a:ln w="0">
          <a:noFill/>
        </a:ln>
      </c:spPr>
    </c:plotArea>
    <c:legend>
      <c:legendPos val="b"/>
      <c:overlay val="0"/>
      <c:txPr>
        <a:bodyPr anchorCtr="1"/>
        <a:lstStyle/>
        <a:p>
          <a:pPr>
            <a:defRPr sz="1425">
              <a:solidFill>
                <a:srgbClr val="1B2533"/>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结构数量</c:v>
          </c:tx>
          <c:spPr>
            <a:solidFill>
              <a:srgbClr val="173E67"/>
            </a:solidFill>
          </c:spPr>
          <c:invertIfNegative val="0"/>
          <c:dLbls>
            <c:numFmt formatCode="0" sourceLinked="0"/>
            <c:spPr>
              <a:noFill/>
              <a:ln>
                <a:noFill/>
              </a:ln>
              <a:effectLst/>
            </c:spPr>
            <c:txPr>
              <a:bodyPr anchorCtr="1"/>
              <a:lstStyle/>
              <a:p>
                <a:pPr>
                  <a:defRPr sz="1425"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请求</c:v>
                </c:pt>
                <c:pt idx="1">
                  <c:v>有效</c:v>
                </c:pt>
                <c:pt idx="2">
                  <c:v>稳定</c:v>
                </c:pt>
                <c:pt idx="3">
                  <c:v>稳定去重</c:v>
                </c:pt>
                <c:pt idx="4">
                  <c:v>SUN</c:v>
                </c:pt>
              </c:strCache>
            </c:strRef>
          </c:cat>
          <c:val>
            <c:numRef>
              <c:f>'Chart Data'!$B$2:$B$6</c:f>
              <c:numCache>
                <c:formatCode>General</c:formatCode>
                <c:ptCount val="5"/>
                <c:pt idx="0">
                  <c:v>100</c:v>
                </c:pt>
                <c:pt idx="1">
                  <c:v>90</c:v>
                </c:pt>
                <c:pt idx="2">
                  <c:v>40</c:v>
                </c:pt>
                <c:pt idx="3">
                  <c:v>30</c:v>
                </c:pt>
                <c:pt idx="4">
                  <c:v>12</c:v>
                </c:pt>
              </c:numCache>
            </c:numRef>
          </c:val>
          <c:extLst>
            <c:ext xmlns:c16="http://schemas.microsoft.com/office/drawing/2014/chart" uri="{C3380CC4-5D6E-409C-BE32-E72D297353CC}">
              <c16:uniqueId val="{00000000-CE7A-40E4-94BA-712707BF4CF6}"/>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425">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10"/>
          <c:min val="0"/>
        </c:scaling>
        <c:delete val="0"/>
        <c:axPos val="l"/>
        <c:majorGridlines>
          <c:spPr>
            <a:ln w="9525">
              <a:solidFill>
                <a:srgbClr val="E2E7EC"/>
              </a:solidFill>
            </a:ln>
          </c:spPr>
        </c:majorGridlines>
        <c:numFmt formatCode="General" sourceLinked="1"/>
        <c:majorTickMark val="none"/>
        <c:minorTickMark val="none"/>
        <c:tickLblPos val="nextTo"/>
        <c:spPr>
          <a:ln w="0">
            <a:noFill/>
          </a:ln>
        </c:spPr>
        <c:txPr>
          <a:bodyPr anchorCtr="1"/>
          <a:lstStyle/>
          <a:p>
            <a:pPr>
              <a:defRPr sz="1425">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论文SUN（%）</c:v>
          </c:tx>
          <c:spPr>
            <a:solidFill>
              <a:srgbClr val="173E67"/>
            </a:solidFill>
          </c:spPr>
          <c:invertIfNegative val="0"/>
          <c:dPt>
            <c:idx val="0"/>
            <c:invertIfNegative val="0"/>
            <c:bubble3D val="0"/>
            <c:spPr>
              <a:solidFill>
                <a:srgbClr val="A8B5C2"/>
              </a:solidFill>
            </c:spPr>
            <c:extLst>
              <c:ext xmlns:c16="http://schemas.microsoft.com/office/drawing/2014/chart" uri="{C3380CC4-5D6E-409C-BE32-E72D297353CC}">
                <c16:uniqueId val="{00000001-C728-4E33-9237-7E61979C88B0}"/>
              </c:ext>
            </c:extLst>
          </c:dPt>
          <c:dPt>
            <c:idx val="1"/>
            <c:invertIfNegative val="0"/>
            <c:bubble3D val="0"/>
            <c:extLst>
              <c:ext xmlns:c16="http://schemas.microsoft.com/office/drawing/2014/chart" uri="{C3380CC4-5D6E-409C-BE32-E72D297353CC}">
                <c16:uniqueId val="{00000003-C728-4E33-9237-7E61979C88B0}"/>
              </c:ext>
            </c:extLst>
          </c:dPt>
          <c:dLbls>
            <c:numFmt formatCode="0.0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DiffCSP</c:v>
                </c:pt>
                <c:pt idx="1">
                  <c:v>MatterGen</c:v>
                </c:pt>
              </c:strCache>
            </c:strRef>
          </c:cat>
          <c:val>
            <c:numRef>
              <c:f>'Chart Data'!$B$2:$B$3</c:f>
              <c:numCache>
                <c:formatCode>0</c:formatCode>
                <c:ptCount val="2"/>
                <c:pt idx="0">
                  <c:v>33.27</c:v>
                </c:pt>
                <c:pt idx="1">
                  <c:v>38.57</c:v>
                </c:pt>
              </c:numCache>
            </c:numRef>
          </c:val>
          <c:extLst>
            <c:ext xmlns:c16="http://schemas.microsoft.com/office/drawing/2014/chart" uri="{C3380CC4-5D6E-409C-BE32-E72D297353CC}">
              <c16:uniqueId val="{00000004-C728-4E33-9237-7E61979C88B0}"/>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45"/>
          <c:min val="0"/>
        </c:scaling>
        <c:delete val="0"/>
        <c:axPos val="l"/>
        <c:majorGridlines>
          <c:spPr>
            <a:ln w="9525">
              <a:solidFill>
                <a:srgbClr val="E2E7EC"/>
              </a:solidFill>
            </a:ln>
          </c:spPr>
        </c:majorGridlines>
        <c:numFmt formatCode="0"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体模量 &gt; 400 GPa的论文SUN数</c:v>
          </c:tx>
          <c:spPr>
            <a:solidFill>
              <a:srgbClr val="173E67"/>
            </a:solidFill>
          </c:spPr>
          <c:invertIfNegative val="0"/>
          <c:dPt>
            <c:idx val="0"/>
            <c:invertIfNegative val="0"/>
            <c:bubble3D val="0"/>
            <c:spPr>
              <a:solidFill>
                <a:srgbClr val="A8B5C2"/>
              </a:solidFill>
            </c:spPr>
            <c:extLst>
              <c:ext xmlns:c16="http://schemas.microsoft.com/office/drawing/2014/chart" uri="{C3380CC4-5D6E-409C-BE32-E72D297353CC}">
                <c16:uniqueId val="{00000001-2324-4F9F-8FB2-88B9B8C60A7F}"/>
              </c:ext>
            </c:extLst>
          </c:dPt>
          <c:dPt>
            <c:idx val="1"/>
            <c:invertIfNegative val="0"/>
            <c:bubble3D val="0"/>
            <c:extLst>
              <c:ext xmlns:c16="http://schemas.microsoft.com/office/drawing/2014/chart" uri="{C3380CC4-5D6E-409C-BE32-E72D297353CC}">
                <c16:uniqueId val="{00000003-2324-4F9F-8FB2-88B9B8C60A7F}"/>
              </c:ext>
            </c:extLst>
          </c:dPt>
          <c:dLbls>
            <c:numFmt formatCode="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筛选参照</c:v>
                </c:pt>
                <c:pt idx="1">
                  <c:v>MatterGen</c:v>
                </c:pt>
              </c:strCache>
            </c:strRef>
          </c:cat>
          <c:val>
            <c:numRef>
              <c:f>'Chart Data'!$B$2:$B$3</c:f>
              <c:numCache>
                <c:formatCode>0</c:formatCode>
                <c:ptCount val="2"/>
                <c:pt idx="0">
                  <c:v>40</c:v>
                </c:pt>
                <c:pt idx="1">
                  <c:v>106</c:v>
                </c:pt>
              </c:numCache>
            </c:numRef>
          </c:val>
          <c:extLst>
            <c:ext xmlns:c16="http://schemas.microsoft.com/office/drawing/2014/chart" uri="{C3380CC4-5D6E-409C-BE32-E72D297353CC}">
              <c16:uniqueId val="{00000004-2324-4F9F-8FB2-88B9B8C60A7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20"/>
          <c:min val="0"/>
        </c:scaling>
        <c:delete val="0"/>
        <c:axPos val="l"/>
        <c:majorGridlines>
          <c:spPr>
            <a:ln w="9525">
              <a:solidFill>
                <a:srgbClr val="E2E7EC"/>
              </a:solidFill>
            </a:ln>
          </c:spPr>
        </c:majorGridlines>
        <c:numFmt formatCode="0"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原始结构mSUN（%）</c:v>
          </c:tx>
          <c:spPr>
            <a:solidFill>
              <a:srgbClr val="173E67"/>
            </a:solidFill>
          </c:spPr>
          <c:invertIfNegative val="0"/>
          <c:dPt>
            <c:idx val="0"/>
            <c:invertIfNegative val="0"/>
            <c:bubble3D val="0"/>
            <c:spPr>
              <a:solidFill>
                <a:srgbClr val="A8B5C2"/>
              </a:solidFill>
            </c:spPr>
            <c:extLst>
              <c:ext xmlns:c16="http://schemas.microsoft.com/office/drawing/2014/chart" uri="{C3380CC4-5D6E-409C-BE32-E72D297353CC}">
                <c16:uniqueId val="{00000001-EF2F-46E9-8CB7-6227B8121B97}"/>
              </c:ext>
            </c:extLst>
          </c:dPt>
          <c:dPt>
            <c:idx val="1"/>
            <c:invertIfNegative val="0"/>
            <c:bubble3D val="0"/>
            <c:extLst>
              <c:ext xmlns:c16="http://schemas.microsoft.com/office/drawing/2014/chart" uri="{C3380CC4-5D6E-409C-BE32-E72D297353CC}">
                <c16:uniqueId val="{00000003-EF2F-46E9-8CB7-6227B8121B97}"/>
              </c:ext>
            </c:extLst>
          </c:dPt>
          <c:dLbls>
            <c:numFmt formatCode="0.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预训练</c:v>
                </c:pt>
                <c:pt idx="1">
                  <c:v>GRPO后</c:v>
                </c:pt>
              </c:strCache>
            </c:strRef>
          </c:cat>
          <c:val>
            <c:numRef>
              <c:f>'Chart Data'!$B$2:$B$3</c:f>
              <c:numCache>
                <c:formatCode>General</c:formatCode>
                <c:ptCount val="2"/>
                <c:pt idx="0">
                  <c:v>15.9</c:v>
                </c:pt>
                <c:pt idx="1">
                  <c:v>61.3</c:v>
                </c:pt>
              </c:numCache>
            </c:numRef>
          </c:val>
          <c:extLst>
            <c:ext xmlns:c16="http://schemas.microsoft.com/office/drawing/2014/chart" uri="{C3380CC4-5D6E-409C-BE32-E72D297353CC}">
              <c16:uniqueId val="{00000004-EF2F-46E9-8CB7-6227B8121B97}"/>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70"/>
          <c:min val="0"/>
        </c:scaling>
        <c:delete val="0"/>
        <c:axPos val="l"/>
        <c:majorGridlines>
          <c:spPr>
            <a:ln w="9525">
              <a:solidFill>
                <a:srgbClr val="E2E7EC"/>
              </a:solidFill>
            </a:ln>
          </c:spPr>
        </c:majorGridlines>
        <c:numFmt formatCode="General"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1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稳定率 S</c:v>
          </c:tx>
          <c:spPr>
            <a:ln w="28575">
              <a:solidFill>
                <a:srgbClr val="173E67"/>
              </a:solidFill>
            </a:ln>
          </c:spPr>
          <c:marker>
            <c:symbol val="circle"/>
            <c:size val="8"/>
            <c:spPr>
              <a:solidFill>
                <a:srgbClr val="173E67"/>
              </a:solidFill>
            </c:spPr>
          </c:marker>
          <c:dLbls>
            <c:numFmt formatCode="0.0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第1轮</c:v>
                </c:pt>
                <c:pt idx="1">
                  <c:v>第2轮</c:v>
                </c:pt>
                <c:pt idx="2">
                  <c:v>第3轮</c:v>
                </c:pt>
              </c:strCache>
            </c:strRef>
          </c:cat>
          <c:val>
            <c:numRef>
              <c:f>'Chart Data'!$B$2:$B$4</c:f>
              <c:numCache>
                <c:formatCode>0</c:formatCode>
                <c:ptCount val="3"/>
                <c:pt idx="0">
                  <c:v>10.35</c:v>
                </c:pt>
                <c:pt idx="1">
                  <c:v>13.47</c:v>
                </c:pt>
                <c:pt idx="2">
                  <c:v>15.94</c:v>
                </c:pt>
              </c:numCache>
            </c:numRef>
          </c:val>
          <c:smooth val="0"/>
          <c:extLst>
            <c:ext xmlns:c16="http://schemas.microsoft.com/office/drawing/2014/chart" uri="{C3380CC4-5D6E-409C-BE32-E72D297353CC}">
              <c16:uniqueId val="{00000000-E8DD-435C-B46C-C21C6542F3CA}"/>
            </c:ext>
          </c:extLst>
        </c:ser>
        <c:ser>
          <c:idx val="1"/>
          <c:order val="1"/>
          <c:tx>
            <c:v>SUN</c:v>
          </c:tx>
          <c:spPr>
            <a:ln w="28575">
              <a:solidFill>
                <a:srgbClr val="8C564B"/>
              </a:solidFill>
            </a:ln>
          </c:spPr>
          <c:marker>
            <c:symbol val="square"/>
            <c:size val="8"/>
            <c:spPr>
              <a:solidFill>
                <a:srgbClr val="8C564B"/>
              </a:solidFill>
            </c:spPr>
          </c:marker>
          <c:dLbls>
            <c:numFmt formatCode="0.00" sourceLinked="0"/>
            <c:spPr>
              <a:noFill/>
              <a:ln>
                <a:noFill/>
              </a:ln>
              <a:effectLst/>
            </c:spPr>
            <c:txPr>
              <a:bodyPr anchorCtr="1"/>
              <a:lstStyle/>
              <a:p>
                <a:pPr>
                  <a:defRPr sz="1500" b="1">
                    <a:solidFill>
                      <a:srgbClr val="1B2533"/>
                    </a:solidFill>
                    <a:latin typeface="Microsoft YaHei"/>
                    <a:ea typeface="Microsoft YaHei"/>
                    <a:cs typeface="Microsoft YaHe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第1轮</c:v>
                </c:pt>
                <c:pt idx="1">
                  <c:v>第2轮</c:v>
                </c:pt>
                <c:pt idx="2">
                  <c:v>第3轮</c:v>
                </c:pt>
              </c:strCache>
            </c:strRef>
          </c:cat>
          <c:val>
            <c:numRef>
              <c:f>'Chart Data'!$D$2:$D$4</c:f>
              <c:numCache>
                <c:formatCode>0</c:formatCode>
                <c:ptCount val="3"/>
                <c:pt idx="0">
                  <c:v>2.93</c:v>
                </c:pt>
                <c:pt idx="1">
                  <c:v>2.23</c:v>
                </c:pt>
                <c:pt idx="2">
                  <c:v>1.69</c:v>
                </c:pt>
              </c:numCache>
            </c:numRef>
          </c:val>
          <c:smooth val="0"/>
          <c:extLst>
            <c:ext xmlns:c16="http://schemas.microsoft.com/office/drawing/2014/chart" uri="{C3380CC4-5D6E-409C-BE32-E72D297353CC}">
              <c16:uniqueId val="{00000001-E8DD-435C-B46C-C21C6542F3CA}"/>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526170"/>
            </a:solidFill>
          </a:ln>
        </c:spPr>
        <c:txPr>
          <a:bodyPr anchorCtr="1"/>
          <a:lstStyle/>
          <a:p>
            <a:pPr>
              <a:defRPr sz="1500">
                <a:solidFill>
                  <a:srgbClr val="1B25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8"/>
          <c:min val="0"/>
        </c:scaling>
        <c:delete val="0"/>
        <c:axPos val="l"/>
        <c:majorGridlines>
          <c:spPr>
            <a:ln w="9525">
              <a:solidFill>
                <a:srgbClr val="E2E7EC"/>
              </a:solidFill>
            </a:ln>
          </c:spPr>
        </c:majorGridlines>
        <c:numFmt formatCode="0" sourceLinked="1"/>
        <c:majorTickMark val="none"/>
        <c:minorTickMark val="none"/>
        <c:tickLblPos val="nextTo"/>
        <c:spPr>
          <a:ln w="0">
            <a:noFill/>
          </a:ln>
        </c:spPr>
        <c:txPr>
          <a:bodyPr anchorCtr="1"/>
          <a:lstStyle/>
          <a:p>
            <a:pPr>
              <a:defRPr sz="1500">
                <a:solidFill>
                  <a:srgbClr val="1B2533"/>
                </a:solidFill>
                <a:latin typeface="Microsoft YaHei"/>
                <a:ea typeface="Microsoft YaHei"/>
                <a:cs typeface="Microsoft YaHei"/>
              </a:defRPr>
            </a:pPr>
            <a:endParaRPr lang="zh-CN"/>
          </a:p>
        </c:txPr>
        <c:crossAx val="48650112"/>
        <c:crosses val="autoZero"/>
        <c:crossBetween val="between"/>
        <c:majorUnit val="3"/>
      </c:valAx>
      <c:spPr>
        <a:solidFill>
          <a:srgbClr val="FFFFFF"/>
        </a:solidFill>
        <a:ln w="0">
          <a:noFill/>
        </a:ln>
      </c:spPr>
    </c:plotArea>
    <c:legend>
      <c:legendPos val="b"/>
      <c:overlay val="0"/>
      <c:txPr>
        <a:bodyPr anchorCtr="1"/>
        <a:lstStyle/>
        <a:p>
          <a:pPr>
            <a:defRPr sz="1500">
              <a:solidFill>
                <a:srgbClr val="1B2533"/>
              </a:solidFill>
              <a:latin typeface="Microsoft YaHei"/>
              <a:ea typeface="Microsoft YaHei"/>
              <a:cs typeface="Microsoft YaHei"/>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60页完整汇报，2026年10月13日。</a:t>
            </a:r>
          </a:p>
          <a:p>
            <a:r>
              <a:t>1–22页为晶体对象、任务、数据、模型、指标及物理计算；23–27页为MatterGen五页；28–30页为Chemeleon、SCIGEN和Chemeleon2三篇近期子刊案例；31–56页为领域演化、六个挑战、四条路线与历史证据；57–60页为文献和阅读来源。</a:t>
            </a:r>
          </a:p>
          <a:p>
            <a:r>
              <a:t>面向AI研究者。以统一封面和连续页码合并两份汇报，原两页子刊概览替换为三篇逐篇讲解。教学算例与原文结果分别注明，候选研究方向与已有发表结果分开说明。</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为每个位点元素，不仅是化学式。F为分数坐标，L列向量为三个晶格矢量，代码也可能使用行向量约定。占位无序、缺陷和磁性需要额外变量，当前多数DNG基准主要考虑有序周期结构。原胞为最小平移重复胞，常规胞强调对称，超胞通过重复扩大。</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[IUCR] How to read (and understand) Volume A of International Tables for Crystallography: an introduction for nonspecialists. 2010. https://journals.iucr.org/j/issues/2010/05/02/kk5061/index.html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图中A、B仅为虚构原子类别，四个方格重复相同的两个分数位置，不代表真实材料。坐标逐项MSE或CIF字符串相等通常不足以判断晶体身份。NaCl原胞2原子而常规立方胞8原子，说明胞选择会影响原子数限制。</a:t>
            </a:r>
          </a:p>
          <a:p>
            <a:endParaRPr/>
          </a:p>
          <a:p>
            <a:r>
              <a:t>参考文献</a:t>
            </a:r>
          </a:p>
          <a:p>
            <a:endParaRPr/>
          </a:p>
          <a:p>
            <a:r>
              <a:t>[R13] Rui Jiao, Wenbing Huang, Peijia Lin, Jiaqi Han, Pin Chen, Yutong Lu, Yang Liu. Crystal Structure Prediction by Joint Equivariant Diffusion. NeurIPS 2023. https://arxiv.org/abs/2309.04475</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[IUCR] How to read (and understand) Volume A of International Tables for Crystallography: an introduction for nonspecialists. 2010. https://journals.iucr.org/j/issues/2010/05/02/kk5061/index.html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重构任务还可能编码整个输入晶体，不能自动视为仅给组成的CSP。MCFlow的互条件主要是元素A与几何(F,L)，不指所有自然语言、光谱和实验模态。</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ICSD也收录部分理论结构，因此不能写成全部实验材料。COD涵盖有机、无机、金属有机和矿物，不自动带统一DFT能量或力。不同库的泛函、磁性、修正和结构标准化需要对齐。</a:t>
            </a:r>
          </a:p>
          <a:p>
            <a:endParaRPr/>
          </a:p>
          <a:p>
            <a:r>
              <a:t>参考文献</a:t>
            </a:r>
          </a:p>
          <a:p>
            <a:endParaRPr/>
          </a:p>
          <a:p>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a:endParaRPr/>
          </a:p>
          <a:p>
            <a:r>
              <a:t>[ALEX] Alexandria official dataset releases. Official documentation. https://alexandria.icams.rub.de/datasets.html</a:t>
            </a:r>
          </a:p>
          <a:p>
            <a:endParaRPr/>
          </a:p>
          <a:p>
            <a:r>
              <a:t>[OQMD] OQMD official structure sources and API documentation. Official documentation. https://oqmd.org/documentation/structures</a:t>
            </a:r>
          </a:p>
          <a:p>
            <a:endParaRPr/>
          </a:p>
          <a:p>
            <a:r>
              <a:t>[ICSD] ICSD official data curation and theoretical data categories. Official documentation. https://icsd.products.fiz-karlsruhe.de/en/about/data-curation</a:t>
            </a:r>
          </a:p>
          <a:p>
            <a:endParaRPr/>
          </a:p>
          <a:p>
            <a:r>
              <a:t>[COD] Crystallography Open Database (COD): an open-access collection of crystal structures and platform for world-wide collaboration. 2012. https://academic.oup.com/nar/article/40/D1/D420/2903497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前三个数据集为CDVAE固定快照，原随机划分60/20/20。Carbon-24来自10 GPa AIRSS候选低能10%及DFT弛豫，不能直接用来声称常压稳定发现。MP-20原过滤包括ICSD来源、Ehull&lt;0.08eV/atom与formation energy&lt;2eV/atom。MPTS-52按最早文献年份划分，缺失年份者排除。原胞/常规胞/超胞改变原子数，公开配置primitive=False，页面采用基准输入胞表述。</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[CDVAE_CFG] CDVAE official MP-20 configuration and build_crystal preprocessing. Official documentation. https://github.com/txie-93/cdvae/blob/main/conf/data/mp_20.yaml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CHGNet MPtrj含89种元素，原模型能量标签已做MP2020兼容性修正。MatterSim模型名1M/5M接近参数规模，当前模型卡的训练样本数是3M/6M，不能混为一项。不同模型/快照的标签和覆盖范围需分别描述。</a:t>
            </a:r>
          </a:p>
          <a:p>
            <a:endParaRPr/>
          </a:p>
          <a:p>
            <a:r>
              <a:t>参考文献</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[MATTERSIM_CARD] MatterSim official model card: v1.0.0-1M and v1.0.0-5M. Official documentation. https://github.com/microsoft/mattersim/blob/main/MODEL_CARD.md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DiffCSP主任务为固定组成的CSP，另有DNG扩展。FlowLLM针对LLM起始分布训练flow；CrysLLMGen加噪后用扩散精修，二者连续阶段固定元素。空间群和Wyckoff压缩几何自由度，但相稳定性仍需能量评价。</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[R26] Miller, Benjamin Kurt, Chen, Ricky T. Q., Sriram, Anuroop, Wood, Brandon M. FlowMM: Generating Materials with Riemannian Flow Matching. ICML 2024, PMLR 235. https://proceedings.mlr.press/v235/miller24a.html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[R21] Nate Gruver, Anuroop Sriram, Andrea Madotto, Andrew Gordon Wilson, C. Lawrence Zitnick, Zachary Ulissi. Fine-Tuned Language Models Generate Stable Inorganic Materials as Text. ICLR 2024. https://arxiv.org/abs/2402.04379</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CDVAE原文主要生成指标不是大规模DFT发现率。FlowLLM所引4.92%为DFT，CrysLLMGen所引9.21%为CHGNet。MatterGen正文对生成器与基线使用DFT，公开repo默认MatterSim评测另列。Chemeleon2细节在第28页及来源笔记。</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[R45] Hyunsoo Park, Aron Walsh. Guiding Generative Models to Uncover Diverse and Novel Crystals via Reinforcement Learning. Nature Machine Intelligence 2026. DOI: 10.1038/s42256-026-01262-4. https://www.nature.com/articles/s42256-026-01262-4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力从总能量对位置的导数得到，不能把每原子能量不加转换地求导当总力。MACE是架构和模型系列，MP-0/MPA/OMat等权重不同。CHGNet磁矩作为训练监督并非精确原子电荷输入。模型覆盖元素集合，不表示它覆盖所有配位、温度和压力状态。</a:t>
            </a:r>
          </a:p>
          <a:p>
            <a:endParaRPr/>
          </a:p>
          <a:p>
            <a:r>
              <a:t>参考文献</a:t>
            </a:r>
          </a:p>
          <a:p>
            <a:endParaRPr/>
          </a:p>
          <a:p>
            <a:r>
              <a:t>[R10] Chi Chen, Shyue Ping Ong. A universal graph deep learning interatomic potential for the periodic table. Nature Computational Science 2, 718–728. DOI: 10.1038/s43588-022-00349-3. https://www.nature.com/articles/s43588-022-00349-3</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[MACE] A foundation model for atomistic materials chemistry. 2025. https://arxiv.org/html/2401.00096v3</a:t>
            </a:r>
          </a:p>
          <a:p>
            <a:endParaRPr/>
          </a:p>
          <a:p>
            <a:r>
              <a:t>[MATTERSIM] MatterSim: A Deep Learning Atomistic Model Across Elements, Temperatures and Pressures. 2024. https://arxiv.org/html/2405.04967v2</a:t>
            </a:r>
          </a:p>
          <a:p>
            <a:endParaRPr/>
          </a:p>
          <a:p>
            <a:r>
              <a:t>[MATTERSIM_CARD] MatterSim official model card: v1.0.0-1M and v1.0.0-5M. Official documentation. https://github.com/microsoft/mattersim/blob/main/MODEL_CARD.md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不同GPU小时与CPU core-hours分别报告，只有有明确计费或换算才能相加。生成速度与完整发现成本不同。性质选样后的成功比例属于条件样本群体，应保留筛选过程。</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[R26] Miller, Benjamin Kurt, Chen, Ricky T. Q., Sriram, Anuroop, Wood, Brandon M. FlowMM: Generating Materials with Riemannian Flow Matching. ICML 2024, PMLR 235. https://proceedings.mlr.press/v235/miller24a.html</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[ASE_OPT] ASE: Structure optimization. Official documentation. https://docs.ase-lib.org/ase/optimize.html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距离必须考虑周期镜像。SMACT可单独处理单质和金属合金，离子氧化态规则有适用范围。几何有效、组成有效及其交集分开报告。原论文公式和实际代码中的检查项应共同核对。</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[SMACT] SMACT screening module. Official documentation. https://smact.readthedocs.io/en/latest/smact.screening.html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DiffCSP使用stol=0.5、ltol=0.3、angle_tol=10°；stol按自由长度归一化，不能解释为0.5Å。需要区分到参考结构的误差与生成结构到弛豫终态的位移。能量排序后的top-k还需计入排序成本。</a:t>
            </a:r>
          </a:p>
          <a:p>
            <a:endParaRPr/>
          </a:p>
          <a:p>
            <a:r>
              <a:t>参考文献</a:t>
            </a:r>
          </a:p>
          <a:p>
            <a:endParaRPr/>
          </a:p>
          <a:p>
            <a:r>
              <a:t>[R13] Rui Jiao, Wenbing Huang, Peijia Lin, Jiaqi Han, Pin Chen, Yutong Lu, Yang Liu. Crystal Structure Prediction by Joint Equivariant Diffusion. NeurIPS 2023. https://arxiv.org/abs/2309.04475</a:t>
            </a:r>
          </a:p>
          <a:p>
            <a:endParaRPr/>
          </a:p>
          <a:p>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a:endParaRPr/>
          </a:p>
          <a:p>
            <a:r>
              <a:t>[MATCHER] pymatgen StructureMatcher. Official API documentation. https://pymatgen.org/pymatgen.analysis.html#pymatgen.analysis.structure_matcher.StructureMatcher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CDVAE使用CrystalNN结构指纹和归一化Magpie组成指纹。其Appendix G同一对同时近的公式，与公开源码分别取两类最近邻再AND存在差别，复现需声明版本。教学例：密度{3,3}与{4,4}g/cm³的W1=1g/cm³。空间群编号是类别，编号间数值距离不具有一般物理含义。</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[R26] Miller, Benjamin Kurt, Chen, Ricky T. Q., Sriram, Anuroop, Wood, Brandon M. FlowMM: Generating Materials with Riemannian Flow Matching. ICML 2024, PMLR 235. https://proceedings.mlr.press/v235/miller24a.html</a:t>
            </a:r>
          </a:p>
          <a:p>
            <a:endParaRPr/>
          </a:p>
          <a:p>
            <a:r>
              <a:t>[SCIPY_JS] scipy.spatial.distance.jensenshannon. Official documentation. https://docs.scipy.org/doc/scipy/reference/generated/scipy.spatial.distance.jensenshannon.html</a:t>
            </a:r>
          </a:p>
          <a:p>
            <a:endParaRPr/>
          </a:p>
          <a:p>
            <a:r>
              <a:t>[SCIPY_W] scipy.stats.wasserstein_distance. Official documentation. https://docs.scipy.org/doc/scipy/reference/generated/scipy.stats.wasserstein_distance.html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教学算例：AB总能−10.6eV，A与B参考每原子能−4.0和−5.6eV，Eform=(−10.6+4.0+5.6)/2=−0.5eV/atom。凸包h_R(x)=min Σλ_r E_r，约束λ≥0、Σλ=1、Σλx_r=x。</a:t>
            </a:r>
          </a:p>
          <a:p>
            <a:endParaRPr/>
          </a:p>
          <a:p>
            <a:r>
              <a:t>参考文献</a:t>
            </a:r>
          </a:p>
          <a:p>
            <a:endParaRPr/>
          </a:p>
          <a:p>
            <a:r>
              <a:t>[PHASE] Materials Project: Phase diagrams and thermodynamic stability. Official documentation. https://docs.materialsproject.org/methodology/materials-methodology/thermodynamic-stability/phase-diagrams-pds</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点A(0,0)、A3B(.25,−.30)、AB(.5,−.50)、AB3(.75,−.30)、B(1,0)。候选A2B=(1/3,−.45)位于参考线下方；另一A2B=(1/3,−.20)形成能虽负仍在参考包上方。多个新候选也会互相竞争。某些生成论文把带符号参考距离记为Ehull，读文献时需核准定义。</a:t>
            </a:r>
          </a:p>
          <a:p>
            <a:endParaRPr/>
          </a:p>
          <a:p>
            <a:r>
              <a:t>参考文献</a:t>
            </a:r>
          </a:p>
          <a:p>
            <a:endParaRPr/>
          </a:p>
          <a:p>
            <a:r>
              <a:t>[PHASE] Materials Project: Phase diagrams and thermodynamic stability. Official documentation. https://docs.materialsproject.org/methodology/materials-methodology/thermodynamic-stability/phase-diagrams-pds</a:t>
            </a:r>
          </a:p>
          <a:p>
            <a:endParaRPr/>
          </a:p>
          <a:p>
            <a:r>
              <a:t>[PYM_HULL] pymatgen.analysis.phase_diagram.PhaseDiagram. Official documentation. https://pymatgen.org/pymatgen.analysis.html#pymatgen.analysis.phase_diagram.PhaseDiagram.get_decomp_and_e_above_hull</a:t>
            </a:r>
          </a:p>
          <a:p>
            <a:endParaRPr/>
          </a:p>
          <a:p>
            <a:r>
              <a:t>[R26] Miller, Benjamin Kurt, Chen, Ricky T. Q., Sriram, Anuroop, Wood, Brandon M. FlowMM: Generating Materials with Riemannian Flow Matching. ICML 2024, PMLR 235. https://proceedings.mlr.press/v235/miller24a.html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S/U/N应在同一物理终态重算。先筛稳定与新颖再去重，是一个可清楚解释的操作口径；其他论文顺序及分母可不同。引用其结果时保持原定义。标准hull=0与固定参考距离≤0按上页定义分别标明。</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[R52] Negishi, Masahiro, Walsh, Aron. Substitution-Based Analysis of Structural Novelty for Generative Models of Materials. arXiv 预印本 2026. https://arxiv.org/html/2606.23166v1</a:t>
            </a:r>
          </a:p>
          <a:p>
            <a:endParaRPr/>
          </a:p>
          <a:p>
            <a:r>
              <a:t>[MATCHER] pymatgen StructureMatcher. Official API documentation. https://pymatgen.org/pymatgen.analysis.html#pymatgen.analysis.structure_matcher.StructureMatcher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90/100 × 40/90 × 30/40 × 12/30 =12/100为条件计数恒等式。相同数据若全体U=60%、全体N=45%，乘.4×.6×.45=10.8%不等于SUN12%。如果只有80个完成评测，40/80是已评测比例，40/100是确认产出，剩余状态保留未知。</a:t>
            </a:r>
          </a:p>
          <a:p>
            <a:endParaRPr/>
          </a:p>
          <a:p>
            <a:r>
              <a:t>参考文献</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F在固定离子下迭代电子密度，外层离子/晶胞优化可多次调用SCF。PBE为常见近似泛函，并非精确真值。MP特定GGA(+U)设置用520eV截断及指定k点密度，但不能作为全部体系统一收敛保证。结构优化后可进行静态能量、能带或DOS计算。</a:t>
            </a:r>
          </a:p>
          <a:p>
            <a:endParaRPr/>
          </a:p>
          <a:p>
            <a:r>
              <a:t>参考文献</a:t>
            </a:r>
          </a:p>
          <a:p>
            <a:endParaRPr/>
          </a:p>
          <a:p>
            <a:r>
              <a:t>[MP_DFT] Materials Project: Parameters and Convergence. Official documentation. https://docs.materialsproject.org/methodology/materials-methodology/calculation-details/gga+u-calculations/parameters-and-convergence</a:t>
            </a:r>
          </a:p>
          <a:p>
            <a:endParaRPr/>
          </a:p>
          <a:p>
            <a:r>
              <a:t>[MP_ELECTRONIC] Materials Project: Electronic Structure. Official documentation. https://docs.materialsproject.org/methodology/materials-methodology/electronic-structure</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小残余力说明接近驻点，曲率/声子提供进一步局部稳定性证据。FIRE使用伪动力学，优化时间步不是材料演化的物理时长。达到最大步数和达到力阈值分别报告。压力下目标包含适当PV项。</a:t>
            </a:r>
          </a:p>
          <a:p>
            <a:endParaRPr/>
          </a:p>
          <a:p>
            <a:r>
              <a:t>参考文献</a:t>
            </a:r>
          </a:p>
          <a:p>
            <a:endParaRPr/>
          </a:p>
          <a:p>
            <a:r>
              <a:t>[ASE_OPT] ASE: Structure optimization. Official documentation. https://docs.ase-lib.org/ase/optimize.html</a:t>
            </a:r>
          </a:p>
          <a:p>
            <a:endParaRPr/>
          </a:p>
          <a:p>
            <a:r>
              <a:t>[ASE_FILTER] ASE: Filters. Official documentation. https://docs.ase-lib.org/ase/filters.html</a:t>
            </a:r>
          </a:p>
          <a:p>
            <a:endParaRPr/>
          </a:p>
          <a:p>
            <a:r>
              <a:t>[ASE_MD] ASE: Molecular dynamics. Official documentation. https://docs.ase-lib.org/ase/md.html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不同checkpoint可能使用PBE、r2SCAN、MatPES等训练数据，不能对所有MLIP统一说raw或corrected。自洽MLIP hull还需说明参考结构是固定几何单点，还是同一势弛豫后评价。项目既有MP校正约定不因这份教学PPT改变。</a:t>
            </a:r>
          </a:p>
          <a:p>
            <a:endParaRPr/>
          </a:p>
          <a:p>
            <a:r>
              <a:t>参考文献</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[CHGNET_DOC] CHGNet official project documentation. Official documentation. https://chgnet.lbl.gov/</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[MP_COMPAT] Materials Project: Anion and GGA/GGA+U Mixing. Official documentation. https://docs.materialsproject.org/methodology/materials-methodology/thermodynamic-stability/thermodynamic-stability/anion-and-gga-gga+u-mixing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声子负ω²对应虚频，Γ点不能代表全部波矢，近零声学频率需检查数值收敛。弹性张量的小应变正定性支持相应机械稳定，高体模量主要表示刚度。Ea=Esaddle−Einitial，单条低势垒仍需连通性、载流子浓度和温度才能联系宏观输运。XRD/Rietveld识别相及结构，化学成分和功能测量检验实际产物。</a:t>
            </a:r>
          </a:p>
          <a:p>
            <a:endParaRPr/>
          </a:p>
          <a:p>
            <a:r>
              <a:t>参考文献</a:t>
            </a:r>
          </a:p>
          <a:p>
            <a:endParaRPr/>
          </a:p>
          <a:p>
            <a:r>
              <a:t>[PHONOPY] Phonopy: Formulations. Official documentation. https://phonopy.github.io/phonopy/formulation.html</a:t>
            </a:r>
          </a:p>
          <a:p>
            <a:endParaRPr/>
          </a:p>
          <a:p>
            <a:r>
              <a:t>[MP_ELASTIC] Materials Project: Elastic Constants. Official documentation. https://docs.materialsproject.org/methodology/materials-methodology/elasticity</a:t>
            </a:r>
          </a:p>
          <a:p>
            <a:endParaRPr/>
          </a:p>
          <a:p>
            <a:r>
              <a:t>[ASE_MD] ASE: Molecular dynamics. Official documentation. https://docs.ase-lib.org/ase/md.html</a:t>
            </a:r>
          </a:p>
          <a:p>
            <a:endParaRPr/>
          </a:p>
          <a:p>
            <a:r>
              <a:t>[ASE_NEB] ASE: Nudged elastic band. Official documentation. https://docs.ase-lib.org/ase/neb.html</a:t>
            </a:r>
          </a:p>
          <a:p>
            <a:endParaRPr/>
          </a:p>
          <a:p>
            <a:r>
              <a:t>[MP_ELECTRONIC] Materials Project: Electronic Structure. Official documentation. https://docs.materialsproject.org/methodology/materials-methodology/electronic-structure</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MP v2022.10.28、ICSD release2023.1、Alexandria官方资源2022.126。训练过滤Ehull&lt;0.1eV/atom，移除well-explored系统和ICSD-only结构。OMatG报告完整675204及原90/10拆分，Nature正式训练607683。正式reference850384与公开repo845997不混用。来源计数为固定论文版本，不是当前数据库总量。</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[MG_DATA] MatterGen official Alex-MP data release. Official data documentation. https://github.com/microsoft/mattergen/blob/main/data-release/alex-mp/README.md</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原图保持原始比例与标记，来源Nature Fig1。SI A/B：GemNet-dT 4 message-passing层，邻域7Å，node/edge hidden512；categorical D3PM与coordinate/lattice score-matching联合损失。基础模型1.74M训练步，8×A100，每GPU batch64/global512，Adam lr1e-4。4个zero-init adapters；SI B.1明确fine-tune更新所有权重，非只训adapter。fine-tune globalbatch128 lr6e-5。1000 ancestral predictor步，位置/晶格Langevin corrector，SNR0.4/0.2；条件CFG γ=2。</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br/>
            <a:br/>
            <a:r>
              <a:t>Original figure: Zeni et al., Nature (2025), Fig.1, CC BY 4.0. https://media.springernature.com/full/springer-static/image/art%3A10.1038%2Fs41586-025-08628-5/MediaObjects/41586_2025_8628_Fig1_HTML.png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 TableD4的同Alex-MP对比：MatterGen SUN38.57%、RMSD0.021Å；DiffCSP33.27%、0.104Å。标准初批1024；Nature约75%与3%为正文概括。RMSD是到DFT弛豫终态的变化，不是CSP到已知参考的误差。参考hull850384有序结构，novelty另含117652无序ICSD。当前公开repo默认MatterSim预测评价，且checkpoints为重训版本，不直接替代本文DFT数字。</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[MG_REPO] Microsoft MatterGen official README and data-release descriptions. Official documentation. https://github.com/microsoft/mattergen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Fig4a-c显示性质条件分布，Fig4h为bulk modulus&gt;400GPa的合格数量。条件训练标签可由不同物理或ML预测器得到，例如bulk modulus adapter用ML预测标签，最终以DFT性质验证。需要同时检查条件命中及SUN交集，不把条件分布均值当材料发现。</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Fig6a为XRD/Rietveld及样品，b/c为有序目标及无序结构，d是95个ICSD再发现的DFT体模量，不是实验模量图。SI筛选：32768→7919含氧→2196(MatterSim Ehull≤.05)→551去重/新颖→119声子无负频→75(DFT≤.03)→4专家挑选→1报告合成，另外3个尝试失败。主文DFT222GPa，图6b标221GPa，页面用约222。纳米压痕测Young模量，K=Y/[3(1−2ν)]，ν取DFT0.30，四次推算均值158±11，最大169。原文“距目标20%内”采用最大值。2026-04-20 Juelsholt在Materials Horizons 13,5672–5679的再分析重新精修公开PXRD，报告Ta0.43Cr0.57O2，并指出已知TaCrO4型结构及三种有序近似存在训练资料，挑战该案例新化合物身份。这里分别归属2025原报告与2026再分析，未重做PXRD精修。</a:t>
            </a: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[MG_SI] Claudio Zeni et al.. MatterGen Supplementary Information, Sections A–D. Nature (2025). https://media.springernature.com/original/springer-static/esm/art%3A10.1038%2Fs41586-025-08628-5/MediaObjects/41586_2025_8628_MOESM1_ESM.pdf</a:t>
            </a:r>
          </a:p>
          <a:p>
            <a:endParaRPr/>
          </a:p>
          <a:p>
            <a:r>
              <a:t>[MG_REANALYSIS] Mikkel Juelsholt. Continued challenges in high-throughput materials predictions: MatterGen predicts compounds from the training dataset. Materials Horizons 13, 5672–5679 (2026). https://pubs.rsc.org/en/content/articlehtml/2026/mh/d6mh00268d</a:t>
            </a:r>
          </a:p>
          <a:p>
            <a:br/>
            <a:br/>
            <a:r>
              <a:t>Original figure: Zeni et al., Nature (2025), Fig.6, CC BY 4.0. https://media.springernature.com/full/springer-static/image/art%3A10.1038%2Fs41586-025-08628-5/MediaObjects/41586_2025_8628_Fig6_HTML.png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文本接口把组成和结构偏好放在同一句描述里；本文实证主要是化学式与晶系。MP2023.11.01的32,525个结构来自实验记录：原胞≤40原子、E_hull&lt;0.25 eV/atom、边长≤20 Å，剔除常温气体。2018年8月2日后的708条作为未来测试。GPT-3.5按组成与晶系为每结构生成五种改写。</a:t>
            </a:r>
          </a:p>
          <a:p>
            <a:r>
              <a:t>模型先对齐材料BERT和晶体图嵌入，再以FiLM和CFG输入DiffCSP式去噪器。每题给文本和原子数、采20次；一般文本的参考恢复率为BERT 0.06、Crystal CLIP 0.20。计量为软条件。</a:t>
            </a:r>
          </a:p>
          <a:p>
            <a:r>
              <a:t>应用先用SMACT挑781种Li–P–S–Cl组成，再采样、MACE预弛豫和预筛、VASP/PBE相图计算。原文报告相对原MP参考包17个更低能及435个E_hull&lt;0.15 eV/atom候选，前者含二/三元相，部分含分子片段或空穴；并入新包后Fig.5a的250个四元亚稳结构是另一统计。四个选定四元结构用PBEsol/PhononMaker计算声子，无虚频。Table1中metastability是未弛豫MACE与同组成参考真值的能量差窗口，按原文单列。</a:t>
            </a:r>
          </a:p>
          <a:p>
            <a:endParaRPr/>
          </a:p>
          <a:p>
            <a:r>
              <a:t>原文</a:t>
            </a:r>
          </a:p>
          <a:p>
            <a:r>
              <a:t>https://www.nature.com/articles/s41467-025-59636-y</a:t>
            </a:r>
          </a:p>
          <a:p>
            <a:r>
              <a:t>Park, H., Onwuli, A. &amp; Walsh, A. Exploration of crystal chemical space using text-guided generative artificial intelligence. Nature Communications 16, 4379 (2025). DOI:10.1038/s41467-025-59636-y.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83014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晶格几何影响电子跳跃和磁性挫折。SCIGEN以三角、蜂窝、kagome、Lieb层为外部结构条件：每步先给图案加入当前噪声，再与自由部分按mask合并，用既有DiffCSP继续去噪，无需为图案重新训练底座。</a:t>
            </a:r>
          </a:p>
          <a:p>
            <a:r>
              <a:t>正式论文Data availability报告1,006万生成、101万预筛，从中选26,000个做DFT；24,743得到弛豫输出。SI §12/Table3按残余力、小畸变、MP-20外及去重进一步保留3,018。这个统计检验结构保持和新颖性，其物理定义与凸包SUN分开。</a:t>
            </a:r>
          </a:p>
          <a:p>
            <a:r>
              <a:t>Lieb候选的DFT平带在费米能上方约0.1–0.2 eV；材料Ce3NaTb4、CeDy3NdYb见arXiv:2407.04557v1 Fig.4。实验选材结合化学判断：TiPdBi三角图案与TiPdSb方格图案提示Ti–Pd–Bi/Sb探索；衍射精修得到TiPd0.22Bi0.88与Ti0.5Pd1.5Sb，出现无序、计量及空间群变化。SQUID分别显示顺磁／抗磁，四探针电阻率显示金属，约2 K未见超导。来源为正式SI §10.1–10.7。</a:t>
            </a:r>
          </a:p>
          <a:p>
            <a:r>
              <a:t>正式SI：https://media.springernature.com/original/springer-static/esm/art%3A10.1038%2Fs41563-025-02355-y/MediaObjects/41563_2025_2355_MOESM1_ESM.pdf</a:t>
            </a:r>
          </a:p>
          <a:p>
            <a:r>
              <a:t>Lieb原始能带：https://arxiv.org/html/2407.04557v1</a:t>
            </a:r>
          </a:p>
          <a:p>
            <a:endParaRPr/>
          </a:p>
          <a:p>
            <a:r>
              <a:t>原文</a:t>
            </a:r>
          </a:p>
          <a:p>
            <a:r>
              <a:t>https://www.nature.com/articles/s41563-025-02355-y</a:t>
            </a:r>
          </a:p>
          <a:p>
            <a:r>
              <a:t>Okabe et al. Structural constraint integration in a generative model for the discovery of quantum materials. Nature Materials 25, 223–230 (2026); published online 22 September 2025. DOI:10.1038/s41563-025-02355-y.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843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Chemeleon2先以VAE把元素、位置、晶格编码为连续潜变量，再训练latent DiT；GRPO将去噪步骤作为策略轨迹。奖励来自MACE-MPA-0估计的凸包能量差、AMD距离描述的新颖性/唯一性、以及组成和结构嵌入的批次多样性。</a:t>
            </a:r>
          </a:p>
          <a:p>
            <a:r>
              <a:t>Fig.3在Alex-MP-20训练后每模型生成10,000个原始结构，不进行几何优化；mSUN要求E_hull&lt;0.1 eV/atom。图中15.9→61.3是同一Chemeleon2基座加入RL前后的比较；metastability为51.2→72.1，N为62.3→97.5，U为99.4→88.7。</a:t>
            </a:r>
          </a:p>
          <a:p>
            <a:r>
              <a:t>Fig.6使用43,295个带隙标签，目标3 eV，每模型512样本；RL样本中82个同时具有mSUN资格与2.7–3.3 eV的DFT带隙。原始样本mSUN为45.3%；附录另报告DFT弛豫后mSUN 60.8%、metastability 85.5%。1,000个结构的MLFF/DFT能量比较见Supplementary Fig.21。这里体现奖励改变生成能力和目标命中，原始势模型协议与MatterGen的弛豫DFT协议各自保留。</a:t>
            </a:r>
          </a:p>
          <a:p>
            <a:endParaRPr/>
          </a:p>
          <a:p>
            <a:r>
              <a:t>原文</a:t>
            </a:r>
          </a:p>
          <a:p>
            <a:r>
              <a:t>https://www.nature.com/articles/s42256-026-01262-4</a:t>
            </a:r>
          </a:p>
          <a:p>
            <a:r>
              <a:t>Park, H. &amp; Walsh, A. Guiding generative models to uncover diverse and novel crystals via reinforcement learning. Nature Machine Intelligence 8, 1087–1099 (2026). DOI:10.1038/s42256-026-01262-4.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42934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项目主目标为严格SUN。S采用E_hull≤0，单位eV/atom。U为生成集合内去重，N相对于声明的参考结构集合。稳定性评价应明确能量理论水平和参考相集合。熟悉结构框架中的新稳定化学也可以构成发现。</a:t>
            </a:r>
          </a:p>
          <a:p>
            <a:endParaRPr/>
          </a:p>
          <a:p>
            <a:r>
              <a:t>参考文献</a:t>
            </a:r>
          </a:p>
          <a:p>
            <a:endParaRPr/>
          </a:p>
          <a:p>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[R31] Nathan J. Szymanski, Christopher J. Bartel. Establishing baselines for generative discovery of inorganic crystals. Materials Horizons 2025. DOI: 10.1039/D5MH00010F. https://pubs.rsc.org/en/content/articlehtml/2025/mh/d5mh00010f</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7145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文任务比方法名更能说明证据支持什么。CSP为给定组成结构预测，DNG为自主生成。物理搜索与模型更新一行包含不同下游对象，后续C4/C6及路线C分别展开。GNoME主要更新物性预测模型，不能作为生成器响应学习已经成功的证据。</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p>
          <a:p>
            <a:endParaRPr/>
          </a:p>
          <a:p>
            <a:r>
              <a:t>[R40] Xu, Andy, Desai, Rohan, Wang, Larry, Ritz, Ethan, Hope, Gabriel. PLaID++: A Preference Aligned Language Model for Targeted Inorganic Materials Design. ICML 2026. https://arxiv.org/html/2509.07150v4</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[R49] Kiyoung Seong, Sungsoo Ahn, Sehui Han, Changyoung Park. Multimodal Crystal Flow: Any-to-Any Modality Generation for Unified Crystal Modeling. ICML2026, PMLR306:109105–109131. https://proceedings.mlr.press/v306/seong26a.html</a:t>
            </a:r>
          </a:p>
          <a:p>
            <a:endParaRPr/>
          </a:p>
          <a:p>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[R48] Hoellmer, Philipp, Martiniani, Stefano. Open Materials Generation with Inference-Time Reinforcement Learning. ICML 2026. https://arxiv.org/html/2602.00424v2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933588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本页是能力演化的综合，不表示每一方法直接继承上一列。正式日期与首稿日期在完整文献年表中分别记录。SI、diffusion和flow存在数学联系，LLM可与连续生成模型结合。</a:t>
            </a:r>
          </a:p>
          <a:p>
            <a:endParaRPr/>
          </a:p>
          <a:p>
            <a:r>
              <a:t>参考文献</a:t>
            </a:r>
          </a:p>
          <a:p>
            <a:endParaRPr/>
          </a:p>
          <a:p>
            <a:r>
              <a:t>[R01] Chris J. Pickard, R. J. Needs. High-Pressure Phases of Silane. Physical Review Letters 97, 045504. DOI: 10.1103/PhysRevLett.97.045504. https://journals.aps.org/prl/abstract/10.1103/PhysRevLett.97.045504</a:t>
            </a:r>
          </a:p>
          <a:p>
            <a:endParaRPr/>
          </a:p>
          <a:p>
            <a:r>
              <a:t>[R02] Artem R. Oganov, Colin W. Glass. Crystal structure prediction using ab initio evolutionary techniques: Principles and applications. Journal of Chemical Physics 124, 244704 (2006). DOI: 10.1063/1.2210932. https://doi.org/10.1063/1.2210932</a:t>
            </a:r>
          </a:p>
          <a:p>
            <a:endParaRPr/>
          </a:p>
          <a:p>
            <a:r>
              <a:t>[R06] Juhwan Noh, Jaehoon Kim, Helge S. Stein, Benjamin Sanchez-Lengeling, John M. Gregoire, Alan Aspuru-Guzik, Yousung Jung. Inverse Design of Solid-State Materials via a Continuous Representation. Matter 1(5), 1370–1384. DOI: 10.1016/j.matt.2019.08.017. https://doi.org/10.1016/j.matt.2019.08.017</a:t>
            </a:r>
          </a:p>
          <a:p>
            <a:endParaRPr/>
          </a:p>
          <a:p>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[R49] Kiyoung Seong, Sungsoo Ahn, Sehui Han, Changyoung Park. Multimodal Crystal Flow: Any-to-Any Modality Generation for Unified Crystal Modeling. ICML2026, PMLR306:109105–109131. https://proceedings.mlr.press/v306/seong26a.html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[R40] Xu, Andy, Desai, Rohan, Wang, Larry, Ritz, Ethan, Hope, Gabriel. PLaID++: A Preference Aligned Language Model for Targeted Inorganic Materials Design. ICML 2026. https://arxiv.org/html/2509.07150v4</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[R48] Hoellmer, Philipp, Martiniani, Stefano. Open Materials Generation with Inference-Time Reinforcement Learning. ICML 2026. https://arxiv.org/html/2602.00424v2</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88191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 = stochastic interpolants，随机插值。SI为流与扩散提供统一的路径建模方式。这里保留方法差异，不将其描述成依次淘汰的模型序列。</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41461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偏好信号由eqV2提供。失败解析重新采样，因此分母是可解析CIF而非全部生成请求。该对照不代表PLaID++主方法整体下降。图按原文数值重绘，不推断未在该对照中分离的U/N损失机制。</a:t>
            </a:r>
          </a:p>
          <a:p>
            <a:endParaRPr/>
          </a:p>
          <a:p>
            <a:r>
              <a:t>参考文献</a:t>
            </a:r>
          </a:p>
          <a:p>
            <a:endParaRPr/>
          </a:p>
          <a:p>
            <a:r>
              <a:t>[R40] Xu, Andy, Desai, Rohan, Wang, Larry, Ritz, Ethan, Hope, Gabriel. PLaID++: A Preference Aligned Language Model for Targeted Inorganic Materials Design. ICML 2026. https://arxiv.org/html/2509.07150v4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48143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严格SUN采用S≤0，另报M≤0.1。DFT校正口径、元素参考和竞争相集合固定。N/U与S应对应同一评价阶段。LeMat主比较各模型提交结构的流程不同，不能假设所有结构都是统一未弛豫输入。原型类别变化与参考结构新颖是互补指标。</a:t>
            </a:r>
          </a:p>
          <a:p>
            <a:endParaRPr/>
          </a:p>
          <a:p>
            <a:r>
              <a:t>参考文献</a:t>
            </a:r>
          </a:p>
          <a:p>
            <a:endParaRPr/>
          </a:p>
          <a:p>
            <a:r>
              <a:t>[R31] Nathan J. Szymanski, Christopher J. Bartel. Establishing baselines for generative discovery of inorganic crystals. Materials Horizons 2025. DOI: 10.1039/D5MH00010F. https://pubs.rsc.org/en/content/articlehtml/2025/mh/d5mh00010f</a:t>
            </a:r>
          </a:p>
          <a:p>
            <a:endParaRPr/>
          </a:p>
          <a:p>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a:p>
            <a:endParaRPr/>
          </a:p>
          <a:p>
            <a:r>
              <a:t>[R52] Negishi, Masahiro, Walsh, Aron. Substitution-Based Analysis of Structural Novelty for Generative Models of Materials. arXiv 预印本 2026. https://arxiv.org/html/2606.23166v1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18214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任务演化为本综述综合，不把同一行方法视为直接继承。FTCP在具体性质目标中验证逆设计，CDVAE包括生成与性质优化。MatterGen将化学/性质条件接入联合扩散；SCIGEN将结构图案约束接入DiffCSP式生成。TGDMat与Chemeleon支持文本条件，PLaID++支持结构语言与偏好条件设计。MatterGen稳定阈值0.1与本项目严格阈值分别保留。</a:t>
            </a:r>
          </a:p>
          <a:p>
            <a:endParaRPr/>
          </a:p>
          <a:p>
            <a:r>
              <a:t>参考文献</a:t>
            </a:r>
          </a:p>
          <a:p>
            <a:endParaRPr/>
          </a:p>
          <a:p>
            <a:r>
              <a:t>[R06] Juhwan Noh, Jaehoon Kim, Helge S. Stein, Benjamin Sanchez-Lengeling, John M. Gregoire, Alan Aspuru-Guzik, Yousung Jung. Inverse Design of Solid-State Materials via a Continuous Representation. Matter 1(5), 1370–1384. DOI: 10.1016/j.matt.2019.08.017. https://doi.org/10.1016/j.matt.2019.08.017</a:t>
            </a:r>
          </a:p>
          <a:p>
            <a:endParaRPr/>
          </a:p>
          <a:p>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p>
          <a:p>
            <a:endParaRPr/>
          </a:p>
          <a:p>
            <a:r>
              <a:t>[R08] Tian Xie, Xiang Fu, Octavian-Eugen Ganea, Regina Barzilay, Tommi Jaakkola. Crystal Diffusion Variational Autoencoder for Periodic Material Generation. ICLR 2022. https://arxiv.org/abs/2110.06197</a:t>
            </a:r>
          </a:p>
          <a:p>
            <a:endParaRPr/>
          </a:p>
          <a:p>
            <a:r>
              <a:t>[R21] Nate Gruver, Anuroop Sriram, Andrea Madotto, Andrew Gordon Wilson, C. Lawrence Zitnick, Zachary Ulissi. Fine-Tuned Language Models Generate Stable Inorganic Materials as Text. ICLR 2024. https://arxiv.org/abs/2402.04379</a:t>
            </a:r>
          </a:p>
          <a:p>
            <a:endParaRPr/>
          </a:p>
          <a:p>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p>
          <a:p>
            <a:endParaRPr/>
          </a:p>
          <a:p>
            <a:r>
              <a:t>[R39] Hyunsoo Park, Anthony Onwuli, Aron Walsh. Exploration of crystal chemical space using text-guided generative artificial intelligence. Nature Communications 16, 4379 2025. DOI: 10.1038/s41467-025-59636-y. https://www.nature.com/articles/s41467-025-59636-y</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[R40] Xu, Andy, Desai, Rohan, Wang, Larry, Ritz, Ethan, Hope, Gabriel. PLaID++: A Preference Aligned Language Model for Targeted Inorganic Materials Design. ICML 2026. https://arxiv.org/html/2509.07150v4</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570083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owMM复用DiffCSP网络并改变生成过程。FlowLLM结合Crystal-LLM与FlowMM。MCFlow的独立模态时间处理多种条件推断；H.8匹配率45.58%与63.14%是CSP接口比较。ANCHOR冻结结构先验并改变组成分布，提供组成策略可能解释增益的强参照。概率分解本身可表示联合分布，当前问题在有限学习条件下的信息利用。</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[R33] Wu, Hanlin, Song, Yuxuan, Gong, Jingjing, Cao, Ziyao, Ouyang, Yawen, Zhang, Jianbing, Zhou, Hao, Ma, Wei-Ying, Liu, Jingjing. A Periodic Bayesian Flow for Material Generation. ICLR 2025. https://arxiv.org/abs/2502.02016</a:t>
            </a:r>
          </a:p>
          <a:p>
            <a:endParaRPr/>
          </a:p>
          <a:p>
            <a:r>
              <a:t>[R49] Kiyoung Seong, Sungsoo Ahn, Sehui Han, Changyoung Park. Multimodal Crystal Flow: Any-to-Any Modality Generation for Unified Crystal Modeling. ICML2026, PMLR306:109105–109131. https://proceedings.mlr.press/v306/seong26a.html</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487122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CGCNN和MLIP是知识背景，不是组合生成结论。SymmCD和Wyckoff方法学习/构造对称配置。Composable Crystals的邻域concept含坐标及晶格信息，因此concept有效不能独自归因于纯局部化学。UFO-MGen的未见配置试验提供给定scaffold的条件完成证据。晶体局部环境共享原子、边和晶格，需要共同计量和几何实现。</a:t>
            </a:r>
          </a:p>
          <a:p>
            <a:endParaRPr/>
          </a:p>
          <a:p>
            <a:r>
              <a:t>参考文献</a:t>
            </a:r>
          </a:p>
          <a:p>
            <a:endParaRPr/>
          </a:p>
          <a:p>
            <a:r>
              <a:t>[R05] Tian Xie, Jeffrey C. Grossman. Crystal Graph Convolutional Neural Networks for an Accurate and Interpretable Prediction of Material Properties. Physical Review Letters 120, 145301. DOI: 10.1103/PhysRevLett.120.145301. https://journals.aps.org/prl/abstract/10.1103/PhysRevLett.120.145301</a:t>
            </a:r>
          </a:p>
          <a:p>
            <a:endParaRPr/>
          </a:p>
          <a:p>
            <a:r>
              <a:t>[R10] Chi Chen, Shyue Ping Ong. A universal graph deep learning interatomic potential for the periodic table. Nature Computational Science 2, 718–728. DOI: 10.1038/s43588-022-00349-3. https://www.nature.com/articles/s43588-022-00349-3</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[R36] Kelvinius, Filip Ekström, Andersson, Oskar B., Parackal, Abhijith S., Qian, Dong, Armiento, Rickard, Lindsten, Fredrik. WyckoffDiff – A Generative Diffusion Model for Crystal Symmetry. ICML 2025, PMLR 267. https://proceedings.mlr.press/v267/ekstrom-kelvinius25a.html</a:t>
            </a:r>
          </a:p>
          <a:p>
            <a:endParaRPr/>
          </a:p>
          <a:p>
            <a:r>
              <a:t>[R38] Kazeev, Nikita, Nong, Wei, Romanov, Ignat, Zhu, Ruiming, Ustyuzhanin, Andrey, Yamazaki, Shuya, Hippalgaonkar, Kedar. Wyckoff Transformer: Generation of Symmetric Crystals. ICML 2025, PMLR 267, 29495–29526. https://arxiv.org/abs/2503.02407</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a:endParaRPr/>
          </a:p>
          <a:p>
            <a:r>
              <a:t>[R55] Jingyi Zhou, Oyshee Chowdhury, Noah Oyeniran, Chongze Hu. Topology-Stratified Materials Discovery with A Flow-Based Generative Model. arXiv 预印本 2026. https://arxiv.org/html/2609.26547v1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22508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物理搜索、改变动作分布、后训练生成模型和推理时引导是不同反馈对象。MatInvent以MatterGen为默认基座，OMatG-IRL更新SI生成场，GSS将先验与物理力用于采样/搜索。当前研究从反馈存在推进到反馈何时能够支持有益的有限决定。项目PDE18零strict gain/loss为相关内部观察，不能外推为所有反馈无效。</a:t>
            </a:r>
          </a:p>
          <a:p>
            <a:endParaRPr/>
          </a:p>
          <a:p>
            <a:r>
              <a:t>参考文献</a:t>
            </a:r>
          </a:p>
          <a:p>
            <a:endParaRPr/>
          </a:p>
          <a:p>
            <a:r>
              <a:t>[R01] Chris J. Pickard, R. J. Needs. High-Pressure Phases of Silane. Physical Review Letters 97, 045504. DOI: 10.1103/PhysRevLett.97.045504. https://journals.aps.org/prl/abstract/10.1103/PhysRevLett.97.045504</a:t>
            </a:r>
          </a:p>
          <a:p>
            <a:endParaRPr/>
          </a:p>
          <a:p>
            <a:r>
              <a:t>[R02] Artem R. Oganov, Colin W. Glass. Crystal structure prediction using ab initio evolutionary techniques: Principles and applications. Journal of Chemical Physics 124, 244704 (2006). DOI: 10.1063/1.2210932. https://doi.org/10.1063/1.2210932</a:t>
            </a:r>
          </a:p>
          <a:p>
            <a:endParaRPr/>
          </a:p>
          <a:p>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a:endParaRPr/>
          </a:p>
          <a:p>
            <a:r>
              <a:t>[R44] Chen, Junwu, Guo, Jeff, Fako, Edvin, Schwaller, Philippe. Accelerating inverse materials design using generative diffusion models with reinforcement learning. arXiv 预印本 2025. https://arxiv.org/html/2511.03112v1</a:t>
            </a:r>
          </a:p>
          <a:p>
            <a:endParaRPr/>
          </a:p>
          <a:p>
            <a:r>
              <a:t>[R48] Hoellmer, Philipp, Martiniani, Stefano. Open Materials Generation with Inference-Time Reinforcement Learning. ICML 2026. https://arxiv.org/html/2602.00424v2</a:t>
            </a:r>
          </a:p>
          <a:p>
            <a:endParaRPr/>
          </a:p>
          <a:p>
            <a:r>
              <a:t>[R50] Qin, Yifang, Shi, Yu, Tan, Junfu, Liu, Chang, Zhang, Ming, Lu, Ziheng. Generative structure search for efficient and diverse discovery of molecular and crystal structures. arXiv 预印本 2026. https://arxiv.org/html/2604.27636v2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697458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GFlowNet Foundations首稿2021、JMLR2023。QD的性质档案针对选定组成；SHAFT以层级对称选择生成材料，其原文mode资格与严格SUN分开。PLaID++表征/后训练、Chemeleon2的latent RL与ANCHOR组成探索分别改变不同因素。稳定性、多样性和新颖性联合优化已有方法，研究需落在未知合格结果的持续获得与保持。</a:t>
            </a:r>
          </a:p>
          <a:p>
            <a:endParaRPr/>
          </a:p>
          <a:p>
            <a:r>
              <a:t>参考文献</a:t>
            </a:r>
          </a:p>
          <a:p>
            <a:endParaRPr/>
          </a:p>
          <a:p>
            <a:r>
              <a:t>[R09] Bengio, Yoshua, Lahlou, Salem, Deleu, Tristan, Hu, Edward J., Tiwari, Mo, Bengio, Emmanuel. GFlowNet Foundations. Journal of Machine Learning Research 2023. https://jmlr.org/papers/v24/22-0364.html</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[R30] Nguyen, Tri Minh, Tawfik, Sherif Abdulkader, Tran, Truyen, Gupta, Sunil, Rana, Santu, Venkatesh, Svetha. Efficient Symmetry-Aware Materials Generation via Hierarchical Generative Flow Networks. Digital Discovery 2026. DOI: 10.1039/D4DD00392F. https://arxiv.org/html/2411.04323v1</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595069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GNoME是物理数据回流的先例，但不是扩散后训练。OMatG-IRL已有CSP式物理训练到DNG的证据。OMatG-flash直接采用RAM，关注少步生成映射。ANCHOR v2 F.6语料由访问组成重放形成，未按稳定/新颖阈值筛选。C关注学习的关系内容，D关注这些信息怎样扩大并保持成功分布。</a:t>
            </a:r>
          </a:p>
          <a:p>
            <a:endParaRPr/>
          </a:p>
          <a:p>
            <a:r>
              <a:t>参考文献</a:t>
            </a:r>
          </a:p>
          <a:p>
            <a:endParaRPr/>
          </a:p>
          <a:p>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[R44] Chen, Junwu, Guo, Jeff, Fako, Edvin, Schwaller, Philippe. Accelerating inverse materials design using generative diffusion models with reinforcement learning. arXiv 预印本 2025. https://arxiv.org/html/2511.03112v1</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[R48] Hoellmer, Philipp, Martiniani, Stefano. Open Materials Generation with Inference-Time Reinforcement Learning. ICML 2026. https://arxiv.org/html/2602.00424v2</a:t>
            </a:r>
          </a:p>
          <a:p>
            <a:endParaRPr/>
          </a:p>
          <a:p>
            <a:r>
              <a:t>[R54] Egg, Thomas, Sullivan, Harry Winston, Tadmor, Ellad B., Martiniani, Stefano. OMatG-flash: An All-Atom Flow Map with Reinforce Adjoint Matching for Scalable Materials Discovery. arXiv 预印本 2026. https://arxiv.org/html/2609.26402v1</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166592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路线A侧重信息利用与联合推断；B侧重组合泛化；C侧重物理关系迁移；D侧重未知成功集合的获得与保持。任务输入输出不同，四方向各自可以构成独立论文。</a:t>
            </a:r>
          </a:p>
          <a:p>
            <a:endParaRPr/>
          </a:p>
          <a:p>
            <a:r>
              <a:t>参考文献</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447845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直接继承：FlowMM采用DiffCSP网络；FlowLLM结合Crystal-LLM式LLaMA先验与FlowMM；CrysLLMGen复用Crystal-LLM提示及DiffCSP式连续模型。GenMS将语言到公式和公式到结构分解。MatterGen、OMatG、MCFlow属于联合/多模态分支，不写成FlowLLM的单线后继。</a:t>
            </a: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[R21] Nate Gruver, Anuroop Sriram, Andrea Madotto, Andrew Gordon Wilson, C. Lawrence Zitnick, Zachary Ulissi. Fine-Tuned Language Models Generate Stable Inorganic Materials as Text. ICLR 2024. https://arxiv.org/abs/2402.04379</a:t>
            </a:r>
          </a:p>
          <a:p>
            <a:endParaRPr/>
          </a:p>
          <a:p>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62768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NextStep-1是连续token AR的图像方法，SFD主实验证据为ImageNet类别条件。迁移点是信息组织和方法接口。晶体需要保留元素、位置、晶胞及周期约束。双向信息的增量需与强分阶段和纯混合SI比较。</a:t>
            </a:r>
          </a:p>
          <a:p>
            <a:endParaRPr/>
          </a:p>
          <a:p>
            <a:r>
              <a:t>参考文献</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[R33] Wu, Hanlin, Song, Yuxuan, Gong, Jingjing, Cao, Ziyao, Ouyang, Yawen, Zhang, Jianbing, Zhou, Hao, Ma, Wei-Ying, Liu, Jingjing. A Periodic Bayesian Flow for Material Generation. ICLR 2025. https://arxiv.org/abs/2502.02016</a:t>
            </a:r>
          </a:p>
          <a:p>
            <a:endParaRPr/>
          </a:p>
          <a:p>
            <a:r>
              <a:t>[R49] Kiyoung Seong, Sungsoo Ahn, Sehui Han, Changyoung Park. Multimodal Crystal Flow: Any-to-Any Modality Generation for Unified Crystal Modeling. ICML2026, PMLR306:109105–109131. https://proceedings.mlr.press/v306/seong26a.html</a:t>
            </a:r>
          </a:p>
          <a:p>
            <a:endParaRPr/>
          </a:p>
          <a:p>
            <a:r>
              <a:t>[T02] NextStep Team. NextStep-1: Toward Autoregressive Image Generation with Continuous Tokens at Scale. ICLR 2026. https://arxiv.org/abs/2508.10711</a:t>
            </a:r>
          </a:p>
          <a:p>
            <a:endParaRPr/>
          </a:p>
          <a:p>
            <a:r>
              <a:t>[T01] Yueming Pan, Ruoyu Feng, Qi Dai, Yuqi Wang, Wenfeng Lin, Mingyu Guo, Chong Luo, Nanning Zheng. Semantics Lead the Way: Harmonizing Semantic and Texture Modeling with Asynchronous Latent Diffusion. CVPR 2026. https://arxiv.org/abs/2512.04926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051792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研究主张待验证：几何内容应能解释有益修订，而非仅依赖更多采样。互条件完成源于MCFlow，混合模型参照源于FlowLLM/CrysLLMGen，组成搜索参照源于ANCHOR。最终主结果是全独立DNG严格SUN，条件任务用于解释能力。</a:t>
            </a:r>
          </a:p>
          <a:p>
            <a:endParaRPr/>
          </a:p>
          <a:p>
            <a:r>
              <a:t>参考文献</a:t>
            </a:r>
          </a:p>
          <a:p>
            <a:endParaRPr/>
          </a:p>
          <a:p>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[R49] Kiyoung Seong, Sungsoo Ahn, Sehui Han, Changyoung Park. Multimodal Crystal Flow: Any-to-Any Modality Generation for Unified Crystal Modeling. ICML2026, PMLR306:109105–109131. https://proceedings.mlr.press/v306/seong26a.html</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56873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阶段表示问题推进，不声称所有工作直接继承。SLICES采用周期商图；Wyckoff Transformer的几何实现包括DiffCSP++解码；SCIGEN实际包装DiffCSP。Composable将邻域concept组合后交给条件DDPM。UFO-MGen采用离散配置与连续flow分工。预测知识的可生成性需要实验建立。</a:t>
            </a:r>
          </a:p>
          <a:p>
            <a:endParaRPr/>
          </a:p>
          <a:p>
            <a:r>
              <a:t>参考文献</a:t>
            </a:r>
          </a:p>
          <a:p>
            <a:endParaRPr/>
          </a:p>
          <a:p>
            <a:r>
              <a:t>[R05] Tian Xie, Jeffrey C. Grossman. Crystal Graph Convolutional Neural Networks for an Accurate and Interpretable Prediction of Material Properties. Physical Review Letters 120, 145301. DOI: 10.1103/PhysRevLett.120.145301. https://journals.aps.org/prl/abstract/10.1103/PhysRevLett.120.145301</a:t>
            </a:r>
          </a:p>
          <a:p>
            <a:endParaRPr/>
          </a:p>
          <a:p>
            <a:r>
              <a:t>[R10] Chi Chen, Shyue Ping Ong. A universal graph deep learning interatomic potential for the periodic table. Nature Computational Science 2, 718–728. DOI: 10.1038/s43588-022-00349-3. https://www.nature.com/articles/s43588-022-00349-3</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[R08] Tian Xie, Xiang Fu, Octavian-Eugen Ganea, Regina Barzilay, Tommi Jaakkola. Crystal Diffusion Variational Autoencoder for Periodic Material Generation. ICLR 2022. https://arxiv.org/abs/2110.06197</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[R36] Kelvinius, Filip Ekström, Andersson, Oskar B., Parackal, Abhijith S., Qian, Dong, Armiento, Rickard, Lindsten, Fredrik. WyckoffDiff – A Generative Diffusion Model for Crystal Symmetry. ICML 2025, PMLR 267. https://proceedings.mlr.press/v267/ekstrom-kelvinius25a.html</a:t>
            </a:r>
          </a:p>
          <a:p>
            <a:endParaRPr/>
          </a:p>
          <a:p>
            <a:r>
              <a:t>[R38] Kazeev, Nikita, Nong, Wei, Romanov, Ignat, Zhu, Ruiming, Ustyuzhanin, Andrey, Yamazaki, Shuya, Hippalgaonkar, Kedar. Wyckoff Transformer: Generation of Symmetric Crystals. ICML 2025, PMLR 267, 29495–29526. https://arxiv.org/abs/2503.02407</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a:endParaRPr/>
          </a:p>
          <a:p>
            <a:r>
              <a:t>[R55] Jingyi Zhou, Oyshee Chowdhury, Noah Oyeniran, Chongze Hu. Topology-Stratified Materials Discovery with A Flow-Based Generative Model. arXiv 预印本 2026. https://arxiv.org/html/2609.26547v1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402310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DynFusion §3.2从当前噪声状态预测条件mask，§4.1比较多个空间、主体及混合视觉条件。Bradley的理论针对特定条件组合结构，原实验为CLEVR长度泛化及自然图像探索。晶体中邻域重叠、原子共享、周期晶格与相竞争需要新的条件。方法贡献需说明共享关系怎样改变组合泛化。</a:t>
            </a:r>
          </a:p>
          <a:p>
            <a:endParaRPr/>
          </a:p>
          <a:p>
            <a:r>
              <a:t>参考文献</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a:endParaRPr/>
          </a:p>
          <a:p>
            <a:r>
              <a:t>[R49] Kiyoung Seong, Sungsoo Ahn, Sehui Han, Changyoung Park. Multimodal Crystal Flow: Any-to-Any Modality Generation for Unified Crystal Modeling. ICML2026, PMLR306:109105–109131. https://proceedings.mlr.press/v306/seong26a.html</a:t>
            </a:r>
          </a:p>
          <a:p>
            <a:endParaRPr/>
          </a:p>
          <a:p>
            <a:r>
              <a:t>[R55] Jingyi Zhou, Oyshee Chowdhury, Noah Oyeniran, Chongze Hu. Topology-Stratified Materials Discovery with A Flow-Based Generative Model. arXiv 预印本 2026. https://arxiv.org/html/2609.26547v1</a:t>
            </a:r>
          </a:p>
          <a:p>
            <a:endParaRPr/>
          </a:p>
          <a:p>
            <a:r>
              <a:t>[T03] Arwen Bradley. Local Mechanisms of Compositional Generalization in Conditional Diffusion. ICML 2026, PMLR 306:9531–9565. https://proceedings.mlr.press/v306/bradley26a.html</a:t>
            </a:r>
          </a:p>
          <a:p>
            <a:endParaRPr/>
          </a:p>
          <a:p>
            <a:r>
              <a:t>[T07] Zheng Fang, Lichuan Xiang, Xu Cai, Bing Wang, Bo Yang, Hongkai Wen. DynFusion: Rethinking Condition Fusion for Adaptive Multi-Conditional Text-to-Image Generation. CVPR 2026, 29103–29113. https://wrap.warwick.ac.uk/id/eprint/197869/8/WRAP-DynFusion-rethinking-condition-fusion-multi-conditional-text-to-image-generation-26.pdf</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197035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局部关系以统一邻接定义具体化。熟悉原型中的新稳定化学继续计入成功。复制超胞仅改变表示规模，不能当新整体结构。路线B主张待验证，不预设局部约束越多越好。各条件任务需在后处理后检查是否仍成立。</a:t>
            </a:r>
          </a:p>
          <a:p>
            <a:endParaRPr/>
          </a:p>
          <a:p>
            <a:r>
              <a:t>参考文献</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[R31] Nathan J. Szymanski, Christopher J. Bartel. Establishing baselines for generative discovery of inorganic crystals. Materials Horizons 2025. DOI: 10.1039/D5MH00010F. https://pubs.rsc.org/en/content/articlehtml/2025/mh/d5mh00010f</a:t>
            </a:r>
          </a:p>
          <a:p>
            <a:endParaRPr/>
          </a:p>
          <a:p>
            <a:r>
              <a:t>[R49] Kiyoung Seong, Sungsoo Ahn, Sehui Han, Changyoung Park. Multimodal Crystal Flow: Any-to-Any Modality Generation for Unified Crystal Modeling. ICML2026, PMLR306:109105–109131. https://proceedings.mlr.press/v306/seong26a.html</a:t>
            </a:r>
          </a:p>
          <a:p>
            <a:endParaRPr/>
          </a:p>
          <a:p>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a:endParaRPr/>
          </a:p>
          <a:p>
            <a:r>
              <a:t>[R52] Negishi, Masahiro, Walsh, Aron. Substitution-Based Analysis of Structural Novelty for Generative Models of Materials. arXiv 预印本 2026. https://arxiv.org/html/2606.23166v1</a:t>
            </a:r>
          </a:p>
          <a:p>
            <a:endParaRPr/>
          </a:p>
          <a:p>
            <a:r>
              <a:t>[R55] Jingyi Zhou, Oyshee Chowdhury, Noah Oyeniran, Chongze Hu. Topology-Stratified Materials Discovery with A Flow-Based Generative Model. arXiv 预印本 2026. https://arxiv.org/html/2609.26547v1</a:t>
            </a:r>
          </a:p>
          <a:p>
            <a:endParaRPr/>
          </a:p>
          <a:p>
            <a:r>
              <a:t>[T03] Arwen Bradley. Local Mechanisms of Compositional Generalization in Conditional Diffusion. ICML 2026, PMLR 306:9531–9565. https://proceedings.mlr.press/v306/bradley26a.html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353330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OpenCSP基于物理数据与并发学习研究压力CSP，截至原资料为2025预印本。MatInvent默认MatterGen，PLaID++是结构语言偏好训练，Chemeleon2是latent RL。OMatG-IRL基于SI，flash直接采用RAM。GSS主要是生成先验与物理势的混合搜索，不将其写作同一种生成器后训练。</a:t>
            </a:r>
          </a:p>
          <a:p>
            <a:endParaRPr/>
          </a:p>
          <a:p>
            <a:r>
              <a:t>参考文献</a:t>
            </a:r>
          </a:p>
          <a:p>
            <a:endParaRPr/>
          </a:p>
          <a:p>
            <a:r>
              <a:t>[R01] Chris J. Pickard, R. J. Needs. High-Pressure Phases of Silane. Physical Review Letters 97, 045504. DOI: 10.1103/PhysRevLett.97.045504. https://journals.aps.org/prl/abstract/10.1103/PhysRevLett.97.045504</a:t>
            </a:r>
          </a:p>
          <a:p>
            <a:endParaRPr/>
          </a:p>
          <a:p>
            <a:r>
              <a:t>[R02] Artem R. Oganov, Colin W. Glass. Crystal structure prediction using ab initio evolutionary techniques: Principles and applications. Journal of Chemical Physics 124, 244704 (2006). DOI: 10.1063/1.2210932. https://doi.org/10.1063/1.2210932</a:t>
            </a:r>
          </a:p>
          <a:p>
            <a:endParaRPr/>
          </a:p>
          <a:p>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a:endParaRPr/>
          </a:p>
          <a:p>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[R41] Wang, Yinan, Wang, Xiaoyang, Wang, Zhenyu, Wu, Jing, Lv, Jian, Wang, Han. OpenCSP: A Deep Learning Framework for Crystal Structure Prediction from Ambient to High Pressure. arXiv 预印本 2025. https://arxiv.org/html/2509.10293v1</a:t>
            </a:r>
          </a:p>
          <a:p>
            <a:endParaRPr/>
          </a:p>
          <a:p>
            <a:r>
              <a:t>[R44] Chen, Junwu, Guo, Jeff, Fako, Edvin, Schwaller, Philippe. Accelerating inverse materials design using generative diffusion models with reinforcement learning. arXiv 预印本 2025. https://arxiv.org/html/2511.03112v1</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[R48] Hoellmer, Philipp, Martiniani, Stefano. Open Materials Generation with Inference-Time Reinforcement Learning. ICML 2026. https://arxiv.org/html/2602.00424v2</a:t>
            </a:r>
          </a:p>
          <a:p>
            <a:endParaRPr/>
          </a:p>
          <a:p>
            <a:r>
              <a:t>[R54] Egg, Thomas, Sullivan, Harry Winston, Tadmor, Ellad B., Martiniani, Stefano. OMatG-flash: An All-Atom Flow Map with Reinforce Adjoint Matching for Scalable Materials Discovery. arXiv 预印本 2026. https://arxiv.org/html/2609.26402v1</a:t>
            </a:r>
          </a:p>
          <a:p>
            <a:endParaRPr/>
          </a:p>
          <a:p>
            <a:r>
              <a:t>[R50] Qin, Yifang, Shi, Yu, Tan, Junfu, Liu, Chang, Zhang, Ming, Lu, Ziheng. Generative structure search for efficient and diverse discovery of molecular and crystal structures. arXiv 预印本 2026. https://arxiv.org/html/2604.27636v2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463757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响应关系学习是当前路线的研究命题，而不是这些原工作已得出的共同结论。Flow-GRPO用在线策略梯度，RAM保持解析加噪回归形式并由终点奖励修正。CrystAF原对象是分子晶体，不用其packing结果充当无机SUN。</a:t>
            </a:r>
          </a:p>
          <a:p>
            <a:endParaRPr/>
          </a:p>
          <a:p>
            <a:r>
              <a:t>参考文献</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[R26] Miller, Benjamin Kurt, Chen, Ricky T. Q., Sriram, Anuroop, Wood, Brandon M. FlowMM: Generating Materials with Riemannian Flow Matching. ICML 2024, PMLR 235. https://proceedings.mlr.press/v235/miller24a.html</a:t>
            </a:r>
          </a:p>
          <a:p>
            <a:endParaRPr/>
          </a:p>
          <a:p>
            <a:r>
              <a:t>[T08] Michael Albergo, Nicholas M. Boffi, Eric Vanden-Eijnden. Stochastic Interpolants: A Unifying Framework for Flows and Diffusions. JMLR 26(209):1–80 (2025)，首稿2023. https://jmlr.org/papers/v26/23-1605.html</a:t>
            </a:r>
          </a:p>
          <a:p>
            <a:endParaRPr/>
          </a:p>
          <a:p>
            <a:r>
              <a:t>[R44] Chen, Junwu, Guo, Jeff, Fako, Edvin, Schwaller, Philippe. Accelerating inverse materials design using generative diffusion models with reinforcement learning. arXiv 预印本 2025. https://arxiv.org/html/2511.03112v1</a:t>
            </a:r>
          </a:p>
          <a:p>
            <a:endParaRPr/>
          </a:p>
          <a:p>
            <a:r>
              <a:t>[R48] Hoellmer, Philipp, Martiniani, Stefano. Open Materials Generation with Inference-Time Reinforcement Learning. ICML 2026. https://arxiv.org/html/2602.00424v2</a:t>
            </a:r>
          </a:p>
          <a:p>
            <a:endParaRPr/>
          </a:p>
          <a:p>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p>
          <a:p>
            <a:endParaRPr/>
          </a:p>
          <a:p>
            <a:r>
              <a:t>[T05] Andreas Bergmeister, Stefanie Jegelka, Nikolas Nüsken, Carles Domingo-Enrich, Jakiw Pidstrigach. Reinforce Adjoint Matching: Scaling RL Post-Training of Diffusion and Flow-Matching Models. arXiv 2605.10759v2 (2026). https://arxiv.org/abs/2605.10759</a:t>
            </a:r>
          </a:p>
          <a:p>
            <a:endParaRPr/>
          </a:p>
          <a:p>
            <a:r>
              <a:t>[R54] Egg, Thomas, Sullivan, Harry Winston, Tadmor, Ellad B., Martiniani, Stefano. OMatG-flash: An All-Atom Flow Map with Reinforce Adjoint Matching for Scalable Materials Discovery. arXiv 预印本 2026. https://arxiv.org/html/2609.26402v1</a:t>
            </a:r>
          </a:p>
          <a:p>
            <a:endParaRPr/>
          </a:p>
          <a:p>
            <a:r>
              <a:t>[R50] Qin, Yifang, Shi, Yu, Tan, Junfu, Liu, Chang, Zhang, Ming, Lu, Ziheng. Generative structure search for efficient and diverse discovery of molecular and crystal structures. arXiv 预印本 2026. https://arxiv.org/html/2604.27636v2</a:t>
            </a:r>
          </a:p>
          <a:p>
            <a:endParaRPr/>
          </a:p>
          <a:p>
            <a:r>
              <a:t>[R57] Tang, Haocheng, Wang, Junmei, Jin, Wengong. Where Should Physics Enter a Molecular Crystal Generator?. arXiv 预印本 2026. https://arxiv.org/html/2609.36398v1</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39596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对比保持终点池与物理投入可比，关系学习额外使用来源与实际变化的对应。模型需在新的请求中获益，不能仅重现训练终点。数值弛豫路径保留求解器依赖，生成模型可学习更一般的分布关系。</a:t>
            </a:r>
          </a:p>
          <a:p>
            <a:endParaRPr/>
          </a:p>
          <a:p>
            <a:r>
              <a:t>参考文献</a:t>
            </a:r>
          </a:p>
          <a:p>
            <a:endParaRPr/>
          </a:p>
          <a:p>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p>
          <a:p>
            <a:endParaRPr/>
          </a:p>
          <a:p>
            <a:r>
              <a:t>[R18] Amil Merchant, Simon Batzner, Samuel S. Schoenholz, Muratahan Aykol, Gowoon Cheon, Ekin Dogus Cubuk. Scaling deep learning for materials discovery. Nature 2023. DOI: 10.1038/s41586-023-06735-9. https://www.nature.com/articles/s41586-023-06735-9</a:t>
            </a:r>
          </a:p>
          <a:p>
            <a:endParaRPr/>
          </a:p>
          <a:p>
            <a:r>
              <a:t>[R41] Wang, Yinan, Wang, Xiaoyang, Wang, Zhenyu, Wu, Jing, Lv, Jian, Wang, Han. OpenCSP: A Deep Learning Framework for Crystal Structure Prediction from Ambient to High Pressure. arXiv 预印本 2025. https://arxiv.org/html/2509.10293v1</a:t>
            </a:r>
          </a:p>
          <a:p>
            <a:endParaRPr/>
          </a:p>
          <a:p>
            <a:r>
              <a:t>[R44] Chen, Junwu, Guo, Jeff, Fako, Edvin, Schwaller, Philippe. Accelerating inverse materials design using generative diffusion models with reinforcement learning. arXiv 预印本 2025. https://arxiv.org/html/2511.03112v1</a:t>
            </a:r>
          </a:p>
          <a:p>
            <a:endParaRPr/>
          </a:p>
          <a:p>
            <a:r>
              <a:t>[R48] Hoellmer, Philipp, Martiniani, Stefano. Open Materials Generation with Inference-Time Reinforcement Learning. ICML 2026. https://arxiv.org/html/2602.00424v2</a:t>
            </a:r>
          </a:p>
          <a:p>
            <a:endParaRPr/>
          </a:p>
          <a:p>
            <a:r>
              <a:t>[R54] Egg, Thomas, Sullivan, Harry Winston, Tadmor, Ellad B., Martiniani, Stefano. OMatG-flash: An All-Atom Flow Map with Reinforce Adjoint Matching for Scalable Materials Discovery. arXiv 预印本 2026. https://arxiv.org/html/2609.26402v1</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562854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GFlowNet为通用基础，QD与SHAFT任务不同。强基线研究在分别选出的500个MP新颖候选上作DFT，上游提出成本不同。ANCHOR在冻结CSP条件下调节组成策略。其语料重放不必是成功结构，保持原数据定义。</a:t>
            </a:r>
          </a:p>
          <a:p>
            <a:endParaRPr/>
          </a:p>
          <a:p>
            <a:r>
              <a:t>参考文献</a:t>
            </a:r>
          </a:p>
          <a:p>
            <a:endParaRPr/>
          </a:p>
          <a:p>
            <a:r>
              <a:t>[R09] Bengio, Yoshua, Lahlou, Salem, Deleu, Tristan, Hu, Edward J., Tiwari, Mo, Bengio, Emmanuel. GFlowNet Foundations. Journal of Machine Learning Research 2023. https://jmlr.org/papers/v24/22-0364.html</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[R30] Nguyen, Tri Minh, Tawfik, Sherif Abdulkader, Tran, Truyen, Gupta, Sunil, Rana, Santu, Venkatesh, Svetha. Efficient Symmetry-Aware Materials Generation via Hierarchical Generative Flow Networks. Digital Discovery 2026. DOI: 10.1039/D4DD00392F. https://arxiv.org/html/2411.04323v1</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[R44] Chen, Junwu, Guo, Jeff, Fako, Edvin, Schwaller, Philippe. Accelerating inverse materials design using generative diffusion models with reinforcement learning. arXiv 预印本 2025. https://arxiv.org/html/2511.03112v1</a:t>
            </a:r>
          </a:p>
          <a:p>
            <a:endParaRPr/>
          </a:p>
          <a:p>
            <a:r>
              <a:t>[R31] Nathan J. Szymanski, Christopher J. Bartel. Establishing baselines for generative discovery of inorganic crystals. Materials Horizons 2025. DOI: 10.1039/D5MH00010F. https://pubs.rsc.org/en/content/articlehtml/2025/mh/d5mh00010f</a:t>
            </a:r>
          </a:p>
          <a:p>
            <a:endParaRPr/>
          </a:p>
          <a:p>
            <a:r>
              <a:t>[R56] Hovmand, Emma Lei, Elsborg, Jonas, Kandemir, Melih, Bhowmik, Arghya. Let CSP Be Your ANCHOR: Adaptive Crystal Search over Frozen Structure Priors. arXiv 预印本 2026. https://arxiv.org/html/2609.33407v2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94622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Max@K原任务的目标模式预定义，当前arXiv v2注记WACV2027接收。这里仅用其集合贡献分配机制作迁移参照。Structure Matches的多晶型目标与LeMat的统一框架帮助定义能力，但不替代生成方法。D可以固定低层先研究上层探索，也可研究联合更新。</a:t>
            </a:r>
          </a:p>
          <a:p>
            <a:endParaRPr/>
          </a:p>
          <a:p>
            <a:r>
              <a:t>参考文献</a:t>
            </a:r>
          </a:p>
          <a:p>
            <a:endParaRPr/>
          </a:p>
          <a:p>
            <a:r>
              <a:t>[R09] Bengio, Yoshua, Lahlou, Salem, Deleu, Tristan, Hu, Edward J., Tiwari, Mo, Bengio, Emmanuel. GFlowNet Foundations. Journal of Machine Learning Research 2023. https://jmlr.org/papers/v24/22-0364.html</a:t>
            </a:r>
          </a:p>
          <a:p>
            <a:endParaRPr/>
          </a:p>
          <a:p>
            <a:r>
              <a:t>[R30] Nguyen, Tri Minh, Tawfik, Sherif Abdulkader, Tran, Truyen, Gupta, Sunil, Rana, Santu, Venkatesh, Svetha. Efficient Symmetry-Aware Materials Generation via Hierarchical Generative Flow Networks. Digital Discovery 2026. DOI: 10.1039/D4DD00392F. https://arxiv.org/html/2411.04323v1</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[R56] Hovmand, Emma Lei, Elsborg, Jonas, Kandemir, Melih, Bhowmik, Arghya. Let CSP Be Your ANCHOR: Adaptive Crystal Search over Frozen Structure Priors. arXiv 预印本 2026. https://arxiv.org/html/2609.33407v2</a:t>
            </a:r>
          </a:p>
          <a:p>
            <a:endParaRPr/>
          </a:p>
          <a:p>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p>
          <a:p>
            <a:endParaRPr/>
          </a:p>
          <a:p>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882925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首次发现、新颖于固定参考库、新颖于本项目更新集分别记录。已经学入训练的自发现材料，在下一轮生成时可计入参考库外SUN与保持能力，但不能再次计为研究过程中的首次发现。熟悉框架的新稳定化学仍计有效结果。</a:t>
            </a:r>
          </a:p>
          <a:p>
            <a:endParaRPr/>
          </a:p>
          <a:p>
            <a:r>
              <a:t>参考文献</a:t>
            </a:r>
          </a:p>
          <a:p>
            <a:endParaRPr/>
          </a:p>
          <a:p>
            <a:r>
              <a:t>[R09] Bengio, Yoshua, Lahlou, Salem, Deleu, Tristan, Hu, Edward J., Tiwari, Mo, Bengio, Emmanuel. GFlowNet Foundations. Journal of Machine Learning Research 2023. https://jmlr.org/papers/v24/22-0364.html</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[R30] Nguyen, Tri Minh, Tawfik, Sherif Abdulkader, Tran, Truyen, Gupta, Sunil, Rana, Santu, Venkatesh, Svetha. Efficient Symmetry-Aware Materials Generation via Hierarchical Generative Flow Networks. Digital Discovery 2026. DOI: 10.1039/D4DD00392F. https://arxiv.org/html/2411.04323v1</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[R56] Hovmand, Emma Lei, Elsborg, Jonas, Kandemir, Melih, Bhowmik, Arghya. Let CSP Be Your ANCHOR: Adaptive Crystal Search over Frozen Structure Priors. arXiv 预印本 2026. https://arxiv.org/html/2609.33407v2</a:t>
            </a:r>
          </a:p>
          <a:p>
            <a:endParaRPr/>
          </a:p>
          <a:p>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p>
          <a:p>
            <a:endParaRPr/>
          </a:p>
          <a:p>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473464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证据来源：https://github.com/YWDDLiang/Research/blob/main/crystal/evidence/historical-evidence.md 。第一行每臂24个能量未知，组成固定，晶胞和位置仍演化。第二行是每个DEV父来源四个未来形成的512配对。第三行为同一项目队列的分解，不能当作通用领域损失比例。</a:t>
            </a:r>
          </a:p>
          <a:p>
            <a:endParaRPr/>
          </a:p>
          <a:p>
            <a:r>
              <a:t>参考文献</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730992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参考文献</a:t>
            </a:r>
          </a:p>
          <a:p>
            <a:endParaRPr/>
          </a:p>
          <a:p>
            <a:r>
              <a:t>[R08] Tian Xie, Xiang Fu, Octavian-Eugen Ganea, Regina Barzilay, Tommi Jaakkola. Crystal Diffusion Variational Autoencoder for Periodic Material Generation. ICLR 2022. https://arxiv.org/abs/2110.06197</a:t>
            </a:r>
          </a:p>
          <a:p>
            <a:endParaRPr/>
          </a:p>
          <a:p>
            <a:r>
              <a:t>[R13] Rui Jiao, Wenbing Huang, Peijia Lin, Jiaqi Han, Pin Chen, Yutong Lu, Yang Liu. Crystal Structure Prediction by Joint Equivariant Diffusion. NeurIPS 2023. https://arxiv.org/abs/2309.04475</a:t>
            </a:r>
          </a:p>
          <a:p>
            <a:endParaRPr/>
          </a:p>
          <a:p>
            <a:r>
              <a:t>[R26] Miller, Benjamin Kurt, Chen, Ricky T. Q., Sriram, Anuroop, Wood, Brandon M. FlowMM: Generating Materials with Riemannian Flow Matching. ICML 2024, PMLR 235. https://proceedings.mlr.press/v235/miller24a.html</a:t>
            </a:r>
          </a:p>
          <a:p>
            <a:endParaRPr/>
          </a:p>
          <a:p>
            <a:r>
              <a:t>[R21] Nate Gruver, Anuroop Sriram, Andrea Madotto, Andrew Gordon Wilson, C. Lawrence Zitnick, Zachary Ulissi. Fine-Tuned Language Models Generate Stable Inorganic Materials as Text. ICLR 2024. https://arxiv.org/abs/2402.04379</a:t>
            </a:r>
          </a:p>
          <a:p>
            <a:endParaRPr/>
          </a:p>
          <a:p>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p>
          <a:p>
            <a:endParaRPr/>
          </a:p>
          <a:p>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p>
          <a:p>
            <a:endParaRPr/>
          </a:p>
          <a:p>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p>
          <a:p>
            <a:endParaRPr/>
          </a:p>
          <a:p>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p>
          <a:p>
            <a:endParaRPr/>
          </a:p>
          <a:p>
            <a:r>
              <a:t>[R49] Kiyoung Seong, Sungsoo Ahn, Sehui Han, Changyoung Park. Multimodal Crystal Flow: Any-to-Any Modality Generation for Unified Crystal Modeling. ICML2026, PMLR306:109105–109131. https://proceedings.mlr.press/v306/seong26a.html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04136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参考文献</a:t>
            </a:r>
          </a:p>
          <a:p>
            <a:endParaRPr/>
          </a:p>
          <a:p>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p>
          <a:p>
            <a:endParaRPr/>
          </a:p>
          <a:p>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p>
          <a:p>
            <a:endParaRPr/>
          </a:p>
          <a:p>
            <a:r>
              <a:t>[R35] Levy, Daniel, Panigrahi, Siba Smarak, Kaba, Sékou-Oumar, Zhu, Qiang, Lee, Kin Long Kelvin, Galkin, Mikhail, Miret, Santiago, Ravanbakhsh, Siamak. SymmCD: Symmetry-Preserving Crystal Generation with Diffusion Models. ICLR 2025. https://arxiv.org/abs/2502.03638</a:t>
            </a:r>
          </a:p>
          <a:p>
            <a:endParaRPr/>
          </a:p>
          <a:p>
            <a:r>
              <a:t>[R38] Kazeev, Nikita, Nong, Wei, Romanov, Ignat, Zhu, Ruiming, Ustyuzhanin, Andrey, Yamazaki, Shuya, Hippalgaonkar, Kedar. Wyckoff Transformer: Generation of Symmetric Crystals. ICML 2025, PMLR 267, 29495–29526. https://arxiv.org/abs/2503.02407</a:t>
            </a:r>
          </a:p>
          <a:p>
            <a:endParaRPr/>
          </a:p>
          <a:p>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p>
          <a:p>
            <a:endParaRPr/>
          </a:p>
          <a:p>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p>
          <a:p>
            <a:endParaRPr/>
          </a:p>
          <a:p>
            <a:r>
              <a:t>[R55] Jingyi Zhou, Oyshee Chowdhury, Noah Oyeniran, Chongze Hu. Topology-Stratified Materials Discovery with A Flow-Based Generative Model. arXiv 预印本 2026. https://arxiv.org/html/2609.26547v1</a:t>
            </a:r>
          </a:p>
          <a:p>
            <a:endParaRPr/>
          </a:p>
          <a:p>
            <a:r>
              <a:t>[T01] Yueming Pan, Ruoyu Feng, Qi Dai, Yuqi Wang, Wenfeng Lin, Mingyu Guo, Chong Luo, Nanning Zheng. Semantics Lead the Way: Harmonizing Semantic and Texture Modeling with Asynchronous Latent Diffusion. CVPR 2026. https://arxiv.org/abs/2512.04926</a:t>
            </a:r>
          </a:p>
          <a:p>
            <a:endParaRPr/>
          </a:p>
          <a:p>
            <a:r>
              <a:t>[T03] Arwen Bradley. Local Mechanisms of Compositional Generalization in Conditional Diffusion. ICML 2026, PMLR 306:9531–9565. https://proceedings.mlr.press/v306/bradley26a.html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649028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参考文献</a:t>
            </a:r>
          </a:p>
          <a:p>
            <a:endParaRPr/>
          </a:p>
          <a:p>
            <a:r>
              <a:t>[R40] Xu, Andy, Desai, Rohan, Wang, Larry, Ritz, Ethan, Hope, Gabriel. PLaID++: A Preference Aligned Language Model for Targeted Inorganic Materials Design. ICML 2026. https://arxiv.org/html/2509.07150v4</a:t>
            </a:r>
          </a:p>
          <a:p>
            <a:endParaRPr/>
          </a:p>
          <a:p>
            <a:r>
              <a:t>[R45] Hyunsoo Park, Aron Walsh. Guiding Generative Models to Uncover Diverse and Novel Crystals via Reinforcement Learning. Nature Machine Intelligence 2026. DOI: 10.1038/s42256-026-01262-4. https://www.nature.com/articles/s42256-026-01262-4</a:t>
            </a:r>
          </a:p>
          <a:p>
            <a:endParaRPr/>
          </a:p>
          <a:p>
            <a:r>
              <a:t>[R48] Hoellmer, Philipp, Martiniani, Stefano. Open Materials Generation with Inference-Time Reinforcement Learning. ICML 2026. https://arxiv.org/html/2602.00424v2</a:t>
            </a:r>
          </a:p>
          <a:p>
            <a:endParaRPr/>
          </a:p>
          <a:p>
            <a:r>
              <a:t>[R54] Egg, Thomas, Sullivan, Harry Winston, Tadmor, Ellad B., Martiniani, Stefano. OMatG-flash: An All-Atom Flow Map with Reinforce Adjoint Matching for Scalable Materials Discovery. arXiv 预印本 2026. https://arxiv.org/html/2609.26402v1</a:t>
            </a:r>
          </a:p>
          <a:p>
            <a:endParaRPr/>
          </a:p>
          <a:p>
            <a:r>
              <a:t>[R56] Hovmand, Emma Lei, Elsborg, Jonas, Kandemir, Melih, Bhowmik, Arghya. Let CSP Be Your ANCHOR: Adaptive Crystal Search over Frozen Structure Priors. arXiv 预印本 2026. https://arxiv.org/html/2609.33407v2</a:t>
            </a:r>
          </a:p>
          <a:p>
            <a:endParaRPr/>
          </a:p>
          <a:p>
            <a:r>
              <a:t>[R23] Marta Wolinska, Aron Walsh, Antoine Cully. Illuminating the property space in crystal structure prediction using Quality-Diversity algorithms. Digital Discovery 2024. DOI: 10.1039/D4DD00054D. https://arxiv.org/html/2403.03511v1</a:t>
            </a:r>
          </a:p>
          <a:p>
            <a:endParaRPr/>
          </a:p>
          <a:p>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p>
          <a:p>
            <a:endParaRPr/>
          </a:p>
          <a:p>
            <a:r>
              <a:t>[T05] Andreas Bergmeister, Stefanie Jegelka, Nikolas Nüsken, Carles Domingo-Enrich, Jakiw Pidstrigach. Reinforce Adjoint Matching: Scaling RL Post-Training of Diffusion and Flow-Matching Models. arXiv 2605.10759v2 (2026). https://arxiv.org/abs/2605.10759</a:t>
            </a:r>
          </a:p>
          <a:p>
            <a:endParaRPr/>
          </a:p>
          <a:p>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p>
          <a:p>
            <a:br/>
            <a:br/>
            <a:r>
              <a:t>完整文献表（65项）</a:t>
            </a:r>
            <a:br/>
            <a:br/>
            <a:r>
              <a:t>[R01] Chris J. Pickard, R. J. Needs. High-Pressure Phases of Silane. Physical Review Letters 97, 045504. DOI: 10.1103/PhysRevLett.97.045504. https://journals.aps.org/prl/abstract/10.1103/PhysRevLett.97.045504</a:t>
            </a:r>
            <a:br/>
            <a:br/>
            <a:r>
              <a:t>[R02] Artem R. Oganov, Colin W. Glass. Crystal structure prediction using ab initio evolutionary techniques: Principles and applications. Journal of Chemical Physics 124, 244704 (2006). DOI: 10.1063/1.2210932. https://doi.org/10.1063/1.2210932</a:t>
            </a:r>
            <a:br/>
            <a:br/>
            <a:r>
              <a:t>[R03] Chris J Pickard, R J Needs. Ab initio Random Structure Searching. Journal of Physics: Condensed Matter 2011. DOI: 10.1088/0953-8984/23/5/053201. https://arxiv.org/abs/1101.3987</a:t>
            </a:r>
            <a:br/>
            <a:br/>
            <a:r>
              <a:t>[R04] Anubhav Jain, Shyue Ping Ong, Geoffroy Hautier, Wei Chen, William Davidson Richards, Stephen Dacek, Shreyas Cholia, Dan Gunter, David Skinner, Gerbrand Ceder, Kristin A. Persson. Commentary: The Materials Project: A materials genome approach to accelerating materials innovation. APL Materials 1, 011002 (2013). DOI: 10.1063/1.4812323. https://doi.org/10.1063/1.4812323</a:t>
            </a:r>
            <a:br/>
            <a:br/>
            <a:r>
              <a:t>[R05] Tian Xie, Jeffrey C. Grossman. Crystal Graph Convolutional Neural Networks for an Accurate and Interpretable Prediction of Material Properties. Physical Review Letters 120, 145301. DOI: 10.1103/PhysRevLett.120.145301. https://journals.aps.org/prl/abstract/10.1103/PhysRevLett.120.145301</a:t>
            </a:r>
            <a:br/>
            <a:br/>
            <a:r>
              <a:t>[R06] Juhwan Noh, Jaehoon Kim, Helge S. Stein, Benjamin Sanchez-Lengeling, John M. Gregoire, Alan Aspuru-Guzik, Yousung Jung. Inverse Design of Solid-State Materials via a Continuous Representation. Matter 1(5), 1370–1384. DOI: 10.1016/j.matt.2019.08.017. https://doi.org/10.1016/j.matt.2019.08.017</a:t>
            </a:r>
            <a:br/>
            <a:br/>
            <a:r>
              <a:t>[R07] Zekun Ren, Siyu Isaac Parker Tian, Juhwan Noh, Felipe Oviedo, Guangzong Xing, Jiali Li, Qiaohao Liang, Ruiming Zhu, Armin G. Aberle, Shijing Sun, Xiaonan Wang, Yi Liu, Qianxiao Li, Senthilnath Jayavelu, Kedar Hippalgaonkar, Yousung Jung, Tonio Buonassisi. An invertible crystallographic representation for general inverse design of inorganic crystals with targeted properties. Matter 5, 314–335 2022. DOI: 10.1016/j.matt.2021.11.032. https://arxiv.org/pdf/2005.07609v3</a:t>
            </a:r>
            <a:br/>
            <a:br/>
            <a:r>
              <a:t>[R08] Tian Xie, Xiang Fu, Octavian-Eugen Ganea, Regina Barzilay, Tommi Jaakkola. Crystal Diffusion Variational Autoencoder for Periodic Material Generation. ICLR 2022. https://arxiv.org/abs/2110.06197</a:t>
            </a:r>
            <a:br/>
            <a:br/>
            <a:r>
              <a:t>[R09] Bengio, Yoshua, Lahlou, Salem, Deleu, Tristan, Hu, Edward J., Tiwari, Mo, Bengio, Emmanuel. GFlowNet Foundations. Journal of Machine Learning Research 2023. https://jmlr.org/papers/v24/22-0364.html</a:t>
            </a:r>
            <a:br/>
            <a:br/>
            <a:r>
              <a:t>[R10] Chi Chen, Shyue Ping Ong. A universal graph deep learning interatomic potential for the periodic table. Nature Computational Science 2, 718–728. DOI: 10.1038/s43588-022-00349-3. https://www.nature.com/articles/s43588-022-00349-3</a:t>
            </a:r>
            <a:br/>
            <a:br/>
            <a:r>
              <a:t>[R11] Bowen Deng, Peichen Zhong, KyuJung Jun, Janosh Riebesell, Kevin Han, Christopher J. Bartel, Gerbrand Ceder. CHGNet as a pretrained universal neural network potential for charge-informed atomistic modelling. Nature Machine Intelligence 5, 1031–1041. DOI: 10.1038/s42256-023-00716-3. https://www.nature.com/articles/s42256-023-00716-3</a:t>
            </a:r>
            <a:br/>
            <a:br/>
            <a:r>
              <a:t>[R12] Luis M. Antunes, Keith T. Butler, Ricardo Grau-Crespo. Crystal structure generation with autoregressive large language modeling. Nature Communications 15, 10570 2024. DOI: 10.1038/s41467-024-54639-7. https://www.nature.com/articles/s41467-024-54639-7</a:t>
            </a:r>
            <a:br/>
            <a:br/>
            <a:r>
              <a:t>[R13] Rui Jiao, Wenbing Huang, Peijia Lin, Jiaqi Han, Pin Chen, Yutong Lu, Yang Liu. Crystal Structure Prediction by Joint Equivariant Diffusion. NeurIPS 2023. https://arxiv.org/abs/2309.04475</a:t>
            </a:r>
            <a:br/>
            <a:br/>
            <a:r>
              <a:t>[R14] Elena Zamaraeva, Christopher M. Collins, Dmytro Antypov, Vladimir V. Gusev, Rahul Savani, Matthew S. Dyer, George R. Darling, Igor Potapov, Matthew J. Rosseinsky, Paul G. Spirakis. Reinforcement learning in crystal structure prediction. Digital Discovery 2023. DOI: 10.1039/D3DD00063J. https://pubs.rsc.org/en/content/articlehtml/2023/dd/d3dd00063j</a:t>
            </a:r>
            <a:br/>
            <a:br/>
            <a:r>
              <a:t>[R15] Yang, Sherry, Cho, KwangHwan, Merchant, Amil, Abbeel, Pieter, Schuurmans, Dale, Mordatch, Igor, Cubuk, Ekin Dogus. Scalable Diffusion for Materials Generation. ICLR 2024. https://arxiv.org/abs/2311.09235</a:t>
            </a:r>
            <a:br/>
            <a:br/>
            <a:r>
              <a:t>[R16] Hang Xiao, Rong Li, Xiaoyang Shi, Yan Chen, Liangliang Zhu, Xi Chen, Lei Wang. An invertible, invariant crystal representation for inverse design of solid-state materials using generative deep learning. Nature Communications 14, 7027 2023. DOI: 10.1038/s41467-023-42870-7. https://www.nature.com/articles/s41467-023-42870-7</a:t>
            </a:r>
            <a:br/>
            <a:br/>
            <a:r>
              <a:t>[R17] Nathan J. Szymanski, Bernardus Rendy, Yuxing Fei, Rishi E. Kumar, Tanjin He, David Milsted, Matthew J. McDermott, Max Gallant, Ekin Dogus Cubuk, Amil Merchant, Haegyeom Kim, Anubhav Jain, Christopher J. Bartel, Kristin Persson, Yan Zeng, Gerbrand Ceder. Author Correction: An autonomous laboratory for the accelerated synthesis of inorganic materials. Nature 650, E1 (2026). DOI: 10.1038/s41586-025-09992-y. https://www.nature.com/articles/s41586-025-09992-y</a:t>
            </a:r>
            <a:br/>
            <a:br/>
            <a:r>
              <a:t>[R18] Amil Merchant, Simon Batzner, Samuel S. Schoenholz, Muratahan Aykol, Gowoon Cheon, Ekin Dogus Cubuk. Scaling deep learning for materials discovery. Nature 2023. DOI: 10.1038/s41586-023-06735-9. https://www.nature.com/articles/s41586-023-06735-9</a:t>
            </a:r>
            <a:br/>
            <a:br/>
            <a:r>
              <a:t>[R19] Claudio Zeni, Robert Pinsler, Daniel Zügner, Andrew Fowler, Matthew Horton, Xiang Fu, Zilong Wang, Aliaksandra Shysheya, Jonathan Crabbé, Shoko Ueda, Roberto Sordillo, Lixin Sun, Jake Smith, Bichlien Nguyen, Hannes Schulz, Sarah Lewis, Chin-Wei Huang, Ziheng Lu, Yichi Zhou, Han Yang, Hongxia Hao, Jielan Li, Chunlei Yang, Wenjie Li, Ryota Tomioka, Tian Xie. A generative model for inorganic materials design. Nature 2025. DOI: 10.1038/s41586-025-08628-5. https://www.nature.com/articles/s41586-025-08628-5</a:t>
            </a:r>
            <a:br/>
            <a:br/>
            <a:r>
              <a:t>[R20] Yan, Keqiang, Li, Xiner, Ling, Hongyi, Ashen, Kenna, Edwards, Carl, Arróyave, Raymundo, Zitnik, Marinka, Ji, Heng, Qian, Xiaofeng, Qian, Xiaoning, Ji, Shuiwang. Invariant Tokenization of Crystalline Materials for Language Model Enabled Generation. NeurIPS 2024. https://papers.nips.cc/paper_files/paper/2024/hash/e23133d34964a0a09f6d076fc4b922a4-Abstract-Conference.html</a:t>
            </a:r>
            <a:br/>
            <a:br/>
            <a:r>
              <a:t>[R21] Nate Gruver, Anuroop Sriram, Andrea Madotto, Andrew Gordon Wilson, C. Lawrence Zitnick, Zachary Ulissi. Fine-Tuned Language Models Generate Stable Inorganic Materials as Text. ICLR 2024. https://arxiv.org/abs/2402.04379</a:t>
            </a:r>
            <a:br/>
            <a:br/>
            <a:r>
              <a:t>[R22] Jiao, Rui, Huang, Wenbing, Liu, Yu, Zhao, Deli, Liu, Yang. Space Group Constrained Crystal Generation. ICLR 2024. https://arxiv.org/abs/2402.03992</a:t>
            </a:r>
            <a:br/>
            <a:br/>
            <a:r>
              <a:t>[R23] Marta Wolinska, Aron Walsh, Antoine Cully. Illuminating the property space in crystal structure prediction using Quality-Diversity algorithms. Digital Discovery 2024. DOI: 10.1039/D4DD00054D. https://arxiv.org/html/2403.03511v1</a:t>
            </a:r>
            <a:br/>
            <a:br/>
            <a:r>
              <a:t>[R24] Cai-Yuan Ye, Hong-Ming Weng, Quan-Sheng Wu. Con-CDVAE: A method for the conditional generation of crystal structures. Computational Materials Today 1, 100003 2024. DOI: 10.1016/j.commt.2024.100003. https://arxiv.org/html/2403.12478v1</a:t>
            </a:r>
            <a:br/>
            <a:br/>
            <a:r>
              <a:t>[R25] Zhendong Cao, Xiaoshan Luo, Jian Lv, Lei Wang. Space group informed transformer for crystalline materials generation. Science Bulletin 70, 3522–3533 2025. DOI: 10.1016/j.scib.2025.09.035. https://arxiv.org/abs/2403.15734</a:t>
            </a:r>
            <a:br/>
            <a:br/>
            <a:r>
              <a:t>[R26] Miller, Benjamin Kurt, Chen, Ricky T. Q., Sriram, Anuroop, Wood, Brandon M. FlowMM: Generating Materials with Riemannian Flow Matching. ICML 2024, PMLR 235. https://proceedings.mlr.press/v235/miller24a.html</a:t>
            </a:r>
            <a:br/>
            <a:br/>
            <a:r>
              <a:t>[R27] Ryotaro Okabe, Mouyang Cheng, Abhijatmedhi Chotrattanapituk, Manasi Mandal, Kiran Mak, Denisse Córdova Carrizales, Nguyen Tuan Hung, Xiang Fu, Bowen Han, Yao Wang, Weiwei Xie, Robert J. Cava, Tommi S. Jaakkola, Yongqiang Cheng, Mingda Li. Structural constraint integration in a generative model for the discovery of quantum materials. Nature Materials 25, 223–230 2026. DOI: 10.1038/s41563-025-02355-y. https://www.nature.com/articles/s41563-025-02355-y</a:t>
            </a:r>
            <a:br/>
            <a:br/>
            <a:r>
              <a:t>[R28] Sherry Yang, Simon Batzner, Ruiqi Gao, Muratahan Aykol, Alexander L. Gaunt, Brendan McMorrow, Danilo J. Rezende, Dale Schuurmans, Igor Mordatch, Ekin D. Cubuk. Generative Hierarchical Materials Search. NeurIPS 2024. https://proceedings.neurips.cc/paper_files/paper/2024/file/447d012bd95b6767a4bfdebf96cdfcc9-Paper-Conference.pdf</a:t>
            </a:r>
            <a:br/>
            <a:br/>
            <a:r>
              <a:t>[R29] Anuroop Sriram, Benjamin Kurt Miller, Ricky T. Q. Chen, Brandon M. Wood. FlowLLM: Flow Matching for Material Generation with Large Language Models as Base Distributions. NeurIPS 2024. DOI: 10.52202/079017-1464. https://proceedings.neurips.cc/paper_files/paper/2024/hash/51d317df78eded9eb3c9d3fb1091c279-Abstract-Conference.html</a:t>
            </a:r>
            <a:br/>
            <a:br/>
            <a:r>
              <a:t>[R30] Nguyen, Tri Minh, Tawfik, Sherif Abdulkader, Tran, Truyen, Gupta, Sunil, Rana, Santu, Venkatesh, Svetha. Efficient Symmetry-Aware Materials Generation via Hierarchical Generative Flow Networks. Digital Discovery 2026. DOI: 10.1039/D4DD00392F. https://arxiv.org/html/2411.04323v1</a:t>
            </a:r>
            <a:br/>
            <a:br/>
            <a:r>
              <a:t>[R31] Nathan J. Szymanski, Christopher J. Bartel. Establishing baselines for generative discovery of inorganic crystals. Materials Horizons 2025. DOI: 10.1039/D5MH00010F. https://pubs.rsc.org/en/content/articlehtml/2025/mh/d5mh00010f</a:t>
            </a:r>
            <a:br/>
            <a:br/>
            <a:r>
              <a:t>[R32] Pierre-Paul De Breuck, Hashim A. Piracha, Gian-Marco Rignanese, Miguel A. L. Marques. A generative material transformer using Wyckoff representation. npj Computational Materials 12, 60 2026. DOI: 10.1038/s41524-025-01940-8. https://www.nature.com/articles/s41524-025-01940-8</a:t>
            </a:r>
            <a:br/>
            <a:br/>
            <a:r>
              <a:t>[R33] Wu, Hanlin, Song, Yuxuan, Gong, Jingjing, Cao, Ziyao, Ouyang, Yawen, Zhang, Jianbing, Zhou, Hao, Ma, Wei-Ying, Liu, Jingjing. A Periodic Bayesian Flow for Material Generation. ICLR 2025. https://arxiv.org/abs/2502.02016</a:t>
            </a:r>
            <a:br/>
            <a:br/>
            <a:r>
              <a:t>[R34] Hoellmer, Philipp, Egg, Thomas, Martirossyan, Maya M., Fuemmeler, Eric, Shui, Zeren, Gupta, Amit, Prakash, Pawan, Roitberg, Adrian, Liu, Mingjie, Karypis, George, Transtrum, Mark, Hennig, Richard G., Tadmor, Ellad B., Martiniani, Stefano. Open Materials Generation with Stochastic Interpolants. ICML 2025, PMLR 267. https://proceedings.mlr.press/v267/hollmer25a.html</a:t>
            </a:r>
            <a:br/>
            <a:br/>
            <a:r>
              <a:t>[R35] Levy, Daniel, Panigrahi, Siba Smarak, Kaba, Sékou-Oumar, Zhu, Qiang, Lee, Kin Long Kelvin, Galkin, Mikhail, Miret, Santiago, Ravanbakhsh, Siamak. SymmCD: Symmetry-Preserving Crystal Generation with Diffusion Models. ICLR 2025. https://arxiv.org/abs/2502.03638</a:t>
            </a:r>
            <a:br/>
            <a:br/>
            <a:r>
              <a:t>[R36] Kelvinius, Filip Ekström, Andersson, Oskar B., Parackal, Abhijith S., Qian, Dong, Armiento, Rickard, Lindsten, Fredrik. WyckoffDiff – A Generative Diffusion Model for Crystal Symmetry. ICML 2025, PMLR 267. https://proceedings.mlr.press/v267/ekstrom-kelvinius25a.html</a:t>
            </a:r>
            <a:br/>
            <a:br/>
            <a:r>
              <a:t>[R37] Kishalay Das, Subhojyoti Khastagir, Pawan Goyal, Seung-Cheol Lee, Satadeep Bhattacharjee, Niloy Ganguly. Periodic Materials Generation using Text-Guided Joint Diffusion Model. ICLR 2025. https://proceedings.iclr.cc/paper_files/paper/2025/hash/24e4e3234178a836b70e0aa48827e0ff-Abstract-Conference.html</a:t>
            </a:r>
            <a:br/>
            <a:br/>
            <a:r>
              <a:t>[R38] Kazeev, Nikita, Nong, Wei, Romanov, Ignat, Zhu, Ruiming, Ustyuzhanin, Andrey, Yamazaki, Shuya, Hippalgaonkar, Kedar. Wyckoff Transformer: Generation of Symmetric Crystals. ICML 2025, PMLR 267, 29495–29526. https://arxiv.org/abs/2503.02407</a:t>
            </a:r>
            <a:br/>
            <a:br/>
            <a:r>
              <a:t>[R39] Hyunsoo Park, Anthony Onwuli, Aron Walsh. Exploration of crystal chemical space using text-guided generative artificial intelligence. Nature Communications 16, 4379 2025. DOI: 10.1038/s41467-025-59636-y. https://www.nature.com/articles/s41467-025-59636-y</a:t>
            </a:r>
            <a:br/>
            <a:br/>
            <a:r>
              <a:t>[R40] Xu, Andy, Desai, Rohan, Wang, Larry, Ritz, Ethan, Hope, Gabriel. PLaID++: A Preference Aligned Language Model for Targeted Inorganic Materials Design. ICML 2026. https://arxiv.org/html/2509.07150v4</a:t>
            </a:r>
            <a:br/>
            <a:br/>
            <a:r>
              <a:t>[R41] Wang, Yinan, Wang, Xiaoyang, Wang, Zhenyu, Wu, Jing, Lv, Jian, Wang, Han. OpenCSP: A Deep Learning Framework for Crystal Structure Prediction from Ambient to High Pressure. arXiv 预印本 2025. https://arxiv.org/html/2509.10293v1</a:t>
            </a:r>
            <a:br/>
            <a:br/>
            <a:r>
              <a:t>[R42] Martirossyan, Maya M., Egg, Thomas, Hoellmer, Philipp, Karypis, George, Transtrum, Mark, Roitberg, Adrian, Liu, Mingjie, Hennig, Richard G., Tadmor, Ellad B., Martiniani, Stefano. All that structure matches does not glitter. NeurIPS Datasets and Benchmarks 2025. https://arxiv.org/html/2509.12178v2</a:t>
            </a:r>
            <a:br/>
            <a:br/>
            <a:r>
              <a:t>[R43] Subhojyoti Khastagir, Kishalay Das, Pawan Goyal, Seung-Cheol Lee, Satadeep Bhattacharjee, Niloy Ganguly. LLM Meets Diffusion: A Hybrid Framework for Crystal Material Generation. NeurIPS 2025. DOI: 10.52202/085713-5635. https://proceedings.neurips.cc/paper_files/paper/2025/hash/f789a628fca473e922c806657512a20f-Abstract-Conference.html</a:t>
            </a:r>
            <a:br/>
            <a:br/>
            <a:r>
              <a:t>[R44] Chen, Junwu, Guo, Jeff, Fako, Edvin, Schwaller, Philippe. Accelerating inverse materials design using generative diffusion models with reinforcement learning. arXiv 预印本 2025. https://arxiv.org/html/2511.03112v1</a:t>
            </a:r>
            <a:br/>
            <a:br/>
            <a:r>
              <a:t>[R45] Hyunsoo Park, Aron Walsh. Guiding Generative Models to Uncover Diverse and Novel Crystals via Reinforcement Learning. Nature Machine Intelligence 2026. DOI: 10.1038/s42256-026-01262-4. https://www.nature.com/articles/s42256-026-01262-4</a:t>
            </a:r>
            <a:br/>
            <a:br/>
            <a:r>
              <a:t>[R46] Betala, Siddharth, Gleason, Samuel P., Ramlaoui, Ali, Xu, Andy, Channing, Georgia, Levy, Daniel, Fourrier, Clémentine, Kazeev, Nikita, Joshi, Chaitanya K., Kaba, Sékou-Oumar, Therrien, Félix, Hernandez-Garcia, Alex, Mercado, Rocío, Krishnan, N. M. Anoop, Duval, Alexandre. LeMat-GenBench: A Unified Evaluation Framework for Crystal Generative Models. arXiv 预印本 2025. https://arxiv.org/html/2512.04562v2</a:t>
            </a:r>
            <a:br/>
            <a:br/>
            <a:r>
              <a:t>[R47] Peijia Lin, Zihan Zhang, Zhangrui Zhao, Shaohao Rui, Junyi An, Yun-Fei Shi, Fenglei Cao, Weijie Ma, Yutong Lu. Periodic Bayesian Flow Networks with Additive Accuracy. ICML 2026, PMLR 306, 75161–75176. https://proceedings.mlr.press/v306/lin26ar.html</a:t>
            </a:r>
            <a:br/>
            <a:br/>
            <a:r>
              <a:t>[R48] Hoellmer, Philipp, Martiniani, Stefano. Open Materials Generation with Inference-Time Reinforcement Learning. ICML 2026. https://arxiv.org/html/2602.00424v2</a:t>
            </a:r>
            <a:br/>
            <a:br/>
            <a:r>
              <a:t>[R49] Kiyoung Seong, Sungsoo Ahn, Sehui Han, Changyoung Park. Multimodal Crystal Flow: Any-to-Any Modality Generation for Unified Crystal Modeling. ICML2026, PMLR306:109105–109131. https://proceedings.mlr.press/v306/seong26a.html</a:t>
            </a:r>
            <a:br/>
            <a:br/>
            <a:r>
              <a:t>[R50] Qin, Yifang, Shi, Yu, Tan, Junfu, Liu, Chang, Zhang, Ming, Lu, Ziheng. Generative structure search for efficient and diverse discovery of molecular and crystal structures. arXiv 预印本 2026. https://arxiv.org/html/2604.27636v2</a:t>
            </a:r>
            <a:br/>
            <a:br/>
            <a:r>
              <a:t>[R51] Nian Liu, Yuwei Zeng, Ryoji Kubo, Nikita Kazeev, Stephen Gregory Dale, Artem Maevskiy, Pengru Huang, Thomas Laurent, Kostya S. Novoselov, Xavier Bresson. Composable Crystals: Controllable Materials Discovery via Concept Learning. arXiv 预印本 2026. https://arxiv.org/html/2605.14769v2</a:t>
            </a:r>
            <a:br/>
            <a:br/>
            <a:r>
              <a:t>[R52] Negishi, Masahiro, Walsh, Aron. Substitution-Based Analysis of Structural Novelty for Generative Models of Materials. arXiv 预印本 2026. https://arxiv.org/html/2606.23166v1</a:t>
            </a:r>
            <a:br/>
            <a:br/>
            <a:r>
              <a:t>[R53] Wentao Li. Text-guided flow matching enables sample-efficient crystal structure generation. arXiv 预印本 2026. https://arxiv.org/html/2609.01076v2</a:t>
            </a:r>
            <a:br/>
            <a:br/>
            <a:r>
              <a:t>[R54] Egg, Thomas, Sullivan, Harry Winston, Tadmor, Ellad B., Martiniani, Stefano. OMatG-flash: An All-Atom Flow Map with Reinforce Adjoint Matching for Scalable Materials Discovery. arXiv 预印本 2026. https://arxiv.org/html/2609.26402v1</a:t>
            </a:r>
            <a:br/>
            <a:br/>
            <a:r>
              <a:t>[R55] Jingyi Zhou, Oyshee Chowdhury, Noah Oyeniran, Chongze Hu. Topology-Stratified Materials Discovery with A Flow-Based Generative Model. arXiv 预印本 2026. https://arxiv.org/html/2609.26547v1</a:t>
            </a:r>
            <a:br/>
            <a:br/>
            <a:r>
              <a:t>[R56] Hovmand, Emma Lei, Elsborg, Jonas, Kandemir, Melih, Bhowmik, Arghya. Let CSP Be Your ANCHOR: Adaptive Crystal Search over Frozen Structure Priors. arXiv 预印本 2026. https://arxiv.org/html/2609.33407v2</a:t>
            </a:r>
            <a:br/>
            <a:br/>
            <a:r>
              <a:t>[R57] Tang, Haocheng, Wang, Junmei, Jin, Wengong. Where Should Physics Enter a Molecular Crystal Generator?. arXiv 预印本 2026. https://arxiv.org/html/2609.36398v1</a:t>
            </a:r>
            <a:br/>
            <a:br/>
            <a:r>
              <a:t>[T01] Yueming Pan, Ruoyu Feng, Qi Dai, Yuqi Wang, Wenfeng Lin, Mingyu Guo, Chong Luo, Nanning Zheng. Semantics Lead the Way: Harmonizing Semantic and Texture Modeling with Asynchronous Latent Diffusion. CVPR 2026. https://arxiv.org/abs/2512.04926</a:t>
            </a:r>
            <a:br/>
            <a:br/>
            <a:r>
              <a:t>[T02] NextStep Team. NextStep-1: Toward Autoregressive Image Generation with Continuous Tokens at Scale. ICLR 2026. https://arxiv.org/abs/2508.10711</a:t>
            </a:r>
            <a:br/>
            <a:br/>
            <a:r>
              <a:t>[T03] Arwen Bradley. Local Mechanisms of Compositional Generalization in Conditional Diffusion. ICML 2026, PMLR 306:9531–9565. https://proceedings.mlr.press/v306/bradley26a.html</a:t>
            </a:r>
            <a:br/>
            <a:br/>
            <a:r>
              <a:t>[T04] Jie Liu, Gongye Liu, Jiajun Liang, Yangguang Li, Jiaheng Liu, Xintao Wang, Pengfei Wan, Di Zhang, Wanli Ouyang. Flow-GRPO: Training Flow Matching Models via Online RL. NeurIPS 2025. https://proceedings.neurips.cc/paper_files/paper/2025/hash/3a10c46572628d58cb44fb705f25cbbf-Abstract-Conference.html</a:t>
            </a:r>
            <a:br/>
            <a:br/>
            <a:r>
              <a:t>[T05] Andreas Bergmeister, Stefanie Jegelka, Nikolas Nüsken, Carles Domingo-Enrich, Jakiw Pidstrigach. Reinforce Adjoint Matching: Scaling RL Post-Training of Diffusion and Flow-Matching Models. arXiv 2605.10759v2 (2026). https://arxiv.org/abs/2605.10759</a:t>
            </a:r>
            <a:br/>
            <a:br/>
            <a:r>
              <a:t>[T06] Ku Onoda, Paavo Parmas, Hiroki Furuta, Soichiro Nishimori, Yuta Oshima, Shohei Taniguchi, Yutaka Matsuo. Multi-Axis Max@K Reinforcement Learning for Representative Diversity in Text-to-Image Generation. arXiv 2607.14962v2 (2026)，原文注记WACV 2027接收. https://arxiv.org/abs/2607.14962</a:t>
            </a:r>
            <a:br/>
            <a:br/>
            <a:r>
              <a:t>[T07] Zheng Fang, Lichuan Xiang, Xu Cai, Bing Wang, Bo Yang, Hongkai Wen. DynFusion: Rethinking Condition Fusion for Adaptive Multi-Conditional Text-to-Image Generation. CVPR 2026, 29103–29113. https://wrap.warwick.ac.uk/id/eprint/197869/8/WRAP-DynFusion-rethinking-condition-fusion-multi-conditional-text-to-image-generation-26.pdf</a:t>
            </a:r>
            <a:br/>
            <a:br/>
            <a:r>
              <a:t>[T08] Michael Albergo, Nicholas M. Boffi, Eric Vanden-Eijnden. Stochastic Interpolants: A Unifying Framework for Flows and Diffusions. JMLR 26(209):1–80 (2025)，首稿2023. https://jmlr.org/papers/v26/23-1605.html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464450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阅读与复现来源</a:t>
            </a:r>
          </a:p>
          <a:p>
            <a:r>
              <a:t>本合并版逐页详细说明见配套presenter-notes.md；三篇新增案例见journal-cases.md。</a:t>
            </a:r>
          </a:p>
          <a:p>
            <a:r>
              <a:t>来源索引同时包含论文、补充材料、官方数据与方法文档。MatterGen使用正式论文及补充材料；Chemeleon、SCIGEN和Chemeleon2分别保留自己的任务、评测和验证口径。</a:t>
            </a:r>
          </a:p>
          <a:p>
            <a:r>
              <a:t>完整来源索引</a:t>
            </a:r>
          </a:p>
          <a:p>
            <a:r>
              <a:t>[R01] High-Pressure Phases of Silane
https://journals.aps.org/prl/abstract/10.1103/PhysRevLett.97.045504</a:t>
            </a:r>
          </a:p>
          <a:p>
            <a:r>
              <a:t>[R02] Crystal structure prediction using ab initio evolutionary techniques: Principles and applications
https://doi.org/10.1063/1.2210932</a:t>
            </a:r>
          </a:p>
          <a:p>
            <a:r>
              <a:t>[R03] Ab initio Random Structure Searching
https://arxiv.org/abs/1101.3987</a:t>
            </a:r>
          </a:p>
          <a:p>
            <a:r>
              <a:t>[R04] Commentary: The Materials Project: A materials genome approach to accelerating materials innovation
https://doi.org/10.1063/1.4812323</a:t>
            </a:r>
          </a:p>
          <a:p>
            <a:r>
              <a:t>[R05] Crystal Graph Convolutional Neural Networks for an Accurate and Interpretable Prediction of Material Properties
https://journals.aps.org/prl/abstract/10.1103/PhysRevLett.120.145301</a:t>
            </a:r>
          </a:p>
          <a:p>
            <a:r>
              <a:t>[R06] Inverse Design of Solid-State Materials via a Continuous Representation
https://doi.org/10.1016/j.matt.2019.08.017</a:t>
            </a:r>
          </a:p>
          <a:p>
            <a:r>
              <a:t>[R07] An invertible crystallographic representation for general inverse design of inorganic crystals with targeted properties
https://arxiv.org/pdf/2005.07609v3</a:t>
            </a:r>
          </a:p>
          <a:p>
            <a:r>
              <a:t>[R08] Crystal Diffusion Variational Autoencoder for Periodic Material Generation
https://arxiv.org/abs/2110.06197</a:t>
            </a:r>
          </a:p>
          <a:p>
            <a:r>
              <a:t>[R09] GFlowNet Foundations
https://jmlr.org/papers/v24/22-0364.html</a:t>
            </a:r>
          </a:p>
          <a:p>
            <a:r>
              <a:t>[R10] A universal graph deep learning interatomic potential for the periodic table
https://www.nature.com/articles/s43588-022-00349-3</a:t>
            </a:r>
          </a:p>
          <a:p>
            <a:r>
              <a:t>[R11] CHGNet as a pretrained universal neural network potential for charge-informed atomistic modelling
https://www.nature.com/articles/s42256-023-00716-3</a:t>
            </a:r>
          </a:p>
          <a:p>
            <a:r>
              <a:t>[R12] Crystal structure generation with autoregressive large language modeling
https://www.nature.com/articles/s41467-024-54639-7</a:t>
            </a:r>
          </a:p>
          <a:p>
            <a:r>
              <a:t>[R13] Crystal Structure Prediction by Joint Equivariant Diffusion
https://arxiv.org/abs/2309.04475</a:t>
            </a:r>
          </a:p>
          <a:p>
            <a:r>
              <a:t>[R14] Reinforcement learning in crystal structure prediction
https://pubs.rsc.org/en/content/articlehtml/2023/dd/d3dd00063j</a:t>
            </a:r>
          </a:p>
          <a:p>
            <a:r>
              <a:t>[R15] Scalable Diffusion for Materials Generation
https://arxiv.org/abs/2311.09235</a:t>
            </a:r>
          </a:p>
          <a:p>
            <a:r>
              <a:t>[R16] An invertible, invariant crystal representation for inverse design of solid-state materials using generative deep learning
https://www.nature.com/articles/s41467-023-42870-7</a:t>
            </a:r>
          </a:p>
          <a:p>
            <a:r>
              <a:t>[R17] Author Correction: An autonomous laboratory for the accelerated synthesis of inorganic materials
https://www.nature.com/articles/s41586-025-09992-y</a:t>
            </a:r>
          </a:p>
          <a:p>
            <a:r>
              <a:t>[R18] Scaling deep learning for materials discovery
https://www.nature.com/articles/s41586-023-06735-9</a:t>
            </a:r>
          </a:p>
          <a:p>
            <a:r>
              <a:t>[R19] A generative model for inorganic materials design
https://www.nature.com/articles/s41586-025-08628-5</a:t>
            </a:r>
          </a:p>
          <a:p>
            <a:r>
              <a:t>[R20] Invariant Tokenization of Crystalline Materials for Language Model Enabled Generation
https://papers.nips.cc/paper_files/paper/2024/hash/e23133d34964a0a09f6d076fc4b922a4-Abstract-Conference.html</a:t>
            </a:r>
          </a:p>
          <a:p>
            <a:r>
              <a:t>[R21] Fine-Tuned Language Models Generate Stable Inorganic Materials as Text
https://arxiv.org/abs/2402.04379</a:t>
            </a:r>
          </a:p>
          <a:p>
            <a:r>
              <a:t>[R22] Space Group Constrained Crystal Generation
https://arxiv.org/abs/2402.03992</a:t>
            </a:r>
          </a:p>
          <a:p>
            <a:r>
              <a:t>[R23] Illuminating the property space in crystal structure prediction using Quality-Diversity algorithms
https://arxiv.org/html/2403.03511v1</a:t>
            </a:r>
          </a:p>
          <a:p>
            <a:r>
              <a:t>[R24] Con-CDVAE: A method for the conditional generation of crystal structures
https://arxiv.org/html/2403.12478v1</a:t>
            </a:r>
          </a:p>
          <a:p>
            <a:r>
              <a:t>[R25] Space group informed transformer for crystalline materials generation
https://arxiv.org/abs/2403.15734</a:t>
            </a:r>
          </a:p>
          <a:p>
            <a:r>
              <a:t>[R26] FlowMM: Generating Materials with Riemannian Flow Matching
https://proceedings.mlr.press/v235/miller24a.html</a:t>
            </a:r>
          </a:p>
          <a:p>
            <a:r>
              <a:t>[R27] Structural constraint integration in a generative model for the discovery of quantum materials
https://www.nature.com/articles/s41563-025-02355-y</a:t>
            </a:r>
          </a:p>
          <a:p>
            <a:r>
              <a:t>[R28] Generative Hierarchical Materials Search
https://proceedings.neurips.cc/paper_files/paper/2024/file/447d012bd95b6767a4bfdebf96cdfcc9-Paper-Conference.pdf</a:t>
            </a:r>
          </a:p>
          <a:p>
            <a:r>
              <a:t>[R29] FlowLLM: Flow Matching for Material Generation with Large Language Models as Base Distributions
https://proceedings.neurips.cc/paper_files/paper/2024/hash/51d317df78eded9eb3c9d3fb1091c279-Abstract-Conference.html</a:t>
            </a:r>
          </a:p>
          <a:p>
            <a:r>
              <a:t>[R30] Efficient Symmetry-Aware Materials Generation via Hierarchical Generative Flow Networks
https://arxiv.org/html/2411.04323v1</a:t>
            </a:r>
          </a:p>
          <a:p>
            <a:r>
              <a:t>[R31] Establishing baselines for generative discovery of inorganic crystals
https://pubs.rsc.org/en/content/articlehtml/2025/mh/d5mh00010f</a:t>
            </a:r>
          </a:p>
          <a:p>
            <a:r>
              <a:t>[R32] A generative material transformer using Wyckoff representation
https://www.nature.com/articles/s41524-025-01940-8</a:t>
            </a:r>
          </a:p>
          <a:p>
            <a:r>
              <a:t>[R33] A Periodic Bayesian Flow for Material Generation
https://arxiv.org/abs/2502.02016</a:t>
            </a:r>
          </a:p>
          <a:p>
            <a:r>
              <a:t>[R34] Open Materials Generation with Stochastic Interpolants
https://proceedings.mlr.press/v267/hollmer25a.html</a:t>
            </a:r>
          </a:p>
          <a:p>
            <a:r>
              <a:t>[R35] SymmCD: Symmetry-Preserving Crystal Generation with Diffusion Models
https://arxiv.org/abs/2502.03638</a:t>
            </a:r>
          </a:p>
          <a:p>
            <a:r>
              <a:t>[R36] WyckoffDiff – A Generative Diffusion Model for Crystal Symmetry
https://proceedings.mlr.press/v267/ekstrom-kelvinius25a.html</a:t>
            </a:r>
          </a:p>
          <a:p>
            <a:r>
              <a:t>[R37] Periodic Materials Generation using Text-Guided Joint Diffusion Model
https://proceedings.iclr.cc/paper_files/paper/2025/hash/24e4e3234178a836b70e0aa48827e0ff-Abstract-Conference.html</a:t>
            </a:r>
          </a:p>
          <a:p>
            <a:r>
              <a:t>[R38] Wyckoff Transformer: Generation of Symmetric Crystals
https://arxiv.org/abs/2503.02407</a:t>
            </a:r>
          </a:p>
          <a:p>
            <a:r>
              <a:t>[R39] Exploration of crystal chemical space using text-guided generative artificial intelligence
https://www.nature.com/articles/s41467-025-59636-y</a:t>
            </a:r>
          </a:p>
          <a:p>
            <a:r>
              <a:t>[R40] PLaID++: A Preference Aligned Language Model for Targeted Inorganic Materials Design
https://arxiv.org/html/2509.07150v4</a:t>
            </a:r>
          </a:p>
          <a:p>
            <a:r>
              <a:t>[R41] OpenCSP: A Deep Learning Framework for Crystal Structure Prediction from Ambient to High Pressure
https://arxiv.org/html/2509.10293v1</a:t>
            </a:r>
          </a:p>
          <a:p>
            <a:r>
              <a:t>[R42] All that structure matches does not glitter
https://arxiv.org/html/2509.12178v2</a:t>
            </a:r>
          </a:p>
          <a:p>
            <a:r>
              <a:t>[R43] LLM Meets Diffusion: A Hybrid Framework for Crystal Material Generation
https://proceedings.neurips.cc/paper_files/paper/2025/hash/f789a628fca473e922c806657512a20f-Abstract-Conference.html</a:t>
            </a:r>
          </a:p>
          <a:p>
            <a:r>
              <a:t>[R44] Accelerating inverse materials design using generative diffusion models with reinforcement learning
https://arxiv.org/html/2511.03112v1</a:t>
            </a:r>
          </a:p>
          <a:p>
            <a:r>
              <a:t>[R45] Guiding Generative Models to Uncover Diverse and Novel Crystals via Reinforcement Learning
https://www.nature.com/articles/s42256-026-01262-4</a:t>
            </a:r>
          </a:p>
          <a:p>
            <a:r>
              <a:t>[R46] LeMat-GenBench: A Unified Evaluation Framework for Crystal Generative Models
https://arxiv.org/html/2512.04562v2</a:t>
            </a:r>
          </a:p>
          <a:p>
            <a:r>
              <a:t>[R47] Periodic Bayesian Flow Networks with Additive Accuracy
https://proceedings.mlr.press/v306/lin26ar.html</a:t>
            </a:r>
          </a:p>
          <a:p>
            <a:r>
              <a:t>[R48] Open Materials Generation with Inference-Time Reinforcement Learning
https://arxiv.org/html/2602.00424v2</a:t>
            </a:r>
          </a:p>
          <a:p>
            <a:r>
              <a:t>[R49] Multimodal Crystal Flow: Any-to-Any Modality Generation for Unified Crystal Modeling
https://proceedings.mlr.press/v306/seong26a.html</a:t>
            </a:r>
          </a:p>
          <a:p>
            <a:r>
              <a:t>[R50] Generative structure search for efficient and diverse discovery of molecular and crystal structures
https://arxiv.org/html/2604.27636v2</a:t>
            </a:r>
          </a:p>
          <a:p>
            <a:r>
              <a:t>[R51] Composable Crystals: Controllable Materials Discovery via Concept Learning
https://arxiv.org/html/2605.14769v2</a:t>
            </a:r>
          </a:p>
          <a:p>
            <a:r>
              <a:t>[R52] Substitution-Based Analysis of Structural Novelty for Generative Models of Materials
https://arxiv.org/html/2606.23166v1</a:t>
            </a:r>
          </a:p>
          <a:p>
            <a:r>
              <a:t>[R53] Text-guided flow matching enables sample-efficient crystal structure generation
https://arxiv.org/html/2609.01076v2</a:t>
            </a:r>
          </a:p>
          <a:p>
            <a:r>
              <a:t>[R54] OMatG-flash: An All-Atom Flow Map with Reinforce Adjoint Matching for Scalable Materials Discovery
https://arxiv.org/html/2609.26402v1</a:t>
            </a:r>
          </a:p>
          <a:p>
            <a:r>
              <a:t>[R55] Topology-Stratified Materials Discovery with A Flow-Based Generative Model
https://arxiv.org/html/2609.26547v1</a:t>
            </a:r>
          </a:p>
          <a:p>
            <a:r>
              <a:t>[R56] Let CSP Be Your ANCHOR: Adaptive Crystal Search over Frozen Structure Priors
https://arxiv.org/html/2609.33407v2</a:t>
            </a:r>
          </a:p>
          <a:p>
            <a:r>
              <a:t>[R57] Where Should Physics Enter a Molecular Crystal Generator?
https://arxiv.org/html/2609.36398v1</a:t>
            </a:r>
          </a:p>
          <a:p>
            <a:r>
              <a:t>[T01] Semantics Lead the Way: Harmonizing Semantic and Texture Modeling with Asynchronous Latent Diffusion
https://arxiv.org/abs/2512.04926</a:t>
            </a:r>
          </a:p>
          <a:p>
            <a:r>
              <a:t>[T02] NextStep-1: Toward Autoregressive Image Generation with Continuous Tokens at Scale
https://arxiv.org/abs/2508.10711</a:t>
            </a:r>
          </a:p>
          <a:p>
            <a:r>
              <a:t>[T03] Local Mechanisms of Compositional Generalization in Conditional Diffusion
https://proceedings.mlr.press/v306/bradley26a.html</a:t>
            </a:r>
          </a:p>
          <a:p>
            <a:r>
              <a:t>[T04] Flow-GRPO: Training Flow Matching Models via Online RL
https://proceedings.neurips.cc/paper_files/paper/2025/hash/3a10c46572628d58cb44fb705f25cbbf-Abstract-Conference.html</a:t>
            </a:r>
          </a:p>
          <a:p>
            <a:r>
              <a:t>[T05] Reinforce Adjoint Matching: Scaling RL Post-Training of Diffusion and Flow-Matching Models
https://arxiv.org/abs/2605.10759</a:t>
            </a:r>
          </a:p>
          <a:p>
            <a:r>
              <a:t>[T06] Multi-Axis Max@K Reinforcement Learning for Representative Diversity in Text-to-Image Generation
https://arxiv.org/abs/2607.14962</a:t>
            </a:r>
          </a:p>
          <a:p>
            <a:r>
              <a:t>[T07] DynFusion: Rethinking Condition Fusion for Adaptive Multi-Conditional Text-to-Image Generation
https://wrap.warwick.ac.uk/id/eprint/197869/8/WRAP-DynFusion-rethinking-condition-fusion-multi-conditional-text-to-image-generation-26.pdf</a:t>
            </a:r>
          </a:p>
          <a:p>
            <a:r>
              <a:t>[T08] Stochastic Interpolants: A Unifying Framework for Flows and Diffusions
https://jmlr.org/papers/v26/23-1605.html</a:t>
            </a:r>
          </a:p>
          <a:p>
            <a:r>
              <a:t>[IUCR] How to read (and understand) Volume A of International Tables for Crystallography: an introduction for nonspecialists
https://journals.iucr.org/j/issues/2010/05/02/kk5061/index.html</a:t>
            </a:r>
          </a:p>
          <a:p>
            <a:r>
              <a:t>[ALEX] Alexandria official dataset releases
https://alexandria.icams.rub.de/datasets.html</a:t>
            </a:r>
          </a:p>
          <a:p>
            <a:r>
              <a:t>[OQMD] OQMD official structure sources and API documentation
https://oqmd.org/documentation/structures</a:t>
            </a:r>
          </a:p>
          <a:p>
            <a:r>
              <a:t>[ICSD] ICSD official data curation and theoretical data categories
https://icsd.products.fiz-karlsruhe.de/en/about/data-curation</a:t>
            </a:r>
          </a:p>
          <a:p>
            <a:r>
              <a:t>[COD] Crystallography Open Database (COD): an open-access collection of crystal structures and platform for world-wide collaboration
https://academic.oup.com/nar/article/40/D1/D420/2903497</a:t>
            </a:r>
          </a:p>
          <a:p>
            <a:r>
              <a:t>[CDVAE_CFG] CDVAE official MP-20 configuration and build_crystal preprocessing
https://github.com/txie-93/cdvae/blob/main/conf/data/mp_20.yaml</a:t>
            </a:r>
          </a:p>
          <a:p>
            <a:r>
              <a:t>[MACE] A foundation model for atomistic materials chemistry
https://arxiv.org/html/2401.00096v3</a:t>
            </a:r>
          </a:p>
          <a:p>
            <a:r>
              <a:t>[MATTERSIM] MatterSim: A Deep Learning Atomistic Model Across Elements, Temperatures and Pressures
https://arxiv.org/html/2405.04967v2</a:t>
            </a:r>
          </a:p>
          <a:p>
            <a:r>
              <a:t>[MATTERSIM_CARD] MatterSim official model card: v1.0.0-1M and v1.0.0-5M
https://github.com/microsoft/mattersim/blob/main/MODEL_CARD.md</a:t>
            </a:r>
          </a:p>
          <a:p>
            <a:r>
              <a:t>[SMACT] SMACT screening module
https://smact.readthedocs.io/en/latest/smact.screening.html</a:t>
            </a:r>
          </a:p>
          <a:p>
            <a:r>
              <a:t>[SCIPY_JS] scipy.spatial.distance.jensenshannon
https://docs.scipy.org/doc/scipy/reference/generated/scipy.spatial.distance.jensenshannon.html</a:t>
            </a:r>
          </a:p>
          <a:p>
            <a:r>
              <a:t>[SCIPY_W] scipy.stats.wasserstein_distance
https://docs.scipy.org/doc/scipy/reference/generated/scipy.stats.wasserstein_distance.html</a:t>
            </a:r>
          </a:p>
          <a:p>
            <a:r>
              <a:t>[PYM_HULL] pymatgen.analysis.phase_diagram.PhaseDiagram
https://pymatgen.org/pymatgen.analysis.html#pymatgen.analysis.phase_diagram.PhaseDiagram.get_decomp_and_e_above_hull</a:t>
            </a:r>
          </a:p>
          <a:p>
            <a:r>
              <a:t>[MP_COMPAT] Materials Project: Anion and GGA/GGA+U Mixing
https://docs.materialsproject.org/methodology/materials-methodology/thermodynamic-stability/thermodynamic-stability/anion-and-gga-gga+u-mixing</a:t>
            </a:r>
          </a:p>
          <a:p>
            <a:r>
              <a:t>[ASE_OPT] ASE: Structure optimization
https://docs.ase-lib.org/ase/optimize.html</a:t>
            </a:r>
          </a:p>
          <a:p>
            <a:r>
              <a:t>[ASE_FILTER] ASE: Filters
https://docs.ase-lib.org/ase/filters.html</a:t>
            </a:r>
          </a:p>
          <a:p>
            <a:r>
              <a:t>[ASE_MD] ASE: Molecular dynamics
https://docs.ase-lib.org/ase/md.html</a:t>
            </a:r>
          </a:p>
          <a:p>
            <a:r>
              <a:t>[ASE_NEB] ASE: Nudged elastic band
https://docs.ase-lib.org/ase/neb.html</a:t>
            </a:r>
          </a:p>
          <a:p>
            <a:r>
              <a:t>[PHONOPY] Phonopy: Formulations
https://phonopy.github.io/phonopy/formulation.html</a:t>
            </a:r>
          </a:p>
          <a:p>
            <a:r>
              <a:t>[MP_DFT] Materials Project: Parameters and Convergence
https://docs.materialsproject.org/methodology/materials-methodology/calculation-details/gga+u-calculations/parameters-and-convergence</a:t>
            </a:r>
          </a:p>
          <a:p>
            <a:r>
              <a:t>[MP_ELECTRONIC] Materials Project: Electronic Structure
https://docs.materialsproject.org/methodology/materials-methodology/electronic-structure</a:t>
            </a:r>
          </a:p>
          <a:p>
            <a:r>
              <a:t>[MP_ELASTIC] Materials Project: Elastic Constants
https://docs.materialsproject.org/methodology/materials-methodology/elasticity</a:t>
            </a:r>
          </a:p>
          <a:p>
            <a:r>
              <a:t>[CHGNET_DOC] CHGNet official project documentation
https://chgnet.lbl.gov/</a:t>
            </a:r>
          </a:p>
          <a:p>
            <a:r>
              <a:t>[MG_REPO] Microsoft MatterGen official README and data-release descriptions
https://github.com/microsoft/mattergen</a:t>
            </a:r>
          </a:p>
          <a:p>
            <a:r>
              <a:t>[MG_SI] MatterGen Supplementary Information, Sections A–D
https://media.springernature.com/original/springer-static/esm/art%3A10.1038%2Fs41586-025-08628-5/MediaObjects/41586_2025_8628_MOESM1_ESM.pdf</a:t>
            </a:r>
          </a:p>
          <a:p>
            <a:r>
              <a:t>[MG_DATA] MatterGen official Alex-MP data release
https://github.com/microsoft/mattergen/blob/main/data-release/alex-mp/README.md</a:t>
            </a:r>
          </a:p>
          <a:p>
            <a:r>
              <a:t>[PHASE] Materials Project: Phase diagrams and thermodynamic stability
https://docs.materialsproject.org/methodology/materials-methodology/thermodynamic-stability/phase-diagrams-pds</a:t>
            </a:r>
          </a:p>
          <a:p>
            <a:r>
              <a:t>[MATCHER] pymatgen StructureMatcher
https://pymatgen.org/pymatgen.analysis.html#pymatgen.analysis.structure_matcher.StructureMatcher</a:t>
            </a:r>
          </a:p>
          <a:p>
            <a:r>
              <a:t>[MG_REANALYSIS] Continued challenges in high-throughput materials predictions: MatterGen predicts compounds from the training dataset
https://pubs.rsc.org/en/content/articlehtml/2026/mh/d6mh00268d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1508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A00E0D1-42F7-40C8-A8C5-B139388A90C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F501E5F-FE72-4FA7-B3B3-9A136C838BB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0FA84ED-CA11-4B37-9F69-B6E3464502E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5EE27F4-940C-42F5-9602-E1E55A10EEC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4B550442-E497-4B2F-BE83-010892C30E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98FE056-1B33-49F7-918A-60394EA412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BE644F-1A69-4629-9F27-667E3EDA5BC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92433C11-6F10-4085-8693-1B99A55D5FC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6C70100-0D81-4AB9-AC47-D0BF5325F6E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06453D6-150D-403D-86B6-95072175B11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over-title">
            <a:extLst>
              <a:ext uri="{FF2B5EF4-FFF2-40B4-BE49-F238E27FC236}">
                <a16:creationId xmlns:a16="http://schemas.microsoft.com/office/drawing/2014/main" id="{3AC1AE3D-0E64-466D-8917-BFEE974B1651}"/>
              </a:ext>
            </a:extLst>
          </p:cNvPr>
          <p:cNvSpPr>
            <a:spLocks noGrp="1"/>
          </p:cNvSpPr>
          <p:nvPr/>
        </p:nvSpPr>
        <p:spPr>
          <a:xfrm>
            <a:off x="609600" y="1704975"/>
            <a:ext cx="10972800" cy="952500"/>
          </a:xfrm>
          <a:prstGeom prst="rect">
            <a:avLst/>
          </a:prstGeom>
          <a:noFill/>
          <a:ln w="0">
            <a:noFill/>
          </a:ln>
        </p:spPr>
        <p:txBody>
          <a:bodyPr wrap="square" lIns="0" tIns="0" rIns="0" bIns="0" anchor="t">
            <a:noAutofit/>
          </a:bodyPr>
          <a:lstStyle>
            <a:defPPr algn="l">
              <a:defRPr sz="4650" b="1">
                <a:solidFill>
                  <a:srgbClr val="173E67"/>
                </a:solidFill>
                <a:latin typeface="Microsoft YaHei"/>
                <a:ea typeface="Microsoft YaHei"/>
                <a:cs typeface="Microsoft YaHei"/>
              </a:defRPr>
            </a:defPPr>
          </a:lstStyle>
          <a:p>
            <a:pPr algn="l">
              <a:lnSpc>
                <a:spcPct val="118000"/>
              </a:lnSpc>
              <a:buNone/>
              <a:defRPr sz="4650" b="1">
                <a:solidFill>
                  <a:srgbClr val="173E67"/>
                </a:solidFill>
                <a:latin typeface="Microsoft YaHei"/>
                <a:ea typeface="Microsoft YaHei"/>
                <a:cs typeface="Microsoft YaHei"/>
              </a:defRPr>
            </a:pPr>
            <a:r>
              <a:rPr lang="zh-CN" altLang="en-US" sz="4650" b="1">
                <a:solidFill>
                  <a:srgbClr val="173E67"/>
                </a:solidFill>
                <a:latin typeface="Microsoft YaHei"/>
                <a:ea typeface="Microsoft YaHei"/>
                <a:cs typeface="Microsoft YaHei"/>
              </a:rPr>
              <a:t>晶体生成：基础与研究演化</a:t>
            </a:r>
            <a:endParaRPr sz="4650" b="1">
              <a:solidFill>
                <a:srgbClr val="173E67"/>
              </a:solidFill>
              <a:latin typeface="Microsoft YaHei"/>
              <a:ea typeface="Microsoft YaHei"/>
              <a:cs typeface="Microsoft YaHei"/>
            </a:endParaRPr>
          </a:p>
        </p:txBody>
      </p:sp>
      <p:sp>
        <p:nvSpPr>
          <p:cNvPr id="2" name="text">
            <a:extLst>
              <a:ext uri="{FF2B5EF4-FFF2-40B4-BE49-F238E27FC236}">
                <a16:creationId xmlns:a16="http://schemas.microsoft.com/office/drawing/2014/main" id="{9DE62B18-E646-45D2-83F8-4225C900AB72}"/>
              </a:ext>
            </a:extLst>
          </p:cNvPr>
          <p:cNvSpPr>
            <a:spLocks noGrp="1"/>
          </p:cNvSpPr>
          <p:nvPr/>
        </p:nvSpPr>
        <p:spPr>
          <a:xfrm>
            <a:off x="609600" y="2800350"/>
            <a:ext cx="10972800" cy="666750"/>
          </a:xfrm>
          <a:prstGeom prst="rect">
            <a:avLst/>
          </a:prstGeom>
          <a:noFill/>
          <a:ln w="0">
            <a:noFill/>
          </a:ln>
        </p:spPr>
        <p:txBody>
          <a:bodyPr wrap="square" lIns="0" tIns="0" rIns="0" bIns="0" anchor="t">
            <a:noAutofit/>
          </a:bodyPr>
          <a:lstStyle>
            <a:defPPr algn="l">
              <a:defRPr sz="2550" b="0">
                <a:solidFill>
                  <a:srgbClr val="1B2533"/>
                </a:solidFill>
                <a:latin typeface="Microsoft YaHei"/>
                <a:ea typeface="Microsoft YaHei"/>
                <a:cs typeface="Microsoft YaHei"/>
              </a:defRPr>
            </a:defPPr>
          </a:lstStyle>
          <a:p>
            <a:pPr algn="l">
              <a:lnSpc>
                <a:spcPct val="118000"/>
              </a:lnSpc>
              <a:buNone/>
              <a:defRPr sz="2550" b="0">
                <a:solidFill>
                  <a:srgbClr val="1B2533"/>
                </a:solidFill>
                <a:latin typeface="Microsoft YaHei"/>
                <a:ea typeface="Microsoft YaHei"/>
                <a:cs typeface="Microsoft YaHei"/>
              </a:defRPr>
            </a:pPr>
            <a:r>
              <a:rPr lang="zh-CN" altLang="en-US" sz="2550" b="0">
                <a:solidFill>
                  <a:srgbClr val="1B2533"/>
                </a:solidFill>
                <a:latin typeface="Microsoft YaHei"/>
                <a:ea typeface="Microsoft YaHei"/>
                <a:cs typeface="Microsoft YaHei"/>
              </a:rPr>
              <a:t>面向</a:t>
            </a:r>
            <a:r>
              <a:rPr lang="en-US" altLang="zh-CN" sz="2550" b="0">
                <a:solidFill>
                  <a:srgbClr val="1B2533"/>
                </a:solidFill>
                <a:latin typeface="Microsoft YaHei"/>
                <a:ea typeface="Microsoft YaHei"/>
                <a:cs typeface="Microsoft YaHei"/>
              </a:rPr>
              <a:t>AI</a:t>
            </a:r>
            <a:r>
              <a:rPr lang="zh-CN" altLang="en-US" sz="2550" b="0">
                <a:solidFill>
                  <a:srgbClr val="1B2533"/>
                </a:solidFill>
                <a:latin typeface="Microsoft YaHei"/>
                <a:ea typeface="Microsoft YaHei"/>
                <a:cs typeface="Microsoft YaHei"/>
              </a:rPr>
              <a:t>研究者的完整汇报</a:t>
            </a:r>
            <a:endParaRPr sz="2550" b="0">
              <a:solidFill>
                <a:srgbClr val="1B2533"/>
              </a:solidFill>
              <a:latin typeface="Microsoft YaHei"/>
              <a:ea typeface="Microsoft YaHei"/>
              <a:cs typeface="Microsoft YaHei"/>
            </a:endParaRPr>
          </a:p>
        </p:txBody>
      </p:sp>
      <p:sp>
        <p:nvSpPr>
          <p:cNvPr id="3" name="text">
            <a:extLst>
              <a:ext uri="{FF2B5EF4-FFF2-40B4-BE49-F238E27FC236}">
                <a16:creationId xmlns:a16="http://schemas.microsoft.com/office/drawing/2014/main" id="{52FC31B8-5280-42DA-BA9D-AB2D72F6B581}"/>
              </a:ext>
            </a:extLst>
          </p:cNvPr>
          <p:cNvSpPr>
            <a:spLocks noGrp="1"/>
          </p:cNvSpPr>
          <p:nvPr/>
        </p:nvSpPr>
        <p:spPr>
          <a:xfrm>
            <a:off x="609600" y="3876675"/>
            <a:ext cx="10972800" cy="666750"/>
          </a:xfrm>
          <a:prstGeom prst="rect">
            <a:avLst/>
          </a:prstGeom>
          <a:noFill/>
          <a:ln w="0">
            <a:noFill/>
          </a:ln>
        </p:spPr>
        <p:txBody>
          <a:bodyPr wrap="square" lIns="0" tIns="0" rIns="0" bIns="0" anchor="t">
            <a:noAutofit/>
          </a:bodyPr>
          <a:lstStyle>
            <a:defPPr algn="l">
              <a:defRPr sz="2025" b="0">
                <a:solidFill>
                  <a:srgbClr val="526170"/>
                </a:solidFill>
                <a:latin typeface="Microsoft YaHei"/>
                <a:ea typeface="Microsoft YaHei"/>
                <a:cs typeface="Microsoft YaHei"/>
              </a:defRPr>
            </a:defPPr>
          </a:lstStyle>
          <a:p>
            <a:pPr algn="l">
              <a:lnSpc>
                <a:spcPct val="118000"/>
              </a:lnSpc>
              <a:buNone/>
              <a:defRPr sz="2025" b="0">
                <a:solidFill>
                  <a:srgbClr val="526170"/>
                </a:solidFill>
                <a:latin typeface="Microsoft YaHei"/>
                <a:ea typeface="Microsoft YaHei"/>
                <a:cs typeface="Microsoft YaHei"/>
              </a:defRPr>
            </a:pPr>
            <a:r>
              <a:rPr lang="zh-CN" altLang="en-US" sz="2025" b="0">
                <a:solidFill>
                  <a:srgbClr val="526170"/>
                </a:solidFill>
                <a:latin typeface="Microsoft YaHei"/>
                <a:ea typeface="Microsoft YaHei"/>
                <a:cs typeface="Microsoft YaHei"/>
              </a:rPr>
              <a:t>领域基础与评测 </a:t>
            </a:r>
            <a:r>
              <a:rPr lang="en-US" altLang="zh-CN" sz="2025" b="0">
                <a:solidFill>
                  <a:srgbClr val="526170"/>
                </a:solidFill>
                <a:latin typeface="Microsoft YaHei"/>
                <a:ea typeface="Microsoft YaHei"/>
                <a:cs typeface="Microsoft YaHei"/>
              </a:rPr>
              <a:t>· MatterGen</a:t>
            </a:r>
            <a:r>
              <a:rPr lang="zh-CN" altLang="en-US" sz="2025" b="0">
                <a:solidFill>
                  <a:srgbClr val="526170"/>
                </a:solidFill>
                <a:latin typeface="Microsoft YaHei"/>
                <a:ea typeface="Microsoft YaHei"/>
                <a:cs typeface="Microsoft YaHei"/>
              </a:rPr>
              <a:t>与近期子刊 </a:t>
            </a:r>
            <a:r>
              <a:rPr lang="en-US" altLang="zh-CN" sz="2025" b="0">
                <a:solidFill>
                  <a:srgbClr val="526170"/>
                </a:solidFill>
                <a:latin typeface="Microsoft YaHei"/>
                <a:ea typeface="Microsoft YaHei"/>
                <a:cs typeface="Microsoft YaHei"/>
              </a:rPr>
              <a:t>· </a:t>
            </a:r>
            <a:r>
              <a:rPr lang="zh-CN" altLang="en-US" sz="2025" b="0">
                <a:solidFill>
                  <a:srgbClr val="526170"/>
                </a:solidFill>
                <a:latin typeface="Microsoft YaHei"/>
                <a:ea typeface="Microsoft YaHei"/>
                <a:cs typeface="Microsoft YaHei"/>
              </a:rPr>
              <a:t>六个挑战与四条路线</a:t>
            </a:r>
            <a:endParaRPr sz="2025" b="0">
              <a:solidFill>
                <a:srgbClr val="526170"/>
              </a:solidFill>
              <a:latin typeface="Microsoft YaHei"/>
              <a:ea typeface="Microsoft YaHei"/>
              <a:cs typeface="Microsoft YaHei"/>
            </a:endParaRPr>
          </a:p>
        </p:txBody>
      </p:sp>
      <p:sp>
        <p:nvSpPr>
          <p:cNvPr id="4" name="text">
            <a:extLst>
              <a:ext uri="{FF2B5EF4-FFF2-40B4-BE49-F238E27FC236}">
                <a16:creationId xmlns:a16="http://schemas.microsoft.com/office/drawing/2014/main" id="{AB131155-A94D-4BE7-949D-9626C935AE77}"/>
              </a:ext>
            </a:extLst>
          </p:cNvPr>
          <p:cNvSpPr>
            <a:spLocks noGrp="1"/>
          </p:cNvSpPr>
          <p:nvPr/>
        </p:nvSpPr>
        <p:spPr>
          <a:xfrm>
            <a:off x="609600" y="5638800"/>
            <a:ext cx="10972800" cy="3619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2026年10月13日</a:t>
            </a:r>
          </a:p>
        </p:txBody>
      </p:sp>
    </p:spTree>
    <p:extLst>
      <p:ext uri="{BB962C8B-B14F-4D97-AF65-F5344CB8AC3E}">
        <p14:creationId xmlns:p14="http://schemas.microsoft.com/office/powerpoint/2010/main" val="153045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99172348-C2D1-4701-90BF-B8434172A56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模型生成的是一个周期结构</a:t>
            </a:r>
          </a:p>
        </p:txBody>
      </p:sp>
      <p:sp>
        <p:nvSpPr>
          <p:cNvPr id="2" name="lead">
            <a:extLst>
              <a:ext uri="{FF2B5EF4-FFF2-40B4-BE49-F238E27FC236}">
                <a16:creationId xmlns:a16="http://schemas.microsoft.com/office/drawing/2014/main" id="{EE90C67D-4161-4C90-AA69-4786E62F07BC}"/>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一个晶体可以表示为 C = (A, F, L)，原子数 n 也可能需要生成。</a:t>
            </a:r>
          </a:p>
        </p:txBody>
      </p:sp>
      <p:graphicFrame>
        <p:nvGraphicFramePr>
          <p:cNvPr id="3" name="表格 2">
            <a:extLst>
              <a:ext uri="{FF2B5EF4-FFF2-40B4-BE49-F238E27FC236}">
                <a16:creationId xmlns:a16="http://schemas.microsoft.com/office/drawing/2014/main" id="{7F66C798-906C-4292-9C87-CFC02DBC9A8D}"/>
              </a:ext>
            </a:extLst>
          </p:cNvPr>
          <p:cNvGraphicFramePr/>
          <p:nvPr/>
        </p:nvGraphicFramePr>
        <p:xfrm>
          <a:off x="609600" y="1990725"/>
          <a:ext cx="10972800" cy="3419475"/>
        </p:xfrm>
        <a:graphic>
          <a:graphicData uri="http://schemas.openxmlformats.org/drawingml/2006/table">
            <a:tbl>
              <a:tblPr/>
              <a:tblGrid>
                <a:gridCol w="2000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5353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变量</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数学表示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物理含义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元素 A</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每个位点的元素类别</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组成相同，原子排布仍可以不同</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分数坐标 F</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fᵢ ∈ [0, 1)³</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以晶格三条基矢表示原子位置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晶格 L</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L = [a  b  c]</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决定晶胞大小、形状与角度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周期复制</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rᵢ,ₘ = L(fᵢ + m)，m ∈ ℤ³</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有限胞内原子重复形成三维体材料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C8B43473-71BB-42E9-BB05-C5E9CA5E2B03}"/>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CIF保存结构及晶体学信息。生成CIF后，还需要计算能量、性质和结构身份。</a:t>
            </a:r>
          </a:p>
        </p:txBody>
      </p:sp>
      <p:sp>
        <p:nvSpPr>
          <p:cNvPr id="5" name="separator">
            <a:extLst>
              <a:ext uri="{FF2B5EF4-FFF2-40B4-BE49-F238E27FC236}">
                <a16:creationId xmlns:a16="http://schemas.microsoft.com/office/drawing/2014/main" id="{892839E5-1FD1-4A5C-BC82-6E0E6F387A67}"/>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D1E13025-D0DE-4BA6-B3B5-F6618129919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§3；DiffCSP §3–4；IUCr晶体学定义。这里采用晶格列向量约定。</a:t>
            </a:r>
          </a:p>
        </p:txBody>
      </p:sp>
      <p:sp>
        <p:nvSpPr>
          <p:cNvPr id="7" name="page-number">
            <a:extLst>
              <a:ext uri="{FF2B5EF4-FFF2-40B4-BE49-F238E27FC236}">
                <a16:creationId xmlns:a16="http://schemas.microsoft.com/office/drawing/2014/main" id="{70973EB3-FF9B-4411-9110-B3795F70F6A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47569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C4BF4A61-3CE9-4802-AE70-95308AFCC8F9}"/>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同一个晶体可以有多种编码</a:t>
            </a:r>
          </a:p>
        </p:txBody>
      </p:sp>
      <p:graphicFrame>
        <p:nvGraphicFramePr>
          <p:cNvPr id="2" name="Chart">
            <a:extLst>
              <a:ext uri="{FF2B5EF4-FFF2-40B4-BE49-F238E27FC236}">
                <a16:creationId xmlns:a16="http://schemas.microsoft.com/office/drawing/2014/main" id="{C7CD00DB-CAEF-4676-9D80-412649D6BF4C}"/>
              </a:ext>
            </a:extLst>
          </p:cNvPr>
          <p:cNvGraphicFramePr/>
          <p:nvPr/>
        </p:nvGraphicFramePr>
        <p:xfrm>
          <a:off x="647700" y="1685925"/>
          <a:ext cx="6048375"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7089ED8E-B8A4-4319-967C-E4AA810EA850}"/>
              </a:ext>
            </a:extLst>
          </p:cNvPr>
          <p:cNvSpPr>
            <a:spLocks noGrp="1"/>
          </p:cNvSpPr>
          <p:nvPr/>
        </p:nvSpPr>
        <p:spPr>
          <a:xfrm>
            <a:off x="685800" y="1333500"/>
            <a:ext cx="6096000" cy="2857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二维周期坐标示意</a:t>
            </a:r>
          </a:p>
        </p:txBody>
      </p:sp>
      <p:sp>
        <p:nvSpPr>
          <p:cNvPr id="4" name="text">
            <a:extLst>
              <a:ext uri="{FF2B5EF4-FFF2-40B4-BE49-F238E27FC236}">
                <a16:creationId xmlns:a16="http://schemas.microsoft.com/office/drawing/2014/main" id="{FE41AD88-4042-4580-91A0-3BF4844BE959}"/>
              </a:ext>
            </a:extLst>
          </p:cNvPr>
          <p:cNvSpPr>
            <a:spLocks noGrp="1"/>
          </p:cNvSpPr>
          <p:nvPr/>
        </p:nvSpPr>
        <p:spPr>
          <a:xfrm>
            <a:off x="904875" y="5734050"/>
            <a:ext cx="5572125" cy="295275"/>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晶格方向的无量纲坐标</a:t>
            </a:r>
          </a:p>
        </p:txBody>
      </p:sp>
      <p:sp>
        <p:nvSpPr>
          <p:cNvPr id="5" name="text">
            <a:extLst>
              <a:ext uri="{FF2B5EF4-FFF2-40B4-BE49-F238E27FC236}">
                <a16:creationId xmlns:a16="http://schemas.microsoft.com/office/drawing/2014/main" id="{0E015F39-6307-4AE6-B915-A351B22610D6}"/>
              </a:ext>
            </a:extLst>
          </p:cNvPr>
          <p:cNvSpPr>
            <a:spLocks noGrp="1"/>
          </p:cNvSpPr>
          <p:nvPr/>
        </p:nvSpPr>
        <p:spPr>
          <a:xfrm>
            <a:off x="7219950" y="151447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周期边界</a:t>
            </a:r>
          </a:p>
        </p:txBody>
      </p:sp>
      <p:sp>
        <p:nvSpPr>
          <p:cNvPr id="6" name="text">
            <a:extLst>
              <a:ext uri="{FF2B5EF4-FFF2-40B4-BE49-F238E27FC236}">
                <a16:creationId xmlns:a16="http://schemas.microsoft.com/office/drawing/2014/main" id="{C7C01C6F-A0B1-49E0-B6B5-D167CA7B1F0C}"/>
              </a:ext>
            </a:extLst>
          </p:cNvPr>
          <p:cNvSpPr>
            <a:spLocks noGrp="1"/>
          </p:cNvSpPr>
          <p:nvPr/>
        </p:nvSpPr>
        <p:spPr>
          <a:xfrm>
            <a:off x="7219950" y="191452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f与f+m对应周期等价位置。0.99与0.01在胞边界两侧可以很近</a:t>
            </a:r>
          </a:p>
        </p:txBody>
      </p:sp>
      <p:sp>
        <p:nvSpPr>
          <p:cNvPr id="7" name="text">
            <a:extLst>
              <a:ext uri="{FF2B5EF4-FFF2-40B4-BE49-F238E27FC236}">
                <a16:creationId xmlns:a16="http://schemas.microsoft.com/office/drawing/2014/main" id="{8D3957BE-21A5-4FA0-A6FC-3CB3F4CB2105}"/>
              </a:ext>
            </a:extLst>
          </p:cNvPr>
          <p:cNvSpPr>
            <a:spLocks noGrp="1"/>
          </p:cNvSpPr>
          <p:nvPr/>
        </p:nvSpPr>
        <p:spPr>
          <a:xfrm>
            <a:off x="7219950" y="29337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几何等价</a:t>
            </a:r>
          </a:p>
        </p:txBody>
      </p:sp>
      <p:sp>
        <p:nvSpPr>
          <p:cNvPr id="8" name="text">
            <a:extLst>
              <a:ext uri="{FF2B5EF4-FFF2-40B4-BE49-F238E27FC236}">
                <a16:creationId xmlns:a16="http://schemas.microsoft.com/office/drawing/2014/main" id="{CB83921D-3789-49D9-87F3-11D71911125E}"/>
              </a:ext>
            </a:extLst>
          </p:cNvPr>
          <p:cNvSpPr>
            <a:spLocks noGrp="1"/>
          </p:cNvSpPr>
          <p:nvPr/>
        </p:nvSpPr>
        <p:spPr>
          <a:xfrm>
            <a:off x="7219950" y="3333750"/>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原子顺序、整体平移、旋转和晶胞选择都能改写输入</a:t>
            </a:r>
          </a:p>
        </p:txBody>
      </p:sp>
      <p:sp>
        <p:nvSpPr>
          <p:cNvPr id="9" name="text">
            <a:extLst>
              <a:ext uri="{FF2B5EF4-FFF2-40B4-BE49-F238E27FC236}">
                <a16:creationId xmlns:a16="http://schemas.microsoft.com/office/drawing/2014/main" id="{2EC5530B-7051-4546-A531-5F2328113E26}"/>
              </a:ext>
            </a:extLst>
          </p:cNvPr>
          <p:cNvSpPr>
            <a:spLocks noGrp="1"/>
          </p:cNvSpPr>
          <p:nvPr/>
        </p:nvSpPr>
        <p:spPr>
          <a:xfrm>
            <a:off x="7219950" y="435292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对称表示</a:t>
            </a:r>
          </a:p>
        </p:txBody>
      </p:sp>
      <p:sp>
        <p:nvSpPr>
          <p:cNvPr id="10" name="text">
            <a:extLst>
              <a:ext uri="{FF2B5EF4-FFF2-40B4-BE49-F238E27FC236}">
                <a16:creationId xmlns:a16="http://schemas.microsoft.com/office/drawing/2014/main" id="{93EB4462-BC4F-4C30-BBC0-1A19905E2E09}"/>
              </a:ext>
            </a:extLst>
          </p:cNvPr>
          <p:cNvSpPr>
            <a:spLocks noGrp="1"/>
          </p:cNvSpPr>
          <p:nvPr/>
        </p:nvSpPr>
        <p:spPr>
          <a:xfrm>
            <a:off x="7219950" y="475297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空间群操作展开非等价原子。Wyckoff位置记录对称位点的重复数与自由坐标</a:t>
            </a:r>
          </a:p>
        </p:txBody>
      </p:sp>
      <p:sp>
        <p:nvSpPr>
          <p:cNvPr id="11" name="separator">
            <a:extLst>
              <a:ext uri="{FF2B5EF4-FFF2-40B4-BE49-F238E27FC236}">
                <a16:creationId xmlns:a16="http://schemas.microsoft.com/office/drawing/2014/main" id="{1FC48CA1-680C-4B0B-B9FF-43723AAA6375}"/>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80881180-AF0A-4760-AD00-19544D91E5C9}"/>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左图为二维周期教学示意。真实晶体为三维。结构匹配需要处理物理等价关系。</a:t>
            </a:r>
          </a:p>
        </p:txBody>
      </p:sp>
      <p:sp>
        <p:nvSpPr>
          <p:cNvPr id="13" name="page-number">
            <a:extLst>
              <a:ext uri="{FF2B5EF4-FFF2-40B4-BE49-F238E27FC236}">
                <a16:creationId xmlns:a16="http://schemas.microsoft.com/office/drawing/2014/main" id="{0E665940-E97F-4019-B7DF-88D7E455789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1114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79FD529-DD91-48A3-B798-B68F449C69D8}"/>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先区分CSP、自主生成与条件设计</a:t>
            </a:r>
          </a:p>
        </p:txBody>
      </p:sp>
      <p:graphicFrame>
        <p:nvGraphicFramePr>
          <p:cNvPr id="2" name="表格 1">
            <a:extLst>
              <a:ext uri="{FF2B5EF4-FFF2-40B4-BE49-F238E27FC236}">
                <a16:creationId xmlns:a16="http://schemas.microsoft.com/office/drawing/2014/main" id="{30C28B82-D407-4E7A-BD97-5F52807BE28A}"/>
              </a:ext>
            </a:extLst>
          </p:cNvPr>
          <p:cNvGraphicFramePr/>
          <p:nvPr/>
        </p:nvGraphicFramePr>
        <p:xfrm>
          <a:off x="609600" y="1400175"/>
          <a:ext cx="10972800" cy="4010025"/>
        </p:xfrm>
        <a:graphic>
          <a:graphicData uri="http://schemas.openxmlformats.org/drawingml/2006/table">
            <a:tbl>
              <a:tblPr/>
              <a:tblGrid>
                <a:gridCol w="21431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3257550">
                  <a:extLst>
                    <a:ext uri="{9D8B030D-6E8A-4147-A177-3AD203B41FA5}">
                      <a16:colId xmlns:a16="http://schemas.microsoft.com/office/drawing/2014/main" val="20003"/>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任务</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给模型什么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模型需要输出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通常怎样评测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结构预测 CSP</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组成或化学式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晶胞与原子位置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参考命中、RMSD、多晶型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自主生成 DNG</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随机种子或噪声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组成与完整结构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有效率、S/U/N、SUN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条件生成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性质、元素范围、空间群或图案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满足要求的完整结构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条件命中与物理资格交集</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物理预测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完整原子构型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能量、力、应力或性质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误差、动力学与应用表现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858F2E61-84F8-4E87-A704-3962C4739506}"/>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化学系统条件如“Li–O”允许选择计量；给定“Li₂O”则固定了更具体的组成。</a:t>
            </a:r>
          </a:p>
        </p:txBody>
      </p:sp>
      <p:sp>
        <p:nvSpPr>
          <p:cNvPr id="4" name="separator">
            <a:extLst>
              <a:ext uri="{FF2B5EF4-FFF2-40B4-BE49-F238E27FC236}">
                <a16:creationId xmlns:a16="http://schemas.microsoft.com/office/drawing/2014/main" id="{F563BEF6-F171-4B68-B92B-FA3D5D64FCFA}"/>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86DDE3E5-D310-4297-9E20-E94D0B56752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任务输入不同，匹配率、性质命中率与材料发现率回答不同问题。</a:t>
            </a:r>
          </a:p>
        </p:txBody>
      </p:sp>
      <p:sp>
        <p:nvSpPr>
          <p:cNvPr id="6" name="page-number">
            <a:extLst>
              <a:ext uri="{FF2B5EF4-FFF2-40B4-BE49-F238E27FC236}">
                <a16:creationId xmlns:a16="http://schemas.microsoft.com/office/drawing/2014/main" id="{2B8B1C8F-EE53-4A99-82CF-20B4BDEA46C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29383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07CFA535-89B2-41AE-B27C-4DE9421F523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数据库、训练集与参考库各有用途</a:t>
            </a:r>
          </a:p>
        </p:txBody>
      </p:sp>
      <p:graphicFrame>
        <p:nvGraphicFramePr>
          <p:cNvPr id="2" name="表格 1">
            <a:extLst>
              <a:ext uri="{FF2B5EF4-FFF2-40B4-BE49-F238E27FC236}">
                <a16:creationId xmlns:a16="http://schemas.microsoft.com/office/drawing/2014/main" id="{9925F38D-EDDA-477E-8DBB-0561A3A1CCC0}"/>
              </a:ext>
            </a:extLst>
          </p:cNvPr>
          <p:cNvGraphicFramePr/>
          <p:nvPr/>
        </p:nvGraphicFramePr>
        <p:xfrm>
          <a:off x="609600" y="1400175"/>
          <a:ext cx="10972800" cy="4010025"/>
        </p:xfrm>
        <a:graphic>
          <a:graphicData uri="http://schemas.openxmlformats.org/drawingml/2006/table">
            <a:tbl>
              <a:tblPr/>
              <a:tblGrid>
                <a:gridCol w="2667000">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4733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资源</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主要内容</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在生成研究中的作用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Materials Project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DFT结构、能量及性质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衍生训练集、竞争相和评价参考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Alexandria / OQMD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高通量DFT及假想结构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扩大化学覆盖，提供相能量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ICSD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整理后的无机结构，主要来自实验</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已知材料与新颖性参考，含无序占位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COD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开放CIF，覆盖多类晶体</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结构与文献来源，能量标签需另配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5E7695B3-5EE4-452D-9030-C06061A30BA4}"/>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数据库会更新；模型实际使用的是某次下载、过滤和划分后的固定快照。</a:t>
            </a:r>
          </a:p>
        </p:txBody>
      </p:sp>
      <p:sp>
        <p:nvSpPr>
          <p:cNvPr id="4" name="separator">
            <a:extLst>
              <a:ext uri="{FF2B5EF4-FFF2-40B4-BE49-F238E27FC236}">
                <a16:creationId xmlns:a16="http://schemas.microsoft.com/office/drawing/2014/main" id="{D0D690F4-47B6-4F6F-B9A5-520D963715A0}"/>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E755F618-7B7A-4DAB-AAF9-CDD70E8A4053}"/>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数据类型与用途来自各数据库原始论文或官方说明。总库规模不等于训练样本数。</a:t>
            </a:r>
          </a:p>
        </p:txBody>
      </p:sp>
      <p:sp>
        <p:nvSpPr>
          <p:cNvPr id="6" name="page-number">
            <a:extLst>
              <a:ext uri="{FF2B5EF4-FFF2-40B4-BE49-F238E27FC236}">
                <a16:creationId xmlns:a16="http://schemas.microsoft.com/office/drawing/2014/main" id="{27DD8C6A-4C9D-4A8B-8C27-323FB5A82F7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66388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4CC7F086-FA0D-4251-A5B1-3C9892DA3FC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常用生成基准各自检验什么</a:t>
            </a:r>
          </a:p>
        </p:txBody>
      </p:sp>
      <p:graphicFrame>
        <p:nvGraphicFramePr>
          <p:cNvPr id="2" name="表格 1">
            <a:extLst>
              <a:ext uri="{FF2B5EF4-FFF2-40B4-BE49-F238E27FC236}">
                <a16:creationId xmlns:a16="http://schemas.microsoft.com/office/drawing/2014/main" id="{72A68191-F15B-45EF-9F4B-0F7503A92C1F}"/>
              </a:ext>
            </a:extLst>
          </p:cNvPr>
          <p:cNvGraphicFramePr/>
          <p:nvPr/>
        </p:nvGraphicFramePr>
        <p:xfrm>
          <a:off x="609600" y="1400175"/>
          <a:ext cx="10972800" cy="4010025"/>
        </p:xfrm>
        <a:graphic>
          <a:graphicData uri="http://schemas.openxmlformats.org/drawingml/2006/table">
            <a:tbl>
              <a:tblPr/>
              <a:tblGrid>
                <a:gridCol w="20955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gridCol w="3590925">
                  <a:extLst>
                    <a:ext uri="{9D8B030D-6E8A-4147-A177-3AD203B41FA5}">
                      <a16:colId xmlns:a16="http://schemas.microsoft.com/office/drawing/2014/main" val="20003"/>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基准</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固定规模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结构范围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用途与划分</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Perov-5</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18,928</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ABX₃型，每胞5原子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组成变化为主；60/20/20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Carbon-24</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10,153</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仅C，6–24原子，10 GPa</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结构与多晶型；60/20/20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MP-20</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45,231</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89种元素，输入胞≤20原子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组成与结构；60/20/20</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MPTS-52</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40,476</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输入胞≤52原子</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按时间划分</a:t>
                      </a:r>
                    </a:p>
                    <a:p>
                      <a:pPr algn="l">
                        <a:lnSpc>
                          <a:spcPct val="108000"/>
                        </a:lnSpc>
                        <a:buNone/>
                      </a:pPr>
                      <a:r>
                        <a:rPr sz="1725" b="0">
                          <a:solidFill>
                            <a:srgbClr val="1B2533"/>
                          </a:solidFill>
                          <a:latin typeface="Microsoft YaHei"/>
                          <a:ea typeface="Microsoft YaHei"/>
                          <a:cs typeface="Microsoft YaHei"/>
                        </a:rPr>
                        <a:t>27,380 / 5,000 / 8,096</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81E1ABD1-8992-4E35-9B92-EE6C6801826C}"/>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MP-20是特定基准文件和预处理流程，不等于现在查询所有“≤20原子”的MP结构。</a:t>
            </a:r>
          </a:p>
        </p:txBody>
      </p:sp>
      <p:sp>
        <p:nvSpPr>
          <p:cNvPr id="4" name="separator">
            <a:extLst>
              <a:ext uri="{FF2B5EF4-FFF2-40B4-BE49-F238E27FC236}">
                <a16:creationId xmlns:a16="http://schemas.microsoft.com/office/drawing/2014/main" id="{C017D791-1E9A-4658-820B-28F764F797A4}"/>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F0727579-0790-4732-A6D2-1FE308D7A25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§5 / Appendix C；DiffCSP §5 / Appendix F。比例依次为训练、验证、测试。</a:t>
            </a:r>
          </a:p>
        </p:txBody>
      </p:sp>
      <p:sp>
        <p:nvSpPr>
          <p:cNvPr id="6" name="page-number">
            <a:extLst>
              <a:ext uri="{FF2B5EF4-FFF2-40B4-BE49-F238E27FC236}">
                <a16:creationId xmlns:a16="http://schemas.microsoft.com/office/drawing/2014/main" id="{9C4F4013-2D3C-4845-9552-B0A5FCE0901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828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9309453-EF88-453A-B8DC-D49D50A012CA}"/>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生成终态数据与势能轨迹数据不同</a:t>
            </a:r>
          </a:p>
        </p:txBody>
      </p:sp>
      <p:sp>
        <p:nvSpPr>
          <p:cNvPr id="2" name="lead">
            <a:extLst>
              <a:ext uri="{FF2B5EF4-FFF2-40B4-BE49-F238E27FC236}">
                <a16:creationId xmlns:a16="http://schemas.microsoft.com/office/drawing/2014/main" id="{BEDAB2D0-3FDB-4498-A4C7-795FA8A67E5A}"/>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生成器学习哪些结构会出现，MLIP还要学习离开终态后能量怎样变化。</a:t>
            </a:r>
          </a:p>
        </p:txBody>
      </p:sp>
      <p:sp>
        <p:nvSpPr>
          <p:cNvPr id="3" name="text">
            <a:extLst>
              <a:ext uri="{FF2B5EF4-FFF2-40B4-BE49-F238E27FC236}">
                <a16:creationId xmlns:a16="http://schemas.microsoft.com/office/drawing/2014/main" id="{16FDCED6-A2D5-405D-9C73-F86CCC640C97}"/>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生成训练集</a:t>
            </a:r>
          </a:p>
        </p:txBody>
      </p:sp>
      <p:sp>
        <p:nvSpPr>
          <p:cNvPr id="4" name="text">
            <a:extLst>
              <a:ext uri="{FF2B5EF4-FFF2-40B4-BE49-F238E27FC236}">
                <a16:creationId xmlns:a16="http://schemas.microsoft.com/office/drawing/2014/main" id="{6673A845-5577-4760-A60B-90359E7FF545}"/>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一条记录通常是一种结构及可选性质。Alex-MP-20将生成训练扩展到数十万结构</a:t>
            </a:r>
          </a:p>
        </p:txBody>
      </p:sp>
      <p:sp>
        <p:nvSpPr>
          <p:cNvPr id="5" name="text">
            <a:extLst>
              <a:ext uri="{FF2B5EF4-FFF2-40B4-BE49-F238E27FC236}">
                <a16:creationId xmlns:a16="http://schemas.microsoft.com/office/drawing/2014/main" id="{887D402C-F968-4562-8D3B-64B6B8276B6C}"/>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MLIP轨迹集</a:t>
            </a:r>
          </a:p>
        </p:txBody>
      </p:sp>
      <p:sp>
        <p:nvSpPr>
          <p:cNvPr id="6" name="text">
            <a:extLst>
              <a:ext uri="{FF2B5EF4-FFF2-40B4-BE49-F238E27FC236}">
                <a16:creationId xmlns:a16="http://schemas.microsoft.com/office/drawing/2014/main" id="{485CDD4C-8612-40C8-AF9D-7D6145B1350A}"/>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同一材料的弛豫过程包含多帧，每帧带能量、力和应力。MPtrj约158万构型来自约14.6万材料</a:t>
            </a:r>
          </a:p>
        </p:txBody>
      </p:sp>
      <p:sp>
        <p:nvSpPr>
          <p:cNvPr id="7" name="text">
            <a:extLst>
              <a:ext uri="{FF2B5EF4-FFF2-40B4-BE49-F238E27FC236}">
                <a16:creationId xmlns:a16="http://schemas.microsoft.com/office/drawing/2014/main" id="{C8B8D6EB-1203-4AD0-B906-54387BE725A4}"/>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划分单位</a:t>
            </a:r>
          </a:p>
        </p:txBody>
      </p:sp>
      <p:sp>
        <p:nvSpPr>
          <p:cNvPr id="8" name="text">
            <a:extLst>
              <a:ext uri="{FF2B5EF4-FFF2-40B4-BE49-F238E27FC236}">
                <a16:creationId xmlns:a16="http://schemas.microsoft.com/office/drawing/2014/main" id="{EF0EC640-08DC-4ACA-99A6-784FC6F5CE4F}"/>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CHGNet按材料划分80/10/10，避免同一材料的相邻帧跨训练和测试</a:t>
            </a:r>
          </a:p>
        </p:txBody>
      </p:sp>
      <p:sp>
        <p:nvSpPr>
          <p:cNvPr id="9" name="text">
            <a:extLst>
              <a:ext uri="{FF2B5EF4-FFF2-40B4-BE49-F238E27FC236}">
                <a16:creationId xmlns:a16="http://schemas.microsoft.com/office/drawing/2014/main" id="{B23AC698-E600-4661-BBDB-71AA03039A4B}"/>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复现信息</a:t>
            </a:r>
          </a:p>
        </p:txBody>
      </p:sp>
      <p:sp>
        <p:nvSpPr>
          <p:cNvPr id="10" name="text">
            <a:extLst>
              <a:ext uri="{FF2B5EF4-FFF2-40B4-BE49-F238E27FC236}">
                <a16:creationId xmlns:a16="http://schemas.microsoft.com/office/drawing/2014/main" id="{727FBAEA-DAF3-4BE1-B3DA-05ABB292377D}"/>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记录数据版本、计算口径、过滤和划分。构型数、材料数、模型参数量分别报告</a:t>
            </a:r>
          </a:p>
        </p:txBody>
      </p:sp>
      <p:sp>
        <p:nvSpPr>
          <p:cNvPr id="11" name="separator">
            <a:extLst>
              <a:ext uri="{FF2B5EF4-FFF2-40B4-BE49-F238E27FC236}">
                <a16:creationId xmlns:a16="http://schemas.microsoft.com/office/drawing/2014/main" id="{1851375D-1BBC-45EC-BBF7-B43FDAE6975A}"/>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53748887-6203-497B-9E3B-D592E9BADE8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MPtrj：MP 2022年9月快照，1,580,395构型。MatterGen训练数据将在第23页展开。</a:t>
            </a:r>
          </a:p>
        </p:txBody>
      </p:sp>
      <p:sp>
        <p:nvSpPr>
          <p:cNvPr id="13" name="page-number">
            <a:extLst>
              <a:ext uri="{FF2B5EF4-FFF2-40B4-BE49-F238E27FC236}">
                <a16:creationId xmlns:a16="http://schemas.microsoft.com/office/drawing/2014/main" id="{DE88189F-B0DE-4EFA-B575-53478F51675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748544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5C28F049-83F3-44DD-8C04-EEB32567B2D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常见生成模型的技术分工</a:t>
            </a:r>
          </a:p>
        </p:txBody>
      </p:sp>
      <p:graphicFrame>
        <p:nvGraphicFramePr>
          <p:cNvPr id="2" name="表格 1">
            <a:extLst>
              <a:ext uri="{FF2B5EF4-FFF2-40B4-BE49-F238E27FC236}">
                <a16:creationId xmlns:a16="http://schemas.microsoft.com/office/drawing/2014/main" id="{7BDDFF92-23F4-4C82-9524-778BB236906B}"/>
              </a:ext>
            </a:extLst>
          </p:cNvPr>
          <p:cNvGraphicFramePr/>
          <p:nvPr/>
        </p:nvGraphicFramePr>
        <p:xfrm>
          <a:off x="609600" y="1400175"/>
          <a:ext cx="10972800" cy="4467225"/>
        </p:xfrm>
        <a:graphic>
          <a:graphicData uri="http://schemas.openxmlformats.org/drawingml/2006/table">
            <a:tbl>
              <a:tblPr/>
              <a:tblGrid>
                <a:gridCol w="261937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9244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模型家族</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代表工作</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直接生成什么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86765">
                <a:tc>
                  <a:txBody>
                    <a:bodyPr/>
                    <a:lstStyle/>
                    <a:p>
                      <a:pPr algn="l">
                        <a:lnSpc>
                          <a:spcPct val="108000"/>
                        </a:lnSpc>
                        <a:buNone/>
                      </a:pPr>
                      <a:r>
                        <a:rPr sz="1725" b="0">
                          <a:solidFill>
                            <a:srgbClr val="1B2533"/>
                          </a:solidFill>
                          <a:latin typeface="Microsoft YaHei"/>
                          <a:ea typeface="Microsoft YaHei"/>
                          <a:cs typeface="Microsoft YaHei"/>
                        </a:rPr>
                        <a:t>潜变量与周期去噪</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CDVAE</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先组织全局结构属性，再生成元素与坐标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86765">
                <a:tc>
                  <a:txBody>
                    <a:bodyPr/>
                    <a:lstStyle/>
                    <a:p>
                      <a:pPr algn="l">
                        <a:lnSpc>
                          <a:spcPct val="108000"/>
                        </a:lnSpc>
                        <a:buNone/>
                      </a:pPr>
                      <a:r>
                        <a:rPr sz="1725" b="0">
                          <a:solidFill>
                            <a:srgbClr val="1B2533"/>
                          </a:solidFill>
                          <a:latin typeface="Microsoft YaHei"/>
                          <a:ea typeface="Microsoft YaHei"/>
                          <a:cs typeface="Microsoft YaHei"/>
                        </a:rPr>
                        <a:t>Diffusion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DiffCSP、MatterGen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对晶格、周期坐标及可选元素联合去噪</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86765">
                <a:tc>
                  <a:txBody>
                    <a:bodyPr/>
                    <a:lstStyle/>
                    <a:p>
                      <a:pPr algn="l">
                        <a:lnSpc>
                          <a:spcPct val="108000"/>
                        </a:lnSpc>
                        <a:buNone/>
                      </a:pPr>
                      <a:r>
                        <a:rPr sz="1725" b="0">
                          <a:solidFill>
                            <a:srgbClr val="1B2533"/>
                          </a:solidFill>
                          <a:latin typeface="Microsoft YaHei"/>
                          <a:ea typeface="Microsoft YaHei"/>
                          <a:cs typeface="Microsoft YaHei"/>
                        </a:rPr>
                        <a:t>Flow / SI</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FlowMM、OMatG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学习连接初始分布与晶体分布的连续过程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86765">
                <a:tc>
                  <a:txBody>
                    <a:bodyPr/>
                    <a:lstStyle/>
                    <a:p>
                      <a:pPr algn="l">
                        <a:lnSpc>
                          <a:spcPct val="108000"/>
                        </a:lnSpc>
                        <a:buNone/>
                      </a:pPr>
                      <a:r>
                        <a:rPr sz="1725" b="0">
                          <a:solidFill>
                            <a:srgbClr val="1B2533"/>
                          </a:solidFill>
                          <a:latin typeface="Microsoft YaHei"/>
                          <a:ea typeface="Microsoft YaHei"/>
                          <a:cs typeface="Microsoft YaHei"/>
                        </a:rPr>
                        <a:t>语言与混合生成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Crystal-LLM、FlowLLM</a:t>
                      </a:r>
                    </a:p>
                    <a:p>
                      <a:pPr algn="l">
                        <a:lnSpc>
                          <a:spcPct val="108000"/>
                        </a:lnSpc>
                        <a:buNone/>
                      </a:pPr>
                      <a:r>
                        <a:rPr sz="1725" b="0">
                          <a:solidFill>
                            <a:srgbClr val="1B2533"/>
                          </a:solidFill>
                          <a:latin typeface="Microsoft YaHei"/>
                          <a:ea typeface="Microsoft YaHei"/>
                          <a:cs typeface="Microsoft YaHei"/>
                        </a:rPr>
                        <a:t>CrysLLMGen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序列化结构；或用LLM提案接连续精修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786765">
                <a:tc>
                  <a:txBody>
                    <a:bodyPr/>
                    <a:lstStyle/>
                    <a:p>
                      <a:pPr algn="l">
                        <a:lnSpc>
                          <a:spcPct val="108000"/>
                        </a:lnSpc>
                        <a:buNone/>
                      </a:pPr>
                      <a:r>
                        <a:rPr sz="1725" b="0">
                          <a:solidFill>
                            <a:srgbClr val="1B2533"/>
                          </a:solidFill>
                          <a:latin typeface="Microsoft YaHei"/>
                          <a:ea typeface="Microsoft YaHei"/>
                          <a:cs typeface="Microsoft YaHei"/>
                        </a:rPr>
                        <a:t>对称与多模态</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SymmCD、MCFlow</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生成非等价位点，或完成元素与几何的互条件任务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separator">
            <a:extLst>
              <a:ext uri="{FF2B5EF4-FFF2-40B4-BE49-F238E27FC236}">
                <a16:creationId xmlns:a16="http://schemas.microsoft.com/office/drawing/2014/main" id="{0A814388-DD3F-4CE7-B692-695D97695C82}"/>
              </a:ext>
            </a:extLst>
          </p:cNvPr>
          <p:cNvSpPr>
            <a:spLocks noGrp="1"/>
          </p:cNvSpPr>
          <p:nvPr/>
        </p:nvSpPr>
        <p:spPr>
          <a:xfrm>
            <a:off x="609600" y="6200775"/>
            <a:ext cx="10972800" cy="0"/>
          </a:xfrm>
          <a:prstGeom prst="line">
            <a:avLst/>
          </a:prstGeom>
          <a:ln w="9525">
            <a:solidFill>
              <a:srgbClr val="D5DCE3"/>
            </a:solidFill>
          </a:ln>
        </p:spPr>
      </p:sp>
      <p:sp>
        <p:nvSpPr>
          <p:cNvPr id="4" name="sources">
            <a:extLst>
              <a:ext uri="{FF2B5EF4-FFF2-40B4-BE49-F238E27FC236}">
                <a16:creationId xmlns:a16="http://schemas.microsoft.com/office/drawing/2014/main" id="{02FD896B-A93A-4B84-AD33-C53B1CE8BBD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SI = stochastic interpolants。不同范式可组合，比较时保留任务输入。</a:t>
            </a:r>
          </a:p>
        </p:txBody>
      </p:sp>
      <p:sp>
        <p:nvSpPr>
          <p:cNvPr id="5" name="page-number">
            <a:extLst>
              <a:ext uri="{FF2B5EF4-FFF2-40B4-BE49-F238E27FC236}">
                <a16:creationId xmlns:a16="http://schemas.microsoft.com/office/drawing/2014/main" id="{23370F06-F5A4-4A1D-9BCF-5672B0FCF27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000261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CABDC7F4-22C2-452E-B810-0CB83489B74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代表论文怎样连接数据、模型和评测</a:t>
            </a:r>
          </a:p>
        </p:txBody>
      </p:sp>
      <p:graphicFrame>
        <p:nvGraphicFramePr>
          <p:cNvPr id="2" name="表格 1">
            <a:extLst>
              <a:ext uri="{FF2B5EF4-FFF2-40B4-BE49-F238E27FC236}">
                <a16:creationId xmlns:a16="http://schemas.microsoft.com/office/drawing/2014/main" id="{8E30F35E-FEB1-4957-B75E-FB59CB57626C}"/>
              </a:ext>
            </a:extLst>
          </p:cNvPr>
          <p:cNvGraphicFramePr/>
          <p:nvPr/>
        </p:nvGraphicFramePr>
        <p:xfrm>
          <a:off x="609600" y="1400175"/>
          <a:ext cx="10972800" cy="4467225"/>
        </p:xfrm>
        <a:graphic>
          <a:graphicData uri="http://schemas.openxmlformats.org/drawingml/2006/table">
            <a:tbl>
              <a:tblPr/>
              <a:tblGrid>
                <a:gridCol w="242887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434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工作</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数据与任务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主要评测对象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86765">
                <a:tc>
                  <a:txBody>
                    <a:bodyPr/>
                    <a:lstStyle/>
                    <a:p>
                      <a:pPr algn="l">
                        <a:lnSpc>
                          <a:spcPct val="108000"/>
                        </a:lnSpc>
                        <a:buNone/>
                      </a:pPr>
                      <a:r>
                        <a:rPr sz="1725" b="0">
                          <a:solidFill>
                            <a:srgbClr val="1B2533"/>
                          </a:solidFill>
                          <a:latin typeface="Microsoft YaHei"/>
                          <a:ea typeface="Microsoft YaHei"/>
                          <a:cs typeface="Microsoft YaHei"/>
                        </a:rPr>
                        <a:t>CDVAE</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Perov-5 / Carbon-24 / MP-20</a:t>
                      </a:r>
                    </a:p>
                    <a:p>
                      <a:pPr algn="l">
                        <a:lnSpc>
                          <a:spcPct val="108000"/>
                        </a:lnSpc>
                        <a:buNone/>
                      </a:pPr>
                      <a:r>
                        <a:rPr sz="1725" b="0">
                          <a:solidFill>
                            <a:srgbClr val="1B2533"/>
                          </a:solidFill>
                          <a:latin typeface="Microsoft YaHei"/>
                          <a:ea typeface="Microsoft YaHei"/>
                          <a:cs typeface="Microsoft YaHei"/>
                        </a:rPr>
                        <a:t>重构与DNG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有效率、指纹覆盖、性质分布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86765">
                <a:tc>
                  <a:txBody>
                    <a:bodyPr/>
                    <a:lstStyle/>
                    <a:p>
                      <a:pPr algn="l">
                        <a:lnSpc>
                          <a:spcPct val="108000"/>
                        </a:lnSpc>
                        <a:buNone/>
                      </a:pPr>
                      <a:r>
                        <a:rPr sz="1725" b="0">
                          <a:solidFill>
                            <a:srgbClr val="1B2533"/>
                          </a:solidFill>
                          <a:latin typeface="Microsoft YaHei"/>
                          <a:ea typeface="Microsoft YaHei"/>
                          <a:cs typeface="Microsoft YaHei"/>
                        </a:rPr>
                        <a:t>DiffCSP / FlowMM</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MP-20等，组成CSP与DNG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CSP匹配/RMSD；DNG另做物理评价</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86765">
                <a:tc>
                  <a:txBody>
                    <a:bodyPr/>
                    <a:lstStyle/>
                    <a:p>
                      <a:pPr algn="l">
                        <a:lnSpc>
                          <a:spcPct val="108000"/>
                        </a:lnSpc>
                        <a:buNone/>
                      </a:pPr>
                      <a:r>
                        <a:rPr sz="1725" b="0">
                          <a:solidFill>
                            <a:srgbClr val="1B2533"/>
                          </a:solidFill>
                          <a:latin typeface="Microsoft YaHei"/>
                          <a:ea typeface="Microsoft YaHei"/>
                          <a:cs typeface="Microsoft YaHei"/>
                        </a:rPr>
                        <a:t>FlowLLM / CrysLLMGen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MP-20为主，混合DNG</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前者报告DFT-SUN，后者主要CHGNet评测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86765">
                <a:tc>
                  <a:txBody>
                    <a:bodyPr/>
                    <a:lstStyle/>
                    <a:p>
                      <a:pPr algn="l">
                        <a:lnSpc>
                          <a:spcPct val="108000"/>
                        </a:lnSpc>
                        <a:buNone/>
                      </a:pPr>
                      <a:r>
                        <a:rPr sz="1725" b="0">
                          <a:solidFill>
                            <a:srgbClr val="1B2533"/>
                          </a:solidFill>
                          <a:latin typeface="Microsoft YaHei"/>
                          <a:ea typeface="Microsoft YaHei"/>
                          <a:cs typeface="Microsoft YaHei"/>
                        </a:rPr>
                        <a:t>MatterGen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Alex-MP-20，DNG与条件设计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统一DFT弛豫、SUN、性质及实验案例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786765">
                <a:tc>
                  <a:txBody>
                    <a:bodyPr/>
                    <a:lstStyle/>
                    <a:p>
                      <a:pPr algn="l">
                        <a:lnSpc>
                          <a:spcPct val="108000"/>
                        </a:lnSpc>
                        <a:buNone/>
                      </a:pPr>
                      <a:r>
                        <a:rPr sz="1725" b="0">
                          <a:solidFill>
                            <a:srgbClr val="1B2533"/>
                          </a:solidFill>
                          <a:latin typeface="Microsoft YaHei"/>
                          <a:ea typeface="Microsoft YaHei"/>
                          <a:cs typeface="Microsoft YaHei"/>
                        </a:rPr>
                        <a:t>Chemeleon2</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MP-20 / Alex-MP-20</a:t>
                      </a:r>
                    </a:p>
                    <a:p>
                      <a:pPr algn="l">
                        <a:lnSpc>
                          <a:spcPct val="108000"/>
                        </a:lnSpc>
                        <a:buNone/>
                      </a:pPr>
                      <a:r>
                        <a:rPr sz="1725" b="0">
                          <a:solidFill>
                            <a:srgbClr val="1B2533"/>
                          </a:solidFill>
                          <a:latin typeface="Microsoft YaHei"/>
                          <a:ea typeface="Microsoft YaHei"/>
                          <a:cs typeface="Microsoft YaHei"/>
                        </a:rPr>
                        <a:t>DNG与性质后训练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代理势评价与选定DFT，含性质交集指标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separator">
            <a:extLst>
              <a:ext uri="{FF2B5EF4-FFF2-40B4-BE49-F238E27FC236}">
                <a16:creationId xmlns:a16="http://schemas.microsoft.com/office/drawing/2014/main" id="{C6133326-FB60-410C-8CE6-1027332F89DA}"/>
              </a:ext>
            </a:extLst>
          </p:cNvPr>
          <p:cNvSpPr>
            <a:spLocks noGrp="1"/>
          </p:cNvSpPr>
          <p:nvPr/>
        </p:nvSpPr>
        <p:spPr>
          <a:xfrm>
            <a:off x="609600" y="6200775"/>
            <a:ext cx="10972800" cy="0"/>
          </a:xfrm>
          <a:prstGeom prst="line">
            <a:avLst/>
          </a:prstGeom>
          <a:ln w="9525">
            <a:solidFill>
              <a:srgbClr val="D5DCE3"/>
            </a:solidFill>
          </a:ln>
        </p:spPr>
      </p:sp>
      <p:sp>
        <p:nvSpPr>
          <p:cNvPr id="4" name="sources">
            <a:extLst>
              <a:ext uri="{FF2B5EF4-FFF2-40B4-BE49-F238E27FC236}">
                <a16:creationId xmlns:a16="http://schemas.microsoft.com/office/drawing/2014/main" id="{B2B23D04-7757-49BD-BF7C-B265A4DF1CD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这是评测方式对照表。不同评价器、阈值与分母的SUN数值不构成统一排行榜。</a:t>
            </a:r>
          </a:p>
        </p:txBody>
      </p:sp>
      <p:sp>
        <p:nvSpPr>
          <p:cNvPr id="5" name="page-number">
            <a:extLst>
              <a:ext uri="{FF2B5EF4-FFF2-40B4-BE49-F238E27FC236}">
                <a16:creationId xmlns:a16="http://schemas.microsoft.com/office/drawing/2014/main" id="{E9D4F4AB-1F49-464C-BFC3-D78FF0F6993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09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029239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30CD457E-5B79-4ACF-8DD1-B8926D43A7A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生成器与MLIP承担不同工作</a:t>
            </a:r>
          </a:p>
        </p:txBody>
      </p:sp>
      <p:sp>
        <p:nvSpPr>
          <p:cNvPr id="2" name="lead">
            <a:extLst>
              <a:ext uri="{FF2B5EF4-FFF2-40B4-BE49-F238E27FC236}">
                <a16:creationId xmlns:a16="http://schemas.microsoft.com/office/drawing/2014/main" id="{9A7D23C7-F9CC-4840-9EE5-6E2605B17E29}"/>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MLIP学习势能面；优化器使用它给出的力与应力更新结构。</a:t>
            </a:r>
          </a:p>
        </p:txBody>
      </p:sp>
      <p:graphicFrame>
        <p:nvGraphicFramePr>
          <p:cNvPr id="3" name="表格 2">
            <a:extLst>
              <a:ext uri="{FF2B5EF4-FFF2-40B4-BE49-F238E27FC236}">
                <a16:creationId xmlns:a16="http://schemas.microsoft.com/office/drawing/2014/main" id="{B7D53AD4-FB3C-454E-B16E-4D4827E3A09D}"/>
              </a:ext>
            </a:extLst>
          </p:cNvPr>
          <p:cNvGraphicFramePr/>
          <p:nvPr/>
        </p:nvGraphicFramePr>
        <p:xfrm>
          <a:off x="609600" y="1990725"/>
          <a:ext cx="10972800" cy="3419475"/>
        </p:xfrm>
        <a:graphic>
          <a:graphicData uri="http://schemas.openxmlformats.org/drawingml/2006/table">
            <a:tbl>
              <a:tblPr/>
              <a:tblGrid>
                <a:gridCol w="2762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物理模型</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主要训练信息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典型用途</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M3GNet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MP弛豫中的能量、力、应力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结构弛豫、筛选与材料模拟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CHGNet</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MPtrj，加磁矩相关监督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电荷环境相关表示、弛豫与动力学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MACE-MP-0</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等变多体网络，MPtrj</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能量及导数、弛豫与MD</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MatterSim-v1</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离平衡与温压采样数据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更广物理状态下的预测与计算</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8C61FEF3-0485-4BF9-A5DB-9EB3EB94A48B}"/>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物理输出包括 E、F = −∇ᵣE 和应力。记录实际checkpoint及标签口径。</a:t>
            </a:r>
          </a:p>
        </p:txBody>
      </p:sp>
      <p:sp>
        <p:nvSpPr>
          <p:cNvPr id="5" name="separator">
            <a:extLst>
              <a:ext uri="{FF2B5EF4-FFF2-40B4-BE49-F238E27FC236}">
                <a16:creationId xmlns:a16="http://schemas.microsoft.com/office/drawing/2014/main" id="{3304F92A-9809-4235-A905-92B259DD54AB}"/>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76D70AAC-3BEB-4307-B1AA-3D9E071800E0}"/>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能量常报eV/atom，力报eV/Å，应力报GPa。MAE只对相应测试分布有意义。</a:t>
            </a:r>
          </a:p>
        </p:txBody>
      </p:sp>
      <p:sp>
        <p:nvSpPr>
          <p:cNvPr id="7" name="page-number">
            <a:extLst>
              <a:ext uri="{FF2B5EF4-FFF2-40B4-BE49-F238E27FC236}">
                <a16:creationId xmlns:a16="http://schemas.microsoft.com/office/drawing/2014/main" id="{55B3488B-E3B1-4893-B045-2087A2E6730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08402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AB1EDD2-C31A-4ADD-AB4D-3B710AAE73B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一次生成实验包含哪些计算</a:t>
            </a:r>
          </a:p>
        </p:txBody>
      </p:sp>
      <p:graphicFrame>
        <p:nvGraphicFramePr>
          <p:cNvPr id="2" name="表格 1">
            <a:extLst>
              <a:ext uri="{FF2B5EF4-FFF2-40B4-BE49-F238E27FC236}">
                <a16:creationId xmlns:a16="http://schemas.microsoft.com/office/drawing/2014/main" id="{17EE4F27-CD4A-4813-B8BB-F28C5A76FD4D}"/>
              </a:ext>
            </a:extLst>
          </p:cNvPr>
          <p:cNvGraphicFramePr/>
          <p:nvPr/>
        </p:nvGraphicFramePr>
        <p:xfrm>
          <a:off x="609600" y="1400175"/>
          <a:ext cx="10972800" cy="4010025"/>
        </p:xfrm>
        <a:graphic>
          <a:graphicData uri="http://schemas.openxmlformats.org/drawingml/2006/table">
            <a:tbl>
              <a:tblPr/>
              <a:tblGrid>
                <a:gridCol w="257175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步骤</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得到什么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应记录的费用或数量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95325">
                <a:tc>
                  <a:txBody>
                    <a:bodyPr/>
                    <a:lstStyle/>
                    <a:p>
                      <a:pPr algn="l">
                        <a:lnSpc>
                          <a:spcPct val="108000"/>
                        </a:lnSpc>
                        <a:buNone/>
                      </a:pPr>
                      <a:r>
                        <a:rPr sz="1725" b="0">
                          <a:solidFill>
                            <a:srgbClr val="1B2533"/>
                          </a:solidFill>
                          <a:latin typeface="Microsoft YaHei"/>
                          <a:ea typeface="Microsoft YaHei"/>
                          <a:cs typeface="Microsoft YaHei"/>
                        </a:rPr>
                        <a:t>提出与有效性检查</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原始结构、可计算候选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请求数、失败数、采样步数与硬件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95325">
                <a:tc>
                  <a:txBody>
                    <a:bodyPr/>
                    <a:lstStyle/>
                    <a:p>
                      <a:pPr algn="l">
                        <a:lnSpc>
                          <a:spcPct val="108000"/>
                        </a:lnSpc>
                        <a:buNone/>
                      </a:pPr>
                      <a:r>
                        <a:rPr sz="1725" b="0">
                          <a:solidFill>
                            <a:srgbClr val="1B2533"/>
                          </a:solidFill>
                          <a:latin typeface="Microsoft YaHei"/>
                          <a:ea typeface="Microsoft YaHei"/>
                          <a:cs typeface="Microsoft YaHei"/>
                        </a:rPr>
                        <a:t>结构弛豫</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局部低能终态及收敛状态</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MLIP/DFT调用、优化步数、资源小时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95325">
                <a:tc>
                  <a:txBody>
                    <a:bodyPr/>
                    <a:lstStyle/>
                    <a:p>
                      <a:pPr algn="l">
                        <a:lnSpc>
                          <a:spcPct val="108000"/>
                        </a:lnSpc>
                        <a:buNone/>
                      </a:pPr>
                      <a:r>
                        <a:rPr sz="1725" b="0">
                          <a:solidFill>
                            <a:srgbClr val="1B2533"/>
                          </a:solidFill>
                          <a:latin typeface="Microsoft YaHei"/>
                          <a:ea typeface="Microsoft YaHei"/>
                          <a:cs typeface="Microsoft YaHei"/>
                        </a:rPr>
                        <a:t>能量与结构匹配</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稳定资格、U/N/SUN</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竞争相参考、匹配规则、未知状态</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95325">
                <a:tc>
                  <a:txBody>
                    <a:bodyPr/>
                    <a:lstStyle/>
                    <a:p>
                      <a:pPr algn="l">
                        <a:lnSpc>
                          <a:spcPct val="108000"/>
                        </a:lnSpc>
                        <a:buNone/>
                      </a:pPr>
                      <a:r>
                        <a:rPr sz="1725" b="0">
                          <a:solidFill>
                            <a:srgbClr val="1B2533"/>
                          </a:solidFill>
                          <a:latin typeface="Microsoft YaHei"/>
                          <a:ea typeface="Microsoft YaHei"/>
                          <a:cs typeface="Microsoft YaHei"/>
                        </a:rPr>
                        <a:t>性质与物理复核</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功能性质、声子或迁移等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被选样本数、计算参数、筛选分母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95325">
                <a:tc>
                  <a:txBody>
                    <a:bodyPr/>
                    <a:lstStyle/>
                    <a:p>
                      <a:pPr algn="l">
                        <a:lnSpc>
                          <a:spcPct val="108000"/>
                        </a:lnSpc>
                        <a:buNone/>
                      </a:pPr>
                      <a:r>
                        <a:rPr sz="1725" b="0">
                          <a:solidFill>
                            <a:srgbClr val="1B2533"/>
                          </a:solidFill>
                          <a:latin typeface="Microsoft YaHei"/>
                          <a:ea typeface="Microsoft YaHei"/>
                          <a:cs typeface="Microsoft YaHei"/>
                        </a:rPr>
                        <a:t>实验材料</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实际产物、结构与性质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尝试数、纯度、表征与测量条件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conclusion">
            <a:extLst>
              <a:ext uri="{FF2B5EF4-FFF2-40B4-BE49-F238E27FC236}">
                <a16:creationId xmlns:a16="http://schemas.microsoft.com/office/drawing/2014/main" id="{6719EAEB-5232-4BB8-88F0-AA4E1D061BEE}"/>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发现费用还包含数据、训练、失败重试和参考相计算；DFT性质调用只是其中一项。</a:t>
            </a:r>
          </a:p>
        </p:txBody>
      </p:sp>
      <p:sp>
        <p:nvSpPr>
          <p:cNvPr id="4" name="separator">
            <a:extLst>
              <a:ext uri="{FF2B5EF4-FFF2-40B4-BE49-F238E27FC236}">
                <a16:creationId xmlns:a16="http://schemas.microsoft.com/office/drawing/2014/main" id="{A43F18E6-8FEE-49E2-B9B8-A5B8D776BFC8}"/>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9B025328-CCD8-4CA3-AB2F-FE93FA72D8C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顺序按研究目的调整。原始生成、MLIP终态和DFT终态分别记录。</a:t>
            </a:r>
          </a:p>
        </p:txBody>
      </p:sp>
      <p:sp>
        <p:nvSpPr>
          <p:cNvPr id="6" name="page-number">
            <a:extLst>
              <a:ext uri="{FF2B5EF4-FFF2-40B4-BE49-F238E27FC236}">
                <a16:creationId xmlns:a16="http://schemas.microsoft.com/office/drawing/2014/main" id="{6D001D8F-EC28-4C1A-88F2-F62C6F5202E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11</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7858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F15A34C9-CD48-4C57-9C67-4BA18D9B4028}"/>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Validity先判断候选能否继续计算</a:t>
            </a:r>
          </a:p>
        </p:txBody>
      </p:sp>
      <p:graphicFrame>
        <p:nvGraphicFramePr>
          <p:cNvPr id="2" name="表格 1">
            <a:extLst>
              <a:ext uri="{FF2B5EF4-FFF2-40B4-BE49-F238E27FC236}">
                <a16:creationId xmlns:a16="http://schemas.microsoft.com/office/drawing/2014/main" id="{32C6BB94-849E-47DA-8572-76A2840C17D5}"/>
              </a:ext>
            </a:extLst>
          </p:cNvPr>
          <p:cNvGraphicFramePr/>
          <p:nvPr/>
        </p:nvGraphicFramePr>
        <p:xfrm>
          <a:off x="609600" y="1400175"/>
          <a:ext cx="10972800" cy="4010025"/>
        </p:xfrm>
        <a:graphic>
          <a:graphicData uri="http://schemas.openxmlformats.org/drawingml/2006/table">
            <a:tbl>
              <a:tblPr/>
              <a:tblGrid>
                <a:gridCol w="2333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检查</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具体对象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结果含义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可读取与晶胞合法</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CIF、元素、占位、晶格体积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得到完整且可解析的结构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几何有效性</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周期最小距离、密度、异常晶格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排除严重碰撞或畸形结构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组成有效性</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允许氧化态与电荷平衡等规则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符合所采用的化学启发式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规则示例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SMACT可寻找 Σₑ nₑqₑ = 0 的赋值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NaCl可用Na⁺和Cl⁻解释电荷平衡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179359A8-3D88-4A96-998E-0598D073EA0B}"/>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通过有效性检查后，再评价相稳定性和目标性质。</a:t>
            </a:r>
          </a:p>
        </p:txBody>
      </p:sp>
      <p:sp>
        <p:nvSpPr>
          <p:cNvPr id="4" name="separator">
            <a:extLst>
              <a:ext uri="{FF2B5EF4-FFF2-40B4-BE49-F238E27FC236}">
                <a16:creationId xmlns:a16="http://schemas.microsoft.com/office/drawing/2014/main" id="{8F929229-1D7C-4C1D-8202-B69D582943D2}"/>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6468B47-D360-4311-B84C-C292142805B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阈值随协议变化：CDVAE距离阈值0.5 Å，LeMat-GenBench采用0.7 Å及额外检查。</a:t>
            </a:r>
          </a:p>
        </p:txBody>
      </p:sp>
      <p:sp>
        <p:nvSpPr>
          <p:cNvPr id="6" name="page-number">
            <a:extLst>
              <a:ext uri="{FF2B5EF4-FFF2-40B4-BE49-F238E27FC236}">
                <a16:creationId xmlns:a16="http://schemas.microsoft.com/office/drawing/2014/main" id="{505D270E-FA45-4543-83FE-DAFB3627E025}"/>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553353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C0E17F4F-C0D8-421A-9B85-92EBD6386A71}"/>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CSP评测：参考命中率与几何误差</a:t>
            </a:r>
          </a:p>
        </p:txBody>
      </p:sp>
      <p:sp>
        <p:nvSpPr>
          <p:cNvPr id="2" name="equation">
            <a:extLst>
              <a:ext uri="{FF2B5EF4-FFF2-40B4-BE49-F238E27FC236}">
                <a16:creationId xmlns:a16="http://schemas.microsoft.com/office/drawing/2014/main" id="{B9A96DCC-858F-40CA-BE9B-CB84C7BDF44A}"/>
              </a:ext>
            </a:extLst>
          </p:cNvPr>
          <p:cNvSpPr>
            <a:spLocks noGrp="1"/>
          </p:cNvSpPr>
          <p:nvPr/>
        </p:nvSpPr>
        <p:spPr>
          <a:xfrm>
            <a:off x="609600" y="1276350"/>
            <a:ext cx="10972800" cy="647700"/>
          </a:xfrm>
          <a:prstGeom prst="rect">
            <a:avLst/>
          </a:prstGeom>
          <a:noFill/>
          <a:ln w="0">
            <a:noFill/>
          </a:ln>
        </p:spPr>
        <p:txBody>
          <a:bodyPr wrap="square" lIns="0" tIns="0" rIns="0" bIns="0" anchor="t">
            <a:noAutofit/>
          </a:bodyPr>
          <a:lstStyle>
            <a:defPPr algn="l">
              <a:defRPr sz="2175" b="0">
                <a:solidFill>
                  <a:srgbClr val="173E67"/>
                </a:solidFill>
                <a:latin typeface="Microsoft YaHei"/>
                <a:ea typeface="Microsoft YaHei"/>
                <a:cs typeface="Microsoft YaHei"/>
              </a:defRPr>
            </a:defPPr>
          </a:lstStyle>
          <a:p>
            <a:pPr algn="l">
              <a:lnSpc>
                <a:spcPct val="118000"/>
              </a:lnSpc>
              <a:buNone/>
              <a:defRPr sz="2175" b="0">
                <a:solidFill>
                  <a:srgbClr val="173E67"/>
                </a:solidFill>
                <a:latin typeface="Microsoft YaHei"/>
                <a:ea typeface="Microsoft YaHei"/>
                <a:cs typeface="Microsoft YaHei"/>
              </a:defRPr>
            </a:pPr>
            <a:r>
              <a:rPr sz="2175" b="0">
                <a:solidFill>
                  <a:srgbClr val="173E67"/>
                </a:solidFill>
                <a:latin typeface="Microsoft YaHei"/>
                <a:ea typeface="Microsoft YaHei"/>
                <a:cs typeface="Microsoft YaHei"/>
              </a:rPr>
              <a:t>MR@k = 命中至少一个参考结构的测试请求数 / 全部测试请求数</a:t>
            </a:r>
          </a:p>
        </p:txBody>
      </p:sp>
      <p:sp>
        <p:nvSpPr>
          <p:cNvPr id="3" name="text">
            <a:extLst>
              <a:ext uri="{FF2B5EF4-FFF2-40B4-BE49-F238E27FC236}">
                <a16:creationId xmlns:a16="http://schemas.microsoft.com/office/drawing/2014/main" id="{C947B8F3-B5F0-4174-BF47-3DF74F28FB4C}"/>
              </a:ext>
            </a:extLst>
          </p:cNvPr>
          <p:cNvSpPr>
            <a:spLocks noGrp="1"/>
          </p:cNvSpPr>
          <p:nvPr/>
        </p:nvSpPr>
        <p:spPr>
          <a:xfrm>
            <a:off x="609600" y="227647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匹配</a:t>
            </a:r>
          </a:p>
        </p:txBody>
      </p:sp>
      <p:sp>
        <p:nvSpPr>
          <p:cNvPr id="4" name="text">
            <a:extLst>
              <a:ext uri="{FF2B5EF4-FFF2-40B4-BE49-F238E27FC236}">
                <a16:creationId xmlns:a16="http://schemas.microsoft.com/office/drawing/2014/main" id="{8916F323-7E79-4620-86C0-B6617CFB1242}"/>
              </a:ext>
            </a:extLst>
          </p:cNvPr>
          <p:cNvSpPr>
            <a:spLocks noGrp="1"/>
          </p:cNvSpPr>
          <p:nvPr/>
        </p:nvSpPr>
        <p:spPr>
          <a:xfrm>
            <a:off x="2457450" y="227647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处理原子重排、平移和晶胞等价后，按晶格、角度及位置容差比较</a:t>
            </a:r>
          </a:p>
        </p:txBody>
      </p:sp>
      <p:sp>
        <p:nvSpPr>
          <p:cNvPr id="5" name="text">
            <a:extLst>
              <a:ext uri="{FF2B5EF4-FFF2-40B4-BE49-F238E27FC236}">
                <a16:creationId xmlns:a16="http://schemas.microsoft.com/office/drawing/2014/main" id="{95E2DF17-E716-4DB9-BA78-F8E7C32E3149}"/>
              </a:ext>
            </a:extLst>
          </p:cNvPr>
          <p:cNvSpPr>
            <a:spLocks noGrp="1"/>
          </p:cNvSpPr>
          <p:nvPr/>
        </p:nvSpPr>
        <p:spPr>
          <a:xfrm>
            <a:off x="609600" y="314325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RMSD</a:t>
            </a:r>
          </a:p>
        </p:txBody>
      </p:sp>
      <p:sp>
        <p:nvSpPr>
          <p:cNvPr id="6" name="text">
            <a:extLst>
              <a:ext uri="{FF2B5EF4-FFF2-40B4-BE49-F238E27FC236}">
                <a16:creationId xmlns:a16="http://schemas.microsoft.com/office/drawing/2014/main" id="{C580D813-46CE-4102-8A6D-D9563A2AE931}"/>
              </a:ext>
            </a:extLst>
          </p:cNvPr>
          <p:cNvSpPr>
            <a:spLocks noGrp="1"/>
          </p:cNvSpPr>
          <p:nvPr/>
        </p:nvSpPr>
        <p:spPr>
          <a:xfrm>
            <a:off x="2457450" y="314325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匹配原子的位移均方根。文献可能报Å，也可能除以 (V/n)¹ᐟ³ 归一化</a:t>
            </a:r>
          </a:p>
        </p:txBody>
      </p:sp>
      <p:sp>
        <p:nvSpPr>
          <p:cNvPr id="7" name="text">
            <a:extLst>
              <a:ext uri="{FF2B5EF4-FFF2-40B4-BE49-F238E27FC236}">
                <a16:creationId xmlns:a16="http://schemas.microsoft.com/office/drawing/2014/main" id="{4CD1E437-D0F9-4F62-A892-563CF27777BD}"/>
              </a:ext>
            </a:extLst>
          </p:cNvPr>
          <p:cNvSpPr>
            <a:spLocks noGrp="1"/>
          </p:cNvSpPr>
          <p:nvPr/>
        </p:nvSpPr>
        <p:spPr>
          <a:xfrm>
            <a:off x="609600" y="401002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采样预算</a:t>
            </a:r>
          </a:p>
        </p:txBody>
      </p:sp>
      <p:sp>
        <p:nvSpPr>
          <p:cNvPr id="8" name="text">
            <a:extLst>
              <a:ext uri="{FF2B5EF4-FFF2-40B4-BE49-F238E27FC236}">
                <a16:creationId xmlns:a16="http://schemas.microsoft.com/office/drawing/2014/main" id="{2245A93C-5D96-441D-91B6-6670D95523DF}"/>
              </a:ext>
            </a:extLst>
          </p:cNvPr>
          <p:cNvSpPr>
            <a:spLocks noGrp="1"/>
          </p:cNvSpPr>
          <p:nvPr/>
        </p:nvSpPr>
        <p:spPr>
          <a:xfrm>
            <a:off x="2457450" y="401002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MR@20通常允许每个组成20个候选。best-of-k评测可用参考答案选最好者</a:t>
            </a:r>
          </a:p>
        </p:txBody>
      </p:sp>
      <p:sp>
        <p:nvSpPr>
          <p:cNvPr id="9" name="text">
            <a:extLst>
              <a:ext uri="{FF2B5EF4-FFF2-40B4-BE49-F238E27FC236}">
                <a16:creationId xmlns:a16="http://schemas.microsoft.com/office/drawing/2014/main" id="{E4F37994-F253-488E-BAB8-137369B3D95E}"/>
              </a:ext>
            </a:extLst>
          </p:cNvPr>
          <p:cNvSpPr>
            <a:spLocks noGrp="1"/>
          </p:cNvSpPr>
          <p:nvPr/>
        </p:nvSpPr>
        <p:spPr>
          <a:xfrm>
            <a:off x="609600" y="487680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多晶型</a:t>
            </a:r>
          </a:p>
        </p:txBody>
      </p:sp>
      <p:sp>
        <p:nvSpPr>
          <p:cNvPr id="10" name="text">
            <a:extLst>
              <a:ext uri="{FF2B5EF4-FFF2-40B4-BE49-F238E27FC236}">
                <a16:creationId xmlns:a16="http://schemas.microsoft.com/office/drawing/2014/main" id="{4ABEB17F-F33C-4C6F-9A01-3D83A46BDBFE}"/>
              </a:ext>
            </a:extLst>
          </p:cNvPr>
          <p:cNvSpPr>
            <a:spLocks noGrp="1"/>
          </p:cNvSpPr>
          <p:nvPr/>
        </p:nvSpPr>
        <p:spPr>
          <a:xfrm>
            <a:off x="2457450" y="487680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同一组成可能有多个低能结构，单个数据库参考不代表全部可行答案</a:t>
            </a:r>
          </a:p>
        </p:txBody>
      </p:sp>
      <p:sp>
        <p:nvSpPr>
          <p:cNvPr id="11" name="separator">
            <a:extLst>
              <a:ext uri="{FF2B5EF4-FFF2-40B4-BE49-F238E27FC236}">
                <a16:creationId xmlns:a16="http://schemas.microsoft.com/office/drawing/2014/main" id="{F3FD34E6-B9EA-429B-94F1-56161DA42431}"/>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754FC3B0-63EA-4D75-9AEC-75472152887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DiffCSP §5.1；pymatgen StructureMatcher。匹配率应与成功匹配集上的RMSD一起读。</a:t>
            </a:r>
          </a:p>
        </p:txBody>
      </p:sp>
      <p:sp>
        <p:nvSpPr>
          <p:cNvPr id="13" name="page-number">
            <a:extLst>
              <a:ext uri="{FF2B5EF4-FFF2-40B4-BE49-F238E27FC236}">
                <a16:creationId xmlns:a16="http://schemas.microsoft.com/office/drawing/2014/main" id="{77DD9AC2-F8EC-46A8-98CA-B3D2DC3724B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393710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9FDDE094-84A5-4773-9D81-61D6714878B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分布指标衡量覆盖与偏移</a:t>
            </a:r>
          </a:p>
        </p:txBody>
      </p:sp>
      <p:graphicFrame>
        <p:nvGraphicFramePr>
          <p:cNvPr id="2" name="表格 1">
            <a:extLst>
              <a:ext uri="{FF2B5EF4-FFF2-40B4-BE49-F238E27FC236}">
                <a16:creationId xmlns:a16="http://schemas.microsoft.com/office/drawing/2014/main" id="{610B2097-EB7C-4095-B290-30EB647EC6B2}"/>
              </a:ext>
            </a:extLst>
          </p:cNvPr>
          <p:cNvGraphicFramePr/>
          <p:nvPr/>
        </p:nvGraphicFramePr>
        <p:xfrm>
          <a:off x="609600" y="1400175"/>
          <a:ext cx="10972800" cy="4010025"/>
        </p:xfrm>
        <a:graphic>
          <a:graphicData uri="http://schemas.openxmlformats.org/drawingml/2006/table">
            <a:tbl>
              <a:tblPr/>
              <a:tblGrid>
                <a:gridCol w="2333625">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067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指标</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如何计算或理解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它描述什么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COV-Recall</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参考集合中被生成指纹邻域覆盖的比例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生成集合覆盖了多少参考变化</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COV-Precision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生成集合中靠近参考指纹分布的比例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有多少输出处于参考邻域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JSD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两个类别分布的对称差异</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元素、空间群等分布偏移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Wasserstein-1</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将一份标量分布搬成另一份的平均距离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密度、能量等性质分布差异</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D017B519-493E-4852-90B8-57DFFE604B14}"/>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这些指标描述统计分布；稳定新材料还需要结构匹配及物理资格。</a:t>
            </a:r>
          </a:p>
        </p:txBody>
      </p:sp>
      <p:sp>
        <p:nvSpPr>
          <p:cNvPr id="4" name="separator">
            <a:extLst>
              <a:ext uri="{FF2B5EF4-FFF2-40B4-BE49-F238E27FC236}">
                <a16:creationId xmlns:a16="http://schemas.microsoft.com/office/drawing/2014/main" id="{8843113A-B17D-4D63-A1F0-E18DAC72E5E6}"/>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5F8687F9-D11E-4B42-AE96-46704B07F6A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COV依赖结构/组成指纹与阈值；W₁保留性质单位。SciPy的Jensen–Shannon函数返回JSD的平方根。</a:t>
            </a:r>
          </a:p>
        </p:txBody>
      </p:sp>
      <p:sp>
        <p:nvSpPr>
          <p:cNvPr id="6" name="page-number">
            <a:extLst>
              <a:ext uri="{FF2B5EF4-FFF2-40B4-BE49-F238E27FC236}">
                <a16:creationId xmlns:a16="http://schemas.microsoft.com/office/drawing/2014/main" id="{72DCFBC0-60EA-446F-AB76-1501A3FE433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604912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1761231-F5FB-45D1-AB21-7FE12626C44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形成能和凸包能比较不同的竞争对象</a:t>
            </a:r>
          </a:p>
        </p:txBody>
      </p:sp>
      <p:sp>
        <p:nvSpPr>
          <p:cNvPr id="2" name="equation">
            <a:extLst>
              <a:ext uri="{FF2B5EF4-FFF2-40B4-BE49-F238E27FC236}">
                <a16:creationId xmlns:a16="http://schemas.microsoft.com/office/drawing/2014/main" id="{116D7DA0-04AD-4C23-A0B9-53A151DC8701}"/>
              </a:ext>
            </a:extLst>
          </p:cNvPr>
          <p:cNvSpPr>
            <a:spLocks noGrp="1"/>
          </p:cNvSpPr>
          <p:nvPr/>
        </p:nvSpPr>
        <p:spPr>
          <a:xfrm>
            <a:off x="609600" y="1276350"/>
            <a:ext cx="10972800" cy="647700"/>
          </a:xfrm>
          <a:prstGeom prst="rect">
            <a:avLst/>
          </a:prstGeom>
          <a:noFill/>
          <a:ln w="0">
            <a:noFill/>
          </a:ln>
        </p:spPr>
        <p:txBody>
          <a:bodyPr wrap="square" lIns="0" tIns="0" rIns="0" bIns="0" anchor="t">
            <a:noAutofit/>
          </a:bodyPr>
          <a:lstStyle>
            <a:defPPr algn="l">
              <a:defRPr sz="2175" b="0">
                <a:solidFill>
                  <a:srgbClr val="173E67"/>
                </a:solidFill>
                <a:latin typeface="Microsoft YaHei"/>
                <a:ea typeface="Microsoft YaHei"/>
                <a:cs typeface="Microsoft YaHei"/>
              </a:defRPr>
            </a:defPPr>
          </a:lstStyle>
          <a:p>
            <a:pPr algn="l">
              <a:lnSpc>
                <a:spcPct val="118000"/>
              </a:lnSpc>
              <a:buNone/>
              <a:defRPr sz="2175" b="0">
                <a:solidFill>
                  <a:srgbClr val="173E67"/>
                </a:solidFill>
                <a:latin typeface="Microsoft YaHei"/>
                <a:ea typeface="Microsoft YaHei"/>
                <a:cs typeface="Microsoft YaHei"/>
              </a:defRPr>
            </a:pPr>
            <a:r>
              <a:rPr sz="2175" b="0">
                <a:solidFill>
                  <a:srgbClr val="173E67"/>
                </a:solidFill>
                <a:latin typeface="Microsoft YaHei"/>
                <a:ea typeface="Microsoft YaHei"/>
                <a:cs typeface="Microsoft YaHei"/>
              </a:rPr>
              <a:t>E_form = (E_cell − Σₑ nₑ μₑ) / n</a:t>
            </a:r>
          </a:p>
        </p:txBody>
      </p:sp>
      <p:sp>
        <p:nvSpPr>
          <p:cNvPr id="3" name="text">
            <a:extLst>
              <a:ext uri="{FF2B5EF4-FFF2-40B4-BE49-F238E27FC236}">
                <a16:creationId xmlns:a16="http://schemas.microsoft.com/office/drawing/2014/main" id="{F262C1AE-A029-4444-9CDE-11DC8F58C192}"/>
              </a:ext>
            </a:extLst>
          </p:cNvPr>
          <p:cNvSpPr>
            <a:spLocks noGrp="1"/>
          </p:cNvSpPr>
          <p:nvPr/>
        </p:nvSpPr>
        <p:spPr>
          <a:xfrm>
            <a:off x="609600" y="227647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形成能</a:t>
            </a:r>
          </a:p>
        </p:txBody>
      </p:sp>
      <p:sp>
        <p:nvSpPr>
          <p:cNvPr id="4" name="text">
            <a:extLst>
              <a:ext uri="{FF2B5EF4-FFF2-40B4-BE49-F238E27FC236}">
                <a16:creationId xmlns:a16="http://schemas.microsoft.com/office/drawing/2014/main" id="{2429CC8C-4016-4077-A7B3-87C428102B61}"/>
              </a:ext>
            </a:extLst>
          </p:cNvPr>
          <p:cNvSpPr>
            <a:spLocks noGrp="1"/>
          </p:cNvSpPr>
          <p:nvPr/>
        </p:nvSpPr>
        <p:spPr>
          <a:xfrm>
            <a:off x="2457450" y="227647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比较化合物与对应元素参考相。单位通常为eV/atom</a:t>
            </a:r>
          </a:p>
        </p:txBody>
      </p:sp>
      <p:sp>
        <p:nvSpPr>
          <p:cNvPr id="5" name="text">
            <a:extLst>
              <a:ext uri="{FF2B5EF4-FFF2-40B4-BE49-F238E27FC236}">
                <a16:creationId xmlns:a16="http://schemas.microsoft.com/office/drawing/2014/main" id="{C73D1543-EEA9-4DF3-9019-ED9722FF28D3}"/>
              </a:ext>
            </a:extLst>
          </p:cNvPr>
          <p:cNvSpPr>
            <a:spLocks noGrp="1"/>
          </p:cNvSpPr>
          <p:nvPr/>
        </p:nvSpPr>
        <p:spPr>
          <a:xfrm>
            <a:off x="609600" y="314325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相分解</a:t>
            </a:r>
          </a:p>
        </p:txBody>
      </p:sp>
      <p:sp>
        <p:nvSpPr>
          <p:cNvPr id="6" name="text">
            <a:extLst>
              <a:ext uri="{FF2B5EF4-FFF2-40B4-BE49-F238E27FC236}">
                <a16:creationId xmlns:a16="http://schemas.microsoft.com/office/drawing/2014/main" id="{0AC37E74-BFA1-414F-A180-494035F40918}"/>
              </a:ext>
            </a:extLst>
          </p:cNvPr>
          <p:cNvSpPr>
            <a:spLocks noGrp="1"/>
          </p:cNvSpPr>
          <p:nvPr/>
        </p:nvSpPr>
        <p:spPr>
          <a:xfrm>
            <a:off x="2457450" y="314325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即使形成能为负，也可能更愿意分解成若干更低能化合物</a:t>
            </a:r>
          </a:p>
        </p:txBody>
      </p:sp>
      <p:sp>
        <p:nvSpPr>
          <p:cNvPr id="7" name="text">
            <a:extLst>
              <a:ext uri="{FF2B5EF4-FFF2-40B4-BE49-F238E27FC236}">
                <a16:creationId xmlns:a16="http://schemas.microsoft.com/office/drawing/2014/main" id="{E4D37E6B-8389-4185-BA1F-98EBB2E08DE6}"/>
              </a:ext>
            </a:extLst>
          </p:cNvPr>
          <p:cNvSpPr>
            <a:spLocks noGrp="1"/>
          </p:cNvSpPr>
          <p:nvPr/>
        </p:nvSpPr>
        <p:spPr>
          <a:xfrm>
            <a:off x="609600" y="4010025"/>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凸包</a:t>
            </a:r>
          </a:p>
        </p:txBody>
      </p:sp>
      <p:sp>
        <p:nvSpPr>
          <p:cNvPr id="8" name="text">
            <a:extLst>
              <a:ext uri="{FF2B5EF4-FFF2-40B4-BE49-F238E27FC236}">
                <a16:creationId xmlns:a16="http://schemas.microsoft.com/office/drawing/2014/main" id="{738DFEA6-C613-443E-9A51-4A6DFD997031}"/>
              </a:ext>
            </a:extLst>
          </p:cNvPr>
          <p:cNvSpPr>
            <a:spLocks noGrp="1"/>
          </p:cNvSpPr>
          <p:nvPr/>
        </p:nvSpPr>
        <p:spPr>
          <a:xfrm>
            <a:off x="2457450" y="4010025"/>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在组成守恒下，求参考相混合所能达到的最低能量</a:t>
            </a:r>
          </a:p>
        </p:txBody>
      </p:sp>
      <p:sp>
        <p:nvSpPr>
          <p:cNvPr id="9" name="text">
            <a:extLst>
              <a:ext uri="{FF2B5EF4-FFF2-40B4-BE49-F238E27FC236}">
                <a16:creationId xmlns:a16="http://schemas.microsoft.com/office/drawing/2014/main" id="{C168B676-8AF2-4909-B6BC-71549BB14606}"/>
              </a:ext>
            </a:extLst>
          </p:cNvPr>
          <p:cNvSpPr>
            <a:spLocks noGrp="1"/>
          </p:cNvSpPr>
          <p:nvPr/>
        </p:nvSpPr>
        <p:spPr>
          <a:xfrm>
            <a:off x="609600" y="4876800"/>
            <a:ext cx="1666875" cy="3619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物理条件</a:t>
            </a:r>
          </a:p>
        </p:txBody>
      </p:sp>
      <p:sp>
        <p:nvSpPr>
          <p:cNvPr id="10" name="text">
            <a:extLst>
              <a:ext uri="{FF2B5EF4-FFF2-40B4-BE49-F238E27FC236}">
                <a16:creationId xmlns:a16="http://schemas.microsoft.com/office/drawing/2014/main" id="{1A2AABC5-8979-48B3-8EDC-3403898D5307}"/>
              </a:ext>
            </a:extLst>
          </p:cNvPr>
          <p:cNvSpPr>
            <a:spLocks noGrp="1"/>
          </p:cNvSpPr>
          <p:nvPr/>
        </p:nvSpPr>
        <p:spPr>
          <a:xfrm>
            <a:off x="2457450" y="4876800"/>
            <a:ext cx="9124950" cy="72390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常见电子能凸包近似0 K条件；压力下比较焓，有限温度平衡需要自由能</a:t>
            </a:r>
          </a:p>
        </p:txBody>
      </p:sp>
      <p:sp>
        <p:nvSpPr>
          <p:cNvPr id="11" name="separator">
            <a:extLst>
              <a:ext uri="{FF2B5EF4-FFF2-40B4-BE49-F238E27FC236}">
                <a16:creationId xmlns:a16="http://schemas.microsoft.com/office/drawing/2014/main" id="{27A83ECC-9692-42CA-AB76-A5926F9F799F}"/>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618DEC13-A5D8-4D53-8D2C-5437172902EF}"/>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μₑ为元素参考的每原子能量。候选、元素端点与竞争相应使用相容的能量口径。</a:t>
            </a:r>
          </a:p>
        </p:txBody>
      </p:sp>
      <p:sp>
        <p:nvSpPr>
          <p:cNvPr id="13" name="page-number">
            <a:extLst>
              <a:ext uri="{FF2B5EF4-FFF2-40B4-BE49-F238E27FC236}">
                <a16:creationId xmlns:a16="http://schemas.microsoft.com/office/drawing/2014/main" id="{6493AB21-8636-4FC7-AE60-C3EE43F7EBB8}"/>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77585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9B717FED-7F04-4758-B199-7763A09E2D7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凸包能量差的两种口径</a:t>
            </a:r>
          </a:p>
        </p:txBody>
      </p:sp>
      <p:graphicFrame>
        <p:nvGraphicFramePr>
          <p:cNvPr id="2" name="Chart">
            <a:extLst>
              <a:ext uri="{FF2B5EF4-FFF2-40B4-BE49-F238E27FC236}">
                <a16:creationId xmlns:a16="http://schemas.microsoft.com/office/drawing/2014/main" id="{701E117A-16C3-4E20-A01C-2755DD8814BA}"/>
              </a:ext>
            </a:extLst>
          </p:cNvPr>
          <p:cNvGraphicFramePr/>
          <p:nvPr/>
        </p:nvGraphicFramePr>
        <p:xfrm>
          <a:off x="647700" y="1685925"/>
          <a:ext cx="6048375"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9EB405FE-513A-44EE-A58C-0AB95BC5FB38}"/>
              </a:ext>
            </a:extLst>
          </p:cNvPr>
          <p:cNvSpPr>
            <a:spLocks noGrp="1"/>
          </p:cNvSpPr>
          <p:nvPr/>
        </p:nvSpPr>
        <p:spPr>
          <a:xfrm>
            <a:off x="685800" y="1333500"/>
            <a:ext cx="6096000" cy="285750"/>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形成能（eV/atom）</a:t>
            </a:r>
          </a:p>
        </p:txBody>
      </p:sp>
      <p:sp>
        <p:nvSpPr>
          <p:cNvPr id="4" name="text">
            <a:extLst>
              <a:ext uri="{FF2B5EF4-FFF2-40B4-BE49-F238E27FC236}">
                <a16:creationId xmlns:a16="http://schemas.microsoft.com/office/drawing/2014/main" id="{7C6F72FC-CF7A-4A29-991F-0A297AB89C53}"/>
              </a:ext>
            </a:extLst>
          </p:cNvPr>
          <p:cNvSpPr>
            <a:spLocks noGrp="1"/>
          </p:cNvSpPr>
          <p:nvPr/>
        </p:nvSpPr>
        <p:spPr>
          <a:xfrm>
            <a:off x="904875" y="5734050"/>
            <a:ext cx="5572125" cy="295275"/>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B的原子分数</a:t>
            </a:r>
          </a:p>
        </p:txBody>
      </p:sp>
      <p:sp>
        <p:nvSpPr>
          <p:cNvPr id="5" name="text">
            <a:extLst>
              <a:ext uri="{FF2B5EF4-FFF2-40B4-BE49-F238E27FC236}">
                <a16:creationId xmlns:a16="http://schemas.microsoft.com/office/drawing/2014/main" id="{284F0894-9241-448F-AD22-04AE8A0C51D1}"/>
              </a:ext>
            </a:extLst>
          </p:cNvPr>
          <p:cNvSpPr>
            <a:spLocks noGrp="1"/>
          </p:cNvSpPr>
          <p:nvPr/>
        </p:nvSpPr>
        <p:spPr>
          <a:xfrm>
            <a:off x="7219950" y="151447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固定参考包</a:t>
            </a:r>
          </a:p>
        </p:txBody>
      </p:sp>
      <p:sp>
        <p:nvSpPr>
          <p:cNvPr id="6" name="text">
            <a:extLst>
              <a:ext uri="{FF2B5EF4-FFF2-40B4-BE49-F238E27FC236}">
                <a16:creationId xmlns:a16="http://schemas.microsoft.com/office/drawing/2014/main" id="{61C3C008-597D-431F-8265-9E1DE867A8C0}"/>
              </a:ext>
            </a:extLst>
          </p:cNvPr>
          <p:cNvSpPr>
            <a:spLocks noGrp="1"/>
          </p:cNvSpPr>
          <p:nvPr/>
        </p:nvSpPr>
        <p:spPr>
          <a:xfrm>
            <a:off x="7219950" y="191452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ΔE_ref = 候选形成能 − 参考包能量。它可为负，表示降低旧参考包</a:t>
            </a:r>
          </a:p>
        </p:txBody>
      </p:sp>
      <p:sp>
        <p:nvSpPr>
          <p:cNvPr id="7" name="text">
            <a:extLst>
              <a:ext uri="{FF2B5EF4-FFF2-40B4-BE49-F238E27FC236}">
                <a16:creationId xmlns:a16="http://schemas.microsoft.com/office/drawing/2014/main" id="{2645DB8C-B8D9-4A05-976C-50F331D74EC2}"/>
              </a:ext>
            </a:extLst>
          </p:cNvPr>
          <p:cNvSpPr>
            <a:spLocks noGrp="1"/>
          </p:cNvSpPr>
          <p:nvPr/>
        </p:nvSpPr>
        <p:spPr>
          <a:xfrm>
            <a:off x="7219950" y="29337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lang="zh-CN" altLang="en-US" sz="1950" b="1">
                <a:solidFill>
                  <a:srgbClr val="173E67"/>
                </a:solidFill>
                <a:latin typeface="Microsoft YaHei"/>
                <a:ea typeface="Microsoft YaHei"/>
                <a:cs typeface="Microsoft YaHei"/>
              </a:rPr>
              <a:t>高于凸包的能量</a:t>
            </a:r>
            <a:endParaRPr sz="1950" b="1">
              <a:solidFill>
                <a:srgbClr val="173E67"/>
              </a:solidFill>
              <a:latin typeface="Microsoft YaHei"/>
              <a:ea typeface="Microsoft YaHei"/>
              <a:cs typeface="Microsoft YaHei"/>
            </a:endParaRPr>
          </a:p>
        </p:txBody>
      </p:sp>
      <p:sp>
        <p:nvSpPr>
          <p:cNvPr id="8" name="text">
            <a:extLst>
              <a:ext uri="{FF2B5EF4-FFF2-40B4-BE49-F238E27FC236}">
                <a16:creationId xmlns:a16="http://schemas.microsoft.com/office/drawing/2014/main" id="{204C9DAE-41B2-4A12-AB00-4FBA680E0F1B}"/>
              </a:ext>
            </a:extLst>
          </p:cNvPr>
          <p:cNvSpPr>
            <a:spLocks noGrp="1"/>
          </p:cNvSpPr>
          <p:nvPr/>
        </p:nvSpPr>
        <p:spPr>
          <a:xfrm>
            <a:off x="7219950" y="3333750"/>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把候选也加入相集合后，E_above hull ≥ 0；位于凸包上的结构为0</a:t>
            </a:r>
          </a:p>
        </p:txBody>
      </p:sp>
      <p:sp>
        <p:nvSpPr>
          <p:cNvPr id="9" name="text">
            <a:extLst>
              <a:ext uri="{FF2B5EF4-FFF2-40B4-BE49-F238E27FC236}">
                <a16:creationId xmlns:a16="http://schemas.microsoft.com/office/drawing/2014/main" id="{8F232932-2E81-42A9-A018-5297DBC6E4F6}"/>
              </a:ext>
            </a:extLst>
          </p:cNvPr>
          <p:cNvSpPr>
            <a:spLocks noGrp="1"/>
          </p:cNvSpPr>
          <p:nvPr/>
        </p:nvSpPr>
        <p:spPr>
          <a:xfrm>
            <a:off x="7219950" y="4352925"/>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教学算例</a:t>
            </a:r>
          </a:p>
        </p:txBody>
      </p:sp>
      <p:sp>
        <p:nvSpPr>
          <p:cNvPr id="10" name="text">
            <a:extLst>
              <a:ext uri="{FF2B5EF4-FFF2-40B4-BE49-F238E27FC236}">
                <a16:creationId xmlns:a16="http://schemas.microsoft.com/office/drawing/2014/main" id="{7C5AA6D3-0663-4DC4-B281-1215B455A2CF}"/>
              </a:ext>
            </a:extLst>
          </p:cNvPr>
          <p:cNvSpPr>
            <a:spLocks noGrp="1"/>
          </p:cNvSpPr>
          <p:nvPr/>
        </p:nvSpPr>
        <p:spPr>
          <a:xfrm>
            <a:off x="7219950" y="4752975"/>
            <a:ext cx="4362450" cy="9715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A₂B能量−0.450，旧包为−0.3667 eV/atom，ΔE_ref = −0.0833</a:t>
            </a:r>
          </a:p>
        </p:txBody>
      </p:sp>
      <p:sp>
        <p:nvSpPr>
          <p:cNvPr id="11" name="separator">
            <a:extLst>
              <a:ext uri="{FF2B5EF4-FFF2-40B4-BE49-F238E27FC236}">
                <a16:creationId xmlns:a16="http://schemas.microsoft.com/office/drawing/2014/main" id="{4C883484-ABCE-460F-9911-D0A47521A18F}"/>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512D6A65-F9BA-4AA8-9A33-7368E535EB9E}"/>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虚构二元体系教学图，非实验数据。加入候选后，它的标准E_above hull为0。</a:t>
            </a:r>
          </a:p>
        </p:txBody>
      </p:sp>
      <p:sp>
        <p:nvSpPr>
          <p:cNvPr id="13" name="page-number">
            <a:extLst>
              <a:ext uri="{FF2B5EF4-FFF2-40B4-BE49-F238E27FC236}">
                <a16:creationId xmlns:a16="http://schemas.microsoft.com/office/drawing/2014/main" id="{7AAED8E8-B6C1-4A38-933C-7E33EBFDFB69}"/>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797100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AF2CF90-0E5F-4895-8866-49D2BD29A0F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S、U、N与SUN分别回答什么</a:t>
            </a:r>
          </a:p>
        </p:txBody>
      </p:sp>
      <p:graphicFrame>
        <p:nvGraphicFramePr>
          <p:cNvPr id="2" name="表格 1">
            <a:extLst>
              <a:ext uri="{FF2B5EF4-FFF2-40B4-BE49-F238E27FC236}">
                <a16:creationId xmlns:a16="http://schemas.microsoft.com/office/drawing/2014/main" id="{3EF404BE-268B-4F8A-9C91-5EAEE1F8DEB0}"/>
              </a:ext>
            </a:extLst>
          </p:cNvPr>
          <p:cNvGraphicFramePr/>
          <p:nvPr/>
        </p:nvGraphicFramePr>
        <p:xfrm>
          <a:off x="609600" y="1400175"/>
          <a:ext cx="10972800" cy="4010025"/>
        </p:xfrm>
        <a:graphic>
          <a:graphicData uri="http://schemas.openxmlformats.org/drawingml/2006/table">
            <a:tbl>
              <a:tblPr/>
              <a:tblGrid>
                <a:gridCol w="219075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指标</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计算对象</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需要声明的条件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Stable，S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达到稳定或近凸包阈值的结构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阈值、评价器、能量参考、弛豫阶段</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Unique，U</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一批结果中去重后的不同结构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匹配容差、聚类顺序、代表选择</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Novel，N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与固定参考库不匹配的结构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参考库版本、化学和结构匹配规则</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SUN</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稳定且新颖的结果去重后的数量或比例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完整交集和分母，不假定各项独立</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333ADC60-B0CE-4ED7-91CA-BA736D4EC888}"/>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新化学可以沿用熟悉结构原型。参考库外、训练集外和项目首次发现是不同概念。</a:t>
            </a:r>
          </a:p>
        </p:txBody>
      </p:sp>
      <p:sp>
        <p:nvSpPr>
          <p:cNvPr id="4" name="separator">
            <a:extLst>
              <a:ext uri="{FF2B5EF4-FFF2-40B4-BE49-F238E27FC236}">
                <a16:creationId xmlns:a16="http://schemas.microsoft.com/office/drawing/2014/main" id="{5A8E82BB-FFD7-4F44-B023-9B7E47E94C21}"/>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EFD53BA6-4CE5-4D91-ACCD-04CC7A9E418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论文“Stable”可能允许≤0.1 eV/atom。严格on-hull和近凸包结果应分别读。</a:t>
            </a:r>
          </a:p>
        </p:txBody>
      </p:sp>
      <p:sp>
        <p:nvSpPr>
          <p:cNvPr id="6" name="page-number">
            <a:extLst>
              <a:ext uri="{FF2B5EF4-FFF2-40B4-BE49-F238E27FC236}">
                <a16:creationId xmlns:a16="http://schemas.microsoft.com/office/drawing/2014/main" id="{024D7770-CF7A-44FD-9134-063E04FB23A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564362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A35DF8E8-D1F2-4288-9967-D1D2CC6A3B6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SUN的分母与去重：一个算例</a:t>
            </a:r>
          </a:p>
        </p:txBody>
      </p:sp>
      <p:graphicFrame>
        <p:nvGraphicFramePr>
          <p:cNvPr id="2" name="Chart">
            <a:extLst>
              <a:ext uri="{FF2B5EF4-FFF2-40B4-BE49-F238E27FC236}">
                <a16:creationId xmlns:a16="http://schemas.microsoft.com/office/drawing/2014/main" id="{8E574662-AB15-403D-9CDD-C50298C21B91}"/>
              </a:ext>
            </a:extLst>
          </p:cNvPr>
          <p:cNvGraphicFramePr/>
          <p:nvPr/>
        </p:nvGraphicFramePr>
        <p:xfrm>
          <a:off x="609600" y="1543050"/>
          <a:ext cx="62865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extLst>
              <a:ext uri="{FF2B5EF4-FFF2-40B4-BE49-F238E27FC236}">
                <a16:creationId xmlns:a16="http://schemas.microsoft.com/office/drawing/2014/main" id="{F6A69D22-A07B-443E-937B-F715B8F219F9}"/>
              </a:ext>
            </a:extLst>
          </p:cNvPr>
          <p:cNvSpPr>
            <a:spLocks noGrp="1"/>
          </p:cNvSpPr>
          <p:nvPr/>
        </p:nvSpPr>
        <p:spPr>
          <a:xfrm>
            <a:off x="7219950" y="16002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全部请求</a:t>
            </a:r>
          </a:p>
        </p:txBody>
      </p:sp>
      <p:sp>
        <p:nvSpPr>
          <p:cNvPr id="4" name="text">
            <a:extLst>
              <a:ext uri="{FF2B5EF4-FFF2-40B4-BE49-F238E27FC236}">
                <a16:creationId xmlns:a16="http://schemas.microsoft.com/office/drawing/2014/main" id="{9E9A248C-D9D1-49F5-A1F9-CB13858E7E71}"/>
              </a:ext>
            </a:extLst>
          </p:cNvPr>
          <p:cNvSpPr>
            <a:spLocks noGrp="1"/>
          </p:cNvSpPr>
          <p:nvPr/>
        </p:nvSpPr>
        <p:spPr>
          <a:xfrm>
            <a:off x="7219950" y="20002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100个提案，90个通过有效性检查</a:t>
            </a:r>
          </a:p>
        </p:txBody>
      </p:sp>
      <p:sp>
        <p:nvSpPr>
          <p:cNvPr id="5" name="text">
            <a:extLst>
              <a:ext uri="{FF2B5EF4-FFF2-40B4-BE49-F238E27FC236}">
                <a16:creationId xmlns:a16="http://schemas.microsoft.com/office/drawing/2014/main" id="{3D7879DD-7145-45C4-B063-8EC28D449359}"/>
              </a:ext>
            </a:extLst>
          </p:cNvPr>
          <p:cNvSpPr>
            <a:spLocks noGrp="1"/>
          </p:cNvSpPr>
          <p:nvPr/>
        </p:nvSpPr>
        <p:spPr>
          <a:xfrm>
            <a:off x="7219950" y="28194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稳定与去重</a:t>
            </a:r>
          </a:p>
        </p:txBody>
      </p:sp>
      <p:sp>
        <p:nvSpPr>
          <p:cNvPr id="6" name="text">
            <a:extLst>
              <a:ext uri="{FF2B5EF4-FFF2-40B4-BE49-F238E27FC236}">
                <a16:creationId xmlns:a16="http://schemas.microsoft.com/office/drawing/2014/main" id="{09323EE1-73A5-4FA8-AF30-9704E9258CC7}"/>
              </a:ext>
            </a:extLst>
          </p:cNvPr>
          <p:cNvSpPr>
            <a:spLocks noGrp="1"/>
          </p:cNvSpPr>
          <p:nvPr/>
        </p:nvSpPr>
        <p:spPr>
          <a:xfrm>
            <a:off x="7219950" y="32194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40个确认稳定，去重剩30个不同稳定结构</a:t>
            </a:r>
          </a:p>
        </p:txBody>
      </p:sp>
      <p:sp>
        <p:nvSpPr>
          <p:cNvPr id="7" name="text">
            <a:extLst>
              <a:ext uri="{FF2B5EF4-FFF2-40B4-BE49-F238E27FC236}">
                <a16:creationId xmlns:a16="http://schemas.microsoft.com/office/drawing/2014/main" id="{3F75D8F1-967A-4983-A662-8106CE8B36AB}"/>
              </a:ext>
            </a:extLst>
          </p:cNvPr>
          <p:cNvSpPr>
            <a:spLocks noGrp="1"/>
          </p:cNvSpPr>
          <p:nvPr/>
        </p:nvSpPr>
        <p:spPr>
          <a:xfrm>
            <a:off x="7219950" y="4038600"/>
            <a:ext cx="4362450"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新颖交集</a:t>
            </a:r>
          </a:p>
        </p:txBody>
      </p:sp>
      <p:sp>
        <p:nvSpPr>
          <p:cNvPr id="8" name="text">
            <a:extLst>
              <a:ext uri="{FF2B5EF4-FFF2-40B4-BE49-F238E27FC236}">
                <a16:creationId xmlns:a16="http://schemas.microsoft.com/office/drawing/2014/main" id="{9CFA07A2-6B07-43CF-8C77-42609A66FBC4}"/>
              </a:ext>
            </a:extLst>
          </p:cNvPr>
          <p:cNvSpPr>
            <a:spLocks noGrp="1"/>
          </p:cNvSpPr>
          <p:nvPr/>
        </p:nvSpPr>
        <p:spPr>
          <a:xfrm>
            <a:off x="7219950" y="4438650"/>
            <a:ext cx="4362450" cy="771525"/>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其中12个不在参考库，SUN = 12/100 = 12%</a:t>
            </a:r>
          </a:p>
        </p:txBody>
      </p:sp>
      <p:sp>
        <p:nvSpPr>
          <p:cNvPr id="9" name="conclusion">
            <a:extLst>
              <a:ext uri="{FF2B5EF4-FFF2-40B4-BE49-F238E27FC236}">
                <a16:creationId xmlns:a16="http://schemas.microsoft.com/office/drawing/2014/main" id="{DC0D3CB2-AB03-468B-8CDC-0453BDCDD4C6}"/>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条件比例相乘可还原漏斗；全体S、U、N的边缘比例不能直接相乘。</a:t>
            </a:r>
          </a:p>
        </p:txBody>
      </p:sp>
      <p:sp>
        <p:nvSpPr>
          <p:cNvPr id="10" name="separator">
            <a:extLst>
              <a:ext uri="{FF2B5EF4-FFF2-40B4-BE49-F238E27FC236}">
                <a16:creationId xmlns:a16="http://schemas.microsoft.com/office/drawing/2014/main" id="{741E6D16-FA27-489B-AB03-8DBA72E2D243}"/>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24188637-11E4-495A-8B63-AB722461437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教学算例，全部数字为人为构造。失败、未完成和能量未知另行记账。</a:t>
            </a:r>
          </a:p>
        </p:txBody>
      </p:sp>
      <p:sp>
        <p:nvSpPr>
          <p:cNvPr id="12" name="page-number">
            <a:extLst>
              <a:ext uri="{FF2B5EF4-FFF2-40B4-BE49-F238E27FC236}">
                <a16:creationId xmlns:a16="http://schemas.microsoft.com/office/drawing/2014/main" id="{A9238B68-6A40-4905-BFDF-4573ACE4FBC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019156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7B33DC5E-B4A0-4212-8E05-EDABD2B1BD8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DFT在计算什么，为什么有不同结果</a:t>
            </a:r>
          </a:p>
        </p:txBody>
      </p:sp>
      <p:sp>
        <p:nvSpPr>
          <p:cNvPr id="2" name="lead">
            <a:extLst>
              <a:ext uri="{FF2B5EF4-FFF2-40B4-BE49-F238E27FC236}">
                <a16:creationId xmlns:a16="http://schemas.microsoft.com/office/drawing/2014/main" id="{686016E1-C2FF-400A-8B13-7AE0C7C28A74}"/>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固定原子时求电子密度；得到能量、力和应力后，再决定是否更新结构。</a:t>
            </a:r>
          </a:p>
        </p:txBody>
      </p:sp>
      <p:graphicFrame>
        <p:nvGraphicFramePr>
          <p:cNvPr id="3" name="表格 2">
            <a:extLst>
              <a:ext uri="{FF2B5EF4-FFF2-40B4-BE49-F238E27FC236}">
                <a16:creationId xmlns:a16="http://schemas.microsoft.com/office/drawing/2014/main" id="{877F166D-FEFE-421F-8E51-D360B1ECF78B}"/>
              </a:ext>
            </a:extLst>
          </p:cNvPr>
          <p:cNvGraphicFramePr/>
          <p:nvPr/>
        </p:nvGraphicFramePr>
        <p:xfrm>
          <a:off x="609600" y="1990725"/>
          <a:ext cx="10972800" cy="3419475"/>
        </p:xfrm>
        <a:graphic>
          <a:graphicData uri="http://schemas.openxmlformats.org/drawingml/2006/table">
            <a:tbl>
              <a:tblPr/>
              <a:tblGrid>
                <a:gridCol w="2524125">
                  <a:extLst>
                    <a:ext uri="{9D8B030D-6E8A-4147-A177-3AD203B41FA5}">
                      <a16:colId xmlns:a16="http://schemas.microsoft.com/office/drawing/2014/main" val="20000"/>
                    </a:ext>
                  </a:extLst>
                </a:gridCol>
                <a:gridCol w="385762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计算设置</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含义</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影响</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泛函、Hubbard U</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电子交换关联及局域电子近似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相对能量、带隙与磁性</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赝势 / PAW</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核电子与价电子表示</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能量基准与数值精度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k点与平面波截断</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布里渊区积分与基组大小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能量、力和应力收敛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磁性、SOC与收敛标准</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电子状态及计算精度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可能收敛到不同电子或磁性解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99C95AA8-1705-4D22-AACE-606DC7B20E5F}"/>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一次DFT弛豫含多次电子自洽计算。比较相稳定性时，候选和参照必须相容。</a:t>
            </a:r>
          </a:p>
        </p:txBody>
      </p:sp>
      <p:sp>
        <p:nvSpPr>
          <p:cNvPr id="5" name="separator">
            <a:extLst>
              <a:ext uri="{FF2B5EF4-FFF2-40B4-BE49-F238E27FC236}">
                <a16:creationId xmlns:a16="http://schemas.microsoft.com/office/drawing/2014/main" id="{53277C00-41D3-44A5-8B6D-95B1B359BAB2}"/>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DBAB6561-FA1B-4190-892B-E4DABA75A2A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DFT = density functional theory；SCF = self-consistent field。参数取值应随目标与协议说明。</a:t>
            </a:r>
          </a:p>
        </p:txBody>
      </p:sp>
      <p:sp>
        <p:nvSpPr>
          <p:cNvPr id="7" name="page-number">
            <a:extLst>
              <a:ext uri="{FF2B5EF4-FFF2-40B4-BE49-F238E27FC236}">
                <a16:creationId xmlns:a16="http://schemas.microsoft.com/office/drawing/2014/main" id="{A91D30F8-3512-4C47-9B04-A4F7353748A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19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248058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BDBE916-20F0-4E2B-B9E2-61F1D753FE59}"/>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弛豫是在寻找局部低能结构</a:t>
            </a:r>
          </a:p>
        </p:txBody>
      </p:sp>
      <p:graphicFrame>
        <p:nvGraphicFramePr>
          <p:cNvPr id="2" name="表格 1">
            <a:extLst>
              <a:ext uri="{FF2B5EF4-FFF2-40B4-BE49-F238E27FC236}">
                <a16:creationId xmlns:a16="http://schemas.microsoft.com/office/drawing/2014/main" id="{3FA49831-933C-4BF3-8DBE-9E1076367FD2}"/>
              </a:ext>
            </a:extLst>
          </p:cNvPr>
          <p:cNvGraphicFramePr/>
          <p:nvPr/>
        </p:nvGraphicFramePr>
        <p:xfrm>
          <a:off x="609600" y="1400175"/>
          <a:ext cx="10972800" cy="4010025"/>
        </p:xfrm>
        <a:graphic>
          <a:graphicData uri="http://schemas.openxmlformats.org/drawingml/2006/table">
            <a:tbl>
              <a:tblPr/>
              <a:tblGrid>
                <a:gridCol w="25717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方式或工具</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优化什么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应报告什么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固定晶胞</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原子位置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原子最大力、步数、是否收敛</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变胞弛豫</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原子位置与晶胞形状/体积</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力、应力、外压和约束</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FIRE / L-BFGS</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使用能量及梯度作局部优化</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优化器、阈值、最大步数</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MD / AIMD</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按运动方程推进时间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温度、系综、步长与物理时长</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156BFFE1-DB13-4EF3-8489-11574ACAB3E1}"/>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FIRE的200步是优化工作量；MD的10,000步×1 fs才对应10 ps模拟时间。</a:t>
            </a:r>
          </a:p>
        </p:txBody>
      </p:sp>
      <p:sp>
        <p:nvSpPr>
          <p:cNvPr id="4" name="separator">
            <a:extLst>
              <a:ext uri="{FF2B5EF4-FFF2-40B4-BE49-F238E27FC236}">
                <a16:creationId xmlns:a16="http://schemas.microsoft.com/office/drawing/2014/main" id="{83996D23-01E9-49FE-832D-5DEAE368BCF6}"/>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D7F53DCC-538A-4D81-B056-0566CE2C08B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教学时间算例。不同提案可能弛豫到同一终态，因此后处理也会改变U和N。</a:t>
            </a:r>
          </a:p>
        </p:txBody>
      </p:sp>
      <p:sp>
        <p:nvSpPr>
          <p:cNvPr id="6" name="page-number">
            <a:extLst>
              <a:ext uri="{FF2B5EF4-FFF2-40B4-BE49-F238E27FC236}">
                <a16:creationId xmlns:a16="http://schemas.microsoft.com/office/drawing/2014/main" id="{C8AC7CB6-3A6E-4945-AFAB-D11EC649404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614731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B05A5C62-DF87-4315-B997-725FEBFC940C}"/>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MLIP与DFT怎样配合评价</a:t>
            </a:r>
          </a:p>
        </p:txBody>
      </p:sp>
      <p:sp>
        <p:nvSpPr>
          <p:cNvPr id="2" name="lead">
            <a:extLst>
              <a:ext uri="{FF2B5EF4-FFF2-40B4-BE49-F238E27FC236}">
                <a16:creationId xmlns:a16="http://schemas.microsoft.com/office/drawing/2014/main" id="{DCAC67EF-B00F-4149-873E-5EF80C327BEC}"/>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先用低成本势处理大量候选，再围绕论文主张选择DFT与性质复核。</a:t>
            </a:r>
          </a:p>
        </p:txBody>
      </p:sp>
      <p:sp>
        <p:nvSpPr>
          <p:cNvPr id="3" name="text">
            <a:extLst>
              <a:ext uri="{FF2B5EF4-FFF2-40B4-BE49-F238E27FC236}">
                <a16:creationId xmlns:a16="http://schemas.microsoft.com/office/drawing/2014/main" id="{D3C6E0E9-8036-41B5-8075-8D3BEEABA892}"/>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标签一致</a:t>
            </a:r>
          </a:p>
        </p:txBody>
      </p:sp>
      <p:sp>
        <p:nvSpPr>
          <p:cNvPr id="4" name="text">
            <a:extLst>
              <a:ext uri="{FF2B5EF4-FFF2-40B4-BE49-F238E27FC236}">
                <a16:creationId xmlns:a16="http://schemas.microsoft.com/office/drawing/2014/main" id="{3ECDC694-F53C-4E1E-A74B-4C62FE9DE176}"/>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MLIP可能学习raw或已修正能量。候选、元素参考和竞争相必须处于相容尺度</a:t>
            </a:r>
          </a:p>
        </p:txBody>
      </p:sp>
      <p:sp>
        <p:nvSpPr>
          <p:cNvPr id="5" name="text">
            <a:extLst>
              <a:ext uri="{FF2B5EF4-FFF2-40B4-BE49-F238E27FC236}">
                <a16:creationId xmlns:a16="http://schemas.microsoft.com/office/drawing/2014/main" id="{DDBBA682-EBE8-458E-AFC6-CE1C534C7DE3}"/>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具体例子</a:t>
            </a:r>
          </a:p>
        </p:txBody>
      </p:sp>
      <p:sp>
        <p:nvSpPr>
          <p:cNvPr id="6" name="text">
            <a:extLst>
              <a:ext uri="{FF2B5EF4-FFF2-40B4-BE49-F238E27FC236}">
                <a16:creationId xmlns:a16="http://schemas.microsoft.com/office/drawing/2014/main" id="{2498100B-E3C2-44F2-BED3-6884D397DC53}"/>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CHGNet原MPtrj权重学习已做MP2020修正的能量，重复加同一修正会再次移动能量</a:t>
            </a:r>
          </a:p>
        </p:txBody>
      </p:sp>
      <p:sp>
        <p:nvSpPr>
          <p:cNvPr id="7" name="text">
            <a:extLst>
              <a:ext uri="{FF2B5EF4-FFF2-40B4-BE49-F238E27FC236}">
                <a16:creationId xmlns:a16="http://schemas.microsoft.com/office/drawing/2014/main" id="{401EB8BD-79E8-4FFE-8F89-BA52B78E9978}"/>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自洽凸包</a:t>
            </a:r>
          </a:p>
        </p:txBody>
      </p:sp>
      <p:sp>
        <p:nvSpPr>
          <p:cNvPr id="8" name="text">
            <a:extLst>
              <a:ext uri="{FF2B5EF4-FFF2-40B4-BE49-F238E27FC236}">
                <a16:creationId xmlns:a16="http://schemas.microsoft.com/office/drawing/2014/main" id="{90FC542B-A816-4931-AFFC-13E1769B2B6A}"/>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可用同一MLIP计算候选和竞争相，再构造参考包；模型外推误差仍需研究</a:t>
            </a:r>
          </a:p>
        </p:txBody>
      </p:sp>
      <p:sp>
        <p:nvSpPr>
          <p:cNvPr id="9" name="text">
            <a:extLst>
              <a:ext uri="{FF2B5EF4-FFF2-40B4-BE49-F238E27FC236}">
                <a16:creationId xmlns:a16="http://schemas.microsoft.com/office/drawing/2014/main" id="{0713E350-4834-4491-A951-CBAF1D663AE9}"/>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DFT复核</a:t>
            </a:r>
          </a:p>
        </p:txBody>
      </p:sp>
      <p:sp>
        <p:nvSpPr>
          <p:cNvPr id="10" name="text">
            <a:extLst>
              <a:ext uri="{FF2B5EF4-FFF2-40B4-BE49-F238E27FC236}">
                <a16:creationId xmlns:a16="http://schemas.microsoft.com/office/drawing/2014/main" id="{F4DABC51-AF01-4A2A-8E0D-5D85DABA7A5C}"/>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记录选样规则、原始分母与失败。随机核验、阈值附近核验和高分筛选回答不同问题</a:t>
            </a:r>
          </a:p>
        </p:txBody>
      </p:sp>
      <p:sp>
        <p:nvSpPr>
          <p:cNvPr id="11" name="separator">
            <a:extLst>
              <a:ext uri="{FF2B5EF4-FFF2-40B4-BE49-F238E27FC236}">
                <a16:creationId xmlns:a16="http://schemas.microsoft.com/office/drawing/2014/main" id="{7158EAD5-4934-4D53-AC1A-6D6637F8AF96}"/>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2637A2E-CD25-4D02-B954-DD17B19C889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固定组成的能量常数修正不改变原子力，但会影响跨组成的相能量比较。</a:t>
            </a:r>
          </a:p>
        </p:txBody>
      </p:sp>
      <p:sp>
        <p:nvSpPr>
          <p:cNvPr id="13" name="page-number">
            <a:extLst>
              <a:ext uri="{FF2B5EF4-FFF2-40B4-BE49-F238E27FC236}">
                <a16:creationId xmlns:a16="http://schemas.microsoft.com/office/drawing/2014/main" id="{A16871FE-B206-4F48-A54E-31393E978B7C}"/>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21</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602439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63C7C836-FC40-4E2E-85F1-C37C56978323}"/>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功能与物理稳定性怎样进一步计算</a:t>
            </a:r>
          </a:p>
        </p:txBody>
      </p:sp>
      <p:graphicFrame>
        <p:nvGraphicFramePr>
          <p:cNvPr id="2" name="表格 1">
            <a:extLst>
              <a:ext uri="{FF2B5EF4-FFF2-40B4-BE49-F238E27FC236}">
                <a16:creationId xmlns:a16="http://schemas.microsoft.com/office/drawing/2014/main" id="{747A5A6E-8FAB-4392-93FA-4478608E70BA}"/>
              </a:ext>
            </a:extLst>
          </p:cNvPr>
          <p:cNvGraphicFramePr/>
          <p:nvPr/>
        </p:nvGraphicFramePr>
        <p:xfrm>
          <a:off x="609600" y="1400175"/>
          <a:ext cx="10972800" cy="4010025"/>
        </p:xfrm>
        <a:graphic>
          <a:graphicData uri="http://schemas.openxmlformats.org/drawingml/2006/table">
            <a:tbl>
              <a:tblPr/>
              <a:tblGrid>
                <a:gridCol w="300037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495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科学问题</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计算或测量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得到的证据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95325">
                <a:tc>
                  <a:txBody>
                    <a:bodyPr/>
                    <a:lstStyle/>
                    <a:p>
                      <a:pPr algn="l">
                        <a:lnSpc>
                          <a:spcPct val="108000"/>
                        </a:lnSpc>
                        <a:buNone/>
                      </a:pPr>
                      <a:r>
                        <a:rPr sz="1725" b="0">
                          <a:solidFill>
                            <a:srgbClr val="1B2533"/>
                          </a:solidFill>
                          <a:latin typeface="Microsoft YaHei"/>
                          <a:ea typeface="Microsoft YaHei"/>
                          <a:cs typeface="Microsoft YaHei"/>
                        </a:rPr>
                        <a:t>小扰动是否失稳</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声子：二阶力常数与频率</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集体微扰的动力学稳定性</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95325">
                <a:tc>
                  <a:txBody>
                    <a:bodyPr/>
                    <a:lstStyle/>
                    <a:p>
                      <a:pPr algn="l">
                        <a:lnSpc>
                          <a:spcPct val="108000"/>
                        </a:lnSpc>
                        <a:buNone/>
                      </a:pPr>
                      <a:r>
                        <a:rPr sz="1725" b="0">
                          <a:solidFill>
                            <a:srgbClr val="1B2533"/>
                          </a:solidFill>
                          <a:latin typeface="Microsoft YaHei"/>
                          <a:ea typeface="Microsoft YaHei"/>
                          <a:cs typeface="Microsoft YaHei"/>
                        </a:rPr>
                        <a:t>刚度及机械响应</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应变—应力，弹性张量 Cᵢⱼ</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体模量、剪切模量及机械稳定条件</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95325">
                <a:tc>
                  <a:txBody>
                    <a:bodyPr/>
                    <a:lstStyle/>
                    <a:p>
                      <a:pPr algn="l">
                        <a:lnSpc>
                          <a:spcPct val="108000"/>
                        </a:lnSpc>
                        <a:buNone/>
                      </a:pPr>
                      <a:r>
                        <a:rPr sz="1725" b="0">
                          <a:solidFill>
                            <a:srgbClr val="1B2533"/>
                          </a:solidFill>
                          <a:latin typeface="Microsoft YaHei"/>
                          <a:ea typeface="Microsoft YaHei"/>
                          <a:cs typeface="Microsoft YaHei"/>
                        </a:rPr>
                        <a:t>有限温度下的行为</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MD / AIMD，给定温度与时间</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该窗口内的结构保持或扩散</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95325">
                <a:tc>
                  <a:txBody>
                    <a:bodyPr/>
                    <a:lstStyle/>
                    <a:p>
                      <a:pPr algn="l">
                        <a:lnSpc>
                          <a:spcPct val="108000"/>
                        </a:lnSpc>
                        <a:buNone/>
                      </a:pPr>
                      <a:r>
                        <a:rPr sz="1725" b="0">
                          <a:solidFill>
                            <a:srgbClr val="1B2533"/>
                          </a:solidFill>
                          <a:latin typeface="Microsoft YaHei"/>
                          <a:ea typeface="Microsoft YaHei"/>
                          <a:cs typeface="Microsoft YaHei"/>
                        </a:rPr>
                        <a:t>离子迁移或结构转变</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NEB / CI-NEB寻找路径与鞍点</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指定端点之间的激活势垒</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95325">
                <a:tc>
                  <a:txBody>
                    <a:bodyPr/>
                    <a:lstStyle/>
                    <a:p>
                      <a:pPr algn="l">
                        <a:lnSpc>
                          <a:spcPct val="108000"/>
                        </a:lnSpc>
                        <a:buNone/>
                      </a:pPr>
                      <a:r>
                        <a:rPr sz="1725" b="0">
                          <a:solidFill>
                            <a:srgbClr val="1B2533"/>
                          </a:solidFill>
                          <a:latin typeface="Microsoft YaHei"/>
                          <a:ea typeface="Microsoft YaHei"/>
                          <a:cs typeface="Microsoft YaHei"/>
                        </a:rPr>
                        <a:t>电子与实际材料性质</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能带 / DOS；XRD、成分及物性测量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计算功能与实验产物的相应证据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conclusion">
            <a:extLst>
              <a:ext uri="{FF2B5EF4-FFF2-40B4-BE49-F238E27FC236}">
                <a16:creationId xmlns:a16="http://schemas.microsoft.com/office/drawing/2014/main" id="{F3EF65B4-004B-420E-9D8F-5622FFB71EB8}"/>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每项计算回答一个具体问题。低凸包能、无虚频、短时MD保持与实际合成各有含义。</a:t>
            </a:r>
          </a:p>
        </p:txBody>
      </p:sp>
      <p:sp>
        <p:nvSpPr>
          <p:cNvPr id="4" name="separator">
            <a:extLst>
              <a:ext uri="{FF2B5EF4-FFF2-40B4-BE49-F238E27FC236}">
                <a16:creationId xmlns:a16="http://schemas.microsoft.com/office/drawing/2014/main" id="{E32BE716-F649-4046-9472-DF812B823ABC}"/>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C698DBD5-DA88-4E3F-A7E2-4BC2665C806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围绕目标选择计算，并报告泛函或势、超胞、温压、时长及收敛条件。</a:t>
            </a:r>
          </a:p>
        </p:txBody>
      </p:sp>
      <p:sp>
        <p:nvSpPr>
          <p:cNvPr id="6" name="page-number">
            <a:extLst>
              <a:ext uri="{FF2B5EF4-FFF2-40B4-BE49-F238E27FC236}">
                <a16:creationId xmlns:a16="http://schemas.microsoft.com/office/drawing/2014/main" id="{5A92FB1E-0CB1-4664-B83D-6B80AECDABF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678094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B85D22DF-8C7A-4CB0-9A30-155BEBD32D4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1/5：问题、数据与训练对象</a:t>
            </a:r>
          </a:p>
        </p:txBody>
      </p:sp>
      <p:sp>
        <p:nvSpPr>
          <p:cNvPr id="2" name="lead">
            <a:extLst>
              <a:ext uri="{FF2B5EF4-FFF2-40B4-BE49-F238E27FC236}">
                <a16:creationId xmlns:a16="http://schemas.microsoft.com/office/drawing/2014/main" id="{ECB439B2-5607-4AC7-A5B7-65BF5B2B5171}"/>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目标是在元素、位置与晶胞上联合生成，并用科学条件改变生成分布。</a:t>
            </a:r>
          </a:p>
        </p:txBody>
      </p:sp>
      <p:graphicFrame>
        <p:nvGraphicFramePr>
          <p:cNvPr id="3" name="表格 2">
            <a:extLst>
              <a:ext uri="{FF2B5EF4-FFF2-40B4-BE49-F238E27FC236}">
                <a16:creationId xmlns:a16="http://schemas.microsoft.com/office/drawing/2014/main" id="{2CA1FB13-0F19-4A81-8585-6FF1F781AD87}"/>
              </a:ext>
            </a:extLst>
          </p:cNvPr>
          <p:cNvGraphicFramePr/>
          <p:nvPr/>
        </p:nvGraphicFramePr>
        <p:xfrm>
          <a:off x="609600" y="1990725"/>
          <a:ext cx="10972800" cy="3419475"/>
        </p:xfrm>
        <a:graphic>
          <a:graphicData uri="http://schemas.openxmlformats.org/drawingml/2006/table">
            <a:tbl>
              <a:tblPr/>
              <a:tblGrid>
                <a:gridCol w="22860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环节</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正式论文采用什么</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为什么这样做</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721519">
                <a:tc>
                  <a:txBody>
                    <a:bodyPr/>
                    <a:lstStyle/>
                    <a:p>
                      <a:pPr algn="l">
                        <a:lnSpc>
                          <a:spcPct val="108000"/>
                        </a:lnSpc>
                        <a:buNone/>
                      </a:pPr>
                      <a:r>
                        <a:rPr sz="1725" b="0">
                          <a:solidFill>
                            <a:srgbClr val="1B2533"/>
                          </a:solidFill>
                          <a:latin typeface="Microsoft YaHei"/>
                          <a:ea typeface="Microsoft YaHei"/>
                          <a:cs typeface="Microsoft YaHei"/>
                        </a:rPr>
                        <a:t>预训练数据</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607,683个Alex-MP-20训练结构</a:t>
                      </a:r>
                    </a:p>
                    <a:p>
                      <a:pPr algn="l">
                        <a:lnSpc>
                          <a:spcPct val="108000"/>
                        </a:lnSpc>
                        <a:buNone/>
                      </a:pPr>
                      <a:r>
                        <a:rPr sz="1725" b="0">
                          <a:solidFill>
                            <a:srgbClr val="1B2533"/>
                          </a:solidFill>
                          <a:latin typeface="Microsoft YaHei"/>
                          <a:ea typeface="Microsoft YaHei"/>
                          <a:cs typeface="Microsoft YaHei"/>
                        </a:rPr>
                        <a:t>输入胞≤20原子，近凸包过滤</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联合学习化学与结构分布</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721519">
                <a:tc>
                  <a:txBody>
                    <a:bodyPr/>
                    <a:lstStyle/>
                    <a:p>
                      <a:pPr algn="l">
                        <a:lnSpc>
                          <a:spcPct val="108000"/>
                        </a:lnSpc>
                        <a:buNone/>
                      </a:pPr>
                      <a:r>
                        <a:rPr sz="1725" b="0">
                          <a:solidFill>
                            <a:srgbClr val="1B2533"/>
                          </a:solidFill>
                          <a:latin typeface="Microsoft YaHei"/>
                          <a:ea typeface="Microsoft YaHei"/>
                          <a:cs typeface="Microsoft YaHei"/>
                        </a:rPr>
                        <a:t>能量对齐</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MP + Alexandria，非MP结构</a:t>
                      </a:r>
                    </a:p>
                    <a:p>
                      <a:pPr algn="l">
                        <a:lnSpc>
                          <a:spcPct val="108000"/>
                        </a:lnSpc>
                        <a:buNone/>
                      </a:pPr>
                      <a:r>
                        <a:rPr sz="1725" b="0">
                          <a:solidFill>
                            <a:srgbClr val="1B2533"/>
                          </a:solidFill>
                          <a:latin typeface="Microsoft YaHei"/>
                          <a:ea typeface="Microsoft YaHei"/>
                          <a:cs typeface="Microsoft YaHei"/>
                        </a:rPr>
                        <a:t>按MP PBE(+U)流程重算</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把不同来源放到可比较的能量尺度</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721519">
                <a:tc>
                  <a:txBody>
                    <a:bodyPr/>
                    <a:lstStyle/>
                    <a:p>
                      <a:pPr algn="l">
                        <a:lnSpc>
                          <a:spcPct val="108000"/>
                        </a:lnSpc>
                        <a:buNone/>
                      </a:pPr>
                      <a:r>
                        <a:rPr sz="1725" b="0">
                          <a:solidFill>
                            <a:srgbClr val="1B2533"/>
                          </a:solidFill>
                          <a:latin typeface="Microsoft YaHei"/>
                          <a:ea typeface="Microsoft YaHei"/>
                          <a:cs typeface="Microsoft YaHei"/>
                        </a:rPr>
                        <a:t>稳定性参考</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850,384个有序参考结构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计算相竞争的固定参考凸包</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721519">
                <a:tc>
                  <a:txBody>
                    <a:bodyPr/>
                    <a:lstStyle/>
                    <a:p>
                      <a:pPr algn="l">
                        <a:lnSpc>
                          <a:spcPct val="108000"/>
                        </a:lnSpc>
                        <a:buNone/>
                      </a:pPr>
                      <a:r>
                        <a:rPr sz="1725" b="0">
                          <a:solidFill>
                            <a:srgbClr val="1B2533"/>
                          </a:solidFill>
                          <a:latin typeface="Microsoft YaHei"/>
                          <a:ea typeface="Microsoft YaHei"/>
                          <a:cs typeface="Microsoft YaHei"/>
                        </a:rPr>
                        <a:t>新颖性参考</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上述结构再加117,652个</a:t>
                      </a:r>
                    </a:p>
                    <a:p>
                      <a:pPr algn="l">
                        <a:lnSpc>
                          <a:spcPct val="108000"/>
                        </a:lnSpc>
                        <a:buNone/>
                      </a:pPr>
                      <a:r>
                        <a:rPr sz="1725" b="0">
                          <a:solidFill>
                            <a:srgbClr val="1B2533"/>
                          </a:solidFill>
                          <a:latin typeface="Microsoft YaHei"/>
                          <a:ea typeface="Microsoft YaHei"/>
                          <a:cs typeface="Microsoft YaHei"/>
                        </a:rPr>
                        <a:t>无序ICSD结构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考虑实际已知材料和占位无序</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conclusion">
            <a:extLst>
              <a:ext uri="{FF2B5EF4-FFF2-40B4-BE49-F238E27FC236}">
                <a16:creationId xmlns:a16="http://schemas.microsoft.com/office/drawing/2014/main" id="{4A3D7130-5C7B-46F6-A611-2A94CE1A39F5}"/>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这是特定训练和参考快照。完整公开Alex-MP-20的675,204条与训练分区不同。</a:t>
            </a:r>
          </a:p>
        </p:txBody>
      </p:sp>
      <p:sp>
        <p:nvSpPr>
          <p:cNvPr id="5" name="separator">
            <a:extLst>
              <a:ext uri="{FF2B5EF4-FFF2-40B4-BE49-F238E27FC236}">
                <a16:creationId xmlns:a16="http://schemas.microsoft.com/office/drawing/2014/main" id="{5F0AE1A6-8075-46DD-830E-49124DFCBDB9}"/>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B0AE19D3-9697-4A7B-AD54-659062DDCB8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Zeni et al., Nature 639, 624–632 (2025)，正文与SI C。MatterGen是Nature主刊论文。</a:t>
            </a:r>
          </a:p>
        </p:txBody>
      </p:sp>
      <p:sp>
        <p:nvSpPr>
          <p:cNvPr id="7" name="page-number">
            <a:extLst>
              <a:ext uri="{FF2B5EF4-FFF2-40B4-BE49-F238E27FC236}">
                <a16:creationId xmlns:a16="http://schemas.microsoft.com/office/drawing/2014/main" id="{D97C362A-6921-4106-BF4C-0FAECDCD68C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596848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0E2563D-C86E-4CA9-9CF7-4B05C700847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2/5：联合扩散与条件适配</a:t>
            </a:r>
          </a:p>
        </p:txBody>
      </p:sp>
      <p:pic>
        <p:nvPicPr>
          <p:cNvPr id="2" name="图片 1">
            <a:extLst>
              <a:ext uri="{FF2B5EF4-FFF2-40B4-BE49-F238E27FC236}">
                <a16:creationId xmlns:a16="http://schemas.microsoft.com/office/drawing/2014/main" id="{4BB8C2FE-A8B7-4141-8382-A86E21132038}"/>
              </a:ext>
            </a:extLst>
          </p:cNvPr>
          <p:cNvPicPr>
            <a:picLocks noChangeAspect="1"/>
          </p:cNvPicPr>
          <p:nvPr/>
        </p:nvPicPr>
        <p:blipFill>
          <a:blip r:embed="rId3"/>
          <a:stretch/>
        </p:blipFill>
        <p:spPr>
          <a:xfrm>
            <a:off x="1285875" y="1162050"/>
            <a:ext cx="9620250" cy="3786836"/>
          </a:xfrm>
          <a:prstGeom prst="rect">
            <a:avLst/>
          </a:prstGeom>
        </p:spPr>
      </p:pic>
      <p:sp>
        <p:nvSpPr>
          <p:cNvPr id="3" name="text">
            <a:extLst>
              <a:ext uri="{FF2B5EF4-FFF2-40B4-BE49-F238E27FC236}">
                <a16:creationId xmlns:a16="http://schemas.microsoft.com/office/drawing/2014/main" id="{CE5BABCF-9F96-4C69-BCC1-A78A71292FD4}"/>
              </a:ext>
            </a:extLst>
          </p:cNvPr>
          <p:cNvSpPr>
            <a:spLocks noGrp="1"/>
          </p:cNvSpPr>
          <p:nvPr/>
        </p:nvSpPr>
        <p:spPr>
          <a:xfrm>
            <a:off x="609600" y="5048250"/>
            <a:ext cx="1171575" cy="381000"/>
          </a:xfrm>
          <a:prstGeom prst="rect">
            <a:avLst/>
          </a:prstGeom>
          <a:noFill/>
          <a:ln w="0">
            <a:noFill/>
          </a:ln>
        </p:spPr>
        <p:txBody>
          <a:bodyPr wrap="square" lIns="0" tIns="0" rIns="0" bIns="0" anchor="t">
            <a:noAutofit/>
          </a:bodyPr>
          <a:lstStyle>
            <a:defPPr algn="l">
              <a:defRPr sz="1800" b="1">
                <a:solidFill>
                  <a:srgbClr val="173E67"/>
                </a:solidFill>
                <a:latin typeface="Microsoft YaHei"/>
                <a:ea typeface="Microsoft YaHei"/>
                <a:cs typeface="Microsoft YaHei"/>
              </a:defRPr>
            </a:defPPr>
          </a:lstStyle>
          <a:p>
            <a:pPr algn="l">
              <a:lnSpc>
                <a:spcPct val="118000"/>
              </a:lnSpc>
              <a:buNone/>
              <a:defRPr sz="1800" b="1">
                <a:solidFill>
                  <a:srgbClr val="173E67"/>
                </a:solidFill>
                <a:latin typeface="Microsoft YaHei"/>
                <a:ea typeface="Microsoft YaHei"/>
                <a:cs typeface="Microsoft YaHei"/>
              </a:defRPr>
            </a:pPr>
            <a:r>
              <a:rPr sz="1800" b="1">
                <a:solidFill>
                  <a:srgbClr val="173E67"/>
                </a:solidFill>
                <a:latin typeface="Microsoft YaHei"/>
                <a:ea typeface="Microsoft YaHei"/>
                <a:cs typeface="Microsoft YaHei"/>
              </a:rPr>
              <a:t>建模</a:t>
            </a:r>
          </a:p>
        </p:txBody>
      </p:sp>
      <p:sp>
        <p:nvSpPr>
          <p:cNvPr id="4" name="text">
            <a:extLst>
              <a:ext uri="{FF2B5EF4-FFF2-40B4-BE49-F238E27FC236}">
                <a16:creationId xmlns:a16="http://schemas.microsoft.com/office/drawing/2014/main" id="{37559F34-5663-4E5F-9EFC-F36423B8F6EE}"/>
              </a:ext>
            </a:extLst>
          </p:cNvPr>
          <p:cNvSpPr>
            <a:spLocks noGrp="1"/>
          </p:cNvSpPr>
          <p:nvPr/>
        </p:nvSpPr>
        <p:spPr>
          <a:xfrm>
            <a:off x="1933575" y="5048250"/>
            <a:ext cx="9648825" cy="504825"/>
          </a:xfrm>
          <a:prstGeom prst="rect">
            <a:avLst/>
          </a:prstGeom>
          <a:noFill/>
          <a:ln w="0">
            <a:noFill/>
          </a:ln>
        </p:spPr>
        <p:txBody>
          <a:bodyPr wrap="square" lIns="0" tIns="0" rIns="0" bIns="0" anchor="t">
            <a:noAutofit/>
          </a:bodyPr>
          <a:lstStyle>
            <a:defPPr algn="l">
              <a:defRPr sz="1763" b="0">
                <a:solidFill>
                  <a:srgbClr val="1B2533"/>
                </a:solidFill>
                <a:latin typeface="Microsoft YaHei"/>
                <a:ea typeface="Microsoft YaHei"/>
                <a:cs typeface="Microsoft YaHei"/>
              </a:defRPr>
            </a:defPPr>
          </a:lstStyle>
          <a:p>
            <a:pPr algn="l">
              <a:lnSpc>
                <a:spcPct val="118000"/>
              </a:lnSpc>
              <a:buNone/>
              <a:defRPr sz="1763" b="0">
                <a:solidFill>
                  <a:srgbClr val="1B2533"/>
                </a:solidFill>
                <a:latin typeface="Microsoft YaHei"/>
                <a:ea typeface="Microsoft YaHei"/>
                <a:cs typeface="Microsoft YaHei"/>
              </a:defRPr>
            </a:pPr>
            <a:r>
              <a:rPr sz="1763" b="0">
                <a:solidFill>
                  <a:srgbClr val="1B2533"/>
                </a:solidFill>
                <a:latin typeface="Microsoft YaHei"/>
                <a:ea typeface="Microsoft YaHei"/>
                <a:cs typeface="Microsoft YaHei"/>
              </a:rPr>
              <a:t>元素用吸收mask噪声，位置用周期噪声，晶格用连续噪声；GemNet-dT联合预测去噪</a:t>
            </a:r>
          </a:p>
        </p:txBody>
      </p:sp>
      <p:sp>
        <p:nvSpPr>
          <p:cNvPr id="5" name="text">
            <a:extLst>
              <a:ext uri="{FF2B5EF4-FFF2-40B4-BE49-F238E27FC236}">
                <a16:creationId xmlns:a16="http://schemas.microsoft.com/office/drawing/2014/main" id="{239D2771-081A-4153-B680-416D3831D833}"/>
              </a:ext>
            </a:extLst>
          </p:cNvPr>
          <p:cNvSpPr>
            <a:spLocks noGrp="1"/>
          </p:cNvSpPr>
          <p:nvPr/>
        </p:nvSpPr>
        <p:spPr>
          <a:xfrm>
            <a:off x="609600" y="5572125"/>
            <a:ext cx="1171575" cy="381000"/>
          </a:xfrm>
          <a:prstGeom prst="rect">
            <a:avLst/>
          </a:prstGeom>
          <a:noFill/>
          <a:ln w="0">
            <a:noFill/>
          </a:ln>
        </p:spPr>
        <p:txBody>
          <a:bodyPr wrap="square" lIns="0" tIns="0" rIns="0" bIns="0" anchor="t">
            <a:noAutofit/>
          </a:bodyPr>
          <a:lstStyle>
            <a:defPPr algn="l">
              <a:defRPr sz="1800" b="1">
                <a:solidFill>
                  <a:srgbClr val="173E67"/>
                </a:solidFill>
                <a:latin typeface="Microsoft YaHei"/>
                <a:ea typeface="Microsoft YaHei"/>
                <a:cs typeface="Microsoft YaHei"/>
              </a:defRPr>
            </a:defPPr>
          </a:lstStyle>
          <a:p>
            <a:pPr algn="l">
              <a:lnSpc>
                <a:spcPct val="118000"/>
              </a:lnSpc>
              <a:buNone/>
              <a:defRPr sz="1800" b="1">
                <a:solidFill>
                  <a:srgbClr val="173E67"/>
                </a:solidFill>
                <a:latin typeface="Microsoft YaHei"/>
                <a:ea typeface="Microsoft YaHei"/>
                <a:cs typeface="Microsoft YaHei"/>
              </a:defRPr>
            </a:pPr>
            <a:r>
              <a:rPr sz="1800" b="1">
                <a:solidFill>
                  <a:srgbClr val="173E67"/>
                </a:solidFill>
                <a:latin typeface="Microsoft YaHei"/>
                <a:ea typeface="Microsoft YaHei"/>
                <a:cs typeface="Microsoft YaHei"/>
              </a:rPr>
              <a:t>训练与控制</a:t>
            </a:r>
          </a:p>
        </p:txBody>
      </p:sp>
      <p:sp>
        <p:nvSpPr>
          <p:cNvPr id="6" name="text">
            <a:extLst>
              <a:ext uri="{FF2B5EF4-FFF2-40B4-BE49-F238E27FC236}">
                <a16:creationId xmlns:a16="http://schemas.microsoft.com/office/drawing/2014/main" id="{AD0544BB-1644-4AA3-BFE7-1D7F5450E86C}"/>
              </a:ext>
            </a:extLst>
          </p:cNvPr>
          <p:cNvSpPr>
            <a:spLocks noGrp="1"/>
          </p:cNvSpPr>
          <p:nvPr/>
        </p:nvSpPr>
        <p:spPr>
          <a:xfrm>
            <a:off x="1933575" y="5572125"/>
            <a:ext cx="9648825" cy="504825"/>
          </a:xfrm>
          <a:prstGeom prst="rect">
            <a:avLst/>
          </a:prstGeom>
          <a:noFill/>
          <a:ln w="0">
            <a:noFill/>
          </a:ln>
        </p:spPr>
        <p:txBody>
          <a:bodyPr wrap="square" lIns="0" tIns="0" rIns="0" bIns="0" anchor="t">
            <a:noAutofit/>
          </a:bodyPr>
          <a:lstStyle>
            <a:defPPr algn="l">
              <a:defRPr sz="1763" b="0">
                <a:solidFill>
                  <a:srgbClr val="1B2533"/>
                </a:solidFill>
                <a:latin typeface="Microsoft YaHei"/>
                <a:ea typeface="Microsoft YaHei"/>
                <a:cs typeface="Microsoft YaHei"/>
              </a:defRPr>
            </a:defPPr>
          </a:lstStyle>
          <a:p>
            <a:pPr algn="l">
              <a:lnSpc>
                <a:spcPct val="118000"/>
              </a:lnSpc>
              <a:buNone/>
              <a:defRPr sz="1763" b="0">
                <a:solidFill>
                  <a:srgbClr val="1B2533"/>
                </a:solidFill>
                <a:latin typeface="Microsoft YaHei"/>
                <a:ea typeface="Microsoft YaHei"/>
                <a:cs typeface="Microsoft YaHei"/>
              </a:defRPr>
            </a:pPr>
            <a:r>
              <a:rPr sz="1763" b="0">
                <a:solidFill>
                  <a:srgbClr val="1B2533"/>
                </a:solidFill>
                <a:latin typeface="Microsoft YaHei"/>
                <a:ea typeface="Microsoft YaHei"/>
                <a:cs typeface="Microsoft YaHei"/>
              </a:rPr>
              <a:t>条件经adapter注入，微调全部网络权重。采样用classifier-free guidance，保持周期结构表示</a:t>
            </a:r>
          </a:p>
        </p:txBody>
      </p:sp>
      <p:sp>
        <p:nvSpPr>
          <p:cNvPr id="7" name="separator">
            <a:extLst>
              <a:ext uri="{FF2B5EF4-FFF2-40B4-BE49-F238E27FC236}">
                <a16:creationId xmlns:a16="http://schemas.microsoft.com/office/drawing/2014/main" id="{D80F5B4C-D4CD-48DF-B9AB-E8AC023ABDBF}"/>
              </a:ext>
            </a:extLst>
          </p:cNvPr>
          <p:cNvSpPr>
            <a:spLocks noGrp="1"/>
          </p:cNvSpPr>
          <p:nvPr/>
        </p:nvSpPr>
        <p:spPr>
          <a:xfrm>
            <a:off x="609600" y="6200775"/>
            <a:ext cx="10972800" cy="0"/>
          </a:xfrm>
          <a:prstGeom prst="line">
            <a:avLst/>
          </a:prstGeom>
          <a:ln w="9525">
            <a:solidFill>
              <a:srgbClr val="D5DCE3"/>
            </a:solidFill>
          </a:ln>
        </p:spPr>
      </p:sp>
      <p:sp>
        <p:nvSpPr>
          <p:cNvPr id="8" name="sources">
            <a:extLst>
              <a:ext uri="{FF2B5EF4-FFF2-40B4-BE49-F238E27FC236}">
                <a16:creationId xmlns:a16="http://schemas.microsoft.com/office/drawing/2014/main" id="{2713311E-8514-4096-A1A9-D2E00731F2B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原图：MatterGen Fig.1。基础模型8×A100训练；正式微调更新全部模型权重。</a:t>
            </a:r>
          </a:p>
        </p:txBody>
      </p:sp>
      <p:sp>
        <p:nvSpPr>
          <p:cNvPr id="9" name="page-number">
            <a:extLst>
              <a:ext uri="{FF2B5EF4-FFF2-40B4-BE49-F238E27FC236}">
                <a16:creationId xmlns:a16="http://schemas.microsoft.com/office/drawing/2014/main" id="{C30A3F45-A24E-42A1-8540-1CAA5BCAB8D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337798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00BF9615-9B80-457A-8AE1-904931DFB7E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3/5：无条件生成怎样评测</a:t>
            </a:r>
          </a:p>
        </p:txBody>
      </p:sp>
      <p:sp>
        <p:nvSpPr>
          <p:cNvPr id="2" name="lead">
            <a:extLst>
              <a:ext uri="{FF2B5EF4-FFF2-40B4-BE49-F238E27FC236}">
                <a16:creationId xmlns:a16="http://schemas.microsoft.com/office/drawing/2014/main" id="{028A0A6A-53D4-4811-A080-5028C66E1606}"/>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相同Alex-MP训练范围下，用DFT弛豫后的结构评价SUN。</a:t>
            </a:r>
          </a:p>
        </p:txBody>
      </p:sp>
      <p:graphicFrame>
        <p:nvGraphicFramePr>
          <p:cNvPr id="3" name="Chart">
            <a:extLst>
              <a:ext uri="{FF2B5EF4-FFF2-40B4-BE49-F238E27FC236}">
                <a16:creationId xmlns:a16="http://schemas.microsoft.com/office/drawing/2014/main" id="{E5D7FE22-A32E-4C97-92E1-9FC75F33468E}"/>
              </a:ext>
            </a:extLst>
          </p:cNvPr>
          <p:cNvGraphicFramePr/>
          <p:nvPr/>
        </p:nvGraphicFramePr>
        <p:xfrm>
          <a:off x="609600" y="1943100"/>
          <a:ext cx="63341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532427D4-11FD-4194-B06C-2A81121A7F96}"/>
              </a:ext>
            </a:extLst>
          </p:cNvPr>
          <p:cNvSpPr>
            <a:spLocks noGrp="1"/>
          </p:cNvSpPr>
          <p:nvPr/>
        </p:nvSpPr>
        <p:spPr>
          <a:xfrm>
            <a:off x="952500" y="5657850"/>
            <a:ext cx="5572125" cy="342900"/>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论文SUN（%）</a:t>
            </a:r>
          </a:p>
        </p:txBody>
      </p:sp>
      <p:sp>
        <p:nvSpPr>
          <p:cNvPr id="5" name="text">
            <a:extLst>
              <a:ext uri="{FF2B5EF4-FFF2-40B4-BE49-F238E27FC236}">
                <a16:creationId xmlns:a16="http://schemas.microsoft.com/office/drawing/2014/main" id="{4B340352-7C18-4151-91CE-2A2510ED01F5}"/>
              </a:ext>
            </a:extLst>
          </p:cNvPr>
          <p:cNvSpPr>
            <a:spLocks noGrp="1"/>
          </p:cNvSpPr>
          <p:nvPr/>
        </p:nvSpPr>
        <p:spPr>
          <a:xfrm>
            <a:off x="7277100" y="18669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评测链</a:t>
            </a:r>
          </a:p>
        </p:txBody>
      </p:sp>
      <p:sp>
        <p:nvSpPr>
          <p:cNvPr id="6" name="text">
            <a:extLst>
              <a:ext uri="{FF2B5EF4-FFF2-40B4-BE49-F238E27FC236}">
                <a16:creationId xmlns:a16="http://schemas.microsoft.com/office/drawing/2014/main" id="{149B4726-538F-4803-A1D1-12DBA56267F2}"/>
              </a:ext>
            </a:extLst>
          </p:cNvPr>
          <p:cNvSpPr>
            <a:spLocks noGrp="1"/>
          </p:cNvSpPr>
          <p:nvPr/>
        </p:nvSpPr>
        <p:spPr>
          <a:xfrm>
            <a:off x="7277100" y="22479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1,024个样本经DFT弛豫、能量比较与结构匹配。</a:t>
            </a:r>
          </a:p>
        </p:txBody>
      </p:sp>
      <p:sp>
        <p:nvSpPr>
          <p:cNvPr id="7" name="text">
            <a:extLst>
              <a:ext uri="{FF2B5EF4-FFF2-40B4-BE49-F238E27FC236}">
                <a16:creationId xmlns:a16="http://schemas.microsoft.com/office/drawing/2014/main" id="{A7DEB685-6BFB-4470-8ECA-33D3129C9ABA}"/>
              </a:ext>
            </a:extLst>
          </p:cNvPr>
          <p:cNvSpPr>
            <a:spLocks noGrp="1"/>
          </p:cNvSpPr>
          <p:nvPr/>
        </p:nvSpPr>
        <p:spPr>
          <a:xfrm>
            <a:off x="7277100" y="321945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结果</a:t>
            </a:r>
          </a:p>
        </p:txBody>
      </p:sp>
      <p:sp>
        <p:nvSpPr>
          <p:cNvPr id="8" name="text">
            <a:extLst>
              <a:ext uri="{FF2B5EF4-FFF2-40B4-BE49-F238E27FC236}">
                <a16:creationId xmlns:a16="http://schemas.microsoft.com/office/drawing/2014/main" id="{3EF56F40-54C3-4EC9-A657-7BC928934B55}"/>
              </a:ext>
            </a:extLst>
          </p:cNvPr>
          <p:cNvSpPr>
            <a:spLocks noGrp="1"/>
          </p:cNvSpPr>
          <p:nvPr/>
        </p:nvSpPr>
        <p:spPr>
          <a:xfrm>
            <a:off x="7277100" y="360045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约75%在参考凸包0.1 eV/atom内，约3%低于固定参考包。</a:t>
            </a:r>
          </a:p>
        </p:txBody>
      </p:sp>
      <p:sp>
        <p:nvSpPr>
          <p:cNvPr id="9" name="text">
            <a:extLst>
              <a:ext uri="{FF2B5EF4-FFF2-40B4-BE49-F238E27FC236}">
                <a16:creationId xmlns:a16="http://schemas.microsoft.com/office/drawing/2014/main" id="{6D8D18D5-7FA3-4ACD-90F0-615B2BD68C79}"/>
              </a:ext>
            </a:extLst>
          </p:cNvPr>
          <p:cNvSpPr>
            <a:spLocks noGrp="1"/>
          </p:cNvSpPr>
          <p:nvPr/>
        </p:nvSpPr>
        <p:spPr>
          <a:xfrm>
            <a:off x="7277100" y="45720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解释</a:t>
            </a:r>
          </a:p>
        </p:txBody>
      </p:sp>
      <p:sp>
        <p:nvSpPr>
          <p:cNvPr id="10" name="text">
            <a:extLst>
              <a:ext uri="{FF2B5EF4-FFF2-40B4-BE49-F238E27FC236}">
                <a16:creationId xmlns:a16="http://schemas.microsoft.com/office/drawing/2014/main" id="{948381E5-0C33-465E-90DD-02ECC566477A}"/>
              </a:ext>
            </a:extLst>
          </p:cNvPr>
          <p:cNvSpPr>
            <a:spLocks noGrp="1"/>
          </p:cNvSpPr>
          <p:nvPr/>
        </p:nvSpPr>
        <p:spPr>
          <a:xfrm>
            <a:off x="7277100" y="49530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Table D4的SUN为38.57%，生成到弛豫终态的RMSD为0.021 Å。</a:t>
            </a:r>
          </a:p>
        </p:txBody>
      </p:sp>
      <p:sp>
        <p:nvSpPr>
          <p:cNvPr id="11" name="separator">
            <a:extLst>
              <a:ext uri="{FF2B5EF4-FFF2-40B4-BE49-F238E27FC236}">
                <a16:creationId xmlns:a16="http://schemas.microsoft.com/office/drawing/2014/main" id="{897A9AC3-1EE0-4CA2-A87D-792EDC65476B}"/>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FBABD2C-5E14-406C-BF2B-54E6746B35F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数据：SI Table D4 / Fig.2。稳定阈值允许≤0.1 eV/atom；不是全部严格on-hull。</a:t>
            </a:r>
          </a:p>
        </p:txBody>
      </p:sp>
      <p:sp>
        <p:nvSpPr>
          <p:cNvPr id="13" name="page-number">
            <a:extLst>
              <a:ext uri="{FF2B5EF4-FFF2-40B4-BE49-F238E27FC236}">
                <a16:creationId xmlns:a16="http://schemas.microsoft.com/office/drawing/2014/main" id="{2D3AB3B2-857B-46A5-A09F-90C6B16A1B4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95739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D360DE8-FA3D-48FE-8A26-7830CF9BF83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4/5：条件设计如何验证</a:t>
            </a:r>
          </a:p>
        </p:txBody>
      </p:sp>
      <p:sp>
        <p:nvSpPr>
          <p:cNvPr id="2" name="lead">
            <a:extLst>
              <a:ext uri="{FF2B5EF4-FFF2-40B4-BE49-F238E27FC236}">
                <a16:creationId xmlns:a16="http://schemas.microsoft.com/office/drawing/2014/main" id="{7FD47605-4235-4186-A5BA-253FB7261004}"/>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性质条件的价值，用满足目标且物理合格的候选数量检验。</a:t>
            </a:r>
          </a:p>
        </p:txBody>
      </p:sp>
      <p:graphicFrame>
        <p:nvGraphicFramePr>
          <p:cNvPr id="3" name="Chart">
            <a:extLst>
              <a:ext uri="{FF2B5EF4-FFF2-40B4-BE49-F238E27FC236}">
                <a16:creationId xmlns:a16="http://schemas.microsoft.com/office/drawing/2014/main" id="{0FCD55A1-25F4-47F3-B494-D2EA73A9DFE1}"/>
              </a:ext>
            </a:extLst>
          </p:cNvPr>
          <p:cNvGraphicFramePr/>
          <p:nvPr/>
        </p:nvGraphicFramePr>
        <p:xfrm>
          <a:off x="609600" y="1943100"/>
          <a:ext cx="63341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CB984F15-38B0-4218-939E-047B256EEC66}"/>
              </a:ext>
            </a:extLst>
          </p:cNvPr>
          <p:cNvSpPr>
            <a:spLocks noGrp="1"/>
          </p:cNvSpPr>
          <p:nvPr/>
        </p:nvSpPr>
        <p:spPr>
          <a:xfrm>
            <a:off x="952500" y="5657850"/>
            <a:ext cx="5572125" cy="342900"/>
          </a:xfrm>
          <a:prstGeom prst="rect">
            <a:avLst/>
          </a:prstGeom>
          <a:noFill/>
          <a:ln w="0">
            <a:noFill/>
          </a:ln>
        </p:spPr>
        <p:txBody>
          <a:bodyPr wrap="square" lIns="0" tIns="0" rIns="0" bIns="0" anchor="t">
            <a:noAutofit/>
          </a:bodyPr>
          <a:lstStyle>
            <a:defPPr algn="ctr">
              <a:defRPr sz="1575" b="0">
                <a:solidFill>
                  <a:srgbClr val="526170"/>
                </a:solidFill>
                <a:latin typeface="Microsoft YaHei"/>
                <a:ea typeface="Microsoft YaHei"/>
                <a:cs typeface="Microsoft YaHei"/>
              </a:defRPr>
            </a:defPPr>
          </a:lstStyle>
          <a:p>
            <a:pPr algn="ctr">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体模量 &gt; 400 GPa的论文SUN数</a:t>
            </a:r>
          </a:p>
        </p:txBody>
      </p:sp>
      <p:sp>
        <p:nvSpPr>
          <p:cNvPr id="5" name="text">
            <a:extLst>
              <a:ext uri="{FF2B5EF4-FFF2-40B4-BE49-F238E27FC236}">
                <a16:creationId xmlns:a16="http://schemas.microsoft.com/office/drawing/2014/main" id="{5836E7E0-EB92-425A-8DF3-2774E86C19F2}"/>
              </a:ext>
            </a:extLst>
          </p:cNvPr>
          <p:cNvSpPr>
            <a:spLocks noGrp="1"/>
          </p:cNvSpPr>
          <p:nvPr/>
        </p:nvSpPr>
        <p:spPr>
          <a:xfrm>
            <a:off x="7277100" y="18669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条件与标签</a:t>
            </a:r>
          </a:p>
        </p:txBody>
      </p:sp>
      <p:sp>
        <p:nvSpPr>
          <p:cNvPr id="6" name="text">
            <a:extLst>
              <a:ext uri="{FF2B5EF4-FFF2-40B4-BE49-F238E27FC236}">
                <a16:creationId xmlns:a16="http://schemas.microsoft.com/office/drawing/2014/main" id="{1FF3BAC2-FCAB-494C-B8A9-31C9690E24D5}"/>
              </a:ext>
            </a:extLst>
          </p:cNvPr>
          <p:cNvSpPr>
            <a:spLocks noGrp="1"/>
          </p:cNvSpPr>
          <p:nvPr/>
        </p:nvSpPr>
        <p:spPr>
          <a:xfrm>
            <a:off x="7277100" y="22479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磁性约60.5万、带隙约4.2万、体模量约5,000个标签，分别用于对应任务。</a:t>
            </a:r>
          </a:p>
        </p:txBody>
      </p:sp>
      <p:sp>
        <p:nvSpPr>
          <p:cNvPr id="7" name="text">
            <a:extLst>
              <a:ext uri="{FF2B5EF4-FFF2-40B4-BE49-F238E27FC236}">
                <a16:creationId xmlns:a16="http://schemas.microsoft.com/office/drawing/2014/main" id="{E6C36FFE-3CEC-46EE-AF62-8E203412D216}"/>
              </a:ext>
            </a:extLst>
          </p:cNvPr>
          <p:cNvSpPr>
            <a:spLocks noGrp="1"/>
          </p:cNvSpPr>
          <p:nvPr/>
        </p:nvSpPr>
        <p:spPr>
          <a:xfrm>
            <a:off x="7277100" y="321945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计算对照</a:t>
            </a:r>
          </a:p>
        </p:txBody>
      </p:sp>
      <p:sp>
        <p:nvSpPr>
          <p:cNvPr id="8" name="text">
            <a:extLst>
              <a:ext uri="{FF2B5EF4-FFF2-40B4-BE49-F238E27FC236}">
                <a16:creationId xmlns:a16="http://schemas.microsoft.com/office/drawing/2014/main" id="{BDFB8874-3C93-4AEA-B2FB-267213B7030B}"/>
              </a:ext>
            </a:extLst>
          </p:cNvPr>
          <p:cNvSpPr>
            <a:spLocks noGrp="1"/>
          </p:cNvSpPr>
          <p:nvPr/>
        </p:nvSpPr>
        <p:spPr>
          <a:xfrm>
            <a:off x="7277100" y="360045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同一预测器辅助，180次DFT性质调用：MatterGen获得106个，筛选参照40个。</a:t>
            </a:r>
          </a:p>
        </p:txBody>
      </p:sp>
      <p:sp>
        <p:nvSpPr>
          <p:cNvPr id="9" name="text">
            <a:extLst>
              <a:ext uri="{FF2B5EF4-FFF2-40B4-BE49-F238E27FC236}">
                <a16:creationId xmlns:a16="http://schemas.microsoft.com/office/drawing/2014/main" id="{D7353DC1-4E61-46F2-AD41-88040490CD22}"/>
              </a:ext>
            </a:extLst>
          </p:cNvPr>
          <p:cNvSpPr>
            <a:spLocks noGrp="1"/>
          </p:cNvSpPr>
          <p:nvPr/>
        </p:nvSpPr>
        <p:spPr>
          <a:xfrm>
            <a:off x="7277100" y="4572000"/>
            <a:ext cx="43053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代价范围</a:t>
            </a:r>
          </a:p>
        </p:txBody>
      </p:sp>
      <p:sp>
        <p:nvSpPr>
          <p:cNvPr id="10" name="text">
            <a:extLst>
              <a:ext uri="{FF2B5EF4-FFF2-40B4-BE49-F238E27FC236}">
                <a16:creationId xmlns:a16="http://schemas.microsoft.com/office/drawing/2014/main" id="{F7B887EB-1D22-425F-B04C-A384A8466BBE}"/>
              </a:ext>
            </a:extLst>
          </p:cNvPr>
          <p:cNvSpPr>
            <a:spLocks noGrp="1"/>
          </p:cNvSpPr>
          <p:nvPr/>
        </p:nvSpPr>
        <p:spPr>
          <a:xfrm>
            <a:off x="7277100" y="4953000"/>
            <a:ext cx="4305300" cy="8953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原文预算轴只统计性质调用。训练、筛选与DFT弛豫另计。</a:t>
            </a:r>
          </a:p>
        </p:txBody>
      </p:sp>
      <p:sp>
        <p:nvSpPr>
          <p:cNvPr id="11" name="separator">
            <a:extLst>
              <a:ext uri="{FF2B5EF4-FFF2-40B4-BE49-F238E27FC236}">
                <a16:creationId xmlns:a16="http://schemas.microsoft.com/office/drawing/2014/main" id="{A89D3F82-FE93-4535-B89F-D73A22621B25}"/>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AD5F7C91-9713-46C9-9A76-23406420A8C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MatterGen Fig.4h；稳定资格仍采用论文阈值。400 GPa设计任务与下页200 GPa实验目标不同。</a:t>
            </a:r>
          </a:p>
        </p:txBody>
      </p:sp>
      <p:sp>
        <p:nvSpPr>
          <p:cNvPr id="13" name="page-number">
            <a:extLst>
              <a:ext uri="{FF2B5EF4-FFF2-40B4-BE49-F238E27FC236}">
                <a16:creationId xmlns:a16="http://schemas.microsoft.com/office/drawing/2014/main" id="{2B843726-9609-4513-B55D-030F5ABE21E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900472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DF727EA4-ECD2-4D60-A8C3-9D4C9D9A552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MatterGen 5/5：计算怎样连接实际实验</a:t>
            </a:r>
          </a:p>
        </p:txBody>
      </p:sp>
      <p:pic>
        <p:nvPicPr>
          <p:cNvPr id="2" name="图片 1">
            <a:extLst>
              <a:ext uri="{FF2B5EF4-FFF2-40B4-BE49-F238E27FC236}">
                <a16:creationId xmlns:a16="http://schemas.microsoft.com/office/drawing/2014/main" id="{9F0ED103-F39A-453E-AFFA-BEF07DAA5061}"/>
              </a:ext>
            </a:extLst>
          </p:cNvPr>
          <p:cNvPicPr>
            <a:picLocks noChangeAspect="1"/>
          </p:cNvPicPr>
          <p:nvPr/>
        </p:nvPicPr>
        <p:blipFill>
          <a:blip r:embed="rId3"/>
          <a:stretch/>
        </p:blipFill>
        <p:spPr>
          <a:xfrm>
            <a:off x="609600" y="1428750"/>
            <a:ext cx="5143500" cy="4322249"/>
          </a:xfrm>
          <a:prstGeom prst="rect">
            <a:avLst/>
          </a:prstGeom>
        </p:spPr>
      </p:pic>
      <p:sp>
        <p:nvSpPr>
          <p:cNvPr id="3" name="text">
            <a:extLst>
              <a:ext uri="{FF2B5EF4-FFF2-40B4-BE49-F238E27FC236}">
                <a16:creationId xmlns:a16="http://schemas.microsoft.com/office/drawing/2014/main" id="{B0EF0CA1-9CE5-4C01-833A-AC0E172D0A01}"/>
              </a:ext>
            </a:extLst>
          </p:cNvPr>
          <p:cNvSpPr>
            <a:spLocks noGrp="1"/>
          </p:cNvSpPr>
          <p:nvPr/>
        </p:nvSpPr>
        <p:spPr>
          <a:xfrm>
            <a:off x="6162675" y="140017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筛选过程</a:t>
            </a:r>
          </a:p>
        </p:txBody>
      </p:sp>
      <p:sp>
        <p:nvSpPr>
          <p:cNvPr id="4" name="text">
            <a:extLst>
              <a:ext uri="{FF2B5EF4-FFF2-40B4-BE49-F238E27FC236}">
                <a16:creationId xmlns:a16="http://schemas.microsoft.com/office/drawing/2014/main" id="{2E510F74-59D9-4432-9722-0FD39545AC21}"/>
              </a:ext>
            </a:extLst>
          </p:cNvPr>
          <p:cNvSpPr>
            <a:spLocks noGrp="1"/>
          </p:cNvSpPr>
          <p:nvPr/>
        </p:nvSpPr>
        <p:spPr>
          <a:xfrm>
            <a:off x="6162675" y="180022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32,768个提案逐级筛到75个DFT候选，选四个尝试，原文报告一个产物</a:t>
            </a:r>
          </a:p>
        </p:txBody>
      </p:sp>
      <p:sp>
        <p:nvSpPr>
          <p:cNvPr id="5" name="text">
            <a:extLst>
              <a:ext uri="{FF2B5EF4-FFF2-40B4-BE49-F238E27FC236}">
                <a16:creationId xmlns:a16="http://schemas.microsoft.com/office/drawing/2014/main" id="{DE0E553A-9AD3-49FE-A5B8-3F915E26A228}"/>
              </a:ext>
            </a:extLst>
          </p:cNvPr>
          <p:cNvSpPr>
            <a:spLocks noGrp="1"/>
          </p:cNvSpPr>
          <p:nvPr/>
        </p:nvSpPr>
        <p:spPr>
          <a:xfrm>
            <a:off x="6162675" y="271462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结构与成分</a:t>
            </a:r>
          </a:p>
        </p:txBody>
      </p:sp>
      <p:sp>
        <p:nvSpPr>
          <p:cNvPr id="6" name="text">
            <a:extLst>
              <a:ext uri="{FF2B5EF4-FFF2-40B4-BE49-F238E27FC236}">
                <a16:creationId xmlns:a16="http://schemas.microsoft.com/office/drawing/2014/main" id="{D216D214-EF55-4E0D-8D38-74819EE90058}"/>
              </a:ext>
            </a:extLst>
          </p:cNvPr>
          <p:cNvSpPr>
            <a:spLocks noGrp="1"/>
          </p:cNvSpPr>
          <p:nvPr/>
        </p:nvSpPr>
        <p:spPr>
          <a:xfrm>
            <a:off x="6162675" y="311467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原文将产物拟合为约98%无序TaCr₂O₆，另有约2% Cr₂O₃</a:t>
            </a:r>
          </a:p>
        </p:txBody>
      </p:sp>
      <p:sp>
        <p:nvSpPr>
          <p:cNvPr id="7" name="text">
            <a:extLst>
              <a:ext uri="{FF2B5EF4-FFF2-40B4-BE49-F238E27FC236}">
                <a16:creationId xmlns:a16="http://schemas.microsoft.com/office/drawing/2014/main" id="{43BFE368-FFA2-48EE-B02D-181CB991867B}"/>
              </a:ext>
            </a:extLst>
          </p:cNvPr>
          <p:cNvSpPr>
            <a:spLocks noGrp="1"/>
          </p:cNvSpPr>
          <p:nvPr/>
        </p:nvSpPr>
        <p:spPr>
          <a:xfrm>
            <a:off x="6162675" y="4029075"/>
            <a:ext cx="5419725" cy="352425"/>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功能测量</a:t>
            </a:r>
          </a:p>
        </p:txBody>
      </p:sp>
      <p:sp>
        <p:nvSpPr>
          <p:cNvPr id="8" name="text">
            <a:extLst>
              <a:ext uri="{FF2B5EF4-FFF2-40B4-BE49-F238E27FC236}">
                <a16:creationId xmlns:a16="http://schemas.microsoft.com/office/drawing/2014/main" id="{530B3F02-4997-4159-BDFB-180E9CB9CBEC}"/>
              </a:ext>
            </a:extLst>
          </p:cNvPr>
          <p:cNvSpPr>
            <a:spLocks noGrp="1"/>
          </p:cNvSpPr>
          <p:nvPr/>
        </p:nvSpPr>
        <p:spPr>
          <a:xfrm>
            <a:off x="6162675" y="4429125"/>
            <a:ext cx="5419725" cy="866775"/>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8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目标200 GPa，DFT约222。实验换算体模量158±11 GPa，最高169 GPa</a:t>
            </a:r>
          </a:p>
        </p:txBody>
      </p:sp>
      <p:sp>
        <p:nvSpPr>
          <p:cNvPr id="9" name="text">
            <a:extLst>
              <a:ext uri="{FF2B5EF4-FFF2-40B4-BE49-F238E27FC236}">
                <a16:creationId xmlns:a16="http://schemas.microsoft.com/office/drawing/2014/main" id="{5EB596EC-F1FB-4E0C-8F28-0326D452E065}"/>
              </a:ext>
            </a:extLst>
          </p:cNvPr>
          <p:cNvSpPr>
            <a:spLocks noGrp="1"/>
          </p:cNvSpPr>
          <p:nvPr/>
        </p:nvSpPr>
        <p:spPr>
          <a:xfrm>
            <a:off x="6162675" y="5467350"/>
            <a:ext cx="5419725" cy="600075"/>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纳米压痕测Young模量，K = Y / [3(1−2ν)]</a:t>
            </a:r>
          </a:p>
          <a:p>
            <a:pPr algn="l">
              <a:lnSpc>
                <a:spcPct val="118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泊松比ν=0.30取自DFT计算</a:t>
            </a:r>
          </a:p>
        </p:txBody>
      </p:sp>
      <p:sp>
        <p:nvSpPr>
          <p:cNvPr id="10" name="separator">
            <a:extLst>
              <a:ext uri="{FF2B5EF4-FFF2-40B4-BE49-F238E27FC236}">
                <a16:creationId xmlns:a16="http://schemas.microsoft.com/office/drawing/2014/main" id="{ABCEDFED-9F59-4D3D-B9F8-E3A207A45EB5}"/>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A440149D-B947-4CE5-8640-CC3ABCE63AC8}"/>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原图：Zeni et al., Nature 2025, Fig.6（CC BY 4.0）。</a:t>
            </a:r>
          </a:p>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2026年Materials Horizons再分析对产物身份及数据重合提出质疑，具体归属与证据见备注。</a:t>
            </a:r>
          </a:p>
        </p:txBody>
      </p:sp>
      <p:sp>
        <p:nvSpPr>
          <p:cNvPr id="12" name="page-number">
            <a:extLst>
              <a:ext uri="{FF2B5EF4-FFF2-40B4-BE49-F238E27FC236}">
                <a16:creationId xmlns:a16="http://schemas.microsoft.com/office/drawing/2014/main" id="{D446F351-8C7F-4A9F-9608-DEA9BDF5DB4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73853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C67A3C91-8168-44C2-BE8A-F211FD0D24AB}"/>
              </a:ext>
            </a:extLst>
          </p:cNvPr>
          <p:cNvSpPr>
            <a:spLocks noGrp="1"/>
          </p:cNvSpPr>
          <p:nvPr/>
        </p:nvSpPr>
        <p:spPr>
          <a:xfrm>
            <a:off x="609600" y="361950"/>
            <a:ext cx="10972800" cy="600075"/>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5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Chemeleon：文本引导化学空间探索</a:t>
            </a:r>
          </a:p>
        </p:txBody>
      </p:sp>
      <p:sp>
        <p:nvSpPr>
          <p:cNvPr id="2" name="venue">
            <a:extLst>
              <a:ext uri="{FF2B5EF4-FFF2-40B4-BE49-F238E27FC236}">
                <a16:creationId xmlns:a16="http://schemas.microsoft.com/office/drawing/2014/main" id="{A6B6A8FE-6F73-4675-A8D4-715E82949B08}"/>
              </a:ext>
            </a:extLst>
          </p:cNvPr>
          <p:cNvSpPr>
            <a:spLocks noGrp="1"/>
          </p:cNvSpPr>
          <p:nvPr/>
        </p:nvSpPr>
        <p:spPr>
          <a:xfrm>
            <a:off x="609600" y="1076325"/>
            <a:ext cx="10972800" cy="295275"/>
          </a:xfrm>
          <a:prstGeom prst="rect">
            <a:avLst/>
          </a:prstGeom>
          <a:noFill/>
          <a:ln w="0">
            <a:noFill/>
          </a:ln>
        </p:spPr>
        <p:txBody>
          <a:bodyPr wrap="square" lIns="0" tIns="0" rIns="0" bIns="0" anchor="t">
            <a:noAutofit/>
          </a:bodyPr>
          <a:lstStyle>
            <a:defPPr algn="l">
              <a:defRPr sz="1650" b="0">
                <a:solidFill>
                  <a:srgbClr val="526170"/>
                </a:solidFill>
                <a:latin typeface="Microsoft YaHei"/>
                <a:ea typeface="Microsoft YaHei"/>
                <a:cs typeface="Microsoft YaHei"/>
              </a:defRPr>
            </a:defPPr>
          </a:lstStyle>
          <a:p>
            <a:pPr algn="l">
              <a:lnSpc>
                <a:spcPct val="115000"/>
              </a:lnSpc>
              <a:buNone/>
              <a:defRPr sz="1650" b="0">
                <a:solidFill>
                  <a:srgbClr val="526170"/>
                </a:solidFill>
                <a:latin typeface="Microsoft YaHei"/>
                <a:ea typeface="Microsoft YaHei"/>
                <a:cs typeface="Microsoft YaHei"/>
              </a:defRPr>
            </a:pPr>
            <a:r>
              <a:rPr sz="1650" b="0">
                <a:solidFill>
                  <a:srgbClr val="526170"/>
                </a:solidFill>
                <a:latin typeface="Microsoft YaHei"/>
                <a:ea typeface="Microsoft YaHei"/>
                <a:cs typeface="Microsoft YaHei"/>
              </a:rPr>
              <a:t>Nature Communications 16, 4379 · 2025</a:t>
            </a:r>
          </a:p>
        </p:txBody>
      </p:sp>
      <p:sp>
        <p:nvSpPr>
          <p:cNvPr id="3" name="lead">
            <a:extLst>
              <a:ext uri="{FF2B5EF4-FFF2-40B4-BE49-F238E27FC236}">
                <a16:creationId xmlns:a16="http://schemas.microsoft.com/office/drawing/2014/main" id="{F81A3BFB-51BC-4C42-9657-9355AE18EF70}"/>
              </a:ext>
            </a:extLst>
          </p:cNvPr>
          <p:cNvSpPr>
            <a:spLocks noGrp="1"/>
          </p:cNvSpPr>
          <p:nvPr/>
        </p:nvSpPr>
        <p:spPr>
          <a:xfrm>
            <a:off x="609600" y="1485900"/>
            <a:ext cx="10972800" cy="4000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5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将组成与晶系的文字要求转成候选，再用物理计算判断材料资格</a:t>
            </a:r>
          </a:p>
        </p:txBody>
      </p:sp>
      <p:graphicFrame>
        <p:nvGraphicFramePr>
          <p:cNvPr id="4" name="表格 3">
            <a:extLst>
              <a:ext uri="{FF2B5EF4-FFF2-40B4-BE49-F238E27FC236}">
                <a16:creationId xmlns:a16="http://schemas.microsoft.com/office/drawing/2014/main" id="{EE8E60F3-A38F-4536-9EF0-A7CB40CFDEC0}"/>
              </a:ext>
            </a:extLst>
          </p:cNvPr>
          <p:cNvGraphicFramePr/>
          <p:nvPr/>
        </p:nvGraphicFramePr>
        <p:xfrm>
          <a:off x="609600" y="1924050"/>
          <a:ext cx="10972800" cy="3524250"/>
        </p:xfrm>
        <a:graphic>
          <a:graphicData uri="http://schemas.openxmlformats.org/drawingml/2006/table">
            <a:tbl>
              <a:tblPr/>
              <a:tblGrid>
                <a:gridCol w="1714500">
                  <a:extLst>
                    <a:ext uri="{9D8B030D-6E8A-4147-A177-3AD203B41FA5}">
                      <a16:colId xmlns:a16="http://schemas.microsoft.com/office/drawing/2014/main" val="20000"/>
                    </a:ext>
                  </a:extLst>
                </a:gridCol>
                <a:gridCol w="9258300">
                  <a:extLst>
                    <a:ext uri="{9D8B030D-6E8A-4147-A177-3AD203B41FA5}">
                      <a16:colId xmlns:a16="http://schemas.microsoft.com/office/drawing/2014/main" val="20001"/>
                    </a:ext>
                  </a:extLst>
                </a:gridCol>
              </a:tblGrid>
              <a:tr h="466725">
                <a:tc>
                  <a:txBody>
                    <a:bodyPr/>
                    <a:lstStyle/>
                    <a:p>
                      <a:pPr algn="l">
                        <a:lnSpc>
                          <a:spcPct val="108000"/>
                        </a:lnSpc>
                        <a:buNone/>
                      </a:pPr>
                      <a:r>
                        <a:rPr sz="1800" b="1">
                          <a:solidFill>
                            <a:srgbClr val="173E67"/>
                          </a:solidFill>
                          <a:latin typeface="Microsoft YaHei"/>
                          <a:ea typeface="Microsoft YaHei"/>
                          <a:cs typeface="Microsoft YaHei"/>
                        </a:rPr>
                        <a:t>环节</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论文中的具体做法与证据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11505">
                <a:tc>
                  <a:txBody>
                    <a:bodyPr/>
                    <a:lstStyle/>
                    <a:p>
                      <a:pPr algn="l">
                        <a:lnSpc>
                          <a:spcPct val="108000"/>
                        </a:lnSpc>
                        <a:buNone/>
                      </a:pPr>
                      <a:r>
                        <a:rPr sz="1763" b="1">
                          <a:solidFill>
                            <a:srgbClr val="1B2533"/>
                          </a:solidFill>
                          <a:latin typeface="Microsoft YaHei"/>
                          <a:ea typeface="Microsoft YaHei"/>
                          <a:cs typeface="Microsoft YaHei"/>
                        </a:rPr>
                        <a:t>数据</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MP-40：32,525个结构，≤40原子；按时间留出708个测试结构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11505">
                <a:tc>
                  <a:txBody>
                    <a:bodyPr/>
                    <a:lstStyle/>
                    <a:p>
                      <a:pPr algn="l">
                        <a:lnSpc>
                          <a:spcPct val="108000"/>
                        </a:lnSpc>
                        <a:buNone/>
                      </a:pPr>
                      <a:r>
                        <a:rPr sz="1763" b="1">
                          <a:solidFill>
                            <a:srgbClr val="1B2533"/>
                          </a:solidFill>
                          <a:latin typeface="Microsoft YaHei"/>
                          <a:ea typeface="Microsoft YaHei"/>
                          <a:cs typeface="Microsoft YaHei"/>
                        </a:rPr>
                        <a:t>条件表示</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组成与晶系生成文本；Crystal CLIP对齐文本与晶体图，FiLM/CFG将条件传入去噪器</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11505">
                <a:tc>
                  <a:txBody>
                    <a:bodyPr/>
                    <a:lstStyle/>
                    <a:p>
                      <a:pPr algn="l">
                        <a:lnSpc>
                          <a:spcPct val="108000"/>
                        </a:lnSpc>
                        <a:buNone/>
                      </a:pPr>
                      <a:r>
                        <a:rPr sz="1763" b="1">
                          <a:solidFill>
                            <a:srgbClr val="1B2533"/>
                          </a:solidFill>
                          <a:latin typeface="Microsoft YaHei"/>
                          <a:ea typeface="Microsoft YaHei"/>
                          <a:cs typeface="Microsoft YaHei"/>
                        </a:rPr>
                        <a:t>生成基座</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DiffCSP式周期等变扩散：联合生成元素、坐标与晶格；原子数另行给定</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11505">
                <a:tc>
                  <a:txBody>
                    <a:bodyPr/>
                    <a:lstStyle/>
                    <a:p>
                      <a:pPr algn="l">
                        <a:lnSpc>
                          <a:spcPct val="108000"/>
                        </a:lnSpc>
                        <a:buNone/>
                      </a:pPr>
                      <a:r>
                        <a:rPr sz="1763" b="1">
                          <a:solidFill>
                            <a:srgbClr val="1B2533"/>
                          </a:solidFill>
                          <a:latin typeface="Microsoft YaHei"/>
                          <a:ea typeface="Microsoft YaHei"/>
                          <a:cs typeface="Microsoft YaHei"/>
                        </a:rPr>
                        <a:t>AI评测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每题20次采样；一般文本下参考结构恢复率由6%升至20%（BERT与Crystal CLIP对照）</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11505">
                <a:tc>
                  <a:txBody>
                    <a:bodyPr/>
                    <a:lstStyle/>
                    <a:p>
                      <a:pPr algn="l">
                        <a:lnSpc>
                          <a:spcPct val="108000"/>
                        </a:lnSpc>
                        <a:buNone/>
                      </a:pPr>
                      <a:r>
                        <a:rPr sz="1763" b="1">
                          <a:solidFill>
                            <a:srgbClr val="1B2533"/>
                          </a:solidFill>
                          <a:latin typeface="Microsoft YaHei"/>
                          <a:ea typeface="Microsoft YaHei"/>
                          <a:cs typeface="Microsoft YaHei"/>
                        </a:rPr>
                        <a:t>物理案例</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Li–P–S–Cl：SMACT选组成，MACE预筛，DFT相图；四个选定四元结构声子无虚频</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takeaway">
            <a:extLst>
              <a:ext uri="{FF2B5EF4-FFF2-40B4-BE49-F238E27FC236}">
                <a16:creationId xmlns:a16="http://schemas.microsoft.com/office/drawing/2014/main" id="{FAA6F82E-173C-4377-8EC6-825E2336BECE}"/>
              </a:ext>
            </a:extLst>
          </p:cNvPr>
          <p:cNvSpPr>
            <a:spLocks noGrp="1"/>
          </p:cNvSpPr>
          <p:nvPr/>
        </p:nvSpPr>
        <p:spPr>
          <a:xfrm>
            <a:off x="609600" y="5648325"/>
            <a:ext cx="10972800" cy="504825"/>
          </a:xfrm>
          <a:prstGeom prst="rect">
            <a:avLst/>
          </a:prstGeom>
          <a:noFill/>
          <a:ln w="0">
            <a:noFill/>
          </a:ln>
        </p:spPr>
        <p:txBody>
          <a:bodyPr wrap="square" lIns="0" tIns="0" rIns="0" bIns="0" anchor="t">
            <a:noAutofit/>
          </a:bodyPr>
          <a:lstStyle>
            <a:defPPr algn="l">
              <a:defRPr sz="1800" b="0">
                <a:solidFill>
                  <a:srgbClr val="173E67"/>
                </a:solidFill>
                <a:latin typeface="Microsoft YaHei"/>
                <a:ea typeface="Microsoft YaHei"/>
                <a:cs typeface="Microsoft YaHei"/>
              </a:defRPr>
            </a:defPPr>
          </a:lstStyle>
          <a:p>
            <a:pPr algn="l">
              <a:lnSpc>
                <a:spcPct val="115000"/>
              </a:lnSpc>
              <a:buNone/>
              <a:defRPr sz="1800" b="0">
                <a:solidFill>
                  <a:srgbClr val="173E67"/>
                </a:solidFill>
                <a:latin typeface="Microsoft YaHei"/>
                <a:ea typeface="Microsoft YaHei"/>
                <a:cs typeface="Microsoft YaHei"/>
              </a:defRPr>
            </a:pPr>
            <a:r>
              <a:rPr sz="1800" b="0">
                <a:solidFill>
                  <a:srgbClr val="173E67"/>
                </a:solidFill>
                <a:latin typeface="Microsoft YaHei"/>
                <a:ea typeface="Microsoft YaHei"/>
                <a:cs typeface="Microsoft YaHei"/>
              </a:rPr>
              <a:t>语言要求通过学习到的条件表示进入生成；相图和声子检验相竞争与局部稳定性。</a:t>
            </a:r>
          </a:p>
        </p:txBody>
      </p:sp>
      <p:sp>
        <p:nvSpPr>
          <p:cNvPr id="6" name="separator">
            <a:extLst>
              <a:ext uri="{FF2B5EF4-FFF2-40B4-BE49-F238E27FC236}">
                <a16:creationId xmlns:a16="http://schemas.microsoft.com/office/drawing/2014/main" id="{FCB2D38E-69D5-439F-8DA1-1C05D55DDDD5}"/>
              </a:ext>
            </a:extLst>
          </p:cNvPr>
          <p:cNvSpPr>
            <a:spLocks noGrp="1"/>
          </p:cNvSpPr>
          <p:nvPr/>
        </p:nvSpPr>
        <p:spPr>
          <a:xfrm>
            <a:off x="609600" y="6200775"/>
            <a:ext cx="10972800" cy="0"/>
          </a:xfrm>
          <a:prstGeom prst="line">
            <a:avLst/>
          </a:prstGeom>
          <a:ln w="9525">
            <a:solidFill>
              <a:srgbClr val="D5DCE3"/>
            </a:solidFill>
          </a:ln>
        </p:spPr>
      </p:sp>
      <p:sp>
        <p:nvSpPr>
          <p:cNvPr id="7" name="sources">
            <a:extLst>
              <a:ext uri="{FF2B5EF4-FFF2-40B4-BE49-F238E27FC236}">
                <a16:creationId xmlns:a16="http://schemas.microsoft.com/office/drawing/2014/main" id="{FDF41C1F-24ED-41E3-BEF6-94734381CF7C}"/>
              </a:ext>
            </a:extLst>
          </p:cNvPr>
          <p:cNvSpPr>
            <a:spLocks noGrp="1"/>
          </p:cNvSpPr>
          <p:nvPr/>
        </p:nvSpPr>
        <p:spPr>
          <a:xfrm>
            <a:off x="609600" y="6353175"/>
            <a:ext cx="10363200" cy="36195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Park, Onwuli &amp; Walsh, Nat. Commun. 16, 4379 (2025). Fig.1, Table1, Fig.5.</a:t>
            </a:r>
          </a:p>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结构恢复采用708题×20次采样；相图与声子案例使用各自的物理计算协议。</a:t>
            </a:r>
          </a:p>
        </p:txBody>
      </p:sp>
      <p:sp>
        <p:nvSpPr>
          <p:cNvPr id="8" name="page-number">
            <a:extLst>
              <a:ext uri="{FF2B5EF4-FFF2-40B4-BE49-F238E27FC236}">
                <a16:creationId xmlns:a16="http://schemas.microsoft.com/office/drawing/2014/main" id="{D59A041E-5E9A-4BB0-9851-C9969159524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l">
              <a:defRPr sz="1275" b="0">
                <a:solidFill>
                  <a:srgbClr val="526170"/>
                </a:solidFill>
                <a:latin typeface="Microsoft YaHei"/>
                <a:ea typeface="Microsoft YaHei"/>
                <a:cs typeface="Microsoft YaHei"/>
              </a:defRPr>
            </a:defPPr>
          </a:lstStyle>
          <a:p>
            <a:pPr algn="l">
              <a:lnSpc>
                <a:spcPct val="115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500062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848F4AC9-355F-4868-9905-B5B03216BD76}"/>
              </a:ext>
            </a:extLst>
          </p:cNvPr>
          <p:cNvSpPr>
            <a:spLocks noGrp="1"/>
          </p:cNvSpPr>
          <p:nvPr/>
        </p:nvSpPr>
        <p:spPr>
          <a:xfrm>
            <a:off x="609600" y="361950"/>
            <a:ext cx="10972800" cy="600075"/>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5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SCIGEN：把功能图案嵌入晶体</a:t>
            </a:r>
          </a:p>
        </p:txBody>
      </p:sp>
      <p:sp>
        <p:nvSpPr>
          <p:cNvPr id="2" name="venue">
            <a:extLst>
              <a:ext uri="{FF2B5EF4-FFF2-40B4-BE49-F238E27FC236}">
                <a16:creationId xmlns:a16="http://schemas.microsoft.com/office/drawing/2014/main" id="{2B4E95D7-A56C-4668-A16E-BEFF04ADB282}"/>
              </a:ext>
            </a:extLst>
          </p:cNvPr>
          <p:cNvSpPr>
            <a:spLocks noGrp="1"/>
          </p:cNvSpPr>
          <p:nvPr/>
        </p:nvSpPr>
        <p:spPr>
          <a:xfrm>
            <a:off x="609600" y="1076325"/>
            <a:ext cx="10972800" cy="295275"/>
          </a:xfrm>
          <a:prstGeom prst="rect">
            <a:avLst/>
          </a:prstGeom>
          <a:noFill/>
          <a:ln w="0">
            <a:noFill/>
          </a:ln>
        </p:spPr>
        <p:txBody>
          <a:bodyPr wrap="square" lIns="0" tIns="0" rIns="0" bIns="0" anchor="t">
            <a:noAutofit/>
          </a:bodyPr>
          <a:lstStyle>
            <a:defPPr algn="l">
              <a:defRPr sz="1650" b="0">
                <a:solidFill>
                  <a:srgbClr val="526170"/>
                </a:solidFill>
                <a:latin typeface="Microsoft YaHei"/>
                <a:ea typeface="Microsoft YaHei"/>
                <a:cs typeface="Microsoft YaHei"/>
              </a:defRPr>
            </a:defPPr>
          </a:lstStyle>
          <a:p>
            <a:pPr algn="l">
              <a:lnSpc>
                <a:spcPct val="115000"/>
              </a:lnSpc>
              <a:buNone/>
              <a:defRPr sz="1650" b="0">
                <a:solidFill>
                  <a:srgbClr val="526170"/>
                </a:solidFill>
                <a:latin typeface="Microsoft YaHei"/>
                <a:ea typeface="Microsoft YaHei"/>
                <a:cs typeface="Microsoft YaHei"/>
              </a:defRPr>
            </a:pPr>
            <a:r>
              <a:rPr sz="1650" b="0">
                <a:solidFill>
                  <a:srgbClr val="526170"/>
                </a:solidFill>
                <a:latin typeface="Microsoft YaHei"/>
                <a:ea typeface="Microsoft YaHei"/>
                <a:cs typeface="Microsoft YaHei"/>
              </a:rPr>
              <a:t>Nature Materials 25, 223–230 · 2025在线发表／2026卷期</a:t>
            </a:r>
          </a:p>
        </p:txBody>
      </p:sp>
      <p:sp>
        <p:nvSpPr>
          <p:cNvPr id="3" name="lead">
            <a:extLst>
              <a:ext uri="{FF2B5EF4-FFF2-40B4-BE49-F238E27FC236}">
                <a16:creationId xmlns:a16="http://schemas.microsoft.com/office/drawing/2014/main" id="{9D451A6C-0595-480A-A65C-C640E3885EF7}"/>
              </a:ext>
            </a:extLst>
          </p:cNvPr>
          <p:cNvSpPr>
            <a:spLocks noGrp="1"/>
          </p:cNvSpPr>
          <p:nvPr/>
        </p:nvSpPr>
        <p:spPr>
          <a:xfrm>
            <a:off x="609600" y="1485900"/>
            <a:ext cx="10972800" cy="4000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5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把与电子行为相关的原子排列作为条件，生成与之兼容的完整材料</a:t>
            </a:r>
          </a:p>
        </p:txBody>
      </p:sp>
      <p:graphicFrame>
        <p:nvGraphicFramePr>
          <p:cNvPr id="4" name="表格 3">
            <a:extLst>
              <a:ext uri="{FF2B5EF4-FFF2-40B4-BE49-F238E27FC236}">
                <a16:creationId xmlns:a16="http://schemas.microsoft.com/office/drawing/2014/main" id="{D3641216-2107-4F07-94B4-9996FEF35D78}"/>
              </a:ext>
            </a:extLst>
          </p:cNvPr>
          <p:cNvGraphicFramePr/>
          <p:nvPr/>
        </p:nvGraphicFramePr>
        <p:xfrm>
          <a:off x="609600" y="1924050"/>
          <a:ext cx="10972800" cy="3524250"/>
        </p:xfrm>
        <a:graphic>
          <a:graphicData uri="http://schemas.openxmlformats.org/drawingml/2006/table">
            <a:tbl>
              <a:tblPr/>
              <a:tblGrid>
                <a:gridCol w="1714500">
                  <a:extLst>
                    <a:ext uri="{9D8B030D-6E8A-4147-A177-3AD203B41FA5}">
                      <a16:colId xmlns:a16="http://schemas.microsoft.com/office/drawing/2014/main" val="20000"/>
                    </a:ext>
                  </a:extLst>
                </a:gridCol>
                <a:gridCol w="9258300">
                  <a:extLst>
                    <a:ext uri="{9D8B030D-6E8A-4147-A177-3AD203B41FA5}">
                      <a16:colId xmlns:a16="http://schemas.microsoft.com/office/drawing/2014/main" val="20001"/>
                    </a:ext>
                  </a:extLst>
                </a:gridCol>
              </a:tblGrid>
              <a:tr h="466725">
                <a:tc>
                  <a:txBody>
                    <a:bodyPr/>
                    <a:lstStyle/>
                    <a:p>
                      <a:pPr algn="l">
                        <a:lnSpc>
                          <a:spcPct val="108000"/>
                        </a:lnSpc>
                        <a:buNone/>
                      </a:pPr>
                      <a:r>
                        <a:rPr sz="1800" b="1">
                          <a:solidFill>
                            <a:srgbClr val="173E67"/>
                          </a:solidFill>
                          <a:latin typeface="Microsoft YaHei"/>
                          <a:ea typeface="Microsoft YaHei"/>
                          <a:cs typeface="Microsoft YaHei"/>
                        </a:rPr>
                        <a:t>环节</a:t>
                      </a:r>
                    </a:p>
                  </a:txBody>
                  <a:tcPr anchor="ctr">
                    <a:lnL w="7620">
                      <a:solidFill>
                        <a:srgbClr val="D5DCE3"/>
                      </a:solidFill>
                      <a:prstDash val="soli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论文中的具体做法与证据</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a:solidFill>
                        <a:srgbClr val="D5DCE3"/>
                      </a:solidFill>
                      <a:prstDash val="solid"/>
                    </a:lnT>
                    <a:lnB w="7620">
                      <a:solidFill>
                        <a:srgbClr val="D5DCE3"/>
                      </a:solidFill>
                      <a:prstDash val="solid"/>
                    </a:lnB>
                    <a:solidFill>
                      <a:srgbClr val="EDF2F6"/>
                    </a:solidFill>
                  </a:tcPr>
                </a:tc>
                <a:extLst>
                  <a:ext uri="{0D108BD9-81ED-4DB2-BD59-A6C34878D82A}">
                    <a16:rowId xmlns:a16="http://schemas.microsoft.com/office/drawing/2014/main" val="10000"/>
                  </a:ext>
                </a:extLst>
              </a:tr>
              <a:tr h="611505">
                <a:tc>
                  <a:txBody>
                    <a:bodyPr/>
                    <a:lstStyle/>
                    <a:p>
                      <a:pPr algn="l">
                        <a:lnSpc>
                          <a:spcPct val="108000"/>
                        </a:lnSpc>
                        <a:buNone/>
                      </a:pPr>
                      <a:r>
                        <a:rPr sz="1763" b="1">
                          <a:solidFill>
                            <a:srgbClr val="1B2533"/>
                          </a:solidFill>
                          <a:latin typeface="Microsoft YaHei"/>
                          <a:ea typeface="Microsoft YaHei"/>
                          <a:cs typeface="Microsoft YaHei"/>
                        </a:rPr>
                        <a:t>基座与规模</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复用MP-20训练的DiffCSP；约千万提案经预筛后，选26,000个做DFT</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1"/>
                  </a:ext>
                </a:extLst>
              </a:tr>
              <a:tr h="611505">
                <a:tc>
                  <a:txBody>
                    <a:bodyPr/>
                    <a:lstStyle/>
                    <a:p>
                      <a:pPr algn="l">
                        <a:lnSpc>
                          <a:spcPct val="108000"/>
                        </a:lnSpc>
                        <a:buNone/>
                      </a:pPr>
                      <a:r>
                        <a:rPr sz="1763" b="1">
                          <a:solidFill>
                            <a:srgbClr val="1B2533"/>
                          </a:solidFill>
                          <a:latin typeface="Microsoft YaHei"/>
                          <a:ea typeface="Microsoft YaHei"/>
                          <a:cs typeface="Microsoft YaHei"/>
                        </a:rPr>
                        <a:t>约束方法</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每步把带噪图案按mask并入去噪状态，约束目标子晶格，补全周围原子与晶胞</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2"/>
                  </a:ext>
                </a:extLst>
              </a:tr>
              <a:tr h="611505">
                <a:tc>
                  <a:txBody>
                    <a:bodyPr/>
                    <a:lstStyle/>
                    <a:p>
                      <a:pPr algn="l">
                        <a:lnSpc>
                          <a:spcPct val="108000"/>
                        </a:lnSpc>
                        <a:buNone/>
                      </a:pPr>
                      <a:r>
                        <a:rPr sz="1763" b="1">
                          <a:solidFill>
                            <a:srgbClr val="1B2533"/>
                          </a:solidFill>
                          <a:latin typeface="Microsoft YaHei"/>
                          <a:ea typeface="Microsoft YaHei"/>
                          <a:cs typeface="Microsoft YaHei"/>
                        </a:rPr>
                        <a:t>结构筛选</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残余力与小畸变筛选、MP-20外新颖性和批内去重后，保留3,018个结构</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3"/>
                  </a:ext>
                </a:extLst>
              </a:tr>
              <a:tr h="611505">
                <a:tc>
                  <a:txBody>
                    <a:bodyPr/>
                    <a:lstStyle/>
                    <a:p>
                      <a:pPr algn="l">
                        <a:lnSpc>
                          <a:spcPct val="108000"/>
                        </a:lnSpc>
                        <a:buNone/>
                      </a:pPr>
                      <a:r>
                        <a:rPr sz="1763" b="1">
                          <a:solidFill>
                            <a:srgbClr val="1B2533"/>
                          </a:solidFill>
                          <a:latin typeface="Microsoft YaHei"/>
                          <a:ea typeface="Microsoft YaHei"/>
                          <a:cs typeface="Microsoft YaHei"/>
                        </a:rPr>
                        <a:t>电子功能</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Lieb图案候选的DFT能带出现费米能附近平带，建立几何与电子行为的联系</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4"/>
                  </a:ext>
                </a:extLst>
              </a:tr>
              <a:tr h="611505">
                <a:tc>
                  <a:txBody>
                    <a:bodyPr/>
                    <a:lstStyle/>
                    <a:p>
                      <a:pPr algn="l">
                        <a:lnSpc>
                          <a:spcPct val="108000"/>
                        </a:lnSpc>
                        <a:buNone/>
                      </a:pPr>
                      <a:r>
                        <a:rPr sz="1763" b="1">
                          <a:solidFill>
                            <a:srgbClr val="1B2533"/>
                          </a:solidFill>
                          <a:latin typeface="Microsoft YaHei"/>
                          <a:ea typeface="Microsoft YaHei"/>
                          <a:cs typeface="Microsoft YaHei"/>
                        </a:rPr>
                        <a:t>实验验证</a:t>
                      </a:r>
                    </a:p>
                  </a:txBody>
                  <a:tcPr anchor="ctr">
                    <a:lnL w="7620">
                      <a:solidFill>
                        <a:srgbClr val="D5DCE3"/>
                      </a:solidFill>
                      <a:prstDash val="soli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tc>
                  <a:txBody>
                    <a:bodyPr/>
                    <a:lstStyle/>
                    <a:p>
                      <a:pPr algn="l">
                        <a:lnSpc>
                          <a:spcPct val="108000"/>
                        </a:lnSpc>
                        <a:buNone/>
                      </a:pPr>
                      <a:r>
                        <a:rPr sz="1763" b="0">
                          <a:solidFill>
                            <a:srgbClr val="1B2533"/>
                          </a:solidFill>
                          <a:latin typeface="Microsoft YaHei"/>
                          <a:ea typeface="Microsoft YaHei"/>
                          <a:cs typeface="Microsoft YaHei"/>
                        </a:rPr>
                        <a:t>Ti–Pd–Bi/Sb提案指导合成；实物计量与占位变化，磁性为顺磁／抗磁，输运为金属</a:t>
                      </a:r>
                    </a:p>
                  </a:txBody>
                  <a:tcPr anchor="ctr">
                    <a:lnL w="7620" cap="flat" cmpd="sng" algn="ctr">
                      <a:solidFill>
                        <a:srgbClr val="D5DCE3"/>
                      </a:solidFill>
                      <a:prstDash val="solid"/>
                      <a:round/>
                      <a:headEnd type="none" w="med" len="med"/>
                      <a:tailEnd type="none" w="med" len="med"/>
                    </a:lnL>
                    <a:lnR w="7620">
                      <a:solidFill>
                        <a:srgbClr val="D5DCE3"/>
                      </a:solidFill>
                      <a:prstDash val="solid"/>
                    </a:lnR>
                    <a:lnT w="7620" cap="flat" cmpd="sng" algn="ctr">
                      <a:solidFill>
                        <a:srgbClr val="D5DCE3"/>
                      </a:solidFill>
                      <a:prstDash val="solid"/>
                      <a:round/>
                      <a:headEnd type="none" w="med" len="med"/>
                      <a:tailEnd type="none" w="med" len="med"/>
                    </a:lnT>
                    <a:lnB w="7620">
                      <a:solidFill>
                        <a:srgbClr val="D5DC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takeaway">
            <a:extLst>
              <a:ext uri="{FF2B5EF4-FFF2-40B4-BE49-F238E27FC236}">
                <a16:creationId xmlns:a16="http://schemas.microsoft.com/office/drawing/2014/main" id="{3DD7DDD0-7CFE-4051-87D5-A4BDFE690491}"/>
              </a:ext>
            </a:extLst>
          </p:cNvPr>
          <p:cNvSpPr>
            <a:spLocks noGrp="1"/>
          </p:cNvSpPr>
          <p:nvPr/>
        </p:nvSpPr>
        <p:spPr>
          <a:xfrm>
            <a:off x="609600" y="5648325"/>
            <a:ext cx="10972800" cy="504825"/>
          </a:xfrm>
          <a:prstGeom prst="rect">
            <a:avLst/>
          </a:prstGeom>
          <a:noFill/>
          <a:ln w="0">
            <a:noFill/>
          </a:ln>
        </p:spPr>
        <p:txBody>
          <a:bodyPr wrap="square" lIns="0" tIns="0" rIns="0" bIns="0" anchor="t">
            <a:noAutofit/>
          </a:bodyPr>
          <a:lstStyle>
            <a:defPPr algn="l">
              <a:defRPr sz="1800" b="0">
                <a:solidFill>
                  <a:srgbClr val="173E67"/>
                </a:solidFill>
                <a:latin typeface="Microsoft YaHei"/>
                <a:ea typeface="Microsoft YaHei"/>
                <a:cs typeface="Microsoft YaHei"/>
              </a:defRPr>
            </a:defPPr>
          </a:lstStyle>
          <a:p>
            <a:pPr algn="l">
              <a:lnSpc>
                <a:spcPct val="115000"/>
              </a:lnSpc>
              <a:buNone/>
              <a:defRPr sz="1800" b="0">
                <a:solidFill>
                  <a:srgbClr val="173E67"/>
                </a:solidFill>
                <a:latin typeface="Microsoft YaHei"/>
                <a:ea typeface="Microsoft YaHei"/>
                <a:cs typeface="Microsoft YaHei"/>
              </a:defRPr>
            </a:pPr>
            <a:r>
              <a:rPr sz="1800" b="0">
                <a:solidFill>
                  <a:srgbClr val="173E67"/>
                </a:solidFill>
                <a:latin typeface="Microsoft YaHei"/>
                <a:ea typeface="Microsoft YaHei"/>
                <a:cs typeface="Microsoft YaHei"/>
              </a:rPr>
              <a:t>功能图案提供生成条件；电子结构计算和合成测量检验材料层面的实现。</a:t>
            </a:r>
          </a:p>
        </p:txBody>
      </p:sp>
      <p:sp>
        <p:nvSpPr>
          <p:cNvPr id="6" name="separator">
            <a:extLst>
              <a:ext uri="{FF2B5EF4-FFF2-40B4-BE49-F238E27FC236}">
                <a16:creationId xmlns:a16="http://schemas.microsoft.com/office/drawing/2014/main" id="{50284FA2-4F79-4C0A-9AF7-B3681B2C0D87}"/>
              </a:ext>
            </a:extLst>
          </p:cNvPr>
          <p:cNvSpPr>
            <a:spLocks noGrp="1"/>
          </p:cNvSpPr>
          <p:nvPr/>
        </p:nvSpPr>
        <p:spPr>
          <a:xfrm>
            <a:off x="609600" y="6200775"/>
            <a:ext cx="10972800" cy="0"/>
          </a:xfrm>
          <a:prstGeom prst="line">
            <a:avLst/>
          </a:prstGeom>
          <a:ln w="9525">
            <a:solidFill>
              <a:srgbClr val="D5DCE3"/>
            </a:solidFill>
          </a:ln>
        </p:spPr>
      </p:sp>
      <p:sp>
        <p:nvSpPr>
          <p:cNvPr id="7" name="sources">
            <a:extLst>
              <a:ext uri="{FF2B5EF4-FFF2-40B4-BE49-F238E27FC236}">
                <a16:creationId xmlns:a16="http://schemas.microsoft.com/office/drawing/2014/main" id="{5BEF7008-93F3-45BC-8AA4-6B807B55EDFC}"/>
              </a:ext>
            </a:extLst>
          </p:cNvPr>
          <p:cNvSpPr>
            <a:spLocks noGrp="1"/>
          </p:cNvSpPr>
          <p:nvPr/>
        </p:nvSpPr>
        <p:spPr>
          <a:xfrm>
            <a:off x="609600" y="6353175"/>
            <a:ext cx="10363200" cy="36195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Okabe et al., Nat. Mater. 25, 223–230 (2026), online 2025. SI §3/5/10/12；Lieb能带见预印本Fig.4。</a:t>
            </a:r>
          </a:p>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3,018指小畸变、MP-20外且去重的结构；能带示例与合成样品分别报告。</a:t>
            </a:r>
          </a:p>
        </p:txBody>
      </p:sp>
      <p:sp>
        <p:nvSpPr>
          <p:cNvPr id="8" name="page-number">
            <a:extLst>
              <a:ext uri="{FF2B5EF4-FFF2-40B4-BE49-F238E27FC236}">
                <a16:creationId xmlns:a16="http://schemas.microsoft.com/office/drawing/2014/main" id="{8E1618F6-7F01-4343-852E-120A32A4F1E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l">
              <a:defRPr sz="1275" b="0">
                <a:solidFill>
                  <a:srgbClr val="526170"/>
                </a:solidFill>
                <a:latin typeface="Microsoft YaHei"/>
                <a:ea typeface="Microsoft YaHei"/>
                <a:cs typeface="Microsoft YaHei"/>
              </a:defRPr>
            </a:defPPr>
          </a:lstStyle>
          <a:p>
            <a:pPr algn="l">
              <a:lnSpc>
                <a:spcPct val="115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29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581013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9BCFF937-5CD3-420A-8093-051351E18B9A}"/>
              </a:ext>
            </a:extLst>
          </p:cNvPr>
          <p:cNvSpPr>
            <a:spLocks noGrp="1"/>
          </p:cNvSpPr>
          <p:nvPr/>
        </p:nvSpPr>
        <p:spPr>
          <a:xfrm>
            <a:off x="609600" y="361950"/>
            <a:ext cx="10972800" cy="600075"/>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5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Chemeleon2：用物理奖励改变生成分布</a:t>
            </a:r>
          </a:p>
        </p:txBody>
      </p:sp>
      <p:sp>
        <p:nvSpPr>
          <p:cNvPr id="2" name="venue">
            <a:extLst>
              <a:ext uri="{FF2B5EF4-FFF2-40B4-BE49-F238E27FC236}">
                <a16:creationId xmlns:a16="http://schemas.microsoft.com/office/drawing/2014/main" id="{70D03316-F229-4A04-A1D3-28AD9C59CDD6}"/>
              </a:ext>
            </a:extLst>
          </p:cNvPr>
          <p:cNvSpPr>
            <a:spLocks noGrp="1"/>
          </p:cNvSpPr>
          <p:nvPr/>
        </p:nvSpPr>
        <p:spPr>
          <a:xfrm>
            <a:off x="609600" y="1076325"/>
            <a:ext cx="10972800" cy="295275"/>
          </a:xfrm>
          <a:prstGeom prst="rect">
            <a:avLst/>
          </a:prstGeom>
          <a:noFill/>
          <a:ln w="0">
            <a:noFill/>
          </a:ln>
        </p:spPr>
        <p:txBody>
          <a:bodyPr wrap="square" lIns="0" tIns="0" rIns="0" bIns="0" anchor="t">
            <a:noAutofit/>
          </a:bodyPr>
          <a:lstStyle>
            <a:defPPr algn="l">
              <a:defRPr sz="1650" b="0">
                <a:solidFill>
                  <a:srgbClr val="526170"/>
                </a:solidFill>
                <a:latin typeface="Microsoft YaHei"/>
                <a:ea typeface="Microsoft YaHei"/>
                <a:cs typeface="Microsoft YaHei"/>
              </a:defRPr>
            </a:defPPr>
          </a:lstStyle>
          <a:p>
            <a:pPr algn="l">
              <a:lnSpc>
                <a:spcPct val="115000"/>
              </a:lnSpc>
              <a:buNone/>
              <a:defRPr sz="1650" b="0">
                <a:solidFill>
                  <a:srgbClr val="526170"/>
                </a:solidFill>
                <a:latin typeface="Microsoft YaHei"/>
                <a:ea typeface="Microsoft YaHei"/>
                <a:cs typeface="Microsoft YaHei"/>
              </a:defRPr>
            </a:pPr>
            <a:r>
              <a:rPr sz="1650" b="0">
                <a:solidFill>
                  <a:srgbClr val="526170"/>
                </a:solidFill>
                <a:latin typeface="Microsoft YaHei"/>
                <a:ea typeface="Microsoft YaHei"/>
                <a:cs typeface="Microsoft YaHei"/>
              </a:rPr>
              <a:t>Nature Machine Intelligence 8, 1087–1099 · 2026</a:t>
            </a:r>
          </a:p>
        </p:txBody>
      </p:sp>
      <p:sp>
        <p:nvSpPr>
          <p:cNvPr id="3" name="lead">
            <a:extLst>
              <a:ext uri="{FF2B5EF4-FFF2-40B4-BE49-F238E27FC236}">
                <a16:creationId xmlns:a16="http://schemas.microsoft.com/office/drawing/2014/main" id="{2B63BCCB-DBC0-4FA4-9F6F-6F3BB925D6E6}"/>
              </a:ext>
            </a:extLst>
          </p:cNvPr>
          <p:cNvSpPr>
            <a:spLocks noGrp="1"/>
          </p:cNvSpPr>
          <p:nvPr/>
        </p:nvSpPr>
        <p:spPr>
          <a:xfrm>
            <a:off x="609600" y="1485900"/>
            <a:ext cx="10972800" cy="4000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5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在连续潜空间中用GRPO优化近凸包资格、新颖性和多样性</a:t>
            </a:r>
          </a:p>
        </p:txBody>
      </p:sp>
      <p:graphicFrame>
        <p:nvGraphicFramePr>
          <p:cNvPr id="4" name="Chart">
            <a:extLst>
              <a:ext uri="{FF2B5EF4-FFF2-40B4-BE49-F238E27FC236}">
                <a16:creationId xmlns:a16="http://schemas.microsoft.com/office/drawing/2014/main" id="{61988EAE-38BD-4803-8B5F-23079C865366}"/>
              </a:ext>
            </a:extLst>
          </p:cNvPr>
          <p:cNvGraphicFramePr/>
          <p:nvPr/>
        </p:nvGraphicFramePr>
        <p:xfrm>
          <a:off x="609600" y="2009775"/>
          <a:ext cx="5905500" cy="355282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48BF4B67-67CA-4683-A4EA-682F43D77379}"/>
              </a:ext>
            </a:extLst>
          </p:cNvPr>
          <p:cNvSpPr>
            <a:spLocks noGrp="1"/>
          </p:cNvSpPr>
          <p:nvPr/>
        </p:nvSpPr>
        <p:spPr>
          <a:xfrm>
            <a:off x="1390650" y="5619750"/>
            <a:ext cx="4572000" cy="333375"/>
          </a:xfrm>
          <a:prstGeom prst="rect">
            <a:avLst/>
          </a:prstGeom>
          <a:noFill/>
          <a:ln w="0">
            <a:noFill/>
          </a:ln>
        </p:spPr>
        <p:txBody>
          <a:bodyPr wrap="square" lIns="0" tIns="0" rIns="0" bIns="0" anchor="t">
            <a:noAutofit/>
          </a:bodyPr>
          <a:lstStyle>
            <a:defPPr algn="l">
              <a:defRPr sz="1575" b="0">
                <a:solidFill>
                  <a:srgbClr val="526170"/>
                </a:solidFill>
                <a:latin typeface="Microsoft YaHei"/>
                <a:ea typeface="Microsoft YaHei"/>
                <a:cs typeface="Microsoft YaHei"/>
              </a:defRPr>
            </a:defPPr>
          </a:lstStyle>
          <a:p>
            <a:pPr algn="l">
              <a:lnSpc>
                <a:spcPct val="115000"/>
              </a:lnSpc>
              <a:buNone/>
              <a:defRPr sz="1575" b="0">
                <a:solidFill>
                  <a:srgbClr val="526170"/>
                </a:solidFill>
                <a:latin typeface="Microsoft YaHei"/>
                <a:ea typeface="Microsoft YaHei"/>
                <a:cs typeface="Microsoft YaHei"/>
              </a:defRPr>
            </a:pPr>
            <a:r>
              <a:rPr sz="1575" b="0">
                <a:solidFill>
                  <a:srgbClr val="526170"/>
                </a:solidFill>
                <a:latin typeface="Microsoft YaHei"/>
                <a:ea typeface="Microsoft YaHei"/>
                <a:cs typeface="Microsoft YaHei"/>
              </a:rPr>
              <a:t>Alex-MP-20 · mSUN（%）</a:t>
            </a:r>
          </a:p>
        </p:txBody>
      </p:sp>
      <p:sp>
        <p:nvSpPr>
          <p:cNvPr id="6" name="text">
            <a:extLst>
              <a:ext uri="{FF2B5EF4-FFF2-40B4-BE49-F238E27FC236}">
                <a16:creationId xmlns:a16="http://schemas.microsoft.com/office/drawing/2014/main" id="{EE264CF5-FE7C-491E-9DAB-7816A2C7C54E}"/>
              </a:ext>
            </a:extLst>
          </p:cNvPr>
          <p:cNvSpPr>
            <a:spLocks noGrp="1"/>
          </p:cNvSpPr>
          <p:nvPr/>
        </p:nvSpPr>
        <p:spPr>
          <a:xfrm>
            <a:off x="6991350" y="1933575"/>
            <a:ext cx="4591050" cy="3238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5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模型与物理反馈</a:t>
            </a:r>
          </a:p>
        </p:txBody>
      </p:sp>
      <p:sp>
        <p:nvSpPr>
          <p:cNvPr id="7" name="text">
            <a:extLst>
              <a:ext uri="{FF2B5EF4-FFF2-40B4-BE49-F238E27FC236}">
                <a16:creationId xmlns:a16="http://schemas.microsoft.com/office/drawing/2014/main" id="{8777CDCC-CC8A-461D-A6B2-82960E677511}"/>
              </a:ext>
            </a:extLst>
          </p:cNvPr>
          <p:cNvSpPr>
            <a:spLocks noGrp="1"/>
          </p:cNvSpPr>
          <p:nvPr/>
        </p:nvSpPr>
        <p:spPr>
          <a:xfrm>
            <a:off x="6991350" y="2333625"/>
            <a:ext cx="4591050" cy="914400"/>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5000"/>
              </a:lnSpc>
              <a:buNone/>
              <a:defRPr sz="1800" b="0">
                <a:solidFill>
                  <a:srgbClr val="1B2533"/>
                </a:solidFill>
                <a:latin typeface="Microsoft YaHei"/>
                <a:ea typeface="Microsoft YaHei"/>
                <a:cs typeface="Microsoft YaHei"/>
              </a:defRPr>
            </a:pPr>
            <a:r>
              <a:rPr lang="en-US" altLang="zh-CN" sz="1800" b="0">
                <a:solidFill>
                  <a:srgbClr val="1B2533"/>
                </a:solidFill>
                <a:latin typeface="Microsoft YaHei"/>
                <a:ea typeface="Microsoft YaHei"/>
                <a:cs typeface="Microsoft YaHei"/>
              </a:rPr>
              <a:t>VAE</a:t>
            </a:r>
            <a:r>
              <a:rPr lang="zh-CN" altLang="en-US" sz="1800" b="0">
                <a:solidFill>
                  <a:srgbClr val="1B2533"/>
                </a:solidFill>
                <a:latin typeface="Microsoft YaHei"/>
                <a:ea typeface="Microsoft YaHei"/>
                <a:cs typeface="Microsoft YaHei"/>
              </a:rPr>
              <a:t>编码晶体，</a:t>
            </a:r>
            <a:r>
              <a:rPr lang="en-US" altLang="zh-CN" sz="1800" b="0">
                <a:solidFill>
                  <a:srgbClr val="1B2533"/>
                </a:solidFill>
                <a:latin typeface="Microsoft YaHei"/>
                <a:ea typeface="Microsoft YaHei"/>
                <a:cs typeface="Microsoft YaHei"/>
              </a:rPr>
              <a:t>DiT</a:t>
            </a:r>
            <a:r>
              <a:rPr lang="zh-CN" altLang="en-US" sz="1800" b="0">
                <a:solidFill>
                  <a:srgbClr val="1B2533"/>
                </a:solidFill>
                <a:latin typeface="Microsoft YaHei"/>
                <a:ea typeface="Microsoft YaHei"/>
                <a:cs typeface="Microsoft YaHei"/>
              </a:rPr>
              <a:t>在潜空间生成。</a:t>
            </a:r>
          </a:p>
          <a:p>
            <a:pPr algn="l">
              <a:lnSpc>
                <a:spcPct val="115000"/>
              </a:lnSpc>
              <a:buNone/>
              <a:defRPr sz="1800" b="0">
                <a:solidFill>
                  <a:srgbClr val="1B2533"/>
                </a:solidFill>
                <a:latin typeface="Microsoft YaHei"/>
                <a:ea typeface="Microsoft YaHei"/>
                <a:cs typeface="Microsoft YaHei"/>
              </a:defRPr>
            </a:pPr>
            <a:r>
              <a:rPr lang="en-US" altLang="zh-CN" sz="1800" b="0">
                <a:solidFill>
                  <a:srgbClr val="1B2533"/>
                </a:solidFill>
                <a:latin typeface="Microsoft YaHei"/>
                <a:ea typeface="Microsoft YaHei"/>
                <a:cs typeface="Microsoft YaHei"/>
              </a:rPr>
              <a:t>GRPO</a:t>
            </a:r>
            <a:r>
              <a:rPr lang="zh-CN" altLang="en-US" sz="1800" b="0">
                <a:solidFill>
                  <a:srgbClr val="1B2533"/>
                </a:solidFill>
                <a:latin typeface="Microsoft YaHei"/>
                <a:ea typeface="Microsoft YaHei"/>
                <a:cs typeface="Microsoft YaHei"/>
              </a:rPr>
              <a:t>用物理与多样性奖励</a:t>
            </a:r>
          </a:p>
          <a:p>
            <a:pPr algn="l">
              <a:lnSpc>
                <a:spcPct val="115000"/>
              </a:lnSpc>
              <a:buNone/>
              <a:defRPr sz="1800" b="0">
                <a:solidFill>
                  <a:srgbClr val="1B2533"/>
                </a:solidFill>
                <a:latin typeface="Microsoft YaHei"/>
                <a:ea typeface="Microsoft YaHei"/>
                <a:cs typeface="Microsoft YaHei"/>
              </a:defRPr>
            </a:pPr>
            <a:r>
              <a:rPr lang="zh-CN" altLang="en-US" sz="1800" b="0">
                <a:solidFill>
                  <a:srgbClr val="1B2533"/>
                </a:solidFill>
                <a:latin typeface="Microsoft YaHei"/>
                <a:ea typeface="Microsoft YaHei"/>
                <a:cs typeface="Microsoft YaHei"/>
              </a:rPr>
              <a:t>更新去噪策略。</a:t>
            </a:r>
            <a:endParaRPr sz="1800" b="0">
              <a:solidFill>
                <a:srgbClr val="1B2533"/>
              </a:solidFill>
              <a:latin typeface="Microsoft YaHei"/>
              <a:ea typeface="Microsoft YaHei"/>
              <a:cs typeface="Microsoft YaHei"/>
            </a:endParaRPr>
          </a:p>
        </p:txBody>
      </p:sp>
      <p:sp>
        <p:nvSpPr>
          <p:cNvPr id="8" name="text">
            <a:extLst>
              <a:ext uri="{FF2B5EF4-FFF2-40B4-BE49-F238E27FC236}">
                <a16:creationId xmlns:a16="http://schemas.microsoft.com/office/drawing/2014/main" id="{BD32C536-753B-44FA-8438-D6254E1DC1C6}"/>
              </a:ext>
            </a:extLst>
          </p:cNvPr>
          <p:cNvSpPr>
            <a:spLocks noGrp="1"/>
          </p:cNvSpPr>
          <p:nvPr/>
        </p:nvSpPr>
        <p:spPr>
          <a:xfrm>
            <a:off x="6991350" y="3286125"/>
            <a:ext cx="4591050" cy="3238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5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收益与结构覆盖</a:t>
            </a:r>
          </a:p>
        </p:txBody>
      </p:sp>
      <p:sp>
        <p:nvSpPr>
          <p:cNvPr id="9" name="text">
            <a:extLst>
              <a:ext uri="{FF2B5EF4-FFF2-40B4-BE49-F238E27FC236}">
                <a16:creationId xmlns:a16="http://schemas.microsoft.com/office/drawing/2014/main" id="{2FEE5DBD-FC41-4EE4-A4AD-0F6F25132C36}"/>
              </a:ext>
            </a:extLst>
          </p:cNvPr>
          <p:cNvSpPr>
            <a:spLocks noGrp="1"/>
          </p:cNvSpPr>
          <p:nvPr/>
        </p:nvSpPr>
        <p:spPr>
          <a:xfrm>
            <a:off x="6991350" y="3686175"/>
            <a:ext cx="4591050" cy="914400"/>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5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N：62.3% → 97.5%</a:t>
            </a:r>
          </a:p>
          <a:p>
            <a:pPr algn="l">
              <a:lnSpc>
                <a:spcPct val="115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U：99.4% → 88.7%</a:t>
            </a:r>
          </a:p>
          <a:p>
            <a:pPr algn="l">
              <a:lnSpc>
                <a:spcPct val="115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生成收益伴随唯一性下降</a:t>
            </a:r>
          </a:p>
        </p:txBody>
      </p:sp>
      <p:sp>
        <p:nvSpPr>
          <p:cNvPr id="10" name="text">
            <a:extLst>
              <a:ext uri="{FF2B5EF4-FFF2-40B4-BE49-F238E27FC236}">
                <a16:creationId xmlns:a16="http://schemas.microsoft.com/office/drawing/2014/main" id="{03D4134A-81A0-4F93-9C3C-7563DA8A590A}"/>
              </a:ext>
            </a:extLst>
          </p:cNvPr>
          <p:cNvSpPr>
            <a:spLocks noGrp="1"/>
          </p:cNvSpPr>
          <p:nvPr/>
        </p:nvSpPr>
        <p:spPr>
          <a:xfrm>
            <a:off x="6991350" y="4638675"/>
            <a:ext cx="4591050" cy="3238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5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性质条件与物理检验</a:t>
            </a:r>
          </a:p>
        </p:txBody>
      </p:sp>
      <p:sp>
        <p:nvSpPr>
          <p:cNvPr id="11" name="text">
            <a:extLst>
              <a:ext uri="{FF2B5EF4-FFF2-40B4-BE49-F238E27FC236}">
                <a16:creationId xmlns:a16="http://schemas.microsoft.com/office/drawing/2014/main" id="{FA926DE2-EA96-43E8-946B-881380AB5404}"/>
              </a:ext>
            </a:extLst>
          </p:cNvPr>
          <p:cNvSpPr>
            <a:spLocks noGrp="1"/>
          </p:cNvSpPr>
          <p:nvPr/>
        </p:nvSpPr>
        <p:spPr>
          <a:xfrm>
            <a:off x="6991350" y="5038725"/>
            <a:ext cx="4591050" cy="914400"/>
          </a:xfrm>
          <a:prstGeom prst="rect">
            <a:avLst/>
          </a:prstGeom>
          <a:noFill/>
          <a:ln w="0">
            <a:noFill/>
          </a:ln>
        </p:spPr>
        <p:txBody>
          <a:bodyPr wrap="square" lIns="0" tIns="0" rIns="0" bIns="0" anchor="t">
            <a:noAutofit/>
          </a:bodyPr>
          <a:lstStyle>
            <a:defPPr algn="l">
              <a:defRPr sz="1800" b="0">
                <a:solidFill>
                  <a:srgbClr val="1B2533"/>
                </a:solidFill>
                <a:latin typeface="Microsoft YaHei"/>
                <a:ea typeface="Microsoft YaHei"/>
                <a:cs typeface="Microsoft YaHei"/>
              </a:defRPr>
            </a:defPPr>
          </a:lstStyle>
          <a:p>
            <a:pPr algn="l">
              <a:lnSpc>
                <a:spcPct val="115000"/>
              </a:lnSpc>
              <a:buNone/>
              <a:defRPr sz="1800" b="0">
                <a:solidFill>
                  <a:srgbClr val="1B2533"/>
                </a:solidFill>
                <a:latin typeface="Microsoft YaHei"/>
                <a:ea typeface="Microsoft YaHei"/>
                <a:cs typeface="Microsoft YaHei"/>
              </a:defRPr>
            </a:pPr>
            <a:r>
              <a:rPr sz="1800" b="0">
                <a:solidFill>
                  <a:srgbClr val="1B2533"/>
                </a:solidFill>
                <a:latin typeface="Microsoft YaHei"/>
                <a:ea typeface="Microsoft YaHei"/>
                <a:cs typeface="Microsoft YaHei"/>
              </a:rPr>
              <a:t>目标带隙3 eV，512个候选中82个同时满足mSUN和2.7–3.3 eV带隙（DFT）。</a:t>
            </a:r>
          </a:p>
        </p:txBody>
      </p:sp>
      <p:sp>
        <p:nvSpPr>
          <p:cNvPr id="12" name="separator">
            <a:extLst>
              <a:ext uri="{FF2B5EF4-FFF2-40B4-BE49-F238E27FC236}">
                <a16:creationId xmlns:a16="http://schemas.microsoft.com/office/drawing/2014/main" id="{19822471-9536-410E-8051-8DF9E7D261E6}"/>
              </a:ext>
            </a:extLst>
          </p:cNvPr>
          <p:cNvSpPr>
            <a:spLocks noGrp="1"/>
          </p:cNvSpPr>
          <p:nvPr/>
        </p:nvSpPr>
        <p:spPr>
          <a:xfrm>
            <a:off x="609600" y="6200775"/>
            <a:ext cx="10972800" cy="0"/>
          </a:xfrm>
          <a:prstGeom prst="line">
            <a:avLst/>
          </a:prstGeom>
          <a:ln w="9525">
            <a:solidFill>
              <a:srgbClr val="D5DCE3"/>
            </a:solidFill>
          </a:ln>
        </p:spPr>
      </p:sp>
      <p:sp>
        <p:nvSpPr>
          <p:cNvPr id="13" name="sources">
            <a:extLst>
              <a:ext uri="{FF2B5EF4-FFF2-40B4-BE49-F238E27FC236}">
                <a16:creationId xmlns:a16="http://schemas.microsoft.com/office/drawing/2014/main" id="{0977E159-855A-4969-A081-E0926F5FFAC2}"/>
              </a:ext>
            </a:extLst>
          </p:cNvPr>
          <p:cNvSpPr>
            <a:spLocks noGrp="1"/>
          </p:cNvSpPr>
          <p:nvPr/>
        </p:nvSpPr>
        <p:spPr>
          <a:xfrm>
            <a:off x="609600" y="6353175"/>
            <a:ext cx="10363200" cy="36195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Park &amp; Walsh, Nat. Mach. Intell. 8, 1087–1099 (2026). Fig.3 / Fig.6；Methods: reward engineering.</a:t>
            </a:r>
          </a:p>
          <a:p>
            <a:pPr algn="l">
              <a:lnSpc>
                <a:spcPct val="115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柱图：1万原始候选，MACE-MPA-0评测，mSUN近凸包阈值E_hull &lt; 0.1 eV/atom；带隙用DFT计算。</a:t>
            </a:r>
          </a:p>
        </p:txBody>
      </p:sp>
      <p:sp>
        <p:nvSpPr>
          <p:cNvPr id="14" name="page-number">
            <a:extLst>
              <a:ext uri="{FF2B5EF4-FFF2-40B4-BE49-F238E27FC236}">
                <a16:creationId xmlns:a16="http://schemas.microsoft.com/office/drawing/2014/main" id="{33B9FE1F-1C6A-4A71-87EC-7142FAA07398}"/>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l">
              <a:defRPr sz="1275" b="0">
                <a:solidFill>
                  <a:srgbClr val="526170"/>
                </a:solidFill>
                <a:latin typeface="Microsoft YaHei"/>
                <a:ea typeface="Microsoft YaHei"/>
                <a:cs typeface="Microsoft YaHei"/>
              </a:defRPr>
            </a:defPPr>
          </a:lstStyle>
          <a:p>
            <a:pPr algn="l">
              <a:lnSpc>
                <a:spcPct val="115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713720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D941394F-140B-4847-ACEC-4D263B71DBB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研究目标与科学价值</a:t>
            </a:r>
          </a:p>
        </p:txBody>
      </p:sp>
      <p:sp>
        <p:nvSpPr>
          <p:cNvPr id="2" name="lead">
            <a:extLst>
              <a:ext uri="{FF2B5EF4-FFF2-40B4-BE49-F238E27FC236}">
                <a16:creationId xmlns:a16="http://schemas.microsoft.com/office/drawing/2014/main" id="{290B8B76-9F76-4F36-ADF0-B058BB5D7B2E}"/>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在相同计算投入下，获得更多稳定、独特且新颖的材料。</a:t>
            </a:r>
          </a:p>
        </p:txBody>
      </p:sp>
      <p:sp>
        <p:nvSpPr>
          <p:cNvPr id="3" name="text">
            <a:extLst>
              <a:ext uri="{FF2B5EF4-FFF2-40B4-BE49-F238E27FC236}">
                <a16:creationId xmlns:a16="http://schemas.microsoft.com/office/drawing/2014/main" id="{2E60B62E-FC40-42D0-8BBD-27CC225F92C7}"/>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稳定性 S</a:t>
            </a:r>
          </a:p>
        </p:txBody>
      </p:sp>
      <p:sp>
        <p:nvSpPr>
          <p:cNvPr id="4" name="text">
            <a:extLst>
              <a:ext uri="{FF2B5EF4-FFF2-40B4-BE49-F238E27FC236}">
                <a16:creationId xmlns:a16="http://schemas.microsoft.com/office/drawing/2014/main" id="{107B1062-7CF2-4FEB-BB71-3137C1C5996E}"/>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相对声明的竞争相集合计算能量，严格稳定阈值为 Eₕᵤₗₗ ≤ 0</a:t>
            </a:r>
          </a:p>
        </p:txBody>
      </p:sp>
      <p:sp>
        <p:nvSpPr>
          <p:cNvPr id="5" name="text">
            <a:extLst>
              <a:ext uri="{FF2B5EF4-FFF2-40B4-BE49-F238E27FC236}">
                <a16:creationId xmlns:a16="http://schemas.microsoft.com/office/drawing/2014/main" id="{DA56BBDB-233C-44FC-81FF-D0C9CD0F4CC9}"/>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独特与新颖</a:t>
            </a:r>
          </a:p>
        </p:txBody>
      </p:sp>
      <p:sp>
        <p:nvSpPr>
          <p:cNvPr id="6" name="text">
            <a:extLst>
              <a:ext uri="{FF2B5EF4-FFF2-40B4-BE49-F238E27FC236}">
                <a16:creationId xmlns:a16="http://schemas.microsoft.com/office/drawing/2014/main" id="{66FAC251-73A2-4268-9D68-342432188843}"/>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U衡量集合内去重，N衡量相对参考库的新颖性。SUN同时满足S、U和N</a:t>
            </a:r>
          </a:p>
        </p:txBody>
      </p:sp>
      <p:sp>
        <p:nvSpPr>
          <p:cNvPr id="7" name="text">
            <a:extLst>
              <a:ext uri="{FF2B5EF4-FFF2-40B4-BE49-F238E27FC236}">
                <a16:creationId xmlns:a16="http://schemas.microsoft.com/office/drawing/2014/main" id="{D873750B-1C82-42FD-807C-FD95C2A30620}"/>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条件生成</a:t>
            </a:r>
          </a:p>
        </p:txBody>
      </p:sp>
      <p:sp>
        <p:nvSpPr>
          <p:cNvPr id="8" name="text">
            <a:extLst>
              <a:ext uri="{FF2B5EF4-FFF2-40B4-BE49-F238E27FC236}">
                <a16:creationId xmlns:a16="http://schemas.microsoft.com/office/drawing/2014/main" id="{1C56F6B6-6542-4DB7-ADD4-B2A11800C3B8}"/>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在稳定发现的基础上，控制组成、结构关系或目标性质</a:t>
            </a:r>
          </a:p>
        </p:txBody>
      </p:sp>
      <p:sp>
        <p:nvSpPr>
          <p:cNvPr id="9" name="text">
            <a:extLst>
              <a:ext uri="{FF2B5EF4-FFF2-40B4-BE49-F238E27FC236}">
                <a16:creationId xmlns:a16="http://schemas.microsoft.com/office/drawing/2014/main" id="{5841CB9B-82A2-40BF-B6A5-543DEFB8C3D5}"/>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科学价值</a:t>
            </a:r>
          </a:p>
        </p:txBody>
      </p:sp>
      <p:sp>
        <p:nvSpPr>
          <p:cNvPr id="10" name="text">
            <a:extLst>
              <a:ext uri="{FF2B5EF4-FFF2-40B4-BE49-F238E27FC236}">
                <a16:creationId xmlns:a16="http://schemas.microsoft.com/office/drawing/2014/main" id="{8001D265-DD19-4133-B232-45AC56E43C3B}"/>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材料空间远大于数据库。生成模型需要把已有知识用于尚未记录的材料</a:t>
            </a:r>
          </a:p>
        </p:txBody>
      </p:sp>
      <p:sp>
        <p:nvSpPr>
          <p:cNvPr id="11" name="separator">
            <a:extLst>
              <a:ext uri="{FF2B5EF4-FFF2-40B4-BE49-F238E27FC236}">
                <a16:creationId xmlns:a16="http://schemas.microsoft.com/office/drawing/2014/main" id="{326FE542-E816-4A8A-BF8D-D9DE05A69296}"/>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C4BC886-BD24-49B3-A246-AA92E9FC6709}"/>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Materials Project (2013)；GNoME (Nature 2023)；MatterGen (Nature 2025)；强基线研究 (2025)</a:t>
            </a:r>
          </a:p>
        </p:txBody>
      </p:sp>
      <p:sp>
        <p:nvSpPr>
          <p:cNvPr id="13" name="page-number">
            <a:extLst>
              <a:ext uri="{FF2B5EF4-FFF2-40B4-BE49-F238E27FC236}">
                <a16:creationId xmlns:a16="http://schemas.microsoft.com/office/drawing/2014/main" id="{92AC2C89-E9F7-44CC-A2D1-59383974BD6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31</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027036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7F03CA3D-9EBF-448D-835D-A58A7DEFFE6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论文中的任务决定了证据的含义</a:t>
            </a:r>
          </a:p>
        </p:txBody>
      </p:sp>
      <p:graphicFrame>
        <p:nvGraphicFramePr>
          <p:cNvPr id="2" name="表格 1">
            <a:extLst>
              <a:ext uri="{FF2B5EF4-FFF2-40B4-BE49-F238E27FC236}">
                <a16:creationId xmlns:a16="http://schemas.microsoft.com/office/drawing/2014/main" id="{AD766357-EBB6-4C83-894A-217580E68E0A}"/>
              </a:ext>
            </a:extLst>
          </p:cNvPr>
          <p:cNvGraphicFramePr/>
          <p:nvPr/>
        </p:nvGraphicFramePr>
        <p:xfrm>
          <a:off x="609600" y="1400175"/>
          <a:ext cx="10972800" cy="4467225"/>
        </p:xfrm>
        <a:graphic>
          <a:graphicData uri="http://schemas.openxmlformats.org/drawingml/2006/table">
            <a:tbl>
              <a:tblPr/>
              <a:tblGrid>
                <a:gridCol w="2524125">
                  <a:extLst>
                    <a:ext uri="{9D8B030D-6E8A-4147-A177-3AD203B41FA5}">
                      <a16:colId xmlns:a16="http://schemas.microsoft.com/office/drawing/2014/main" val="20000"/>
                    </a:ext>
                  </a:extLst>
                </a:gridCol>
                <a:gridCol w="5095875">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输入与输出</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对应工作</a:t>
                      </a:r>
                    </a:p>
                  </a:txBody>
                  <a:tcPr anchor="ctr">
                    <a:solidFill>
                      <a:srgbClr val="EDF2F6"/>
                    </a:solidFill>
                  </a:tcPr>
                </a:tc>
                <a:extLst>
                  <a:ext uri="{0D108BD9-81ED-4DB2-BD59-A6C34878D82A}">
                    <a16:rowId xmlns:a16="http://schemas.microsoft.com/office/drawing/2014/main" val="10000"/>
                  </a:ext>
                </a:extLst>
              </a:tr>
              <a:tr h="655638">
                <a:tc>
                  <a:txBody>
                    <a:bodyPr/>
                    <a:lstStyle/>
                    <a:p>
                      <a:pPr algn="l">
                        <a:lnSpc>
                          <a:spcPct val="108000"/>
                        </a:lnSpc>
                        <a:buNone/>
                      </a:pPr>
                      <a:r>
                        <a:rPr sz="1725" b="0">
                          <a:solidFill>
                            <a:srgbClr val="1B2533"/>
                          </a:solidFill>
                          <a:latin typeface="Microsoft YaHei"/>
                          <a:ea typeface="Microsoft YaHei"/>
                          <a:cs typeface="Microsoft YaHei"/>
                        </a:rPr>
                        <a:t>组成条件CSP</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已知组成，生成晶胞和原子位置</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DiffCSP、FlowMM</a:t>
                      </a:r>
                    </a:p>
                  </a:txBody>
                  <a:tcPr anchor="ctr">
                    <a:solidFill>
                      <a:srgbClr val="FFFFFF"/>
                    </a:solidFill>
                  </a:tcPr>
                </a:tc>
                <a:extLst>
                  <a:ext uri="{0D108BD9-81ED-4DB2-BD59-A6C34878D82A}">
                    <a16:rowId xmlns:a16="http://schemas.microsoft.com/office/drawing/2014/main" val="10001"/>
                  </a:ext>
                </a:extLst>
              </a:tr>
              <a:tr h="655638">
                <a:tc>
                  <a:txBody>
                    <a:bodyPr/>
                    <a:lstStyle/>
                    <a:p>
                      <a:pPr algn="l">
                        <a:lnSpc>
                          <a:spcPct val="108000"/>
                        </a:lnSpc>
                        <a:buNone/>
                      </a:pPr>
                      <a:r>
                        <a:rPr sz="1725" b="0">
                          <a:solidFill>
                            <a:srgbClr val="1B2533"/>
                          </a:solidFill>
                          <a:latin typeface="Microsoft YaHei"/>
                          <a:ea typeface="Microsoft YaHei"/>
                          <a:cs typeface="Microsoft YaHei"/>
                        </a:rPr>
                        <a:t>自主生成DNG</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同时提出组成与完整晶体</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CDVAE、MatterGen</a:t>
                      </a:r>
                    </a:p>
                    <a:p>
                      <a:pPr algn="l">
                        <a:lnSpc>
                          <a:spcPct val="108000"/>
                        </a:lnSpc>
                        <a:buNone/>
                      </a:pPr>
                      <a:r>
                        <a:rPr sz="1725" b="0">
                          <a:solidFill>
                            <a:srgbClr val="1B2533"/>
                          </a:solidFill>
                          <a:latin typeface="Microsoft YaHei"/>
                          <a:ea typeface="Microsoft YaHei"/>
                          <a:cs typeface="Microsoft YaHei"/>
                        </a:rPr>
                        <a:t>OMatG</a:t>
                      </a:r>
                    </a:p>
                  </a:txBody>
                  <a:tcPr anchor="ctr">
                    <a:solidFill>
                      <a:srgbClr val="FFFFFF"/>
                    </a:solidFill>
                  </a:tcPr>
                </a:tc>
                <a:extLst>
                  <a:ext uri="{0D108BD9-81ED-4DB2-BD59-A6C34878D82A}">
                    <a16:rowId xmlns:a16="http://schemas.microsoft.com/office/drawing/2014/main" val="10002"/>
                  </a:ext>
                </a:extLst>
              </a:tr>
              <a:tr h="655638">
                <a:tc>
                  <a:txBody>
                    <a:bodyPr/>
                    <a:lstStyle/>
                    <a:p>
                      <a:pPr algn="l">
                        <a:lnSpc>
                          <a:spcPct val="108000"/>
                        </a:lnSpc>
                        <a:buNone/>
                      </a:pPr>
                      <a:r>
                        <a:rPr sz="1725" b="0">
                          <a:solidFill>
                            <a:srgbClr val="1B2533"/>
                          </a:solidFill>
                          <a:latin typeface="Microsoft YaHei"/>
                          <a:ea typeface="Microsoft YaHei"/>
                          <a:cs typeface="Microsoft YaHei"/>
                        </a:rPr>
                        <a:t>性质 / 文本条件生成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目标性质或描述，生成候选结构</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MatterGen、TGDMat</a:t>
                      </a:r>
                    </a:p>
                    <a:p>
                      <a:pPr algn="l">
                        <a:lnSpc>
                          <a:spcPct val="108000"/>
                        </a:lnSpc>
                        <a:buNone/>
                      </a:pPr>
                      <a:r>
                        <a:rPr sz="1725" b="0">
                          <a:solidFill>
                            <a:srgbClr val="1B2533"/>
                          </a:solidFill>
                          <a:latin typeface="Microsoft YaHei"/>
                          <a:ea typeface="Microsoft YaHei"/>
                          <a:cs typeface="Microsoft YaHei"/>
                        </a:rPr>
                        <a:t>PLaID++</a:t>
                      </a:r>
                    </a:p>
                  </a:txBody>
                  <a:tcPr anchor="ctr">
                    <a:solidFill>
                      <a:srgbClr val="FFFFFF"/>
                    </a:solidFill>
                  </a:tcPr>
                </a:tc>
                <a:extLst>
                  <a:ext uri="{0D108BD9-81ED-4DB2-BD59-A6C34878D82A}">
                    <a16:rowId xmlns:a16="http://schemas.microsoft.com/office/drawing/2014/main" val="10003"/>
                  </a:ext>
                </a:extLst>
              </a:tr>
              <a:tr h="655638">
                <a:tc>
                  <a:txBody>
                    <a:bodyPr/>
                    <a:lstStyle/>
                    <a:p>
                      <a:pPr algn="l">
                        <a:lnSpc>
                          <a:spcPct val="108000"/>
                        </a:lnSpc>
                        <a:buNone/>
                      </a:pPr>
                      <a:r>
                        <a:rPr sz="1725" b="0">
                          <a:solidFill>
                            <a:srgbClr val="1B2533"/>
                          </a:solidFill>
                          <a:latin typeface="Microsoft YaHei"/>
                          <a:ea typeface="Microsoft YaHei"/>
                          <a:cs typeface="Microsoft YaHei"/>
                        </a:rPr>
                        <a:t>结构条件生成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对称配置或局部图案，补全晶体</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SymmCD、SCIGEN</a:t>
                      </a:r>
                    </a:p>
                  </a:txBody>
                  <a:tcPr anchor="ctr">
                    <a:solidFill>
                      <a:srgbClr val="FFFFFF"/>
                    </a:solidFill>
                  </a:tcPr>
                </a:tc>
                <a:extLst>
                  <a:ext uri="{0D108BD9-81ED-4DB2-BD59-A6C34878D82A}">
                    <a16:rowId xmlns:a16="http://schemas.microsoft.com/office/drawing/2014/main" val="10004"/>
                  </a:ext>
                </a:extLst>
              </a:tr>
              <a:tr h="655638">
                <a:tc>
                  <a:txBody>
                    <a:bodyPr/>
                    <a:lstStyle/>
                    <a:p>
                      <a:pPr algn="l">
                        <a:lnSpc>
                          <a:spcPct val="108000"/>
                        </a:lnSpc>
                        <a:buNone/>
                      </a:pPr>
                      <a:r>
                        <a:rPr sz="1725" b="0">
                          <a:solidFill>
                            <a:srgbClr val="1B2533"/>
                          </a:solidFill>
                          <a:latin typeface="Microsoft YaHei"/>
                          <a:ea typeface="Microsoft YaHei"/>
                          <a:cs typeface="Microsoft YaHei"/>
                        </a:rPr>
                        <a:t>互条件生成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给定组成生成几何，或反向生成元素</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MCFlow</a:t>
                      </a:r>
                    </a:p>
                  </a:txBody>
                  <a:tcPr anchor="ctr">
                    <a:solidFill>
                      <a:srgbClr val="FFFFFF"/>
                    </a:solidFill>
                  </a:tcPr>
                </a:tc>
                <a:extLst>
                  <a:ext uri="{0D108BD9-81ED-4DB2-BD59-A6C34878D82A}">
                    <a16:rowId xmlns:a16="http://schemas.microsoft.com/office/drawing/2014/main" val="10005"/>
                  </a:ext>
                </a:extLst>
              </a:tr>
              <a:tr h="655638">
                <a:tc>
                  <a:txBody>
                    <a:bodyPr/>
                    <a:lstStyle/>
                    <a:p>
                      <a:pPr algn="l">
                        <a:lnSpc>
                          <a:spcPct val="108000"/>
                        </a:lnSpc>
                        <a:buNone/>
                      </a:pPr>
                      <a:r>
                        <a:rPr sz="1725" b="0">
                          <a:solidFill>
                            <a:srgbClr val="1B2533"/>
                          </a:solidFill>
                          <a:latin typeface="Microsoft YaHei"/>
                          <a:ea typeface="Microsoft YaHei"/>
                          <a:cs typeface="Microsoft YaHei"/>
                        </a:rPr>
                        <a:t>物理搜索与模型更新</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计算结构结果，改进行动或生成分布</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RL-CSP、GNoME</a:t>
                      </a:r>
                    </a:p>
                    <a:p>
                      <a:pPr algn="l">
                        <a:lnSpc>
                          <a:spcPct val="108000"/>
                        </a:lnSpc>
                        <a:buNone/>
                      </a:pPr>
                      <a:r>
                        <a:rPr sz="1725" b="0">
                          <a:solidFill>
                            <a:srgbClr val="1B2533"/>
                          </a:solidFill>
                          <a:latin typeface="Microsoft YaHei"/>
                          <a:ea typeface="Microsoft YaHei"/>
                          <a:cs typeface="Microsoft YaHei"/>
                        </a:rPr>
                        <a:t>OMatG-IRL</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3" name="separator">
            <a:extLst>
              <a:ext uri="{FF2B5EF4-FFF2-40B4-BE49-F238E27FC236}">
                <a16:creationId xmlns:a16="http://schemas.microsoft.com/office/drawing/2014/main" id="{525513FC-0D25-4D33-9C34-3192B9E51B4D}"/>
              </a:ext>
            </a:extLst>
          </p:cNvPr>
          <p:cNvSpPr>
            <a:spLocks noGrp="1"/>
          </p:cNvSpPr>
          <p:nvPr/>
        </p:nvSpPr>
        <p:spPr>
          <a:xfrm>
            <a:off x="609600" y="6200775"/>
            <a:ext cx="10972800" cy="0"/>
          </a:xfrm>
          <a:prstGeom prst="line">
            <a:avLst/>
          </a:prstGeom>
          <a:ln w="9525">
            <a:solidFill>
              <a:srgbClr val="D5DCE3"/>
            </a:solidFill>
          </a:ln>
        </p:spPr>
      </p:sp>
      <p:sp>
        <p:nvSpPr>
          <p:cNvPr id="4" name="sources">
            <a:extLst>
              <a:ext uri="{FF2B5EF4-FFF2-40B4-BE49-F238E27FC236}">
                <a16:creationId xmlns:a16="http://schemas.microsoft.com/office/drawing/2014/main" id="{903296DF-813C-4379-9A03-7E1B179209F9}"/>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任务按原文输入与输出区分。CSP匹配、条件命中、DNG发现和预测模型改善分别呈现。</a:t>
            </a:r>
          </a:p>
        </p:txBody>
      </p:sp>
      <p:sp>
        <p:nvSpPr>
          <p:cNvPr id="5" name="page-number">
            <a:extLst>
              <a:ext uri="{FF2B5EF4-FFF2-40B4-BE49-F238E27FC236}">
                <a16:creationId xmlns:a16="http://schemas.microsoft.com/office/drawing/2014/main" id="{34BD988E-6271-41F3-8CF1-36BD13C8565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121166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C2918FB7-B6CB-4E5E-AED7-22E77D979F3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领域沿三条研究线并行发展</a:t>
            </a:r>
          </a:p>
        </p:txBody>
      </p:sp>
      <p:sp>
        <p:nvSpPr>
          <p:cNvPr id="2" name="lead">
            <a:extLst>
              <a:ext uri="{FF2B5EF4-FFF2-40B4-BE49-F238E27FC236}">
                <a16:creationId xmlns:a16="http://schemas.microsoft.com/office/drawing/2014/main" id="{61463640-1435-4734-B88C-BA5829814086}"/>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新方法不断扩展可表达的结构、可接受的条件和可利用的物理信息。</a:t>
            </a:r>
          </a:p>
        </p:txBody>
      </p:sp>
      <p:graphicFrame>
        <p:nvGraphicFramePr>
          <p:cNvPr id="3" name="表格 2">
            <a:extLst>
              <a:ext uri="{FF2B5EF4-FFF2-40B4-BE49-F238E27FC236}">
                <a16:creationId xmlns:a16="http://schemas.microsoft.com/office/drawing/2014/main" id="{5B3BACF7-F4F7-430B-9054-B07F6F097F39}"/>
              </a:ext>
            </a:extLst>
          </p:cNvPr>
          <p:cNvGraphicFramePr/>
          <p:nvPr/>
        </p:nvGraphicFramePr>
        <p:xfrm>
          <a:off x="609600" y="1990725"/>
          <a:ext cx="10972800" cy="3419475"/>
        </p:xfrm>
        <a:graphic>
          <a:graphicData uri="http://schemas.openxmlformats.org/drawingml/2006/table">
            <a:tbl>
              <a:tblPr/>
              <a:tblGrid>
                <a:gridCol w="185737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3829050">
                  <a:extLst>
                    <a:ext uri="{9D8B030D-6E8A-4147-A177-3AD203B41FA5}">
                      <a16:colId xmlns:a16="http://schemas.microsoft.com/office/drawing/2014/main" val="20003"/>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研究线</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早期基础</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2023—2024</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2025—2026</a:t>
                      </a:r>
                    </a:p>
                  </a:txBody>
                  <a:tcPr anchor="ctr">
                    <a:solidFill>
                      <a:srgbClr val="EDF2F6"/>
                    </a:solidFill>
                  </a:tcPr>
                </a:tc>
                <a:extLst>
                  <a:ext uri="{0D108BD9-81ED-4DB2-BD59-A6C34878D82A}">
                    <a16:rowId xmlns:a16="http://schemas.microsoft.com/office/drawing/2014/main" val="10000"/>
                  </a:ext>
                </a:extLst>
              </a:tr>
              <a:tr h="962025">
                <a:tc>
                  <a:txBody>
                    <a:bodyPr/>
                    <a:lstStyle/>
                    <a:p>
                      <a:pPr algn="l">
                        <a:lnSpc>
                          <a:spcPct val="108000"/>
                        </a:lnSpc>
                        <a:buNone/>
                      </a:pPr>
                      <a:r>
                        <a:rPr sz="1725" b="0">
                          <a:solidFill>
                            <a:srgbClr val="1B2533"/>
                          </a:solidFill>
                          <a:latin typeface="Microsoft YaHei"/>
                          <a:ea typeface="Microsoft YaHei"/>
                          <a:cs typeface="Microsoft YaHei"/>
                        </a:rPr>
                        <a:t>结构表示与生成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iMatGen、FTCP</a:t>
                      </a:r>
                    </a:p>
                    <a:p>
                      <a:pPr algn="l">
                        <a:lnSpc>
                          <a:spcPct val="108000"/>
                        </a:lnSpc>
                        <a:buNone/>
                      </a:pPr>
                      <a:r>
                        <a:rPr sz="1725" b="0">
                          <a:solidFill>
                            <a:srgbClr val="1B2533"/>
                          </a:solidFill>
                          <a:latin typeface="Microsoft YaHei"/>
                          <a:ea typeface="Microsoft YaHei"/>
                          <a:cs typeface="Microsoft YaHei"/>
                        </a:rPr>
                        <a:t>CDVAE</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DiffCSP、FlowMM</a:t>
                      </a:r>
                    </a:p>
                    <a:p>
                      <a:pPr algn="l">
                        <a:lnSpc>
                          <a:spcPct val="108000"/>
                        </a:lnSpc>
                        <a:buNone/>
                      </a:pPr>
                      <a:r>
                        <a:rPr sz="1725" b="0">
                          <a:solidFill>
                            <a:srgbClr val="1B2533"/>
                          </a:solidFill>
                          <a:latin typeface="Microsoft YaHei"/>
                          <a:ea typeface="Microsoft YaHei"/>
                          <a:cs typeface="Microsoft YaHei"/>
                        </a:rPr>
                        <a:t>晶体语言模型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OMatG、SymmCD</a:t>
                      </a:r>
                    </a:p>
                    <a:p>
                      <a:pPr algn="l">
                        <a:lnSpc>
                          <a:spcPct val="108000"/>
                        </a:lnSpc>
                        <a:buNone/>
                      </a:pPr>
                      <a:r>
                        <a:rPr sz="1725" b="0">
                          <a:solidFill>
                            <a:srgbClr val="1B2533"/>
                          </a:solidFill>
                          <a:latin typeface="Microsoft YaHei"/>
                          <a:ea typeface="Microsoft YaHei"/>
                          <a:cs typeface="Microsoft YaHei"/>
                        </a:rPr>
                        <a:t>CrysLLMGen、MCFlow</a:t>
                      </a:r>
                    </a:p>
                  </a:txBody>
                  <a:tcPr anchor="ctr">
                    <a:solidFill>
                      <a:srgbClr val="FFFFFF"/>
                    </a:solidFill>
                  </a:tcPr>
                </a:tc>
                <a:extLst>
                  <a:ext uri="{0D108BD9-81ED-4DB2-BD59-A6C34878D82A}">
                    <a16:rowId xmlns:a16="http://schemas.microsoft.com/office/drawing/2014/main" val="10001"/>
                  </a:ext>
                </a:extLst>
              </a:tr>
              <a:tr h="962025">
                <a:tc>
                  <a:txBody>
                    <a:bodyPr/>
                    <a:lstStyle/>
                    <a:p>
                      <a:pPr algn="l">
                        <a:lnSpc>
                          <a:spcPct val="108000"/>
                        </a:lnSpc>
                        <a:buNone/>
                      </a:pPr>
                      <a:r>
                        <a:rPr sz="1725" b="0">
                          <a:solidFill>
                            <a:srgbClr val="1B2533"/>
                          </a:solidFill>
                          <a:latin typeface="Microsoft YaHei"/>
                          <a:ea typeface="Microsoft YaHei"/>
                          <a:cs typeface="Microsoft YaHei"/>
                        </a:rPr>
                        <a:t>条件与科学知识</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性质潜空间</a:t>
                      </a:r>
                    </a:p>
                    <a:p>
                      <a:pPr algn="l">
                        <a:lnSpc>
                          <a:spcPct val="108000"/>
                        </a:lnSpc>
                        <a:buNone/>
                      </a:pPr>
                      <a:r>
                        <a:rPr sz="1725" b="0">
                          <a:solidFill>
                            <a:srgbClr val="1B2533"/>
                          </a:solidFill>
                          <a:latin typeface="Microsoft YaHei"/>
                          <a:ea typeface="Microsoft YaHei"/>
                          <a:cs typeface="Microsoft YaHei"/>
                        </a:rPr>
                        <a:t>给定组成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对称约束</a:t>
                      </a:r>
                    </a:p>
                    <a:p>
                      <a:pPr algn="l">
                        <a:lnSpc>
                          <a:spcPct val="108000"/>
                        </a:lnSpc>
                        <a:buNone/>
                      </a:pPr>
                      <a:r>
                        <a:rPr sz="1725" b="0">
                          <a:solidFill>
                            <a:srgbClr val="1B2533"/>
                          </a:solidFill>
                          <a:latin typeface="Microsoft YaHei"/>
                          <a:ea typeface="Microsoft YaHei"/>
                          <a:cs typeface="Microsoft YaHei"/>
                        </a:rPr>
                        <a:t>语言条件与连续精修</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MatterGen、SCIGEN</a:t>
                      </a:r>
                    </a:p>
                    <a:p>
                      <a:pPr algn="l">
                        <a:lnSpc>
                          <a:spcPct val="108000"/>
                        </a:lnSpc>
                        <a:buNone/>
                      </a:pPr>
                      <a:r>
                        <a:rPr sz="1725" b="0">
                          <a:solidFill>
                            <a:srgbClr val="1B2533"/>
                          </a:solidFill>
                          <a:latin typeface="Microsoft YaHei"/>
                          <a:ea typeface="Microsoft YaHei"/>
                          <a:cs typeface="Microsoft YaHei"/>
                        </a:rPr>
                        <a:t>PLaID++、组合条件</a:t>
                      </a:r>
                    </a:p>
                  </a:txBody>
                  <a:tcPr anchor="ctr">
                    <a:solidFill>
                      <a:srgbClr val="FFFFFF"/>
                    </a:solidFill>
                  </a:tcPr>
                </a:tc>
                <a:extLst>
                  <a:ext uri="{0D108BD9-81ED-4DB2-BD59-A6C34878D82A}">
                    <a16:rowId xmlns:a16="http://schemas.microsoft.com/office/drawing/2014/main" val="10002"/>
                  </a:ext>
                </a:extLst>
              </a:tr>
              <a:tr h="962025">
                <a:tc>
                  <a:txBody>
                    <a:bodyPr/>
                    <a:lstStyle/>
                    <a:p>
                      <a:pPr algn="l">
                        <a:lnSpc>
                          <a:spcPct val="108000"/>
                        </a:lnSpc>
                        <a:buNone/>
                      </a:pPr>
                      <a:r>
                        <a:rPr sz="1725" b="0">
                          <a:solidFill>
                            <a:srgbClr val="1B2533"/>
                          </a:solidFill>
                          <a:latin typeface="Microsoft YaHei"/>
                          <a:ea typeface="Microsoft YaHei"/>
                          <a:cs typeface="Microsoft YaHei"/>
                        </a:rPr>
                        <a:t>物理与多解发现</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AIRSS、USPEX</a:t>
                      </a:r>
                    </a:p>
                    <a:p>
                      <a:pPr algn="l">
                        <a:lnSpc>
                          <a:spcPct val="108000"/>
                        </a:lnSpc>
                        <a:buNone/>
                      </a:pPr>
                      <a:r>
                        <a:rPr sz="1725" b="0">
                          <a:solidFill>
                            <a:srgbClr val="1B2533"/>
                          </a:solidFill>
                          <a:latin typeface="Microsoft YaHei"/>
                          <a:ea typeface="Microsoft YaHei"/>
                          <a:cs typeface="Microsoft YaHei"/>
                        </a:rPr>
                        <a:t>材料数据库</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通用势、GNoME</a:t>
                      </a:r>
                    </a:p>
                    <a:p>
                      <a:pPr algn="l">
                        <a:lnSpc>
                          <a:spcPct val="108000"/>
                        </a:lnSpc>
                        <a:buNone/>
                      </a:pPr>
                      <a:r>
                        <a:rPr sz="1725" b="0">
                          <a:solidFill>
                            <a:srgbClr val="1B2533"/>
                          </a:solidFill>
                          <a:latin typeface="Microsoft YaHei"/>
                          <a:ea typeface="Microsoft YaHei"/>
                          <a:cs typeface="Microsoft YaHei"/>
                        </a:rPr>
                        <a:t>RL搜索与晶体QD</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物理后训练</a:t>
                      </a:r>
                    </a:p>
                    <a:p>
                      <a:pPr algn="l">
                        <a:lnSpc>
                          <a:spcPct val="108000"/>
                        </a:lnSpc>
                        <a:buNone/>
                      </a:pPr>
                      <a:r>
                        <a:rPr sz="1725" b="0">
                          <a:solidFill>
                            <a:srgbClr val="1B2533"/>
                          </a:solidFill>
                          <a:latin typeface="Microsoft YaHei"/>
                          <a:ea typeface="Microsoft YaHei"/>
                          <a:cs typeface="Microsoft YaHei"/>
                        </a:rPr>
                        <a:t>层级探索与数据回流</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4" name="conclusion">
            <a:extLst>
              <a:ext uri="{FF2B5EF4-FFF2-40B4-BE49-F238E27FC236}">
                <a16:creationId xmlns:a16="http://schemas.microsoft.com/office/drawing/2014/main" id="{9E77FB08-1D38-4AE9-A961-95F474308BE9}"/>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时间按代表工作首次公开或正式发表概括。三条线之间不断交换方法。</a:t>
            </a:r>
          </a:p>
        </p:txBody>
      </p:sp>
      <p:sp>
        <p:nvSpPr>
          <p:cNvPr id="5" name="separator">
            <a:extLst>
              <a:ext uri="{FF2B5EF4-FFF2-40B4-BE49-F238E27FC236}">
                <a16:creationId xmlns:a16="http://schemas.microsoft.com/office/drawing/2014/main" id="{EA4425FC-C5B2-4F35-84FD-5D442AA58C06}"/>
              </a:ext>
            </a:extLst>
          </p:cNvPr>
          <p:cNvSpPr>
            <a:spLocks noGrp="1"/>
          </p:cNvSpPr>
          <p:nvPr/>
        </p:nvSpPr>
        <p:spPr>
          <a:xfrm>
            <a:off x="609600" y="6200775"/>
            <a:ext cx="10972800" cy="0"/>
          </a:xfrm>
          <a:prstGeom prst="line">
            <a:avLst/>
          </a:prstGeom>
          <a:ln w="9525">
            <a:solidFill>
              <a:srgbClr val="D5DCE3"/>
            </a:solidFill>
          </a:ln>
        </p:spPr>
      </p:sp>
      <p:sp>
        <p:nvSpPr>
          <p:cNvPr id="6" name="sources">
            <a:extLst>
              <a:ext uri="{FF2B5EF4-FFF2-40B4-BE49-F238E27FC236}">
                <a16:creationId xmlns:a16="http://schemas.microsoft.com/office/drawing/2014/main" id="{08C6D7D9-8F30-4A44-9E65-78150DC2492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代表文献见本报告备注及文献年表。并行关系为综述归纳。</a:t>
            </a:r>
          </a:p>
        </p:txBody>
      </p:sp>
      <p:sp>
        <p:nvSpPr>
          <p:cNvPr id="7" name="page-number">
            <a:extLst>
              <a:ext uri="{FF2B5EF4-FFF2-40B4-BE49-F238E27FC236}">
                <a16:creationId xmlns:a16="http://schemas.microsoft.com/office/drawing/2014/main" id="{49E13456-85A6-4699-AFD8-D5CCA3E98AB8}"/>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592078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BA537A3-27F2-48DF-A2D1-A1DA3FC2BFC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周期生成开始直接建模晶体几何</a:t>
            </a:r>
          </a:p>
        </p:txBody>
      </p:sp>
      <p:graphicFrame>
        <p:nvGraphicFramePr>
          <p:cNvPr id="2" name="表格 1">
            <a:extLst>
              <a:ext uri="{FF2B5EF4-FFF2-40B4-BE49-F238E27FC236}">
                <a16:creationId xmlns:a16="http://schemas.microsoft.com/office/drawing/2014/main" id="{D8F4F470-0573-4118-80C6-046938A2808C}"/>
              </a:ext>
            </a:extLst>
          </p:cNvPr>
          <p:cNvGraphicFramePr/>
          <p:nvPr/>
        </p:nvGraphicFramePr>
        <p:xfrm>
          <a:off x="609600" y="1400175"/>
          <a:ext cx="10972800" cy="4010025"/>
        </p:xfrm>
        <a:graphic>
          <a:graphicData uri="http://schemas.openxmlformats.org/drawingml/2006/table">
            <a:tbl>
              <a:tblPr/>
              <a:tblGrid>
                <a:gridCol w="2714625">
                  <a:extLst>
                    <a:ext uri="{9D8B030D-6E8A-4147-A177-3AD203B41FA5}">
                      <a16:colId xmlns:a16="http://schemas.microsoft.com/office/drawing/2014/main" val="20000"/>
                    </a:ext>
                  </a:extLst>
                </a:gridCol>
                <a:gridCol w="3476625">
                  <a:extLst>
                    <a:ext uri="{9D8B030D-6E8A-4147-A177-3AD203B41FA5}">
                      <a16:colId xmlns:a16="http://schemas.microsoft.com/office/drawing/2014/main" val="20001"/>
                    </a:ext>
                  </a:extLst>
                </a:gridCol>
                <a:gridCol w="478155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工作</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解决的主要困难</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方法与已建立的能力</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CDVAE</a:t>
                      </a:r>
                    </a:p>
                    <a:p>
                      <a:pPr algn="l">
                        <a:lnSpc>
                          <a:spcPct val="108000"/>
                        </a:lnSpc>
                        <a:buNone/>
                      </a:pPr>
                      <a:r>
                        <a:rPr sz="1725" b="0">
                          <a:solidFill>
                            <a:srgbClr val="1B2533"/>
                          </a:solidFill>
                          <a:latin typeface="Microsoft YaHei"/>
                          <a:ea typeface="Microsoft YaHei"/>
                          <a:cs typeface="Microsoft YaHei"/>
                        </a:rPr>
                        <a:t>ICLR 2022</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周期结构的可学习生成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潜变量组织结构属性，周期去噪生成坐标</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DiffCSP</a:t>
                      </a:r>
                    </a:p>
                    <a:p>
                      <a:pPr algn="l">
                        <a:lnSpc>
                          <a:spcPct val="108000"/>
                        </a:lnSpc>
                        <a:buNone/>
                      </a:pPr>
                      <a:r>
                        <a:rPr sz="1725" b="0">
                          <a:solidFill>
                            <a:srgbClr val="1B2533"/>
                          </a:solidFill>
                          <a:latin typeface="Microsoft YaHei"/>
                          <a:ea typeface="Microsoft YaHei"/>
                          <a:cs typeface="Microsoft YaHei"/>
                        </a:rPr>
                        <a:t>NeurIPS 2023</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给定组成下晶胞与坐标耦合</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联合等变扩散，提高参考结构预测能力</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FlowMM</a:t>
                      </a:r>
                    </a:p>
                    <a:p>
                      <a:pPr algn="l">
                        <a:lnSpc>
                          <a:spcPct val="108000"/>
                        </a:lnSpc>
                        <a:buNone/>
                      </a:pPr>
                      <a:r>
                        <a:rPr sz="1725" b="0">
                          <a:solidFill>
                            <a:srgbClr val="1B2533"/>
                          </a:solidFill>
                          <a:latin typeface="Microsoft YaHei"/>
                          <a:ea typeface="Microsoft YaHei"/>
                          <a:cs typeface="Microsoft YaHei"/>
                        </a:rPr>
                        <a:t>ICML 2024</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周期变量的连续生成路径</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在晶体流形上进行 flow matching</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OMatG</a:t>
                      </a:r>
                    </a:p>
                    <a:p>
                      <a:pPr algn="l">
                        <a:lnSpc>
                          <a:spcPct val="108000"/>
                        </a:lnSpc>
                        <a:buNone/>
                      </a:pPr>
                      <a:r>
                        <a:rPr sz="1725" b="0">
                          <a:solidFill>
                            <a:srgbClr val="1B2533"/>
                          </a:solidFill>
                          <a:latin typeface="Microsoft YaHei"/>
                          <a:ea typeface="Microsoft YaHei"/>
                          <a:cs typeface="Microsoft YaHei"/>
                        </a:rPr>
                        <a:t>ICML 2025</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离散元素与连续几何联合生成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随机插值（SI）结合连续几何与离散元素过程</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F6C03239-D35A-4712-B34E-E8443C5574C6}"/>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这些方法提供了联合生成工具。新的问题是它们如何学到未见化学与几何的正确配对。</a:t>
            </a:r>
          </a:p>
        </p:txBody>
      </p:sp>
      <p:sp>
        <p:nvSpPr>
          <p:cNvPr id="4" name="separator">
            <a:extLst>
              <a:ext uri="{FF2B5EF4-FFF2-40B4-BE49-F238E27FC236}">
                <a16:creationId xmlns:a16="http://schemas.microsoft.com/office/drawing/2014/main" id="{B9169647-FE01-450F-A2BE-9F66E7AC57FE}"/>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C65D9FFA-6466-41BB-80FC-227114B35C3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CDVAE [R08]；DiffCSP [R13]；FlowMM [R26]；OMatG [R34]</a:t>
            </a:r>
          </a:p>
        </p:txBody>
      </p:sp>
      <p:sp>
        <p:nvSpPr>
          <p:cNvPr id="6" name="page-number">
            <a:extLst>
              <a:ext uri="{FF2B5EF4-FFF2-40B4-BE49-F238E27FC236}">
                <a16:creationId xmlns:a16="http://schemas.microsoft.com/office/drawing/2014/main" id="{25815A94-DB1D-4002-9E7F-2E19AF3A27F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768204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EE7E59C4-60E3-4424-A7D2-0BF7891ACBF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稳定率提高时，SUN仍可能下降</a:t>
            </a:r>
          </a:p>
        </p:txBody>
      </p:sp>
      <p:sp>
        <p:nvSpPr>
          <p:cNvPr id="2" name="lead">
            <a:extLst>
              <a:ext uri="{FF2B5EF4-FFF2-40B4-BE49-F238E27FC236}">
                <a16:creationId xmlns:a16="http://schemas.microsoft.com/office/drawing/2014/main" id="{4DE5FDA5-42DF-40D4-8E65-958757F090B3}"/>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PLaID++的坐标表示对照说明，稳定性收益可能同时伴随发现数量损失。</a:t>
            </a:r>
          </a:p>
        </p:txBody>
      </p:sp>
      <p:graphicFrame>
        <p:nvGraphicFramePr>
          <p:cNvPr id="3" name="Chart">
            <a:extLst>
              <a:ext uri="{FF2B5EF4-FFF2-40B4-BE49-F238E27FC236}">
                <a16:creationId xmlns:a16="http://schemas.microsoft.com/office/drawing/2014/main" id="{E79D702B-E0B6-4FBA-846D-41FDE918F46C}"/>
              </a:ext>
            </a:extLst>
          </p:cNvPr>
          <p:cNvGraphicFramePr/>
          <p:nvPr/>
        </p:nvGraphicFramePr>
        <p:xfrm>
          <a:off x="609600" y="1943100"/>
          <a:ext cx="63341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33CE8C85-AFF1-4F35-8DA2-352590520712}"/>
              </a:ext>
            </a:extLst>
          </p:cNvPr>
          <p:cNvSpPr>
            <a:spLocks noGrp="1"/>
          </p:cNvSpPr>
          <p:nvPr/>
        </p:nvSpPr>
        <p:spPr>
          <a:xfrm>
            <a:off x="685800" y="1743075"/>
            <a:ext cx="1905000" cy="285750"/>
          </a:xfrm>
          <a:prstGeom prst="rect">
            <a:avLst/>
          </a:prstGeom>
          <a:noFill/>
          <a:ln w="0">
            <a:noFill/>
          </a:ln>
        </p:spPr>
        <p:txBody>
          <a:bodyPr wrap="square" lIns="0" tIns="0" rIns="0" bIns="0" anchor="t">
            <a:noAutofit/>
          </a:bodyPr>
          <a:lstStyle>
            <a:defPPr algn="l">
              <a:defRPr sz="1500" b="0">
                <a:solidFill>
                  <a:srgbClr val="526170"/>
                </a:solidFill>
                <a:latin typeface="Microsoft YaHei"/>
                <a:ea typeface="Microsoft YaHei"/>
                <a:cs typeface="Microsoft YaHei"/>
              </a:defRPr>
            </a:defPPr>
          </a:lstStyle>
          <a:p>
            <a:pPr algn="l">
              <a:lnSpc>
                <a:spcPct val="118000"/>
              </a:lnSpc>
              <a:buNone/>
              <a:defRPr sz="1500" b="0">
                <a:solidFill>
                  <a:srgbClr val="526170"/>
                </a:solidFill>
                <a:latin typeface="Microsoft YaHei"/>
                <a:ea typeface="Microsoft YaHei"/>
                <a:cs typeface="Microsoft YaHei"/>
              </a:defRPr>
            </a:pPr>
            <a:r>
              <a:rPr sz="1500" b="0">
                <a:solidFill>
                  <a:srgbClr val="526170"/>
                </a:solidFill>
                <a:latin typeface="Microsoft YaHei"/>
                <a:ea typeface="Microsoft YaHei"/>
                <a:cs typeface="Microsoft YaHei"/>
              </a:rPr>
              <a:t>比例（%）</a:t>
            </a:r>
          </a:p>
        </p:txBody>
      </p:sp>
      <p:sp>
        <p:nvSpPr>
          <p:cNvPr id="5" name="text">
            <a:extLst>
              <a:ext uri="{FF2B5EF4-FFF2-40B4-BE49-F238E27FC236}">
                <a16:creationId xmlns:a16="http://schemas.microsoft.com/office/drawing/2014/main" id="{4447DA39-9295-40F8-B4EA-F202C67ED7B8}"/>
              </a:ext>
            </a:extLst>
          </p:cNvPr>
          <p:cNvSpPr>
            <a:spLocks noGrp="1"/>
          </p:cNvSpPr>
          <p:nvPr/>
        </p:nvSpPr>
        <p:spPr>
          <a:xfrm>
            <a:off x="7391400" y="2038350"/>
            <a:ext cx="41910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同一对照</a:t>
            </a:r>
          </a:p>
        </p:txBody>
      </p:sp>
      <p:sp>
        <p:nvSpPr>
          <p:cNvPr id="6" name="text">
            <a:extLst>
              <a:ext uri="{FF2B5EF4-FFF2-40B4-BE49-F238E27FC236}">
                <a16:creationId xmlns:a16="http://schemas.microsoft.com/office/drawing/2014/main" id="{50964A82-253A-46E2-B61E-F6F6FEC24A85}"/>
              </a:ext>
            </a:extLst>
          </p:cNvPr>
          <p:cNvSpPr>
            <a:spLocks noGrp="1"/>
          </p:cNvSpPr>
          <p:nvPr/>
        </p:nvSpPr>
        <p:spPr>
          <a:xfrm>
            <a:off x="7391400" y="2419350"/>
            <a:ext cx="4191000" cy="8191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稳定率由10.35%升至15.94%，SUN由2.93%降至1.69%。</a:t>
            </a:r>
          </a:p>
        </p:txBody>
      </p:sp>
      <p:sp>
        <p:nvSpPr>
          <p:cNvPr id="7" name="text">
            <a:extLst>
              <a:ext uri="{FF2B5EF4-FFF2-40B4-BE49-F238E27FC236}">
                <a16:creationId xmlns:a16="http://schemas.microsoft.com/office/drawing/2014/main" id="{331106CD-0319-41F4-B83A-078310174913}"/>
              </a:ext>
            </a:extLst>
          </p:cNvPr>
          <p:cNvSpPr>
            <a:spLocks noGrp="1"/>
          </p:cNvSpPr>
          <p:nvPr/>
        </p:nvSpPr>
        <p:spPr>
          <a:xfrm>
            <a:off x="7391400" y="3267075"/>
            <a:ext cx="41910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科学问题</a:t>
            </a:r>
          </a:p>
        </p:txBody>
      </p:sp>
      <p:sp>
        <p:nvSpPr>
          <p:cNvPr id="8" name="text">
            <a:extLst>
              <a:ext uri="{FF2B5EF4-FFF2-40B4-BE49-F238E27FC236}">
                <a16:creationId xmlns:a16="http://schemas.microsoft.com/office/drawing/2014/main" id="{6B6E6EE6-5065-48D9-80CE-C30D4AB4B3E6}"/>
              </a:ext>
            </a:extLst>
          </p:cNvPr>
          <p:cNvSpPr>
            <a:spLocks noGrp="1"/>
          </p:cNvSpPr>
          <p:nvPr/>
        </p:nvSpPr>
        <p:spPr>
          <a:xfrm>
            <a:off x="7391400" y="3648075"/>
            <a:ext cx="4191000" cy="8191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怎样让稳定性优化增加不同的新结构？</a:t>
            </a:r>
          </a:p>
        </p:txBody>
      </p:sp>
      <p:sp>
        <p:nvSpPr>
          <p:cNvPr id="9" name="text">
            <a:extLst>
              <a:ext uri="{FF2B5EF4-FFF2-40B4-BE49-F238E27FC236}">
                <a16:creationId xmlns:a16="http://schemas.microsoft.com/office/drawing/2014/main" id="{DB8EAAF1-C34B-4664-B406-D05A9A18C4FF}"/>
              </a:ext>
            </a:extLst>
          </p:cNvPr>
          <p:cNvSpPr>
            <a:spLocks noGrp="1"/>
          </p:cNvSpPr>
          <p:nvPr/>
        </p:nvSpPr>
        <p:spPr>
          <a:xfrm>
            <a:off x="7391400" y="4495800"/>
            <a:ext cx="4191000" cy="342900"/>
          </a:xfrm>
          <a:prstGeom prst="rect">
            <a:avLst/>
          </a:prstGeom>
          <a:noFill/>
          <a:ln w="0">
            <a:noFill/>
          </a:ln>
        </p:spPr>
        <p:txBody>
          <a:bodyPr wrap="square" lIns="0" tIns="0" rIns="0" bIns="0" anchor="t">
            <a:noAutofit/>
          </a:bodyPr>
          <a:lstStyle>
            <a:defPPr algn="l">
              <a:defRPr sz="1875" b="1">
                <a:solidFill>
                  <a:srgbClr val="173E67"/>
                </a:solidFill>
                <a:latin typeface="Microsoft YaHei"/>
                <a:ea typeface="Microsoft YaHei"/>
                <a:cs typeface="Microsoft YaHei"/>
              </a:defRPr>
            </a:defPPr>
          </a:lstStyle>
          <a:p>
            <a:pPr algn="l">
              <a:lnSpc>
                <a:spcPct val="118000"/>
              </a:lnSpc>
              <a:buNone/>
              <a:defRPr sz="1875" b="1">
                <a:solidFill>
                  <a:srgbClr val="173E67"/>
                </a:solidFill>
                <a:latin typeface="Microsoft YaHei"/>
                <a:ea typeface="Microsoft YaHei"/>
                <a:cs typeface="Microsoft YaHei"/>
              </a:defRPr>
            </a:pPr>
            <a:r>
              <a:rPr sz="1875" b="1">
                <a:solidFill>
                  <a:srgbClr val="173E67"/>
                </a:solidFill>
                <a:latin typeface="Microsoft YaHei"/>
                <a:ea typeface="Microsoft YaHei"/>
                <a:cs typeface="Microsoft YaHei"/>
              </a:rPr>
              <a:t>结果范围</a:t>
            </a:r>
          </a:p>
        </p:txBody>
      </p:sp>
      <p:sp>
        <p:nvSpPr>
          <p:cNvPr id="10" name="text">
            <a:extLst>
              <a:ext uri="{FF2B5EF4-FFF2-40B4-BE49-F238E27FC236}">
                <a16:creationId xmlns:a16="http://schemas.microsoft.com/office/drawing/2014/main" id="{5A7A2115-1903-448F-A4B3-5A8FD7AA30D3}"/>
              </a:ext>
            </a:extLst>
          </p:cNvPr>
          <p:cNvSpPr>
            <a:spLocks noGrp="1"/>
          </p:cNvSpPr>
          <p:nvPr/>
        </p:nvSpPr>
        <p:spPr>
          <a:xfrm>
            <a:off x="7391400" y="4876800"/>
            <a:ext cx="4191000" cy="819150"/>
          </a:xfrm>
          <a:prstGeom prst="rect">
            <a:avLst/>
          </a:prstGeom>
          <a:noFill/>
          <a:ln w="0">
            <a:noFill/>
          </a:ln>
        </p:spPr>
        <p:txBody>
          <a:bodyPr wrap="square" lIns="0" tIns="0" rIns="0" bIns="0" anchor="t">
            <a:noAutofit/>
          </a:bodyPr>
          <a:lstStyle>
            <a:defPPr algn="l">
              <a:defRPr sz="1875" b="0">
                <a:solidFill>
                  <a:srgbClr val="1B2533"/>
                </a:solidFill>
                <a:latin typeface="Microsoft YaHei"/>
                <a:ea typeface="Microsoft YaHei"/>
                <a:cs typeface="Microsoft YaHei"/>
              </a:defRPr>
            </a:defPPr>
          </a:lstStyle>
          <a:p>
            <a:pPr algn="l">
              <a:lnSpc>
                <a:spcPct val="118000"/>
              </a:lnSpc>
              <a:buNone/>
              <a:defRPr sz="1875" b="0">
                <a:solidFill>
                  <a:srgbClr val="1B2533"/>
                </a:solidFill>
                <a:latin typeface="Microsoft YaHei"/>
                <a:ea typeface="Microsoft YaHei"/>
                <a:cs typeface="Microsoft YaHei"/>
              </a:defRPr>
            </a:pPr>
            <a:r>
              <a:rPr sz="1875" b="0">
                <a:solidFill>
                  <a:srgbClr val="1B2533"/>
                </a:solidFill>
                <a:latin typeface="Microsoft YaHei"/>
                <a:ea typeface="Microsoft YaHei"/>
                <a:cs typeface="Microsoft YaHei"/>
              </a:rPr>
              <a:t>该现象来自坐标表示消融。论文主方法研究表示与偏好学习。</a:t>
            </a:r>
          </a:p>
        </p:txBody>
      </p:sp>
      <p:sp>
        <p:nvSpPr>
          <p:cNvPr id="11" name="separator">
            <a:extLst>
              <a:ext uri="{FF2B5EF4-FFF2-40B4-BE49-F238E27FC236}">
                <a16:creationId xmlns:a16="http://schemas.microsoft.com/office/drawing/2014/main" id="{52324F95-F477-4D1B-B1FC-D6910A0CF04A}"/>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4B2BDBE4-10C5-4A0B-806A-FA2CAC30930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PLaID++, ICML 2026，arXiv v4。每轮10,000个可解析CIF，eSEN评价，Eₕᵤₗₗ ≤ 0。</a:t>
            </a:r>
          </a:p>
        </p:txBody>
      </p:sp>
      <p:sp>
        <p:nvSpPr>
          <p:cNvPr id="13" name="page-number">
            <a:extLst>
              <a:ext uri="{FF2B5EF4-FFF2-40B4-BE49-F238E27FC236}">
                <a16:creationId xmlns:a16="http://schemas.microsoft.com/office/drawing/2014/main" id="{1B2C3475-54F9-4647-92D1-0A260C724A7D}"/>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0728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093D9173-DD96-4E56-ADC1-F5589255D13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稳定发现的评价需要共同口径</a:t>
            </a:r>
          </a:p>
        </p:txBody>
      </p:sp>
      <p:graphicFrame>
        <p:nvGraphicFramePr>
          <p:cNvPr id="2" name="表格 1">
            <a:extLst>
              <a:ext uri="{FF2B5EF4-FFF2-40B4-BE49-F238E27FC236}">
                <a16:creationId xmlns:a16="http://schemas.microsoft.com/office/drawing/2014/main" id="{248107CD-7FD1-4188-BF56-58CF9338521E}"/>
              </a:ext>
            </a:extLst>
          </p:cNvPr>
          <p:cNvGraphicFramePr/>
          <p:nvPr/>
        </p:nvGraphicFramePr>
        <p:xfrm>
          <a:off x="609600" y="1400175"/>
          <a:ext cx="10972800" cy="4010025"/>
        </p:xfrm>
        <a:graphic>
          <a:graphicData uri="http://schemas.openxmlformats.org/drawingml/2006/table">
            <a:tbl>
              <a:tblPr/>
              <a:tblGrid>
                <a:gridCol w="3667125">
                  <a:extLst>
                    <a:ext uri="{9D8B030D-6E8A-4147-A177-3AD203B41FA5}">
                      <a16:colId xmlns:a16="http://schemas.microsoft.com/office/drawing/2014/main" val="20000"/>
                    </a:ext>
                  </a:extLst>
                </a:gridCol>
                <a:gridCol w="7305675">
                  <a:extLst>
                    <a:ext uri="{9D8B030D-6E8A-4147-A177-3AD203B41FA5}">
                      <a16:colId xmlns:a16="http://schemas.microsoft.com/office/drawing/2014/main" val="20001"/>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必须说明的条件</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为什么影响结论</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稳定阈值与参考相集合</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Eₕᵤₗₗ ≤ 0 与 ≤ 0.1 eV/atom对应不同的合格范围</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物理层级与弛豫流程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DFT和MLIP提供不同证据。弛豫可能改变能量和结构身份</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分母与完整费用</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全部请求、可解析结构和完成评价的样本数需要分别保留</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新颖性与独特性</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参照集合和匹配阶段决定N与U，原型新颖性可作为额外分析</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A318FC36-76FA-41F0-B92C-B2512FB0BC01}"/>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本项目主结果采用严格SUN。熟悉原型中的新稳定化学仍属于有效发现。</a:t>
            </a:r>
          </a:p>
        </p:txBody>
      </p:sp>
      <p:sp>
        <p:nvSpPr>
          <p:cNvPr id="4" name="separator">
            <a:extLst>
              <a:ext uri="{FF2B5EF4-FFF2-40B4-BE49-F238E27FC236}">
                <a16:creationId xmlns:a16="http://schemas.microsoft.com/office/drawing/2014/main" id="{DE46D410-05FD-464A-B427-D7F1FEC3F051}"/>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AA143E7C-2409-4250-9148-0C3BCF40C4D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强基线研究 (2025)；Structure Matches (NeurIPS 2025)；LeMat-GenBench v2；替换新颖性分析 (2026)</a:t>
            </a:r>
          </a:p>
        </p:txBody>
      </p:sp>
      <p:sp>
        <p:nvSpPr>
          <p:cNvPr id="6" name="page-number">
            <a:extLst>
              <a:ext uri="{FF2B5EF4-FFF2-40B4-BE49-F238E27FC236}">
                <a16:creationId xmlns:a16="http://schemas.microsoft.com/office/drawing/2014/main" id="{2CDE4833-B11A-4790-B043-894DB869E5E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324180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DBE0E64C-9F52-439B-A5CF-38AF12ECF91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C1：科学条件怎样得到正确结构</a:t>
            </a:r>
          </a:p>
        </p:txBody>
      </p:sp>
      <p:graphicFrame>
        <p:nvGraphicFramePr>
          <p:cNvPr id="2" name="表格 1">
            <a:extLst>
              <a:ext uri="{FF2B5EF4-FFF2-40B4-BE49-F238E27FC236}">
                <a16:creationId xmlns:a16="http://schemas.microsoft.com/office/drawing/2014/main" id="{4131F453-AB71-4613-98ED-0FAAAA2FC84C}"/>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2019–2022</a:t>
                      </a:r>
                    </a:p>
                    <a:p>
                      <a:pPr algn="l">
                        <a:lnSpc>
                          <a:spcPct val="108000"/>
                        </a:lnSpc>
                        <a:buNone/>
                      </a:pPr>
                      <a:r>
                        <a:rPr sz="1725" b="0">
                          <a:solidFill>
                            <a:srgbClr val="1B2533"/>
                          </a:solidFill>
                          <a:latin typeface="Microsoft YaHei"/>
                          <a:ea typeface="Microsoft YaHei"/>
                          <a:cs typeface="Microsoft YaHei"/>
                        </a:rPr>
                        <a:t>iMatGen、FTCP、CDVAE</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性质逆设计、结构重构</a:t>
                      </a:r>
                    </a:p>
                    <a:p>
                      <a:pPr algn="l">
                        <a:lnSpc>
                          <a:spcPct val="108000"/>
                        </a:lnSpc>
                        <a:buNone/>
                      </a:pPr>
                      <a:r>
                        <a:rPr sz="1725" b="0">
                          <a:solidFill>
                            <a:srgbClr val="1B2533"/>
                          </a:solidFill>
                          <a:latin typeface="Microsoft YaHei"/>
                          <a:ea typeface="Microsoft YaHei"/>
                          <a:cs typeface="Microsoft YaHei"/>
                        </a:rPr>
                        <a:t>目标性质或潜变量输入</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建立可解码的周期表示。问题转向目标条件能否在完整结构中实现</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Crystal-LLM、TGDMat</a:t>
                      </a:r>
                    </a:p>
                    <a:p>
                      <a:pPr algn="l">
                        <a:lnSpc>
                          <a:spcPct val="108000"/>
                        </a:lnSpc>
                        <a:buNone/>
                      </a:pPr>
                      <a:r>
                        <a:rPr sz="1725" b="0">
                          <a:solidFill>
                            <a:srgbClr val="1B2533"/>
                          </a:solidFill>
                          <a:latin typeface="Microsoft YaHei"/>
                          <a:ea typeface="Microsoft YaHei"/>
                          <a:cs typeface="Microsoft YaHei"/>
                        </a:rPr>
                        <a:t>Chemeleon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文本 / 描述条件生成</a:t>
                      </a:r>
                    </a:p>
                    <a:p>
                      <a:pPr algn="l">
                        <a:lnSpc>
                          <a:spcPct val="108000"/>
                        </a:lnSpc>
                        <a:buNone/>
                      </a:pPr>
                      <a:r>
                        <a:rPr sz="1725" b="0">
                          <a:solidFill>
                            <a:srgbClr val="1B2533"/>
                          </a:solidFill>
                          <a:latin typeface="Microsoft YaHei"/>
                          <a:ea typeface="Microsoft YaHei"/>
                          <a:cs typeface="Microsoft YaHei"/>
                        </a:rPr>
                        <a:t>描述输入，晶体输出</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把化学及结构描述接入生成。条件中哪些关系得到落实成为新问题</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MatterGen、SCIGEN</a:t>
                      </a:r>
                    </a:p>
                    <a:p>
                      <a:pPr algn="l">
                        <a:lnSpc>
                          <a:spcPct val="108000"/>
                        </a:lnSpc>
                        <a:buNone/>
                      </a:pPr>
                      <a:r>
                        <a:rPr sz="1725" b="0">
                          <a:solidFill>
                            <a:srgbClr val="1B2533"/>
                          </a:solidFill>
                          <a:latin typeface="Microsoft YaHei"/>
                          <a:ea typeface="Microsoft YaHei"/>
                          <a:cs typeface="Microsoft YaHei"/>
                        </a:rPr>
                        <a:t>PLaID++</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性质或结构图案约束</a:t>
                      </a:r>
                    </a:p>
                    <a:p>
                      <a:pPr algn="l">
                        <a:lnSpc>
                          <a:spcPct val="108000"/>
                        </a:lnSpc>
                        <a:buNone/>
                      </a:pPr>
                      <a:r>
                        <a:rPr sz="1725" b="0">
                          <a:solidFill>
                            <a:srgbClr val="1B2533"/>
                          </a:solidFill>
                          <a:latin typeface="Microsoft YaHei"/>
                          <a:ea typeface="Microsoft YaHei"/>
                          <a:cs typeface="Microsoft YaHei"/>
                        </a:rPr>
                        <a:t>生成并进行物理评价</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获得条件候选及物理验证。多种要求的兼容与未见组合继续限制发现</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F928AE08-25D1-4850-8478-DDF5A1DEECB5}"/>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当前任务：同时检验条件命中与稳定新结构数量。主要导向A，并支持B。</a:t>
            </a:r>
          </a:p>
        </p:txBody>
      </p:sp>
      <p:sp>
        <p:nvSpPr>
          <p:cNvPr id="4" name="separator">
            <a:extLst>
              <a:ext uri="{FF2B5EF4-FFF2-40B4-BE49-F238E27FC236}">
                <a16:creationId xmlns:a16="http://schemas.microsoft.com/office/drawing/2014/main" id="{29FFECAD-8CFB-4E6F-8918-841B35781D0E}"/>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42AFE48-133F-4906-8FAB-3123BF8B7E3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FTCP / CDVAE；Crystal-LLM / TGDMat / Chemeleon；MatterGen / SCIGEN / PLaID++。</a:t>
            </a:r>
          </a:p>
        </p:txBody>
      </p:sp>
      <p:sp>
        <p:nvSpPr>
          <p:cNvPr id="6" name="page-number">
            <a:extLst>
              <a:ext uri="{FF2B5EF4-FFF2-40B4-BE49-F238E27FC236}">
                <a16:creationId xmlns:a16="http://schemas.microsoft.com/office/drawing/2014/main" id="{F425F78F-5379-418E-8CB9-68BA95E6844E}"/>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58919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50ACC36C-D337-4FDD-A55B-179964DAC7AA}"/>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C2：耦合选择怎样形成和修订</a:t>
            </a:r>
          </a:p>
        </p:txBody>
      </p:sp>
      <p:graphicFrame>
        <p:nvGraphicFramePr>
          <p:cNvPr id="2" name="表格 1">
            <a:extLst>
              <a:ext uri="{FF2B5EF4-FFF2-40B4-BE49-F238E27FC236}">
                <a16:creationId xmlns:a16="http://schemas.microsoft.com/office/drawing/2014/main" id="{038611DC-B714-4424-91AF-99363E23CC92}"/>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2022–2024</a:t>
                      </a:r>
                    </a:p>
                    <a:p>
                      <a:pPr algn="l">
                        <a:lnSpc>
                          <a:spcPct val="108000"/>
                        </a:lnSpc>
                        <a:buNone/>
                      </a:pPr>
                      <a:r>
                        <a:rPr sz="1725" b="0">
                          <a:solidFill>
                            <a:srgbClr val="1B2533"/>
                          </a:solidFill>
                          <a:latin typeface="Microsoft YaHei"/>
                          <a:ea typeface="Microsoft YaHei"/>
                          <a:cs typeface="Microsoft YaHei"/>
                        </a:rPr>
                        <a:t>CDVAE、DiffCSP、FlowMM</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周期生成与组成CSP</a:t>
                      </a:r>
                    </a:p>
                    <a:p>
                      <a:pPr algn="l">
                        <a:lnSpc>
                          <a:spcPct val="108000"/>
                        </a:lnSpc>
                        <a:buNone/>
                      </a:pPr>
                      <a:r>
                        <a:rPr sz="1725" b="0">
                          <a:solidFill>
                            <a:srgbClr val="1B2533"/>
                          </a:solidFill>
                          <a:latin typeface="Microsoft YaHei"/>
                          <a:ea typeface="Microsoft YaHei"/>
                          <a:cs typeface="Microsoft YaHei"/>
                        </a:rPr>
                        <a:t>联合生成晶胞和坐标</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学习几何变量之间的依赖。进一步需要处理元素与几何的相互依赖</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FlowLLM、MatterGen</a:t>
                      </a:r>
                    </a:p>
                    <a:p>
                      <a:pPr algn="l">
                        <a:lnSpc>
                          <a:spcPct val="108000"/>
                        </a:lnSpc>
                        <a:buNone/>
                      </a:pPr>
                      <a:r>
                        <a:rPr sz="1725" b="0">
                          <a:solidFill>
                            <a:srgbClr val="1B2533"/>
                          </a:solidFill>
                          <a:latin typeface="Microsoft YaHei"/>
                          <a:ea typeface="Microsoft YaHei"/>
                          <a:cs typeface="Microsoft YaHei"/>
                        </a:rPr>
                        <a:t>OMatG</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DNG及分阶段生成</a:t>
                      </a:r>
                    </a:p>
                    <a:p>
                      <a:pPr algn="l">
                        <a:lnSpc>
                          <a:spcPct val="108000"/>
                        </a:lnSpc>
                        <a:buNone/>
                      </a:pPr>
                      <a:r>
                        <a:rPr sz="1725" b="0">
                          <a:solidFill>
                            <a:srgbClr val="1B2533"/>
                          </a:solidFill>
                          <a:latin typeface="Microsoft YaHei"/>
                          <a:ea typeface="Microsoft YaHei"/>
                          <a:cs typeface="Microsoft YaHei"/>
                        </a:rPr>
                        <a:t>同时提出化学和结构</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联合生成与组成先行都有效。问题转为两种组织何时各有优势</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CrysBFN、MCFlow</a:t>
                      </a:r>
                    </a:p>
                    <a:p>
                      <a:pPr algn="l">
                        <a:lnSpc>
                          <a:spcPct val="108000"/>
                        </a:lnSpc>
                        <a:buNone/>
                      </a:pPr>
                      <a:r>
                        <a:rPr sz="1725" b="0">
                          <a:solidFill>
                            <a:srgbClr val="1B2533"/>
                          </a:solidFill>
                          <a:latin typeface="Microsoft YaHei"/>
                          <a:ea typeface="Microsoft YaHei"/>
                          <a:cs typeface="Microsoft YaHei"/>
                        </a:rPr>
                        <a:t>ANCHOR</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组成CSP、互条件完成</a:t>
                      </a:r>
                    </a:p>
                    <a:p>
                      <a:pPr algn="l">
                        <a:lnSpc>
                          <a:spcPct val="108000"/>
                        </a:lnSpc>
                        <a:buNone/>
                      </a:pPr>
                      <a:r>
                        <a:rPr sz="1725" b="0">
                          <a:solidFill>
                            <a:srgbClr val="1B2533"/>
                          </a:solidFill>
                          <a:latin typeface="Microsoft YaHei"/>
                          <a:ea typeface="Microsoft YaHei"/>
                          <a:cs typeface="Microsoft YaHei"/>
                        </a:rPr>
                        <a:t>冻结CSP的组成探索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独立信息进度与组成策略均能改善任务。需要辨认哪类决定值得回改</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9B1505C4-68E8-4D28-B89F-7D8CBAFBBFBE}"/>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当前任务：在相同组成和数据条件下，判断几何信息是否改善化学选择。导向A。</a:t>
            </a:r>
          </a:p>
        </p:txBody>
      </p:sp>
      <p:sp>
        <p:nvSpPr>
          <p:cNvPr id="4" name="separator">
            <a:extLst>
              <a:ext uri="{FF2B5EF4-FFF2-40B4-BE49-F238E27FC236}">
                <a16:creationId xmlns:a16="http://schemas.microsoft.com/office/drawing/2014/main" id="{C520A9EB-0E1A-497B-B872-A88E17F31443}"/>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B6650C67-8EC1-4080-9E07-9E2010988339}"/>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DiffCSP / FlowMM；FlowLLM / MatterGen / OMatG；CrysBFN / MCFlow；ANCHOR（2026预印本）。</a:t>
            </a:r>
          </a:p>
        </p:txBody>
      </p:sp>
      <p:sp>
        <p:nvSpPr>
          <p:cNvPr id="6" name="page-number">
            <a:extLst>
              <a:ext uri="{FF2B5EF4-FFF2-40B4-BE49-F238E27FC236}">
                <a16:creationId xmlns:a16="http://schemas.microsoft.com/office/drawing/2014/main" id="{1194F05E-075C-4A1C-B17B-12578925720C}"/>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389544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A6BA8928-2C05-4D0C-BFF6-E0DF668CB357}"/>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C3：局部化学怎样组成周期整体</a:t>
            </a:r>
          </a:p>
        </p:txBody>
      </p:sp>
      <p:graphicFrame>
        <p:nvGraphicFramePr>
          <p:cNvPr id="2" name="表格 1">
            <a:extLst>
              <a:ext uri="{FF2B5EF4-FFF2-40B4-BE49-F238E27FC236}">
                <a16:creationId xmlns:a16="http://schemas.microsoft.com/office/drawing/2014/main" id="{5816315D-7FF6-4FC1-B8F4-DF8F25F207C6}"/>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2018–2023</a:t>
                      </a:r>
                    </a:p>
                    <a:p>
                      <a:pPr algn="l">
                        <a:lnSpc>
                          <a:spcPct val="108000"/>
                        </a:lnSpc>
                        <a:buNone/>
                      </a:pPr>
                      <a:r>
                        <a:rPr sz="1725" b="0">
                          <a:solidFill>
                            <a:srgbClr val="1B2533"/>
                          </a:solidFill>
                          <a:latin typeface="Microsoft YaHei"/>
                          <a:ea typeface="Microsoft YaHei"/>
                          <a:cs typeface="Microsoft YaHei"/>
                        </a:rPr>
                        <a:t>CGCNN、M3GNet、CHGNet</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性质、能量、力的预测</a:t>
                      </a:r>
                    </a:p>
                    <a:p>
                      <a:pPr algn="l">
                        <a:lnSpc>
                          <a:spcPct val="108000"/>
                        </a:lnSpc>
                        <a:buNone/>
                      </a:pPr>
                      <a:r>
                        <a:rPr sz="1725" b="0">
                          <a:solidFill>
                            <a:srgbClr val="1B2533"/>
                          </a:solidFill>
                          <a:latin typeface="Microsoft YaHei"/>
                          <a:ea typeface="Microsoft YaHei"/>
                          <a:cs typeface="Microsoft YaHei"/>
                        </a:rPr>
                        <a:t>完整结构输入</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局部环境能支持物理预测。需要进一步研究如何用这些知识构造结构</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2023–2025</a:t>
                      </a:r>
                    </a:p>
                    <a:p>
                      <a:pPr algn="l">
                        <a:lnSpc>
                          <a:spcPct val="108000"/>
                        </a:lnSpc>
                        <a:buNone/>
                      </a:pPr>
                      <a:r>
                        <a:rPr sz="1725" b="0">
                          <a:solidFill>
                            <a:srgbClr val="1B2533"/>
                          </a:solidFill>
                          <a:latin typeface="Microsoft YaHei"/>
                          <a:ea typeface="Microsoft YaHei"/>
                          <a:cs typeface="Microsoft YaHei"/>
                        </a:rPr>
                        <a:t>SLICES、SymmCD</a:t>
                      </a:r>
                    </a:p>
                    <a:p>
                      <a:pPr algn="l">
                        <a:lnSpc>
                          <a:spcPct val="108000"/>
                        </a:lnSpc>
                        <a:buNone/>
                      </a:pPr>
                      <a:r>
                        <a:rPr sz="1725" b="0">
                          <a:solidFill>
                            <a:srgbClr val="1B2533"/>
                          </a:solidFill>
                          <a:latin typeface="Microsoft YaHei"/>
                          <a:ea typeface="Microsoft YaHei"/>
                          <a:cs typeface="Microsoft YaHei"/>
                        </a:rPr>
                        <a:t>Wyckoff</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周期图解码、对称DNG</a:t>
                      </a:r>
                    </a:p>
                    <a:p>
                      <a:pPr algn="l">
                        <a:lnSpc>
                          <a:spcPct val="108000"/>
                        </a:lnSpc>
                        <a:buNone/>
                      </a:pPr>
                      <a:r>
                        <a:rPr sz="1725" b="0">
                          <a:solidFill>
                            <a:srgbClr val="1B2533"/>
                          </a:solidFill>
                          <a:latin typeface="Microsoft YaHei"/>
                          <a:ea typeface="Microsoft YaHei"/>
                          <a:cs typeface="Microsoft YaHei"/>
                        </a:rPr>
                        <a:t>关系或非等价位点输入</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把周期连接和对称关系纳入生成。多个局部要求仍共享原子与晶胞</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SCIGEN、Composable</a:t>
                      </a:r>
                    </a:p>
                    <a:p>
                      <a:pPr algn="l">
                        <a:lnSpc>
                          <a:spcPct val="108000"/>
                        </a:lnSpc>
                        <a:buNone/>
                      </a:pPr>
                      <a:r>
                        <a:rPr sz="1725" b="0">
                          <a:solidFill>
                            <a:srgbClr val="1B2533"/>
                          </a:solidFill>
                          <a:latin typeface="Microsoft YaHei"/>
                          <a:ea typeface="Microsoft YaHei"/>
                          <a:cs typeface="Microsoft YaHei"/>
                        </a:rPr>
                        <a:t>UFO-MGen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图案约束、概念组合</a:t>
                      </a:r>
                    </a:p>
                    <a:p>
                      <a:pPr algn="l">
                        <a:lnSpc>
                          <a:spcPct val="108000"/>
                        </a:lnSpc>
                        <a:buNone/>
                      </a:pPr>
                      <a:r>
                        <a:rPr sz="1725" b="0">
                          <a:solidFill>
                            <a:srgbClr val="1B2533"/>
                          </a:solidFill>
                          <a:latin typeface="Microsoft YaHei"/>
                          <a:ea typeface="Microsoft YaHei"/>
                          <a:cs typeface="Microsoft YaHei"/>
                        </a:rPr>
                        <a:t>给定配置的结构完成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已能组合概念并完成条件结构。下一步区分局部知识与模板信息，识别必要的全局条件</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52ED3881-1E08-45A8-9F6E-268F6FFA773D}"/>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当前任务：固定已学局部环境，改变化学或连接组合，检验整体稳定性。导向B。</a:t>
            </a:r>
          </a:p>
        </p:txBody>
      </p:sp>
      <p:sp>
        <p:nvSpPr>
          <p:cNvPr id="4" name="separator">
            <a:extLst>
              <a:ext uri="{FF2B5EF4-FFF2-40B4-BE49-F238E27FC236}">
                <a16:creationId xmlns:a16="http://schemas.microsoft.com/office/drawing/2014/main" id="{002D8467-BBDD-419E-98B5-5289A854285B}"/>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C7EC437-4E78-4A11-B330-6E07F653BC2E}"/>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预测背景、生成能力和组合条件任务分列。Composable Crystals / UFO-MGen为2026预印本。</a:t>
            </a:r>
          </a:p>
        </p:txBody>
      </p:sp>
      <p:sp>
        <p:nvSpPr>
          <p:cNvPr id="6" name="page-number">
            <a:extLst>
              <a:ext uri="{FF2B5EF4-FFF2-40B4-BE49-F238E27FC236}">
                <a16:creationId xmlns:a16="http://schemas.microsoft.com/office/drawing/2014/main" id="{64DB7A61-6B6B-48B7-9B0E-A75C2054D605}"/>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39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181173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ACAFC5C8-16C4-4E3F-A5B3-3FD14F3A503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C4：物理反馈怎样改变有效的决定</a:t>
            </a:r>
          </a:p>
        </p:txBody>
      </p:sp>
      <p:graphicFrame>
        <p:nvGraphicFramePr>
          <p:cNvPr id="2" name="表格 1">
            <a:extLst>
              <a:ext uri="{FF2B5EF4-FFF2-40B4-BE49-F238E27FC236}">
                <a16:creationId xmlns:a16="http://schemas.microsoft.com/office/drawing/2014/main" id="{A7505A99-A8BC-4368-A86A-3DCA1A6D9BFC}"/>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2006起</a:t>
                      </a:r>
                    </a:p>
                    <a:p>
                      <a:pPr algn="l">
                        <a:lnSpc>
                          <a:spcPct val="108000"/>
                        </a:lnSpc>
                        <a:buNone/>
                      </a:pPr>
                      <a:r>
                        <a:rPr sz="1725" b="0">
                          <a:solidFill>
                            <a:srgbClr val="1B2533"/>
                          </a:solidFill>
                          <a:latin typeface="Microsoft YaHei"/>
                          <a:ea typeface="Microsoft YaHei"/>
                          <a:cs typeface="Microsoft YaHei"/>
                        </a:rPr>
                        <a:t>USPEX、AIRSS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指定体系的结构搜索</a:t>
                      </a:r>
                    </a:p>
                    <a:p>
                      <a:pPr algn="l">
                        <a:lnSpc>
                          <a:spcPct val="108000"/>
                        </a:lnSpc>
                        <a:buNone/>
                      </a:pPr>
                      <a:r>
                        <a:rPr sz="1725" b="0">
                          <a:solidFill>
                            <a:srgbClr val="1B2533"/>
                          </a:solidFill>
                          <a:latin typeface="Microsoft YaHei"/>
                          <a:ea typeface="Microsoft YaHei"/>
                          <a:cs typeface="Microsoft YaHei"/>
                        </a:rPr>
                        <a:t>提案后进行物理弛豫</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能量评价帮助寻找低能结构。每个新体系仍需搜索，经验复用有限</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2023</a:t>
                      </a:r>
                    </a:p>
                    <a:p>
                      <a:pPr algn="l">
                        <a:lnSpc>
                          <a:spcPct val="108000"/>
                        </a:lnSpc>
                        <a:buNone/>
                      </a:pPr>
                      <a:r>
                        <a:rPr sz="1725" b="0">
                          <a:solidFill>
                            <a:srgbClr val="1B2533"/>
                          </a:solidFill>
                          <a:latin typeface="Microsoft YaHei"/>
                          <a:ea typeface="Microsoft YaHei"/>
                          <a:cs typeface="Microsoft YaHei"/>
                        </a:rPr>
                        <a:t>RL-CSP</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组成条件的搜索决策</a:t>
                      </a:r>
                    </a:p>
                    <a:p>
                      <a:pPr algn="l">
                        <a:lnSpc>
                          <a:spcPct val="108000"/>
                        </a:lnSpc>
                        <a:buNone/>
                      </a:pPr>
                      <a:r>
                        <a:rPr sz="1725" b="0">
                          <a:solidFill>
                            <a:srgbClr val="1B2533"/>
                          </a:solidFill>
                          <a:latin typeface="Microsoft YaHei"/>
                          <a:ea typeface="Microsoft YaHei"/>
                          <a:cs typeface="Microsoft YaHei"/>
                        </a:rPr>
                        <a:t>学习basin-hopping动作</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根据结果改进动作分布。问题扩展到预训练生成器中的有效选择</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MatInvent、OMatG-IRL</a:t>
                      </a:r>
                    </a:p>
                    <a:p>
                      <a:pPr algn="l">
                        <a:lnSpc>
                          <a:spcPct val="108000"/>
                        </a:lnSpc>
                        <a:buNone/>
                      </a:pPr>
                      <a:r>
                        <a:rPr sz="1725" b="0">
                          <a:solidFill>
                            <a:srgbClr val="1B2533"/>
                          </a:solidFill>
                          <a:latin typeface="Microsoft YaHei"/>
                          <a:ea typeface="Microsoft YaHei"/>
                          <a:cs typeface="Microsoft YaHei"/>
                        </a:rPr>
                        <a:t>GSS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性质DNG、CSP后训练</a:t>
                      </a:r>
                    </a:p>
                    <a:p>
                      <a:pPr algn="l">
                        <a:lnSpc>
                          <a:spcPct val="108000"/>
                        </a:lnSpc>
                        <a:buNone/>
                      </a:pPr>
                      <a:r>
                        <a:rPr sz="1725" b="0">
                          <a:solidFill>
                            <a:srgbClr val="1B2533"/>
                          </a:solidFill>
                          <a:latin typeface="Microsoft YaHei"/>
                          <a:ea typeface="Microsoft YaHei"/>
                          <a:cs typeface="Microsoft YaHei"/>
                        </a:rPr>
                        <a:t>生成先验结合物理力</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奖励或力能改变生成过程。还需理解什么反馈在何种状态下改变终点</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0CEFFBD8-9DE9-4E86-86F7-5F70C1705CED}"/>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当前任务：比较具体结构变化及其完整后果，建立反馈与终点增益的联系。导向C。</a:t>
            </a:r>
          </a:p>
        </p:txBody>
      </p:sp>
      <p:sp>
        <p:nvSpPr>
          <p:cNvPr id="4" name="separator">
            <a:extLst>
              <a:ext uri="{FF2B5EF4-FFF2-40B4-BE49-F238E27FC236}">
                <a16:creationId xmlns:a16="http://schemas.microsoft.com/office/drawing/2014/main" id="{30946D52-FF0A-48EF-83F0-9667D717F60F}"/>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879BA4DE-868B-4AF3-99C6-D85B08159503}"/>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USPEX / AIRSS；RL-CSP (2023)；OMatG-IRL (ICML 2026)；MatInvent / GSS为预印本。</a:t>
            </a:r>
          </a:p>
        </p:txBody>
      </p:sp>
      <p:sp>
        <p:nvSpPr>
          <p:cNvPr id="6" name="page-number">
            <a:extLst>
              <a:ext uri="{FF2B5EF4-FFF2-40B4-BE49-F238E27FC236}">
                <a16:creationId xmlns:a16="http://schemas.microsoft.com/office/drawing/2014/main" id="{BCC621DC-6961-4189-8977-351AEE144F9F}"/>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548729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841A7F6-8F69-4C31-B022-27F901C3343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C5：怎样发现并保留不同的合格结果</a:t>
            </a:r>
          </a:p>
        </p:txBody>
      </p:sp>
      <p:graphicFrame>
        <p:nvGraphicFramePr>
          <p:cNvPr id="2" name="表格 1">
            <a:extLst>
              <a:ext uri="{FF2B5EF4-FFF2-40B4-BE49-F238E27FC236}">
                <a16:creationId xmlns:a16="http://schemas.microsoft.com/office/drawing/2014/main" id="{3038D176-AEC6-4FE0-AA6B-10949089B318}"/>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2021–2023</a:t>
                      </a:r>
                    </a:p>
                    <a:p>
                      <a:pPr algn="l">
                        <a:lnSpc>
                          <a:spcPct val="108000"/>
                        </a:lnSpc>
                        <a:buNone/>
                      </a:pPr>
                      <a:r>
                        <a:rPr sz="1725" b="0">
                          <a:solidFill>
                            <a:srgbClr val="1B2533"/>
                          </a:solidFill>
                          <a:latin typeface="Microsoft YaHei"/>
                          <a:ea typeface="Microsoft YaHei"/>
                          <a:cs typeface="Microsoft YaHei"/>
                        </a:rPr>
                        <a:t>GFlowNet Foundations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通用多模态奖励采样</a:t>
                      </a:r>
                    </a:p>
                    <a:p>
                      <a:pPr algn="l">
                        <a:lnSpc>
                          <a:spcPct val="108000"/>
                        </a:lnSpc>
                        <a:buNone/>
                      </a:pPr>
                      <a:r>
                        <a:rPr sz="1725" b="0">
                          <a:solidFill>
                            <a:srgbClr val="1B2533"/>
                          </a:solidFill>
                          <a:latin typeface="Microsoft YaHei"/>
                          <a:ea typeface="Microsoft YaHei"/>
                          <a:cs typeface="Microsoft YaHei"/>
                        </a:rPr>
                        <a:t>奖励定义的终态空间</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学习按奖励比例采样多个结果。晶体中还需要定义物理资格和身份</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2024–2026</a:t>
                      </a:r>
                    </a:p>
                    <a:p>
                      <a:pPr algn="l">
                        <a:lnSpc>
                          <a:spcPct val="108000"/>
                        </a:lnSpc>
                        <a:buNone/>
                      </a:pPr>
                      <a:r>
                        <a:rPr sz="1725" b="0">
                          <a:solidFill>
                            <a:srgbClr val="1B2533"/>
                          </a:solidFill>
                          <a:latin typeface="Microsoft YaHei"/>
                          <a:ea typeface="Microsoft YaHei"/>
                          <a:cs typeface="Microsoft YaHei"/>
                        </a:rPr>
                        <a:t>晶体QD、SHAFT</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固定组成的性质覆盖</a:t>
                      </a:r>
                    </a:p>
                    <a:p>
                      <a:pPr algn="l">
                        <a:lnSpc>
                          <a:spcPct val="108000"/>
                        </a:lnSpc>
                        <a:buNone/>
                      </a:pPr>
                      <a:r>
                        <a:rPr sz="1725" b="0">
                          <a:solidFill>
                            <a:srgbClr val="1B2533"/>
                          </a:solidFill>
                          <a:latin typeface="Microsoft YaHei"/>
                          <a:ea typeface="Microsoft YaHei"/>
                          <a:cs typeface="Microsoft YaHei"/>
                        </a:rPr>
                        <a:t>层级对称材料生成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用档案或层级策略保留多解。开放化学空间的成功类别继续增加</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PLaID++、Chemeleon2</a:t>
                      </a:r>
                    </a:p>
                    <a:p>
                      <a:pPr algn="l">
                        <a:lnSpc>
                          <a:spcPct val="108000"/>
                        </a:lnSpc>
                        <a:buNone/>
                      </a:pPr>
                      <a:r>
                        <a:rPr sz="1725" b="0">
                          <a:solidFill>
                            <a:srgbClr val="1B2533"/>
                          </a:solidFill>
                          <a:latin typeface="Microsoft YaHei"/>
                          <a:ea typeface="Microsoft YaHei"/>
                          <a:cs typeface="Microsoft YaHei"/>
                        </a:rPr>
                        <a:t>ANCHOR</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稳定 / 新颖后训练</a:t>
                      </a:r>
                    </a:p>
                    <a:p>
                      <a:pPr algn="l">
                        <a:lnSpc>
                          <a:spcPct val="108000"/>
                        </a:lnSpc>
                        <a:buNone/>
                      </a:pPr>
                      <a:r>
                        <a:rPr sz="1725" b="0">
                          <a:solidFill>
                            <a:srgbClr val="1B2533"/>
                          </a:solidFill>
                          <a:latin typeface="Microsoft YaHei"/>
                          <a:ea typeface="Microsoft YaHei"/>
                          <a:cs typeface="Microsoft YaHei"/>
                        </a:rPr>
                        <a:t>依发现历史探索组成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开始联合改变资格与搜索分布。新增成功、重复及遗忘需要分别解释</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C57F8CE2-E709-4C88-BFD4-34ED6D3E5309}"/>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当前任务：按弛豫后的结构身份，统计首次发现、学会再生成和后续新发现。导向D。</a:t>
            </a:r>
          </a:p>
        </p:txBody>
      </p:sp>
      <p:sp>
        <p:nvSpPr>
          <p:cNvPr id="4" name="separator">
            <a:extLst>
              <a:ext uri="{FF2B5EF4-FFF2-40B4-BE49-F238E27FC236}">
                <a16:creationId xmlns:a16="http://schemas.microsoft.com/office/drawing/2014/main" id="{4412E309-9149-4AF6-9E99-A188196A1023}"/>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AF494C33-2CD2-4715-A14B-2B02D23E6A0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GFlowNet为通用基础；QD / SHAFT为晶体多解先行；PLaID++ / Chemeleon2 / ANCHOR为近期进展。</a:t>
            </a:r>
          </a:p>
        </p:txBody>
      </p:sp>
      <p:sp>
        <p:nvSpPr>
          <p:cNvPr id="6" name="page-number">
            <a:extLst>
              <a:ext uri="{FF2B5EF4-FFF2-40B4-BE49-F238E27FC236}">
                <a16:creationId xmlns:a16="http://schemas.microsoft.com/office/drawing/2014/main" id="{C0CEB612-828E-479E-8DE5-75A5C681DFE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41</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07522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B15E4362-D563-4669-B05C-E4B2493A43A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C6：物理计算怎样积累成生成能力</a:t>
            </a:r>
          </a:p>
        </p:txBody>
      </p:sp>
      <p:graphicFrame>
        <p:nvGraphicFramePr>
          <p:cNvPr id="2" name="表格 1">
            <a:extLst>
              <a:ext uri="{FF2B5EF4-FFF2-40B4-BE49-F238E27FC236}">
                <a16:creationId xmlns:a16="http://schemas.microsoft.com/office/drawing/2014/main" id="{3113270B-B1B9-4EFD-AA22-7CBABA52BCBE}"/>
              </a:ext>
            </a:extLst>
          </p:cNvPr>
          <p:cNvGraphicFramePr/>
          <p:nvPr/>
        </p:nvGraphicFramePr>
        <p:xfrm>
          <a:off x="609600" y="1400175"/>
          <a:ext cx="10972800" cy="4010025"/>
        </p:xfrm>
        <a:graphic>
          <a:graphicData uri="http://schemas.openxmlformats.org/drawingml/2006/table">
            <a:tbl>
              <a:tblPr/>
              <a:tblGrid>
                <a:gridCol w="33528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演化阶段与论文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已有进展及推进的问题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2013–2023</a:t>
                      </a:r>
                    </a:p>
                    <a:p>
                      <a:pPr algn="l">
                        <a:lnSpc>
                          <a:spcPct val="108000"/>
                        </a:lnSpc>
                        <a:buNone/>
                      </a:pPr>
                      <a:r>
                        <a:rPr sz="1725" b="0">
                          <a:solidFill>
                            <a:srgbClr val="1B2533"/>
                          </a:solidFill>
                          <a:latin typeface="Microsoft YaHei"/>
                          <a:ea typeface="Microsoft YaHei"/>
                          <a:cs typeface="Microsoft YaHei"/>
                        </a:rPr>
                        <a:t>Materials Project</a:t>
                      </a:r>
                    </a:p>
                    <a:p>
                      <a:pPr algn="l">
                        <a:lnSpc>
                          <a:spcPct val="108000"/>
                        </a:lnSpc>
                        <a:buNone/>
                      </a:pPr>
                      <a:r>
                        <a:rPr sz="1725" b="0">
                          <a:solidFill>
                            <a:srgbClr val="1B2533"/>
                          </a:solidFill>
                          <a:latin typeface="Microsoft YaHei"/>
                          <a:ea typeface="Microsoft YaHei"/>
                          <a:cs typeface="Microsoft YaHei"/>
                        </a:rPr>
                        <a:t>GNoME</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数据库积累、主动学习</a:t>
                      </a:r>
                    </a:p>
                    <a:p>
                      <a:pPr algn="l">
                        <a:lnSpc>
                          <a:spcPct val="108000"/>
                        </a:lnSpc>
                        <a:buNone/>
                      </a:pPr>
                      <a:r>
                        <a:rPr sz="1725" b="0">
                          <a:solidFill>
                            <a:srgbClr val="1B2533"/>
                          </a:solidFill>
                          <a:latin typeface="Microsoft YaHei"/>
                          <a:ea typeface="Microsoft YaHei"/>
                          <a:cs typeface="Microsoft YaHei"/>
                        </a:rPr>
                        <a:t>新计算更新预测模型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计算结果跨材料复用。下一步是让信息直接帮助生成选择</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MatInvent、PLaID++</a:t>
                      </a:r>
                    </a:p>
                    <a:p>
                      <a:pPr algn="l">
                        <a:lnSpc>
                          <a:spcPct val="108000"/>
                        </a:lnSpc>
                        <a:buNone/>
                      </a:pPr>
                      <a:r>
                        <a:rPr sz="1725" b="0">
                          <a:solidFill>
                            <a:srgbClr val="1B2533"/>
                          </a:solidFill>
                          <a:latin typeface="Microsoft YaHei"/>
                          <a:ea typeface="Microsoft YaHei"/>
                          <a:cs typeface="Microsoft YaHei"/>
                        </a:rPr>
                        <a:t>Chemeleon2</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性质或物理资格后训练</a:t>
                      </a:r>
                    </a:p>
                    <a:p>
                      <a:pPr algn="l">
                        <a:lnSpc>
                          <a:spcPct val="108000"/>
                        </a:lnSpc>
                        <a:buNone/>
                      </a:pPr>
                      <a:r>
                        <a:rPr sz="1725" b="0">
                          <a:solidFill>
                            <a:srgbClr val="1B2533"/>
                          </a:solidFill>
                          <a:latin typeface="Microsoft YaHei"/>
                          <a:ea typeface="Microsoft YaHei"/>
                          <a:cs typeface="Microsoft YaHei"/>
                        </a:rPr>
                        <a:t>终点评价更新生成器</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计算开始进入模型权重。需要分辨端点记忆与可迁移的结构知识</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2026</a:t>
                      </a:r>
                    </a:p>
                    <a:p>
                      <a:pPr algn="l">
                        <a:lnSpc>
                          <a:spcPct val="108000"/>
                        </a:lnSpc>
                        <a:buNone/>
                      </a:pPr>
                      <a:r>
                        <a:rPr sz="1725" b="0">
                          <a:solidFill>
                            <a:srgbClr val="1B2533"/>
                          </a:solidFill>
                          <a:latin typeface="Microsoft YaHei"/>
                          <a:ea typeface="Microsoft YaHei"/>
                          <a:cs typeface="Microsoft YaHei"/>
                        </a:rPr>
                        <a:t>OMatG-IRL、flash</a:t>
                      </a:r>
                    </a:p>
                    <a:p>
                      <a:pPr algn="l">
                        <a:lnSpc>
                          <a:spcPct val="108000"/>
                        </a:lnSpc>
                        <a:buNone/>
                      </a:pPr>
                      <a:r>
                        <a:rPr sz="1725" b="0">
                          <a:solidFill>
                            <a:srgbClr val="1B2533"/>
                          </a:solidFill>
                          <a:latin typeface="Microsoft YaHei"/>
                          <a:ea typeface="Microsoft YaHei"/>
                          <a:cs typeface="Microsoft YaHei"/>
                        </a:rPr>
                        <a:t>ANCHOR</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条件训练后的DNG</a:t>
                      </a:r>
                    </a:p>
                    <a:p>
                      <a:pPr algn="l">
                        <a:lnSpc>
                          <a:spcPct val="108000"/>
                        </a:lnSpc>
                        <a:buNone/>
                      </a:pPr>
                      <a:r>
                        <a:rPr sz="1725" b="0">
                          <a:solidFill>
                            <a:srgbClr val="1B2533"/>
                          </a:solidFill>
                          <a:latin typeface="Microsoft YaHei"/>
                          <a:ea typeface="Microsoft YaHei"/>
                          <a:cs typeface="Microsoft YaHei"/>
                        </a:rPr>
                        <a:t>少步生成、结构语料学习</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能力可跨任务或采样阶段使用。仍需辨认哪些信息改善新的材料请求</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2FC77D45-122E-4A59-A69C-A74B3C2FF127}"/>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当前任务：控制终点数据与物理投入，检验额外关系信息的迁移价值。导向C和D。</a:t>
            </a:r>
          </a:p>
        </p:txBody>
      </p:sp>
      <p:sp>
        <p:nvSpPr>
          <p:cNvPr id="4" name="separator">
            <a:extLst>
              <a:ext uri="{FF2B5EF4-FFF2-40B4-BE49-F238E27FC236}">
                <a16:creationId xmlns:a16="http://schemas.microsoft.com/office/drawing/2014/main" id="{A5F4C9C0-3940-41AF-AB6F-2960FB5EDBB9}"/>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CC1F0CE3-7410-495A-B396-0D1925FB2CBC}"/>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GNoME更新预测器；后训练更新生成器；ANCHOR还研究组成重放形成的结构语料。</a:t>
            </a:r>
          </a:p>
        </p:txBody>
      </p:sp>
      <p:sp>
        <p:nvSpPr>
          <p:cNvPr id="6" name="page-number">
            <a:extLst>
              <a:ext uri="{FF2B5EF4-FFF2-40B4-BE49-F238E27FC236}">
                <a16:creationId xmlns:a16="http://schemas.microsoft.com/office/drawing/2014/main" id="{3765FE39-9F5A-4A66-B814-71BF566FD516}"/>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190016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23DCC7EF-13AB-40AC-90D2-BDBEF33F873B}"/>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四条路线分别回答什么任务问题</a:t>
            </a:r>
          </a:p>
        </p:txBody>
      </p:sp>
      <p:graphicFrame>
        <p:nvGraphicFramePr>
          <p:cNvPr id="2" name="表格 1">
            <a:extLst>
              <a:ext uri="{FF2B5EF4-FFF2-40B4-BE49-F238E27FC236}">
                <a16:creationId xmlns:a16="http://schemas.microsoft.com/office/drawing/2014/main" id="{2CF71A49-6E14-4198-A7A3-1D1E7DABDE9B}"/>
              </a:ext>
            </a:extLst>
          </p:cNvPr>
          <p:cNvGraphicFramePr/>
          <p:nvPr/>
        </p:nvGraphicFramePr>
        <p:xfrm>
          <a:off x="609600" y="1400175"/>
          <a:ext cx="10972800" cy="4010025"/>
        </p:xfrm>
        <a:graphic>
          <a:graphicData uri="http://schemas.openxmlformats.org/drawingml/2006/table">
            <a:tbl>
              <a:tblPr/>
              <a:tblGrid>
                <a:gridCol w="2667000">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406717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路线与挑战</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主要科学问题</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直接研究任务</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A 化学与几何</a:t>
                      </a:r>
                    </a:p>
                    <a:p>
                      <a:pPr algn="l">
                        <a:lnSpc>
                          <a:spcPct val="108000"/>
                        </a:lnSpc>
                        <a:buNone/>
                      </a:pPr>
                      <a:r>
                        <a:rPr sz="1725" b="0">
                          <a:solidFill>
                            <a:srgbClr val="1B2533"/>
                          </a:solidFill>
                          <a:latin typeface="Microsoft YaHei"/>
                          <a:ea typeface="Microsoft YaHei"/>
                          <a:cs typeface="Microsoft YaHei"/>
                        </a:rPr>
                        <a:t>C1、C2</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双向信息何时改善化学与结构的配对？</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主任务：自主DNG</a:t>
                      </a:r>
                    </a:p>
                    <a:p>
                      <a:pPr algn="l">
                        <a:lnSpc>
                          <a:spcPct val="108000"/>
                        </a:lnSpc>
                        <a:buNone/>
                      </a:pPr>
                      <a:r>
                        <a:rPr sz="1725" b="0">
                          <a:solidFill>
                            <a:srgbClr val="1B2533"/>
                          </a:solidFill>
                          <a:latin typeface="Microsoft YaHei"/>
                          <a:ea typeface="Microsoft YaHei"/>
                          <a:cs typeface="Microsoft YaHei"/>
                        </a:rPr>
                        <a:t>定位任务：CSP / 互条件完成</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B 局部知识组合</a:t>
                      </a:r>
                    </a:p>
                    <a:p>
                      <a:pPr algn="l">
                        <a:lnSpc>
                          <a:spcPct val="108000"/>
                        </a:lnSpc>
                        <a:buNone/>
                      </a:pPr>
                      <a:r>
                        <a:rPr sz="1725" b="0">
                          <a:solidFill>
                            <a:srgbClr val="1B2533"/>
                          </a:solidFill>
                          <a:latin typeface="Microsoft YaHei"/>
                          <a:ea typeface="Microsoft YaHei"/>
                          <a:cs typeface="Microsoft YaHei"/>
                        </a:rPr>
                        <a:t>C3，联系C1</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局部要求怎样在同一周期结构中成立？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主任务：自主DNG</a:t>
                      </a:r>
                    </a:p>
                    <a:p>
                      <a:pPr algn="l">
                        <a:lnSpc>
                          <a:spcPct val="108000"/>
                        </a:lnSpc>
                        <a:buNone/>
                      </a:pPr>
                      <a:r>
                        <a:rPr sz="1725" b="0">
                          <a:solidFill>
                            <a:srgbClr val="1B2533"/>
                          </a:solidFill>
                          <a:latin typeface="Microsoft YaHei"/>
                          <a:ea typeface="Microsoft YaHei"/>
                          <a:cs typeface="Microsoft YaHei"/>
                        </a:rPr>
                        <a:t>定位任务：图案 / 新连接生成</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C 从物理反馈学习</a:t>
                      </a:r>
                    </a:p>
                    <a:p>
                      <a:pPr algn="l">
                        <a:lnSpc>
                          <a:spcPct val="108000"/>
                        </a:lnSpc>
                        <a:buNone/>
                      </a:pPr>
                      <a:r>
                        <a:rPr sz="1725" b="0">
                          <a:solidFill>
                            <a:srgbClr val="1B2533"/>
                          </a:solidFill>
                          <a:latin typeface="Microsoft YaHei"/>
                          <a:ea typeface="Microsoft YaHei"/>
                          <a:cs typeface="Microsoft YaHei"/>
                        </a:rPr>
                        <a:t>C4、C6</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哪些结构响应可以帮助新的材料？</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物理数据学习后的独立生成</a:t>
                      </a:r>
                    </a:p>
                    <a:p>
                      <a:pPr algn="l">
                        <a:lnSpc>
                          <a:spcPct val="108000"/>
                        </a:lnSpc>
                        <a:buNone/>
                      </a:pPr>
                      <a:r>
                        <a:rPr sz="1725" b="0">
                          <a:solidFill>
                            <a:srgbClr val="1B2533"/>
                          </a:solidFill>
                          <a:latin typeface="Microsoft YaHei"/>
                          <a:ea typeface="Microsoft YaHei"/>
                          <a:cs typeface="Microsoft YaHei"/>
                        </a:rPr>
                        <a:t>跨组成与条件迁移</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D 持续多解发现</a:t>
                      </a:r>
                    </a:p>
                    <a:p>
                      <a:pPr algn="l">
                        <a:lnSpc>
                          <a:spcPct val="108000"/>
                        </a:lnSpc>
                        <a:buNone/>
                      </a:pPr>
                      <a:r>
                        <a:rPr sz="1725" b="0">
                          <a:solidFill>
                            <a:srgbClr val="1B2533"/>
                          </a:solidFill>
                          <a:latin typeface="Microsoft YaHei"/>
                          <a:ea typeface="Microsoft YaHei"/>
                          <a:cs typeface="Microsoft YaHei"/>
                        </a:rPr>
                        <a:t>C5、C6</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新成功怎样学入模型并支持进一步发现？</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多轮预算内DNG</a:t>
                      </a:r>
                    </a:p>
                    <a:p>
                      <a:pPr algn="l">
                        <a:lnSpc>
                          <a:spcPct val="108000"/>
                        </a:lnSpc>
                        <a:buNone/>
                      </a:pPr>
                      <a:r>
                        <a:rPr sz="1725" b="0">
                          <a:solidFill>
                            <a:srgbClr val="1B2533"/>
                          </a:solidFill>
                          <a:latin typeface="Microsoft YaHei"/>
                          <a:ea typeface="Microsoft YaHei"/>
                          <a:cs typeface="Microsoft YaHei"/>
                        </a:rPr>
                        <a:t>新结果保持与继续发现</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0E24CEFE-14D6-4496-B750-B50C30F15150}"/>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共同主目标是严格SUN。条件任务分别定位四条路线要学习的能力。</a:t>
            </a:r>
          </a:p>
        </p:txBody>
      </p:sp>
      <p:sp>
        <p:nvSpPr>
          <p:cNvPr id="4" name="separator">
            <a:extLst>
              <a:ext uri="{FF2B5EF4-FFF2-40B4-BE49-F238E27FC236}">
                <a16:creationId xmlns:a16="http://schemas.microsoft.com/office/drawing/2014/main" id="{DD80403A-BEB1-4FB4-8B00-D347EFB7E0DD}"/>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06C091AF-DD33-4DB8-BAB6-F99AF185EDE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以下每条路线分别展开文献演化、技术依据与研究任务。研究方案及所需结果均待验证。</a:t>
            </a:r>
          </a:p>
        </p:txBody>
      </p:sp>
      <p:sp>
        <p:nvSpPr>
          <p:cNvPr id="6" name="page-number">
            <a:extLst>
              <a:ext uri="{FF2B5EF4-FFF2-40B4-BE49-F238E27FC236}">
                <a16:creationId xmlns:a16="http://schemas.microsoft.com/office/drawing/2014/main" id="{33E844FF-8923-4E66-9C2B-BA369FB3E45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9090091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DFB85B7-E814-42B9-928F-74723C82A45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A的演化：联合几何到化学与几何协作</a:t>
            </a:r>
          </a:p>
        </p:txBody>
      </p:sp>
      <p:graphicFrame>
        <p:nvGraphicFramePr>
          <p:cNvPr id="2" name="表格 1">
            <a:extLst>
              <a:ext uri="{FF2B5EF4-FFF2-40B4-BE49-F238E27FC236}">
                <a16:creationId xmlns:a16="http://schemas.microsoft.com/office/drawing/2014/main" id="{30A1A3C8-369F-4554-A881-8D84D8EAA1EA}"/>
              </a:ext>
            </a:extLst>
          </p:cNvPr>
          <p:cNvGraphicFramePr/>
          <p:nvPr/>
        </p:nvGraphicFramePr>
        <p:xfrm>
          <a:off x="609600" y="1400175"/>
          <a:ext cx="10972800" cy="4010025"/>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时间与支持论文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为路线A提供的能力</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2022–2024</a:t>
                      </a:r>
                    </a:p>
                    <a:p>
                      <a:pPr algn="l">
                        <a:lnSpc>
                          <a:spcPct val="108000"/>
                        </a:lnSpc>
                        <a:buNone/>
                      </a:pPr>
                      <a:r>
                        <a:rPr sz="1725" b="0">
                          <a:solidFill>
                            <a:srgbClr val="1B2533"/>
                          </a:solidFill>
                          <a:latin typeface="Microsoft YaHei"/>
                          <a:ea typeface="Microsoft YaHei"/>
                          <a:cs typeface="Microsoft YaHei"/>
                        </a:rPr>
                        <a:t>CDVAE、DiffCSP、FlowMM</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DNG、组成条件CSP</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联合建模晶胞与位置，支持周期连续生成</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2024</a:t>
                      </a:r>
                    </a:p>
                    <a:p>
                      <a:pPr algn="l">
                        <a:lnSpc>
                          <a:spcPct val="108000"/>
                        </a:lnSpc>
                        <a:buNone/>
                      </a:pPr>
                      <a:r>
                        <a:rPr sz="1725" b="0">
                          <a:solidFill>
                            <a:srgbClr val="1B2533"/>
                          </a:solidFill>
                          <a:latin typeface="Microsoft YaHei"/>
                          <a:ea typeface="Microsoft YaHei"/>
                          <a:cs typeface="Microsoft YaHei"/>
                        </a:rPr>
                        <a:t>Crystal-LLM、GenMS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晶体文本生成</a:t>
                      </a:r>
                    </a:p>
                    <a:p>
                      <a:pPr algn="l">
                        <a:lnSpc>
                          <a:spcPct val="108000"/>
                        </a:lnSpc>
                        <a:buNone/>
                      </a:pPr>
                      <a:r>
                        <a:rPr sz="1725" b="0">
                          <a:solidFill>
                            <a:srgbClr val="1B2533"/>
                          </a:solidFill>
                          <a:latin typeface="Microsoft YaHei"/>
                          <a:ea typeface="Microsoft YaHei"/>
                          <a:cs typeface="Microsoft YaHei"/>
                        </a:rPr>
                        <a:t>语言条件的层级搜索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语言组织化学提案，连续模型实现几何</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2024–2025</a:t>
                      </a:r>
                    </a:p>
                    <a:p>
                      <a:pPr algn="l">
                        <a:lnSpc>
                          <a:spcPct val="108000"/>
                        </a:lnSpc>
                        <a:buNone/>
                      </a:pPr>
                      <a:r>
                        <a:rPr sz="1725" b="0">
                          <a:solidFill>
                            <a:srgbClr val="1B2533"/>
                          </a:solidFill>
                          <a:latin typeface="Microsoft YaHei"/>
                          <a:ea typeface="Microsoft YaHei"/>
                          <a:cs typeface="Microsoft YaHei"/>
                        </a:rPr>
                        <a:t>FlowLLM、CrysLLMGen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LLM提案后的几何精修</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连续模型改善语言提案。连续阶段固定元素，为双向修订提供明确参照</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MatterGen、OMatG</a:t>
                      </a:r>
                    </a:p>
                    <a:p>
                      <a:pPr algn="l">
                        <a:lnSpc>
                          <a:spcPct val="108000"/>
                        </a:lnSpc>
                        <a:buNone/>
                      </a:pPr>
                      <a:r>
                        <a:rPr sz="1725" b="0">
                          <a:solidFill>
                            <a:srgbClr val="1B2533"/>
                          </a:solidFill>
                          <a:latin typeface="Microsoft YaHei"/>
                          <a:ea typeface="Microsoft YaHei"/>
                          <a:cs typeface="Microsoft YaHei"/>
                        </a:rPr>
                        <a:t>MCFlow</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联合DNG、互条件生成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建立化学与几何共同建模及多条件路径，支持比较不同信息组织</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651DC203-33D4-42D9-AE69-29B9D7F29A63}"/>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演化留下的问题：何时只需更好提案，何时几何证据能帮助改变化学选择？</a:t>
            </a:r>
          </a:p>
        </p:txBody>
      </p:sp>
      <p:sp>
        <p:nvSpPr>
          <p:cNvPr id="4" name="separator">
            <a:extLst>
              <a:ext uri="{FF2B5EF4-FFF2-40B4-BE49-F238E27FC236}">
                <a16:creationId xmlns:a16="http://schemas.microsoft.com/office/drawing/2014/main" id="{EE8B0B7F-491E-4EB0-BAD9-0B0BA42D52AA}"/>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1A5AEC6B-30FE-40E3-A234-22558B72A885}"/>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10篇晶体工作。FlowLLM结合Crystal-LLM与FlowMM；其余分支按问题演化组织。</a:t>
            </a:r>
          </a:p>
        </p:txBody>
      </p:sp>
      <p:sp>
        <p:nvSpPr>
          <p:cNvPr id="6" name="page-number">
            <a:extLst>
              <a:ext uri="{FF2B5EF4-FFF2-40B4-BE49-F238E27FC236}">
                <a16:creationId xmlns:a16="http://schemas.microsoft.com/office/drawing/2014/main" id="{E2CE22FE-0F1C-4B26-8633-D8EF49E53448}"/>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24913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AF533EE4-42A1-412B-8E34-4488311A2CF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A的技术依据与具体选择</a:t>
            </a:r>
          </a:p>
        </p:txBody>
      </p:sp>
      <p:graphicFrame>
        <p:nvGraphicFramePr>
          <p:cNvPr id="2" name="表格 1">
            <a:extLst>
              <a:ext uri="{FF2B5EF4-FFF2-40B4-BE49-F238E27FC236}">
                <a16:creationId xmlns:a16="http://schemas.microsoft.com/office/drawing/2014/main" id="{72D22382-0548-4CF8-A742-8B33C3A0EC0E}"/>
              </a:ext>
            </a:extLst>
          </p:cNvPr>
          <p:cNvGraphicFramePr/>
          <p:nvPr/>
        </p:nvGraphicFramePr>
        <p:xfrm>
          <a:off x="609600" y="1400175"/>
          <a:ext cx="10972800" cy="4010025"/>
        </p:xfrm>
        <a:graphic>
          <a:graphicData uri="http://schemas.openxmlformats.org/drawingml/2006/table">
            <a:tbl>
              <a:tblPr/>
              <a:tblGrid>
                <a:gridCol w="32861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71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方法支撑</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原任务中解决什么</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在晶体中承担什么</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FlowLLM、CrysLLMGen</a:t>
                      </a:r>
                    </a:p>
                    <a:p>
                      <a:pPr algn="l">
                        <a:lnSpc>
                          <a:spcPct val="108000"/>
                        </a:lnSpc>
                        <a:buNone/>
                      </a:pPr>
                      <a:r>
                        <a:rPr sz="1725" b="0">
                          <a:solidFill>
                            <a:srgbClr val="1B2533"/>
                          </a:solidFill>
                          <a:latin typeface="Microsoft YaHei"/>
                          <a:ea typeface="Microsoft YaHei"/>
                          <a:cs typeface="Microsoft YaHei"/>
                        </a:rPr>
                        <a:t>晶体混合模型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把语言提案接到连续几何生成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LLM提出可修改的化学 / 占位选择，连续模型构造周期结构</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OMatG、CrysBFN、MCFlow</a:t>
                      </a:r>
                    </a:p>
                    <a:p>
                      <a:pPr algn="l">
                        <a:lnSpc>
                          <a:spcPct val="108000"/>
                        </a:lnSpc>
                        <a:buNone/>
                      </a:pPr>
                      <a:r>
                        <a:rPr sz="1725" b="0">
                          <a:solidFill>
                            <a:srgbClr val="1B2533"/>
                          </a:solidFill>
                          <a:latin typeface="Microsoft YaHei"/>
                          <a:ea typeface="Microsoft YaHei"/>
                          <a:cs typeface="Microsoft YaHei"/>
                        </a:rPr>
                        <a:t>混合变量生成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联合表示变量及其当前信息状态</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让几何与元素更新读取共同状态，比较纯SI与LLM混合方案</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NextStep-1 [T02]</a:t>
                      </a:r>
                    </a:p>
                    <a:p>
                      <a:pPr algn="l">
                        <a:lnSpc>
                          <a:spcPct val="108000"/>
                        </a:lnSpc>
                        <a:buNone/>
                      </a:pPr>
                      <a:r>
                        <a:rPr sz="1725" b="0">
                          <a:solidFill>
                            <a:srgbClr val="1B2533"/>
                          </a:solidFill>
                          <a:latin typeface="Microsoft YaHei"/>
                          <a:ea typeface="Microsoft YaHei"/>
                          <a:cs typeface="Microsoft YaHei"/>
                        </a:rPr>
                        <a:t>文生图与编辑</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AR上下文预测连续token，flow输出细节</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借鉴离散上下文与连续输出的分工，设计可交换的科学状态</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SFD [T01]</a:t>
                      </a:r>
                    </a:p>
                    <a:p>
                      <a:pPr algn="l">
                        <a:lnSpc>
                          <a:spcPct val="108000"/>
                        </a:lnSpc>
                        <a:buNone/>
                      </a:pPr>
                      <a:r>
                        <a:rPr sz="1725" b="0">
                          <a:solidFill>
                            <a:srgbClr val="1B2533"/>
                          </a:solidFill>
                          <a:latin typeface="Microsoft YaHei"/>
                          <a:ea typeface="Microsoft YaHei"/>
                          <a:cs typeface="Microsoft YaHei"/>
                        </a:rPr>
                        <a:t>ImageNet类别条件</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分别推进语义与纹理的信息进度</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借鉴相关变量的信息组织，研究化学和几何何时交换信息</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5CA1AF36-FEDD-4BA8-8AC5-8EB2A6323118}"/>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候选基座：LLM + Diffusion / SI。要新增的能力是内容相关的双向修订。</a:t>
            </a:r>
          </a:p>
        </p:txBody>
      </p:sp>
      <p:sp>
        <p:nvSpPr>
          <p:cNvPr id="4" name="separator">
            <a:extLst>
              <a:ext uri="{FF2B5EF4-FFF2-40B4-BE49-F238E27FC236}">
                <a16:creationId xmlns:a16="http://schemas.microsoft.com/office/drawing/2014/main" id="{2B6B6CD3-7C2B-477C-9A76-C1F819A4679D}"/>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786B2DF-5E5F-44C7-A29E-321029B39442}"/>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晶体论文支持任务可行性。NextStep-1 / SFD提供跨领域方法依据，原任务在表中标明。</a:t>
            </a:r>
          </a:p>
        </p:txBody>
      </p:sp>
      <p:sp>
        <p:nvSpPr>
          <p:cNvPr id="6" name="page-number">
            <a:extLst>
              <a:ext uri="{FF2B5EF4-FFF2-40B4-BE49-F238E27FC236}">
                <a16:creationId xmlns:a16="http://schemas.microsoft.com/office/drawing/2014/main" id="{49B922A6-84D5-45F6-A34B-84CFB91E2541}"/>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891809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40E39B12-07A0-4448-96AE-D6F9E6D5ADB3}"/>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A的研究任务与可检验主张</a:t>
            </a:r>
          </a:p>
        </p:txBody>
      </p:sp>
      <p:sp>
        <p:nvSpPr>
          <p:cNvPr id="2" name="lead">
            <a:extLst>
              <a:ext uri="{FF2B5EF4-FFF2-40B4-BE49-F238E27FC236}">
                <a16:creationId xmlns:a16="http://schemas.microsoft.com/office/drawing/2014/main" id="{DF81E7A7-A780-4D55-9C8C-57A3BD5B4239}"/>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中心问题：逐渐形成的几何，能否帮助模型选择更合适的化学？</a:t>
            </a:r>
          </a:p>
        </p:txBody>
      </p:sp>
      <p:sp>
        <p:nvSpPr>
          <p:cNvPr id="3" name="text">
            <a:extLst>
              <a:ext uri="{FF2B5EF4-FFF2-40B4-BE49-F238E27FC236}">
                <a16:creationId xmlns:a16="http://schemas.microsoft.com/office/drawing/2014/main" id="{22B6D28E-F135-4EB4-BC8D-17B35484CA9D}"/>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a:ext uri="{FF2B5EF4-FFF2-40B4-BE49-F238E27FC236}">
                <a16:creationId xmlns:a16="http://schemas.microsoft.com/office/drawing/2014/main" id="{ECFEF60F-09B5-4A7C-A0C9-232EF7582934}"/>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模型自主提出组成与结构。用同一弛豫和新颖性规则比较不同生成组织的SUN</a:t>
            </a:r>
          </a:p>
        </p:txBody>
      </p:sp>
      <p:sp>
        <p:nvSpPr>
          <p:cNvPr id="5" name="text">
            <a:extLst>
              <a:ext uri="{FF2B5EF4-FFF2-40B4-BE49-F238E27FC236}">
                <a16:creationId xmlns:a16="http://schemas.microsoft.com/office/drawing/2014/main" id="{81AEF40E-262E-4340-A739-DDA15E788D1D}"/>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能力定位</a:t>
            </a:r>
          </a:p>
        </p:txBody>
      </p:sp>
      <p:sp>
        <p:nvSpPr>
          <p:cNvPr id="6" name="text">
            <a:extLst>
              <a:ext uri="{FF2B5EF4-FFF2-40B4-BE49-F238E27FC236}">
                <a16:creationId xmlns:a16="http://schemas.microsoft.com/office/drawing/2014/main" id="{7C875B6D-FF2A-4CFA-A955-41B117DBC811}"/>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给定部分组成或结构，补全另一部分。测试未见的化学与结构组合，观察修订是否改善配对</a:t>
            </a:r>
          </a:p>
        </p:txBody>
      </p:sp>
      <p:sp>
        <p:nvSpPr>
          <p:cNvPr id="7" name="text">
            <a:extLst>
              <a:ext uri="{FF2B5EF4-FFF2-40B4-BE49-F238E27FC236}">
                <a16:creationId xmlns:a16="http://schemas.microsoft.com/office/drawing/2014/main" id="{C6EDA5E8-AA23-4B29-910F-D1580370E23B}"/>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a:ext uri="{FF2B5EF4-FFF2-40B4-BE49-F238E27FC236}">
                <a16:creationId xmlns:a16="http://schemas.microsoft.com/office/drawing/2014/main" id="{7D78E6D8-6DE1-4F04-A03C-947337058ACD}"/>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强组成模型+CSP、纯联合Diffusion / SI、LLM与连续模型双向交互。保持数据与总费用可比</a:t>
            </a:r>
          </a:p>
        </p:txBody>
      </p:sp>
      <p:sp>
        <p:nvSpPr>
          <p:cNvPr id="9" name="text">
            <a:extLst>
              <a:ext uri="{FF2B5EF4-FFF2-40B4-BE49-F238E27FC236}">
                <a16:creationId xmlns:a16="http://schemas.microsoft.com/office/drawing/2014/main" id="{29919CC8-DC15-40E5-926C-8C7E81812778}"/>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a:ext uri="{FF2B5EF4-FFF2-40B4-BE49-F238E27FC236}">
                <a16:creationId xmlns:a16="http://schemas.microsoft.com/office/drawing/2014/main" id="{335051BA-EDCC-4867-A9BF-9C7A3CC0DFBE}"/>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建立信息交换何时有用的规律，并在独立新组合和DNG中保留收益</a:t>
            </a:r>
          </a:p>
        </p:txBody>
      </p:sp>
      <p:sp>
        <p:nvSpPr>
          <p:cNvPr id="11" name="separator">
            <a:extLst>
              <a:ext uri="{FF2B5EF4-FFF2-40B4-BE49-F238E27FC236}">
                <a16:creationId xmlns:a16="http://schemas.microsoft.com/office/drawing/2014/main" id="{B3E0B85C-E941-433A-B72D-E974D90824DE}"/>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C825E26B-0D9C-4BBF-9468-76E2E494EBEC}"/>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任务先行：CSP / 互条件生成定位能力，DNG建立发现结果。ANCHOR提供组成分配的强参照。</a:t>
            </a:r>
          </a:p>
        </p:txBody>
      </p:sp>
      <p:sp>
        <p:nvSpPr>
          <p:cNvPr id="13" name="page-number">
            <a:extLst>
              <a:ext uri="{FF2B5EF4-FFF2-40B4-BE49-F238E27FC236}">
                <a16:creationId xmlns:a16="http://schemas.microsoft.com/office/drawing/2014/main" id="{E96DCF8F-D12F-4934-923B-88953FAFF6C0}"/>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89072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301152CA-A289-48C6-9D99-40314F371E1F}"/>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B的演化：局部环境到新整体组合</a:t>
            </a:r>
          </a:p>
        </p:txBody>
      </p:sp>
      <p:graphicFrame>
        <p:nvGraphicFramePr>
          <p:cNvPr id="2" name="表格 1">
            <a:extLst>
              <a:ext uri="{FF2B5EF4-FFF2-40B4-BE49-F238E27FC236}">
                <a16:creationId xmlns:a16="http://schemas.microsoft.com/office/drawing/2014/main" id="{51672556-236A-462F-A412-F3C5BD1126BC}"/>
              </a:ext>
            </a:extLst>
          </p:cNvPr>
          <p:cNvGraphicFramePr/>
          <p:nvPr/>
        </p:nvGraphicFramePr>
        <p:xfrm>
          <a:off x="609600" y="1400175"/>
          <a:ext cx="10972800" cy="4010025"/>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时间与支持论文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为路线B提供的能力</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2018–2023</a:t>
                      </a:r>
                    </a:p>
                    <a:p>
                      <a:pPr algn="l">
                        <a:lnSpc>
                          <a:spcPct val="108000"/>
                        </a:lnSpc>
                        <a:buNone/>
                      </a:pPr>
                      <a:r>
                        <a:rPr sz="1725" b="0">
                          <a:solidFill>
                            <a:srgbClr val="1B2533"/>
                          </a:solidFill>
                          <a:latin typeface="Microsoft YaHei"/>
                          <a:ea typeface="Microsoft YaHei"/>
                          <a:cs typeface="Microsoft YaHei"/>
                        </a:rPr>
                        <a:t>CGCNN、M3GNet、CHGNet</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完整晶体的物理预测</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说明局部环境包含可复用物理信息，提供知识来源与评价工具</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2022–2023</a:t>
                      </a:r>
                    </a:p>
                    <a:p>
                      <a:pPr algn="l">
                        <a:lnSpc>
                          <a:spcPct val="108000"/>
                        </a:lnSpc>
                        <a:buNone/>
                      </a:pPr>
                      <a:r>
                        <a:rPr sz="1725" b="0">
                          <a:solidFill>
                            <a:srgbClr val="1B2533"/>
                          </a:solidFill>
                          <a:latin typeface="Microsoft YaHei"/>
                          <a:ea typeface="Microsoft YaHei"/>
                          <a:cs typeface="Microsoft YaHei"/>
                        </a:rPr>
                        <a:t>CDVAE、SLICES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生成及可逆周期表示</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支持整体结构生成和周期连接表达，使知识可以落实到结构</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2025</a:t>
                      </a:r>
                    </a:p>
                    <a:p>
                      <a:pPr algn="l">
                        <a:lnSpc>
                          <a:spcPct val="108000"/>
                        </a:lnSpc>
                        <a:buNone/>
                      </a:pPr>
                      <a:r>
                        <a:rPr sz="1725" b="0">
                          <a:solidFill>
                            <a:srgbClr val="1B2533"/>
                          </a:solidFill>
                          <a:latin typeface="Microsoft YaHei"/>
                          <a:ea typeface="Microsoft YaHei"/>
                          <a:cs typeface="Microsoft YaHei"/>
                        </a:rPr>
                        <a:t>SymmCD</a:t>
                      </a:r>
                    </a:p>
                    <a:p>
                      <a:pPr algn="l">
                        <a:lnSpc>
                          <a:spcPct val="108000"/>
                        </a:lnSpc>
                        <a:buNone/>
                      </a:pPr>
                      <a:r>
                        <a:rPr sz="1725" b="0">
                          <a:solidFill>
                            <a:srgbClr val="1B2533"/>
                          </a:solidFill>
                          <a:latin typeface="Microsoft YaHei"/>
                          <a:ea typeface="Microsoft YaHei"/>
                          <a:cs typeface="Microsoft YaHei"/>
                        </a:rPr>
                        <a:t>WyckoffDiff / Transformer</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对称配置生成与几何解码</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用非等价位点组织共享约束，减少需要独立生成的自由度</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SCIGEN、Composable</a:t>
                      </a:r>
                    </a:p>
                    <a:p>
                      <a:pPr algn="l">
                        <a:lnSpc>
                          <a:spcPct val="108000"/>
                        </a:lnSpc>
                        <a:buNone/>
                      </a:pPr>
                      <a:r>
                        <a:rPr sz="1725" b="0">
                          <a:solidFill>
                            <a:srgbClr val="1B2533"/>
                          </a:solidFill>
                          <a:latin typeface="Microsoft YaHei"/>
                          <a:ea typeface="Microsoft YaHei"/>
                          <a:cs typeface="Microsoft YaHei"/>
                        </a:rPr>
                        <a:t>UFO-MGen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图案嵌入、概念组合</a:t>
                      </a:r>
                    </a:p>
                    <a:p>
                      <a:pPr algn="l">
                        <a:lnSpc>
                          <a:spcPct val="108000"/>
                        </a:lnSpc>
                        <a:buNone/>
                      </a:pPr>
                      <a:r>
                        <a:rPr sz="1725" b="0">
                          <a:solidFill>
                            <a:srgbClr val="1B2533"/>
                          </a:solidFill>
                          <a:latin typeface="Microsoft YaHei"/>
                          <a:ea typeface="Microsoft YaHei"/>
                          <a:cs typeface="Microsoft YaHei"/>
                        </a:rPr>
                        <a:t>新配置条件完成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把指定关系嵌入晶体。进一步需要辨认组合成功所需的共同条件</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AD74A0D9-B52D-4F70-9B49-7CCC4266853C}"/>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演化留下的问题：学到的局部规律，在改变连接、化学和晶胞后何时仍成立？</a:t>
            </a:r>
          </a:p>
        </p:txBody>
      </p:sp>
      <p:sp>
        <p:nvSpPr>
          <p:cNvPr id="4" name="separator">
            <a:extLst>
              <a:ext uri="{FF2B5EF4-FFF2-40B4-BE49-F238E27FC236}">
                <a16:creationId xmlns:a16="http://schemas.microsoft.com/office/drawing/2014/main" id="{AE33A9AE-A11D-4403-9704-9302C8D1D052}"/>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B2DE6130-2C98-4FA9-8208-25C628D0ABA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11篇工作，依次承担预测背景、表示、对称生成和直接组合任务的支撑。</a:t>
            </a:r>
          </a:p>
        </p:txBody>
      </p:sp>
      <p:sp>
        <p:nvSpPr>
          <p:cNvPr id="6" name="page-number">
            <a:extLst>
              <a:ext uri="{FF2B5EF4-FFF2-40B4-BE49-F238E27FC236}">
                <a16:creationId xmlns:a16="http://schemas.microsoft.com/office/drawing/2014/main" id="{7B7AEF8D-0A6C-4CB2-A87F-E84DC096F6A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061655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5E934453-DE12-4A5D-849F-2147BD24322D}"/>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B的技术依据与具体选择</a:t>
            </a:r>
          </a:p>
        </p:txBody>
      </p:sp>
      <p:graphicFrame>
        <p:nvGraphicFramePr>
          <p:cNvPr id="2" name="表格 1">
            <a:extLst>
              <a:ext uri="{FF2B5EF4-FFF2-40B4-BE49-F238E27FC236}">
                <a16:creationId xmlns:a16="http://schemas.microsoft.com/office/drawing/2014/main" id="{5F978B5F-3E6F-49F8-9C75-BBA69FFF8AF3}"/>
              </a:ext>
            </a:extLst>
          </p:cNvPr>
          <p:cNvGraphicFramePr/>
          <p:nvPr/>
        </p:nvGraphicFramePr>
        <p:xfrm>
          <a:off x="609600" y="1400175"/>
          <a:ext cx="10972800" cy="4010025"/>
        </p:xfrm>
        <a:graphic>
          <a:graphicData uri="http://schemas.openxmlformats.org/drawingml/2006/table">
            <a:tbl>
              <a:tblPr/>
              <a:tblGrid>
                <a:gridCol w="32861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71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方法支撑</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原任务中解决什么</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在晶体中承担什么</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SLICES、SymmCD</a:t>
                      </a:r>
                    </a:p>
                    <a:p>
                      <a:pPr algn="l">
                        <a:lnSpc>
                          <a:spcPct val="108000"/>
                        </a:lnSpc>
                        <a:buNone/>
                      </a:pPr>
                      <a:r>
                        <a:rPr sz="1725" b="0">
                          <a:solidFill>
                            <a:srgbClr val="1B2533"/>
                          </a:solidFill>
                          <a:latin typeface="Microsoft YaHei"/>
                          <a:ea typeface="Microsoft YaHei"/>
                          <a:cs typeface="Microsoft YaHei"/>
                        </a:rPr>
                        <a:t>周期关系与对称表示</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表示周期连接与非等价位点</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让多个局部条件指向同一组原子和晶胞</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SCIGEN</a:t>
                      </a:r>
                    </a:p>
                    <a:p>
                      <a:pPr algn="l">
                        <a:lnSpc>
                          <a:spcPct val="108000"/>
                        </a:lnSpc>
                        <a:buNone/>
                      </a:pPr>
                      <a:r>
                        <a:rPr sz="1725" b="0">
                          <a:solidFill>
                            <a:srgbClr val="1B2533"/>
                          </a:solidFill>
                          <a:latin typeface="Microsoft YaHei"/>
                          <a:ea typeface="Microsoft YaHei"/>
                          <a:cs typeface="Microsoft YaHei"/>
                        </a:rPr>
                        <a:t>Composable Crystals</a:t>
                      </a:r>
                    </a:p>
                    <a:p>
                      <a:pPr algn="l">
                        <a:lnSpc>
                          <a:spcPct val="108000"/>
                        </a:lnSpc>
                        <a:buNone/>
                      </a:pPr>
                      <a:r>
                        <a:rPr sz="1725" b="0">
                          <a:solidFill>
                            <a:srgbClr val="1B2533"/>
                          </a:solidFill>
                          <a:latin typeface="Microsoft YaHei"/>
                          <a:ea typeface="Microsoft YaHei"/>
                          <a:cs typeface="Microsoft YaHei"/>
                        </a:rPr>
                        <a:t>条件扩散生成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把图案或concept接入全结构生成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组成多个结构要求，并通过周期Diffusion实现</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MCFlow、UFO-MGen</a:t>
                      </a:r>
                    </a:p>
                    <a:p>
                      <a:pPr algn="l">
                        <a:lnSpc>
                          <a:spcPct val="108000"/>
                        </a:lnSpc>
                        <a:buNone/>
                      </a:pPr>
                      <a:r>
                        <a:rPr sz="1725" b="0">
                          <a:solidFill>
                            <a:srgbClr val="1B2533"/>
                          </a:solidFill>
                          <a:latin typeface="Microsoft YaHei"/>
                          <a:ea typeface="Microsoft YaHei"/>
                          <a:cs typeface="Microsoft YaHei"/>
                        </a:rPr>
                        <a:t>条件flow生成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互条件完成，或给定配置生成几何</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提供flow替代基座与新配置完成的比较</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DynFusion / Local Mechanisms</a:t>
                      </a:r>
                    </a:p>
                    <a:p>
                      <a:pPr algn="l">
                        <a:lnSpc>
                          <a:spcPct val="108000"/>
                        </a:lnSpc>
                        <a:buNone/>
                      </a:pPr>
                      <a:r>
                        <a:rPr sz="1725" b="0">
                          <a:solidFill>
                            <a:srgbClr val="1B2533"/>
                          </a:solidFill>
                          <a:latin typeface="Microsoft YaHei"/>
                          <a:ea typeface="Microsoft YaHei"/>
                          <a:cs typeface="Microsoft YaHei"/>
                        </a:rPr>
                        <a:t>多条件融合 / 组合泛化</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融合不同视觉条件，或干预局部条件依赖</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按条件内容组织交互，在晶体中保留共享原子和晶格关系</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4F5B67D6-7556-4306-BF96-175B94022C55}"/>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候选基座：显式周期关系的条件Diffusion。新增能力是跨连接方式的稳定组合。</a:t>
            </a:r>
          </a:p>
        </p:txBody>
      </p:sp>
      <p:sp>
        <p:nvSpPr>
          <p:cNvPr id="4" name="separator">
            <a:extLst>
              <a:ext uri="{FF2B5EF4-FFF2-40B4-BE49-F238E27FC236}">
                <a16:creationId xmlns:a16="http://schemas.microsoft.com/office/drawing/2014/main" id="{5EACB65F-47F6-4262-B2C2-C643793A4472}"/>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F0E2F9F1-9F72-4268-9EB8-C44DF66D4074}"/>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晶体条件生成给出直接方法先例。图像组合理论提供可干预的研究方式。</a:t>
            </a:r>
          </a:p>
        </p:txBody>
      </p:sp>
      <p:sp>
        <p:nvSpPr>
          <p:cNvPr id="6" name="page-number">
            <a:extLst>
              <a:ext uri="{FF2B5EF4-FFF2-40B4-BE49-F238E27FC236}">
                <a16:creationId xmlns:a16="http://schemas.microsoft.com/office/drawing/2014/main" id="{9AEDEB10-0519-4824-88E1-3470B4896B04}"/>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690428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1ADDD600-DF5C-40A6-A11F-6715BB47147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B的研究任务与可检验主张</a:t>
            </a:r>
          </a:p>
        </p:txBody>
      </p:sp>
      <p:sp>
        <p:nvSpPr>
          <p:cNvPr id="2" name="lead">
            <a:extLst>
              <a:ext uri="{FF2B5EF4-FFF2-40B4-BE49-F238E27FC236}">
                <a16:creationId xmlns:a16="http://schemas.microsoft.com/office/drawing/2014/main" id="{C850B373-186B-4239-9273-66C6CB3AE4BA}"/>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中心问题：熟悉的局部环境能否构成训练中未见的稳定整体？</a:t>
            </a:r>
          </a:p>
        </p:txBody>
      </p:sp>
      <p:sp>
        <p:nvSpPr>
          <p:cNvPr id="3" name="text">
            <a:extLst>
              <a:ext uri="{FF2B5EF4-FFF2-40B4-BE49-F238E27FC236}">
                <a16:creationId xmlns:a16="http://schemas.microsoft.com/office/drawing/2014/main" id="{C36EFB99-EBA4-4854-A291-A21729EF14D7}"/>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a:ext uri="{FF2B5EF4-FFF2-40B4-BE49-F238E27FC236}">
                <a16:creationId xmlns:a16="http://schemas.microsoft.com/office/drawing/2014/main" id="{99EE63FE-E821-4EA6-A26B-2D3B8EE084A1}"/>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模型自主提出组合方案并完成几何。评价严格稳定性和不同新结构数量</a:t>
            </a:r>
          </a:p>
        </p:txBody>
      </p:sp>
      <p:sp>
        <p:nvSpPr>
          <p:cNvPr id="5" name="text">
            <a:extLst>
              <a:ext uri="{FF2B5EF4-FFF2-40B4-BE49-F238E27FC236}">
                <a16:creationId xmlns:a16="http://schemas.microsoft.com/office/drawing/2014/main" id="{4C5C582A-9EF9-4212-8833-4B348B1C2455}"/>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能力定位</a:t>
            </a:r>
          </a:p>
        </p:txBody>
      </p:sp>
      <p:sp>
        <p:nvSpPr>
          <p:cNvPr id="6" name="text">
            <a:extLst>
              <a:ext uri="{FF2B5EF4-FFF2-40B4-BE49-F238E27FC236}">
                <a16:creationId xmlns:a16="http://schemas.microsoft.com/office/drawing/2014/main" id="{377E925E-7423-4DBC-9596-4252F7274BD6}"/>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给定多个配位或连接要求，生成同一周期结构。分别留出化学组合、连接方式或原胞复杂度</a:t>
            </a:r>
          </a:p>
        </p:txBody>
      </p:sp>
      <p:sp>
        <p:nvSpPr>
          <p:cNvPr id="7" name="text">
            <a:extLst>
              <a:ext uri="{FF2B5EF4-FFF2-40B4-BE49-F238E27FC236}">
                <a16:creationId xmlns:a16="http://schemas.microsoft.com/office/drawing/2014/main" id="{009079B2-B116-42FA-B570-01E2C9369FD6}"/>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a:ext uri="{FF2B5EF4-FFF2-40B4-BE49-F238E27FC236}">
                <a16:creationId xmlns:a16="http://schemas.microsoft.com/office/drawing/2014/main" id="{E8405710-CDB2-400B-A174-7A1EBB489F3C}"/>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离子替换 / 整结构检索、条件CSP、独立条件组合、共享周期关系建模</a:t>
            </a:r>
          </a:p>
        </p:txBody>
      </p:sp>
      <p:sp>
        <p:nvSpPr>
          <p:cNvPr id="9" name="text">
            <a:extLst>
              <a:ext uri="{FF2B5EF4-FFF2-40B4-BE49-F238E27FC236}">
                <a16:creationId xmlns:a16="http://schemas.microsoft.com/office/drawing/2014/main" id="{CB6B48C8-7665-4BA5-B1DE-D86A61846B6A}"/>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a:ext uri="{FF2B5EF4-FFF2-40B4-BE49-F238E27FC236}">
                <a16:creationId xmlns:a16="http://schemas.microsoft.com/office/drawing/2014/main" id="{B61189F3-5782-43B0-A7E9-4CDD237A8459}"/>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说明共享条件怎样支持知识迁移，在未见组合与DNG中增加稳定新结构</a:t>
            </a:r>
          </a:p>
        </p:txBody>
      </p:sp>
      <p:sp>
        <p:nvSpPr>
          <p:cNvPr id="11" name="separator">
            <a:extLst>
              <a:ext uri="{FF2B5EF4-FFF2-40B4-BE49-F238E27FC236}">
                <a16:creationId xmlns:a16="http://schemas.microsoft.com/office/drawing/2014/main" id="{E0C97713-266E-4DC7-8B61-A2C173EF37B1}"/>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E6133036-F30D-49BA-8507-C982E7F0FE37}"/>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直接任务对应SCIGEN / Composable / MCFlow / UFO-MGen；强基线及替换分析定位知识来源。</a:t>
            </a:r>
          </a:p>
        </p:txBody>
      </p:sp>
      <p:sp>
        <p:nvSpPr>
          <p:cNvPr id="13" name="page-number">
            <a:extLst>
              <a:ext uri="{FF2B5EF4-FFF2-40B4-BE49-F238E27FC236}">
                <a16:creationId xmlns:a16="http://schemas.microsoft.com/office/drawing/2014/main" id="{9E489FC2-9066-4E47-9C35-145AE3E61552}"/>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49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5047606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C3C0D359-4B75-452D-B45B-CEE62920F523}"/>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C的演化：物理搜索到生成器学习</a:t>
            </a:r>
          </a:p>
        </p:txBody>
      </p:sp>
      <p:graphicFrame>
        <p:nvGraphicFramePr>
          <p:cNvPr id="2" name="表格 1">
            <a:extLst>
              <a:ext uri="{FF2B5EF4-FFF2-40B4-BE49-F238E27FC236}">
                <a16:creationId xmlns:a16="http://schemas.microsoft.com/office/drawing/2014/main" id="{63E5AA1F-0DB9-4F0A-B955-A8401BD61BC5}"/>
              </a:ext>
            </a:extLst>
          </p:cNvPr>
          <p:cNvGraphicFramePr/>
          <p:nvPr/>
        </p:nvGraphicFramePr>
        <p:xfrm>
          <a:off x="609600" y="1400175"/>
          <a:ext cx="10972800" cy="4010025"/>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时间与支持论文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物理反馈改变的对象</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2006–2023</a:t>
                      </a:r>
                    </a:p>
                    <a:p>
                      <a:pPr algn="l">
                        <a:lnSpc>
                          <a:spcPct val="108000"/>
                        </a:lnSpc>
                        <a:buNone/>
                      </a:pPr>
                      <a:r>
                        <a:rPr sz="1725" b="0">
                          <a:solidFill>
                            <a:srgbClr val="1B2533"/>
                          </a:solidFill>
                          <a:latin typeface="Microsoft YaHei"/>
                          <a:ea typeface="Microsoft YaHei"/>
                          <a:cs typeface="Microsoft YaHei"/>
                        </a:rPr>
                        <a:t>AIRSS、USPEX、RL-CSP</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指定体系的低能结构搜索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先评价候选，再选择搜索动作。RL-CSP进一步学习动作分布</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2022–2025</a:t>
                      </a:r>
                    </a:p>
                    <a:p>
                      <a:pPr algn="l">
                        <a:lnSpc>
                          <a:spcPct val="108000"/>
                        </a:lnSpc>
                        <a:buNone/>
                      </a:pPr>
                      <a:r>
                        <a:rPr sz="1725" b="0">
                          <a:solidFill>
                            <a:srgbClr val="1B2533"/>
                          </a:solidFill>
                          <a:latin typeface="Microsoft YaHei"/>
                          <a:ea typeface="Microsoft YaHei"/>
                          <a:cs typeface="Microsoft YaHei"/>
                        </a:rPr>
                        <a:t>CHGNet、GNoME、OpenCSP</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物理预测及压力CSP</a:t>
                      </a:r>
                    </a:p>
                    <a:p>
                      <a:pPr algn="l">
                        <a:lnSpc>
                          <a:spcPct val="108000"/>
                        </a:lnSpc>
                        <a:buNone/>
                      </a:pPr>
                      <a:r>
                        <a:rPr sz="1725" b="0">
                          <a:solidFill>
                            <a:srgbClr val="1B2533"/>
                          </a:solidFill>
                          <a:latin typeface="Microsoft YaHei"/>
                          <a:ea typeface="Microsoft YaHei"/>
                          <a:cs typeface="Microsoft YaHei"/>
                        </a:rPr>
                        <a:t>新物理数据采集</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计算扩展模型适用的结构和物理环境，主要改善预测与搜索基础</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MatInvent、PLaID++</a:t>
                      </a:r>
                    </a:p>
                    <a:p>
                      <a:pPr algn="l">
                        <a:lnSpc>
                          <a:spcPct val="108000"/>
                        </a:lnSpc>
                        <a:buNone/>
                      </a:pPr>
                      <a:r>
                        <a:rPr sz="1725" b="0">
                          <a:solidFill>
                            <a:srgbClr val="1B2533"/>
                          </a:solidFill>
                          <a:latin typeface="Microsoft YaHei"/>
                          <a:ea typeface="Microsoft YaHei"/>
                          <a:cs typeface="Microsoft YaHei"/>
                        </a:rPr>
                        <a:t>Chemeleon2</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性质DNG与物理资格优化</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终点奖励或偏好开始更新生成器，而非仅筛选当前候选</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2026</a:t>
                      </a:r>
                    </a:p>
                    <a:p>
                      <a:pPr algn="l">
                        <a:lnSpc>
                          <a:spcPct val="108000"/>
                        </a:lnSpc>
                        <a:buNone/>
                      </a:pPr>
                      <a:r>
                        <a:rPr sz="1725" b="0">
                          <a:solidFill>
                            <a:srgbClr val="1B2533"/>
                          </a:solidFill>
                          <a:latin typeface="Microsoft YaHei"/>
                          <a:ea typeface="Microsoft YaHei"/>
                          <a:cs typeface="Microsoft YaHei"/>
                        </a:rPr>
                        <a:t>OMatG-IRL、flash、GSS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CSP / DNG及少步生成</a:t>
                      </a:r>
                    </a:p>
                    <a:p>
                      <a:pPr algn="l">
                        <a:lnSpc>
                          <a:spcPct val="108000"/>
                        </a:lnSpc>
                        <a:buNone/>
                      </a:pPr>
                      <a:r>
                        <a:rPr sz="1725" b="0">
                          <a:solidFill>
                            <a:srgbClr val="1B2533"/>
                          </a:solidFill>
                          <a:latin typeface="Microsoft YaHei"/>
                          <a:ea typeface="Microsoft YaHei"/>
                          <a:cs typeface="Microsoft YaHei"/>
                        </a:rPr>
                        <a:t>生成先验结合物理搜索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IRL / flash更新生成场或映射，GSS在搜索中结合先验与物理力</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D2C4B61C-3756-4DA4-BC92-6836017C2F60}"/>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演化留下的问题：除了终点分数，哪些响应内容值得学入模型并迁移到新材料？</a:t>
            </a:r>
          </a:p>
        </p:txBody>
      </p:sp>
      <p:sp>
        <p:nvSpPr>
          <p:cNvPr id="4" name="separator">
            <a:extLst>
              <a:ext uri="{FF2B5EF4-FFF2-40B4-BE49-F238E27FC236}">
                <a16:creationId xmlns:a16="http://schemas.microsoft.com/office/drawing/2014/main" id="{3E3155AC-626D-4A9B-8861-7F6FE9B5919E}"/>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96A26C8D-34D6-4CB6-B110-BE5527C4250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12篇工作分为动作、物理数据、生成器权重及连续过程四类，任务和更新对象分别保留。</a:t>
            </a:r>
          </a:p>
        </p:txBody>
      </p:sp>
      <p:sp>
        <p:nvSpPr>
          <p:cNvPr id="6" name="page-number">
            <a:extLst>
              <a:ext uri="{FF2B5EF4-FFF2-40B4-BE49-F238E27FC236}">
                <a16:creationId xmlns:a16="http://schemas.microsoft.com/office/drawing/2014/main" id="{00841565-5F34-4CFC-A21D-5180FA2CE217}"/>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1759465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78EDC219-189D-4934-9DAF-FF84F46434B4}"/>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C的技术依据与具体选择</a:t>
            </a:r>
          </a:p>
        </p:txBody>
      </p:sp>
      <p:graphicFrame>
        <p:nvGraphicFramePr>
          <p:cNvPr id="2" name="表格 1">
            <a:extLst>
              <a:ext uri="{FF2B5EF4-FFF2-40B4-BE49-F238E27FC236}">
                <a16:creationId xmlns:a16="http://schemas.microsoft.com/office/drawing/2014/main" id="{0CC0EB47-FA55-4E52-B5B4-1BF7A79FD1D8}"/>
              </a:ext>
            </a:extLst>
          </p:cNvPr>
          <p:cNvGraphicFramePr/>
          <p:nvPr/>
        </p:nvGraphicFramePr>
        <p:xfrm>
          <a:off x="609600" y="1400175"/>
          <a:ext cx="10972800" cy="4010025"/>
        </p:xfrm>
        <a:graphic>
          <a:graphicData uri="http://schemas.openxmlformats.org/drawingml/2006/table">
            <a:tbl>
              <a:tblPr/>
              <a:tblGrid>
                <a:gridCol w="32861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71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方法支撑</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原任务中解决什么</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在晶体中承担什么</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SI理论 [T08]、OMatG、FlowMM</a:t>
                      </a:r>
                    </a:p>
                    <a:p>
                      <a:pPr algn="l">
                        <a:lnSpc>
                          <a:spcPct val="108000"/>
                        </a:lnSpc>
                        <a:buNone/>
                      </a:pPr>
                      <a:r>
                        <a:rPr sz="1725" b="0">
                          <a:solidFill>
                            <a:srgbClr val="1B2533"/>
                          </a:solidFill>
                          <a:latin typeface="Microsoft YaHei"/>
                          <a:ea typeface="Microsoft YaHei"/>
                          <a:cs typeface="Microsoft YaHei"/>
                        </a:rPr>
                        <a:t>连续分布与路径学习</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学习连接分布的速度场，在周期空间生成结构</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提供SI / flow基座，保留相同来源的多种可能终点</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MatInvent、OMatG-IRL</a:t>
                      </a:r>
                    </a:p>
                    <a:p>
                      <a:pPr algn="l">
                        <a:lnSpc>
                          <a:spcPct val="108000"/>
                        </a:lnSpc>
                        <a:buNone/>
                      </a:pPr>
                      <a:r>
                        <a:rPr sz="1725" b="0">
                          <a:solidFill>
                            <a:srgbClr val="1B2533"/>
                          </a:solidFill>
                          <a:latin typeface="Microsoft YaHei"/>
                          <a:ea typeface="Microsoft YaHei"/>
                          <a:cs typeface="Microsoft YaHei"/>
                        </a:rPr>
                        <a:t>晶体物理奖励后训练</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用终点物理效用更新生成器</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作为标量反馈的强参照，明确额外响应信息增加了什么</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Flow-GRPO / RAM [T04–05]</a:t>
                      </a:r>
                    </a:p>
                    <a:p>
                      <a:pPr algn="l">
                        <a:lnSpc>
                          <a:spcPct val="108000"/>
                        </a:lnSpc>
                        <a:buNone/>
                      </a:pPr>
                      <a:r>
                        <a:rPr sz="1725" b="0">
                          <a:solidFill>
                            <a:srgbClr val="1B2533"/>
                          </a:solidFill>
                          <a:latin typeface="Microsoft YaHei"/>
                          <a:ea typeface="Microsoft YaHei"/>
                          <a:cs typeface="Microsoft YaHei"/>
                        </a:rPr>
                        <a:t>图像生成后训练</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用终点奖励训练flow / diffusion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提供可实施的后训练目标。RAM已由OMatG-flash采用</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GSS、CrystAF</a:t>
                      </a:r>
                    </a:p>
                    <a:p>
                      <a:pPr algn="l">
                        <a:lnSpc>
                          <a:spcPct val="108000"/>
                        </a:lnSpc>
                        <a:buNone/>
                      </a:pPr>
                      <a:r>
                        <a:rPr sz="1725" b="0">
                          <a:solidFill>
                            <a:srgbClr val="1B2533"/>
                          </a:solidFill>
                          <a:latin typeface="Microsoft YaHei"/>
                          <a:ea typeface="Microsoft YaHei"/>
                          <a:cs typeface="Microsoft YaHei"/>
                        </a:rPr>
                        <a:t>物理引导 / 分子晶体packing</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比较生成先验、物理介入与修复</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帮助区分当前样本修复与模型长期学习的作用</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605BF060-45AB-4B80-8F19-AE90267D5B7E}"/>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候选基座：SI / flow。新增学习对象是结构变化、响应和终点之间的关系。</a:t>
            </a:r>
          </a:p>
        </p:txBody>
      </p:sp>
      <p:sp>
        <p:nvSpPr>
          <p:cNvPr id="4" name="separator">
            <a:extLst>
              <a:ext uri="{FF2B5EF4-FFF2-40B4-BE49-F238E27FC236}">
                <a16:creationId xmlns:a16="http://schemas.microsoft.com/office/drawing/2014/main" id="{DA9E7680-05FB-454A-AE83-C7501DC2CA51}"/>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8DED9E80-3CEC-40A1-A0CB-6C8F357B7448}"/>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Flow-GRPO / RAM为图像方法基础；CrystAF研究分子晶体packing，作为相邻领域参照。</a:t>
            </a:r>
          </a:p>
        </p:txBody>
      </p:sp>
      <p:sp>
        <p:nvSpPr>
          <p:cNvPr id="6" name="page-number">
            <a:extLst>
              <a:ext uri="{FF2B5EF4-FFF2-40B4-BE49-F238E27FC236}">
                <a16:creationId xmlns:a16="http://schemas.microsoft.com/office/drawing/2014/main" id="{36B509F1-7051-4A90-B9F8-63257FBAA45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51</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112211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B23FD585-21AA-4636-9B12-77A703D09D5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C的研究任务与可检验主张</a:t>
            </a:r>
          </a:p>
        </p:txBody>
      </p:sp>
      <p:sp>
        <p:nvSpPr>
          <p:cNvPr id="2" name="lead">
            <a:extLst>
              <a:ext uri="{FF2B5EF4-FFF2-40B4-BE49-F238E27FC236}">
                <a16:creationId xmlns:a16="http://schemas.microsoft.com/office/drawing/2014/main" id="{4F31EFC9-097F-462E-8A75-6F0826F23480}"/>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中心问题：同样的物理投入，怎样帮助更多后续材料请求？</a:t>
            </a:r>
          </a:p>
        </p:txBody>
      </p:sp>
      <p:sp>
        <p:nvSpPr>
          <p:cNvPr id="3" name="text">
            <a:extLst>
              <a:ext uri="{FF2B5EF4-FFF2-40B4-BE49-F238E27FC236}">
                <a16:creationId xmlns:a16="http://schemas.microsoft.com/office/drawing/2014/main" id="{4412B646-7319-45F0-BF49-E174DDDC01BB}"/>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主任务DNG</a:t>
            </a:r>
          </a:p>
        </p:txBody>
      </p:sp>
      <p:sp>
        <p:nvSpPr>
          <p:cNvPr id="4" name="text">
            <a:extLst>
              <a:ext uri="{FF2B5EF4-FFF2-40B4-BE49-F238E27FC236}">
                <a16:creationId xmlns:a16="http://schemas.microsoft.com/office/drawing/2014/main" id="{BA089E43-C964-4B39-8508-09EE9F1762A7}"/>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用物理数据训练后独立生成，检验新的材料请求能否受益。数据采集和训练成本同时计入</a:t>
            </a:r>
          </a:p>
        </p:txBody>
      </p:sp>
      <p:sp>
        <p:nvSpPr>
          <p:cNvPr id="5" name="text">
            <a:extLst>
              <a:ext uri="{FF2B5EF4-FFF2-40B4-BE49-F238E27FC236}">
                <a16:creationId xmlns:a16="http://schemas.microsoft.com/office/drawing/2014/main" id="{847D1865-7369-4588-A28B-7937FD1207C5}"/>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关系与迁移</a:t>
            </a:r>
          </a:p>
        </p:txBody>
      </p:sp>
      <p:sp>
        <p:nvSpPr>
          <p:cNvPr id="6" name="text">
            <a:extLst>
              <a:ext uri="{FF2B5EF4-FFF2-40B4-BE49-F238E27FC236}">
                <a16:creationId xmlns:a16="http://schemas.microsoft.com/office/drawing/2014/main" id="{E81F35D5-40BF-40B3-BFC8-64E0983CFC38}"/>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学习同源结构改变的响应与后果，并在未见组成或条件上检验</a:t>
            </a:r>
          </a:p>
        </p:txBody>
      </p:sp>
      <p:sp>
        <p:nvSpPr>
          <p:cNvPr id="7" name="text">
            <a:extLst>
              <a:ext uri="{FF2B5EF4-FFF2-40B4-BE49-F238E27FC236}">
                <a16:creationId xmlns:a16="http://schemas.microsoft.com/office/drawing/2014/main" id="{A35C6353-0C46-4AD7-90AB-5864620131E7}"/>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a:ext uri="{FF2B5EF4-FFF2-40B4-BE49-F238E27FC236}">
                <a16:creationId xmlns:a16="http://schemas.microsoft.com/office/drawing/2014/main" id="{096DA441-21C3-441D-BF80-8A55EE300050}"/>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在线物理引导、成功端点训练、标量奖励后训练、保留变化与响应关系的训练</a:t>
            </a:r>
          </a:p>
        </p:txBody>
      </p:sp>
      <p:sp>
        <p:nvSpPr>
          <p:cNvPr id="9" name="text">
            <a:extLst>
              <a:ext uri="{FF2B5EF4-FFF2-40B4-BE49-F238E27FC236}">
                <a16:creationId xmlns:a16="http://schemas.microsoft.com/office/drawing/2014/main" id="{8E7D6701-704E-462C-98B0-B053332403F9}"/>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a:ext uri="{FF2B5EF4-FFF2-40B4-BE49-F238E27FC236}">
                <a16:creationId xmlns:a16="http://schemas.microsoft.com/office/drawing/2014/main" id="{CD481BD6-FF6A-4EDE-A428-D5EBE3B429A2}"/>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辨认哪些物理信息可以迁移，并在计入数据采集和训练费用后提高SUN发现量</a:t>
            </a:r>
          </a:p>
        </p:txBody>
      </p:sp>
      <p:sp>
        <p:nvSpPr>
          <p:cNvPr id="11" name="separator">
            <a:extLst>
              <a:ext uri="{FF2B5EF4-FFF2-40B4-BE49-F238E27FC236}">
                <a16:creationId xmlns:a16="http://schemas.microsoft.com/office/drawing/2014/main" id="{38C5D0EC-8CFB-4D89-8C24-1CE2066A6E06}"/>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564117D2-1B4A-424D-BAE3-6DAFBB0E48C6}"/>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研究任务由物理动作学习、数据回流和生成后训练推进而来。响应关系的增量待验证。</a:t>
            </a:r>
          </a:p>
        </p:txBody>
      </p:sp>
      <p:sp>
        <p:nvSpPr>
          <p:cNvPr id="13" name="page-number">
            <a:extLst>
              <a:ext uri="{FF2B5EF4-FFF2-40B4-BE49-F238E27FC236}">
                <a16:creationId xmlns:a16="http://schemas.microsoft.com/office/drawing/2014/main" id="{87E35C4B-06F5-41D0-9439-FE6749D6A47B}"/>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52</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020236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FAF2C2AD-35FD-466F-A8D7-4F99787FF4D2}"/>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D的演化：多解优化到持续发现</a:t>
            </a:r>
          </a:p>
        </p:txBody>
      </p:sp>
      <p:graphicFrame>
        <p:nvGraphicFramePr>
          <p:cNvPr id="2" name="表格 1">
            <a:extLst>
              <a:ext uri="{FF2B5EF4-FFF2-40B4-BE49-F238E27FC236}">
                <a16:creationId xmlns:a16="http://schemas.microsoft.com/office/drawing/2014/main" id="{D7D518CE-6A75-4979-831F-267F47EE7B9B}"/>
              </a:ext>
            </a:extLst>
          </p:cNvPr>
          <p:cNvGraphicFramePr/>
          <p:nvPr/>
        </p:nvGraphicFramePr>
        <p:xfrm>
          <a:off x="609600" y="1400175"/>
          <a:ext cx="10972800" cy="4010025"/>
        </p:xfrm>
        <a:graphic>
          <a:graphicData uri="http://schemas.openxmlformats.org/drawingml/2006/table">
            <a:tbl>
              <a:tblPr/>
              <a:tblGrid>
                <a:gridCol w="3429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时间与支持论文</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原文任务</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为路线D提供的能力</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2021–2023</a:t>
                      </a:r>
                    </a:p>
                    <a:p>
                      <a:pPr algn="l">
                        <a:lnSpc>
                          <a:spcPct val="108000"/>
                        </a:lnSpc>
                        <a:buNone/>
                      </a:pPr>
                      <a:r>
                        <a:rPr sz="1725" b="0">
                          <a:solidFill>
                            <a:srgbClr val="1B2533"/>
                          </a:solidFill>
                          <a:latin typeface="Microsoft YaHei"/>
                          <a:ea typeface="Microsoft YaHei"/>
                          <a:cs typeface="Microsoft YaHei"/>
                        </a:rPr>
                        <a:t>GFlowNet Foundations</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通用奖励比例采样</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用生成分布表达多个高质量结果，提供多路径采样基础</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2024–2026</a:t>
                      </a:r>
                    </a:p>
                    <a:p>
                      <a:pPr algn="l">
                        <a:lnSpc>
                          <a:spcPct val="108000"/>
                        </a:lnSpc>
                        <a:buNone/>
                      </a:pPr>
                      <a:r>
                        <a:rPr sz="1725" b="0">
                          <a:solidFill>
                            <a:srgbClr val="1B2533"/>
                          </a:solidFill>
                          <a:latin typeface="Microsoft YaHei"/>
                          <a:ea typeface="Microsoft YaHei"/>
                          <a:cs typeface="Microsoft YaHei"/>
                        </a:rPr>
                        <a:t>晶体QD、SHAFT</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固定组成的性质档案</a:t>
                      </a:r>
                    </a:p>
                    <a:p>
                      <a:pPr algn="l">
                        <a:lnSpc>
                          <a:spcPct val="108000"/>
                        </a:lnSpc>
                        <a:buNone/>
                      </a:pPr>
                      <a:r>
                        <a:rPr sz="1725" b="0">
                          <a:solidFill>
                            <a:srgbClr val="1B2533"/>
                          </a:solidFill>
                          <a:latin typeface="Microsoft YaHei"/>
                          <a:ea typeface="Microsoft YaHei"/>
                          <a:cs typeface="Microsoft YaHei"/>
                        </a:rPr>
                        <a:t>层级对称材料生成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在不同性质或对称选择中探索多解，说明可以显式组织成功集合</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PLaID++、Chemeleon2</a:t>
                      </a:r>
                    </a:p>
                    <a:p>
                      <a:pPr algn="l">
                        <a:lnSpc>
                          <a:spcPct val="108000"/>
                        </a:lnSpc>
                        <a:buNone/>
                      </a:pPr>
                      <a:r>
                        <a:rPr sz="1725" b="0">
                          <a:solidFill>
                            <a:srgbClr val="1B2533"/>
                          </a:solidFill>
                          <a:latin typeface="Microsoft YaHei"/>
                          <a:ea typeface="Microsoft YaHei"/>
                          <a:cs typeface="Microsoft YaHei"/>
                        </a:rPr>
                        <a:t>MatInvent</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物理或性质目标后训练</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奖励与表示共同改变稳定性、新颖性和概率集中</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2025–2026</a:t>
                      </a:r>
                    </a:p>
                    <a:p>
                      <a:pPr algn="l">
                        <a:lnSpc>
                          <a:spcPct val="108000"/>
                        </a:lnSpc>
                        <a:buNone/>
                      </a:pPr>
                      <a:r>
                        <a:rPr sz="1725" b="0">
                          <a:solidFill>
                            <a:srgbClr val="1B2533"/>
                          </a:solidFill>
                          <a:latin typeface="Microsoft YaHei"/>
                          <a:ea typeface="Microsoft YaHei"/>
                          <a:cs typeface="Microsoft YaHei"/>
                        </a:rPr>
                        <a:t>强基线研究、ANCHOR</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替换候选发现</a:t>
                      </a:r>
                    </a:p>
                    <a:p>
                      <a:pPr algn="l">
                        <a:lnSpc>
                          <a:spcPct val="108000"/>
                        </a:lnSpc>
                        <a:buNone/>
                      </a:pPr>
                      <a:r>
                        <a:rPr sz="1725" b="0">
                          <a:solidFill>
                            <a:srgbClr val="1B2533"/>
                          </a:solidFill>
                          <a:latin typeface="Microsoft YaHei"/>
                          <a:ea typeface="Microsoft YaHei"/>
                          <a:cs typeface="Microsoft YaHei"/>
                        </a:rPr>
                        <a:t>冻结CSP下的组成探索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强替换和化学访问已能贡献发现，需要分开分配变化与新结构能力</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392FB744-DB27-4F66-894A-2E199CE25CE0}"/>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演化留下的问题：搜索遇到的新成功，怎样变成持续可用且能继续扩展的生成能力？</a:t>
            </a:r>
          </a:p>
        </p:txBody>
      </p:sp>
      <p:sp>
        <p:nvSpPr>
          <p:cNvPr id="4" name="separator">
            <a:extLst>
              <a:ext uri="{FF2B5EF4-FFF2-40B4-BE49-F238E27FC236}">
                <a16:creationId xmlns:a16="http://schemas.microsoft.com/office/drawing/2014/main" id="{1D67CCCD-A1C5-4DC0-9CAC-BC7F68812CA0}"/>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4E413F9F-532F-4C03-B3D8-E2E62278FBCC}"/>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8篇直接基础与发现论文。后页补充结果身份、统一评价和集合学习方法。</a:t>
            </a:r>
          </a:p>
        </p:txBody>
      </p:sp>
      <p:sp>
        <p:nvSpPr>
          <p:cNvPr id="6" name="page-number">
            <a:extLst>
              <a:ext uri="{FF2B5EF4-FFF2-40B4-BE49-F238E27FC236}">
                <a16:creationId xmlns:a16="http://schemas.microsoft.com/office/drawing/2014/main" id="{CD87D747-A96E-4E10-BED8-8AD7FC4CC429}"/>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53</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747071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E7A9B589-8BC8-4DB3-B530-3F5AA154122B}"/>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D的技术依据与具体选择</a:t>
            </a:r>
          </a:p>
        </p:txBody>
      </p:sp>
      <p:graphicFrame>
        <p:nvGraphicFramePr>
          <p:cNvPr id="2" name="表格 1">
            <a:extLst>
              <a:ext uri="{FF2B5EF4-FFF2-40B4-BE49-F238E27FC236}">
                <a16:creationId xmlns:a16="http://schemas.microsoft.com/office/drawing/2014/main" id="{1474C55B-0952-4A07-A9CC-716DBC7A7FDD}"/>
              </a:ext>
            </a:extLst>
          </p:cNvPr>
          <p:cNvGraphicFramePr/>
          <p:nvPr/>
        </p:nvGraphicFramePr>
        <p:xfrm>
          <a:off x="609600" y="1400175"/>
          <a:ext cx="10972800" cy="4010025"/>
        </p:xfrm>
        <a:graphic>
          <a:graphicData uri="http://schemas.openxmlformats.org/drawingml/2006/table">
            <a:tbl>
              <a:tblPr/>
              <a:tblGrid>
                <a:gridCol w="32861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971925">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方法支撑</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原任务中解决什么</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在晶体中承担什么</a:t>
                      </a:r>
                    </a:p>
                  </a:txBody>
                  <a:tcPr anchor="ctr">
                    <a:solidFill>
                      <a:srgbClr val="EDF2F6"/>
                    </a:solidFill>
                  </a:tcPr>
                </a:tc>
                <a:extLst>
                  <a:ext uri="{0D108BD9-81ED-4DB2-BD59-A6C34878D82A}">
                    <a16:rowId xmlns:a16="http://schemas.microsoft.com/office/drawing/2014/main" val="10000"/>
                  </a:ext>
                </a:extLst>
              </a:tr>
              <a:tr h="869156">
                <a:tc>
                  <a:txBody>
                    <a:bodyPr/>
                    <a:lstStyle/>
                    <a:p>
                      <a:pPr algn="l">
                        <a:lnSpc>
                          <a:spcPct val="108000"/>
                        </a:lnSpc>
                        <a:buNone/>
                      </a:pPr>
                      <a:r>
                        <a:rPr sz="1725" b="0">
                          <a:solidFill>
                            <a:srgbClr val="1B2533"/>
                          </a:solidFill>
                          <a:latin typeface="Microsoft YaHei"/>
                          <a:ea typeface="Microsoft YaHei"/>
                          <a:cs typeface="Microsoft YaHei"/>
                        </a:rPr>
                        <a:t>GFlowNet、SHAFT</a:t>
                      </a:r>
                    </a:p>
                    <a:p>
                      <a:pPr algn="l">
                        <a:lnSpc>
                          <a:spcPct val="108000"/>
                        </a:lnSpc>
                        <a:buNone/>
                      </a:pPr>
                      <a:r>
                        <a:rPr sz="1725" b="0">
                          <a:solidFill>
                            <a:srgbClr val="1B2533"/>
                          </a:solidFill>
                          <a:latin typeface="Microsoft YaHei"/>
                          <a:ea typeface="Microsoft YaHei"/>
                          <a:cs typeface="Microsoft YaHei"/>
                        </a:rPr>
                        <a:t>层级多解生成</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按奖励保留多个结果和科学选择</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AR / GFlowNet选择组成或对称配置，条件生成器给出多种几何实现</a:t>
                      </a:r>
                    </a:p>
                  </a:txBody>
                  <a:tcPr anchor="ctr">
                    <a:solidFill>
                      <a:srgbClr val="FFFFFF"/>
                    </a:solidFill>
                  </a:tcPr>
                </a:tc>
                <a:extLst>
                  <a:ext uri="{0D108BD9-81ED-4DB2-BD59-A6C34878D82A}">
                    <a16:rowId xmlns:a16="http://schemas.microsoft.com/office/drawing/2014/main" val="10001"/>
                  </a:ext>
                </a:extLst>
              </a:tr>
              <a:tr h="869156">
                <a:tc>
                  <a:txBody>
                    <a:bodyPr/>
                    <a:lstStyle/>
                    <a:p>
                      <a:pPr algn="l">
                        <a:lnSpc>
                          <a:spcPct val="108000"/>
                        </a:lnSpc>
                        <a:buNone/>
                      </a:pPr>
                      <a:r>
                        <a:rPr sz="1725" b="0">
                          <a:solidFill>
                            <a:srgbClr val="1B2533"/>
                          </a:solidFill>
                          <a:latin typeface="Microsoft YaHei"/>
                          <a:ea typeface="Microsoft YaHei"/>
                          <a:cs typeface="Microsoft YaHei"/>
                        </a:rPr>
                        <a:t>晶体QD、ANCHOR</a:t>
                      </a:r>
                    </a:p>
                    <a:p>
                      <a:pPr algn="l">
                        <a:lnSpc>
                          <a:spcPct val="108000"/>
                        </a:lnSpc>
                        <a:buNone/>
                      </a:pPr>
                      <a:r>
                        <a:rPr sz="1725" b="0">
                          <a:solidFill>
                            <a:srgbClr val="1B2533"/>
                          </a:solidFill>
                          <a:latin typeface="Microsoft YaHei"/>
                          <a:ea typeface="Microsoft YaHei"/>
                          <a:cs typeface="Microsoft YaHei"/>
                        </a:rPr>
                        <a:t>档案与历史相关探索</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保存不同结果，改变下一轮探索分配</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根据已发现结构选择新区域，并研究固定或更新低层生成器</a:t>
                      </a:r>
                    </a:p>
                  </a:txBody>
                  <a:tcPr anchor="ctr">
                    <a:solidFill>
                      <a:srgbClr val="FFFFFF"/>
                    </a:solidFill>
                  </a:tcPr>
                </a:tc>
                <a:extLst>
                  <a:ext uri="{0D108BD9-81ED-4DB2-BD59-A6C34878D82A}">
                    <a16:rowId xmlns:a16="http://schemas.microsoft.com/office/drawing/2014/main" val="10002"/>
                  </a:ext>
                </a:extLst>
              </a:tr>
              <a:tr h="869156">
                <a:tc>
                  <a:txBody>
                    <a:bodyPr/>
                    <a:lstStyle/>
                    <a:p>
                      <a:pPr algn="l">
                        <a:lnSpc>
                          <a:spcPct val="108000"/>
                        </a:lnSpc>
                        <a:buNone/>
                      </a:pPr>
                      <a:r>
                        <a:rPr sz="1725" b="0">
                          <a:solidFill>
                            <a:srgbClr val="1B2533"/>
                          </a:solidFill>
                          <a:latin typeface="Microsoft YaHei"/>
                          <a:ea typeface="Microsoft YaHei"/>
                          <a:cs typeface="Microsoft YaHei"/>
                        </a:rPr>
                        <a:t>Max@K [T06]</a:t>
                      </a:r>
                    </a:p>
                    <a:p>
                      <a:pPr algn="l">
                        <a:lnSpc>
                          <a:spcPct val="108000"/>
                        </a:lnSpc>
                        <a:buNone/>
                      </a:pPr>
                      <a:r>
                        <a:rPr sz="1725" b="0">
                          <a:solidFill>
                            <a:srgbClr val="1B2533"/>
                          </a:solidFill>
                          <a:latin typeface="Microsoft YaHei"/>
                          <a:ea typeface="Microsoft YaHei"/>
                          <a:cs typeface="Microsoft YaHei"/>
                        </a:rPr>
                        <a:t>文生图的预定义模式覆盖</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按样本对集合覆盖的贡献分配奖励</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借鉴集合层面学习，晶体类别和资格由物理评价逐步确认</a:t>
                      </a:r>
                    </a:p>
                  </a:txBody>
                  <a:tcPr anchor="ctr">
                    <a:solidFill>
                      <a:srgbClr val="FFFFFF"/>
                    </a:solidFill>
                  </a:tcPr>
                </a:tc>
                <a:extLst>
                  <a:ext uri="{0D108BD9-81ED-4DB2-BD59-A6C34878D82A}">
                    <a16:rowId xmlns:a16="http://schemas.microsoft.com/office/drawing/2014/main" val="10003"/>
                  </a:ext>
                </a:extLst>
              </a:tr>
              <a:tr h="869156">
                <a:tc>
                  <a:txBody>
                    <a:bodyPr/>
                    <a:lstStyle/>
                    <a:p>
                      <a:pPr algn="l">
                        <a:lnSpc>
                          <a:spcPct val="108000"/>
                        </a:lnSpc>
                        <a:buNone/>
                      </a:pPr>
                      <a:r>
                        <a:rPr sz="1725" b="0">
                          <a:solidFill>
                            <a:srgbClr val="1B2533"/>
                          </a:solidFill>
                          <a:latin typeface="Microsoft YaHei"/>
                          <a:ea typeface="Microsoft YaHei"/>
                          <a:cs typeface="Microsoft YaHei"/>
                        </a:rPr>
                        <a:t>Structure Matches</a:t>
                      </a:r>
                    </a:p>
                    <a:p>
                      <a:pPr algn="l">
                        <a:lnSpc>
                          <a:spcPct val="108000"/>
                        </a:lnSpc>
                        <a:buNone/>
                      </a:pPr>
                      <a:r>
                        <a:rPr sz="1725" b="0">
                          <a:solidFill>
                            <a:srgbClr val="1B2533"/>
                          </a:solidFill>
                          <a:latin typeface="Microsoft YaHei"/>
                          <a:ea typeface="Microsoft YaHei"/>
                          <a:cs typeface="Microsoft YaHei"/>
                        </a:rPr>
                        <a:t>LeMat</a:t>
                      </a:r>
                    </a:p>
                    <a:p>
                      <a:pPr algn="l">
                        <a:lnSpc>
                          <a:spcPct val="108000"/>
                        </a:lnSpc>
                        <a:buNone/>
                      </a:pPr>
                      <a:r>
                        <a:rPr sz="1725" b="0">
                          <a:solidFill>
                            <a:srgbClr val="1B2533"/>
                          </a:solidFill>
                          <a:latin typeface="Microsoft YaHei"/>
                          <a:ea typeface="Microsoft YaHei"/>
                          <a:cs typeface="Microsoft YaHei"/>
                        </a:rPr>
                        <a:t>多晶型与生成评价</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统一结果身份和资格的观察</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在弛豫后统计不同合格结果，区分首次发现、再生成和进一步发现</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3" name="conclusion">
            <a:extLst>
              <a:ext uri="{FF2B5EF4-FFF2-40B4-BE49-F238E27FC236}">
                <a16:creationId xmlns:a16="http://schemas.microsoft.com/office/drawing/2014/main" id="{A9609F76-0A63-4BEA-ACD5-6AD0C6EC112D}"/>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候选基座：层级LLM / AR + 条件Diffusion。新增能力是学会新成功并继续发现。</a:t>
            </a:r>
          </a:p>
        </p:txBody>
      </p:sp>
      <p:sp>
        <p:nvSpPr>
          <p:cNvPr id="4" name="separator">
            <a:extLst>
              <a:ext uri="{FF2B5EF4-FFF2-40B4-BE49-F238E27FC236}">
                <a16:creationId xmlns:a16="http://schemas.microsoft.com/office/drawing/2014/main" id="{D65FF660-9EE0-44A1-818D-EEBDEE024906}"/>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2BABE0DC-6712-4132-9953-DC9D37AE929A}"/>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方法基础、探索机制和评价依据各有作用。评价论文支持结果定义，不承担生成算法贡献。</a:t>
            </a:r>
          </a:p>
        </p:txBody>
      </p:sp>
      <p:sp>
        <p:nvSpPr>
          <p:cNvPr id="6" name="page-number">
            <a:extLst>
              <a:ext uri="{FF2B5EF4-FFF2-40B4-BE49-F238E27FC236}">
                <a16:creationId xmlns:a16="http://schemas.microsoft.com/office/drawing/2014/main" id="{BE8D17BD-AD4B-4F26-BACC-956ED8515F51}"/>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54</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155070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D40064CF-951D-4B1A-BB44-EEDEC9997FB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D的研究任务与可检验主张</a:t>
            </a:r>
          </a:p>
        </p:txBody>
      </p:sp>
      <p:sp>
        <p:nvSpPr>
          <p:cNvPr id="2" name="lead">
            <a:extLst>
              <a:ext uri="{FF2B5EF4-FFF2-40B4-BE49-F238E27FC236}">
                <a16:creationId xmlns:a16="http://schemas.microsoft.com/office/drawing/2014/main" id="{89FA0A67-39FF-4852-80D1-6C235D53D0E8}"/>
              </a:ext>
            </a:extLst>
          </p:cNvPr>
          <p:cNvSpPr>
            <a:spLocks noGrp="1"/>
          </p:cNvSpPr>
          <p:nvPr/>
        </p:nvSpPr>
        <p:spPr>
          <a:xfrm>
            <a:off x="609600" y="1104900"/>
            <a:ext cx="10972800" cy="619125"/>
          </a:xfrm>
          <a:prstGeom prst="rect">
            <a:avLst/>
          </a:prstGeom>
          <a:noFill/>
          <a:ln w="0">
            <a:noFill/>
          </a:ln>
        </p:spPr>
        <p:txBody>
          <a:bodyPr wrap="square" lIns="0" tIns="0" rIns="0" bIns="0" anchor="t">
            <a:noAutofit/>
          </a:bodyPr>
          <a:lstStyle>
            <a:defPPr algn="l">
              <a:defRPr sz="2025" b="0">
                <a:solidFill>
                  <a:srgbClr val="1B2533"/>
                </a:solidFill>
                <a:latin typeface="Microsoft YaHei"/>
                <a:ea typeface="Microsoft YaHei"/>
                <a:cs typeface="Microsoft YaHei"/>
              </a:defRPr>
            </a:defPPr>
          </a:lstStyle>
          <a:p>
            <a:pPr algn="l">
              <a:lnSpc>
                <a:spcPct val="118000"/>
              </a:lnSpc>
              <a:buNone/>
              <a:defRPr sz="2025" b="0">
                <a:solidFill>
                  <a:srgbClr val="1B2533"/>
                </a:solidFill>
                <a:latin typeface="Microsoft YaHei"/>
                <a:ea typeface="Microsoft YaHei"/>
                <a:cs typeface="Microsoft YaHei"/>
              </a:defRPr>
            </a:pPr>
            <a:r>
              <a:rPr sz="2025" b="0">
                <a:solidFill>
                  <a:srgbClr val="1B2533"/>
                </a:solidFill>
                <a:latin typeface="Microsoft YaHei"/>
                <a:ea typeface="Microsoft YaHei"/>
                <a:cs typeface="Microsoft YaHei"/>
              </a:rPr>
              <a:t>中心问题：多轮发现能否让模型持续获得不同的稳定新结构？</a:t>
            </a:r>
          </a:p>
        </p:txBody>
      </p:sp>
      <p:sp>
        <p:nvSpPr>
          <p:cNvPr id="3" name="text">
            <a:extLst>
              <a:ext uri="{FF2B5EF4-FFF2-40B4-BE49-F238E27FC236}">
                <a16:creationId xmlns:a16="http://schemas.microsoft.com/office/drawing/2014/main" id="{55E8037C-3D4D-4D96-B1EA-43A8C4CA3870}"/>
              </a:ext>
            </a:extLst>
          </p:cNvPr>
          <p:cNvSpPr>
            <a:spLocks noGrp="1"/>
          </p:cNvSpPr>
          <p:nvPr/>
        </p:nvSpPr>
        <p:spPr>
          <a:xfrm>
            <a:off x="609600" y="209550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多轮DNG</a:t>
            </a:r>
          </a:p>
        </p:txBody>
      </p:sp>
      <p:sp>
        <p:nvSpPr>
          <p:cNvPr id="4" name="text">
            <a:extLst>
              <a:ext uri="{FF2B5EF4-FFF2-40B4-BE49-F238E27FC236}">
                <a16:creationId xmlns:a16="http://schemas.microsoft.com/office/drawing/2014/main" id="{BC7D8599-EF0E-412B-A1D4-70D9B87E31B4}"/>
              </a:ext>
            </a:extLst>
          </p:cNvPr>
          <p:cNvSpPr>
            <a:spLocks noGrp="1"/>
          </p:cNvSpPr>
          <p:nvPr/>
        </p:nvSpPr>
        <p:spPr>
          <a:xfrm>
            <a:off x="2514600" y="209550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在开放化学空间连续生成、弛豫和更新模型。每轮保留完整费用与不同合格结构集合</a:t>
            </a:r>
          </a:p>
        </p:txBody>
      </p:sp>
      <p:sp>
        <p:nvSpPr>
          <p:cNvPr id="5" name="text">
            <a:extLst>
              <a:ext uri="{FF2B5EF4-FFF2-40B4-BE49-F238E27FC236}">
                <a16:creationId xmlns:a16="http://schemas.microsoft.com/office/drawing/2014/main" id="{93A4001D-2081-4B66-8320-DCB775D33E9E}"/>
              </a:ext>
            </a:extLst>
          </p:cNvPr>
          <p:cNvSpPr>
            <a:spLocks noGrp="1"/>
          </p:cNvSpPr>
          <p:nvPr/>
        </p:nvSpPr>
        <p:spPr>
          <a:xfrm>
            <a:off x="609600" y="30384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保持与迁移</a:t>
            </a:r>
          </a:p>
        </p:txBody>
      </p:sp>
      <p:sp>
        <p:nvSpPr>
          <p:cNvPr id="6" name="text">
            <a:extLst>
              <a:ext uri="{FF2B5EF4-FFF2-40B4-BE49-F238E27FC236}">
                <a16:creationId xmlns:a16="http://schemas.microsoft.com/office/drawing/2014/main" id="{2C15CEEA-989C-4075-8677-51F25A6354B5}"/>
              </a:ext>
            </a:extLst>
          </p:cNvPr>
          <p:cNvSpPr>
            <a:spLocks noGrp="1"/>
          </p:cNvSpPr>
          <p:nvPr/>
        </p:nvSpPr>
        <p:spPr>
          <a:xfrm>
            <a:off x="2514600" y="303847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分别测量新成功的再生成、旧成功的保留，以及未用于更新的新发现</a:t>
            </a:r>
          </a:p>
        </p:txBody>
      </p:sp>
      <p:sp>
        <p:nvSpPr>
          <p:cNvPr id="7" name="text">
            <a:extLst>
              <a:ext uri="{FF2B5EF4-FFF2-40B4-BE49-F238E27FC236}">
                <a16:creationId xmlns:a16="http://schemas.microsoft.com/office/drawing/2014/main" id="{9DB5079B-78B9-4011-948A-020F768F6044}"/>
              </a:ext>
            </a:extLst>
          </p:cNvPr>
          <p:cNvSpPr>
            <a:spLocks noGrp="1"/>
          </p:cNvSpPr>
          <p:nvPr/>
        </p:nvSpPr>
        <p:spPr>
          <a:xfrm>
            <a:off x="609600" y="3981450"/>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关键比较</a:t>
            </a:r>
          </a:p>
        </p:txBody>
      </p:sp>
      <p:sp>
        <p:nvSpPr>
          <p:cNvPr id="8" name="text">
            <a:extLst>
              <a:ext uri="{FF2B5EF4-FFF2-40B4-BE49-F238E27FC236}">
                <a16:creationId xmlns:a16="http://schemas.microsoft.com/office/drawing/2014/main" id="{C2DB62E5-6042-40F3-A33B-372E089EB8A2}"/>
              </a:ext>
            </a:extLst>
          </p:cNvPr>
          <p:cNvSpPr>
            <a:spLocks noGrp="1"/>
          </p:cNvSpPr>
          <p:nvPr/>
        </p:nvSpPr>
        <p:spPr>
          <a:xfrm>
            <a:off x="2514600" y="3981450"/>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固定采样、组成重分配、QD / GFlowNet探索、加入生成器持续学习</a:t>
            </a:r>
          </a:p>
        </p:txBody>
      </p:sp>
      <p:sp>
        <p:nvSpPr>
          <p:cNvPr id="9" name="text">
            <a:extLst>
              <a:ext uri="{FF2B5EF4-FFF2-40B4-BE49-F238E27FC236}">
                <a16:creationId xmlns:a16="http://schemas.microsoft.com/office/drawing/2014/main" id="{FC444A62-C5D8-4D6B-B826-F6DF3617D5CE}"/>
              </a:ext>
            </a:extLst>
          </p:cNvPr>
          <p:cNvSpPr>
            <a:spLocks noGrp="1"/>
          </p:cNvSpPr>
          <p:nvPr/>
        </p:nvSpPr>
        <p:spPr>
          <a:xfrm>
            <a:off x="609600" y="492442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论文结果</a:t>
            </a:r>
          </a:p>
        </p:txBody>
      </p:sp>
      <p:sp>
        <p:nvSpPr>
          <p:cNvPr id="10" name="text">
            <a:extLst>
              <a:ext uri="{FF2B5EF4-FFF2-40B4-BE49-F238E27FC236}">
                <a16:creationId xmlns:a16="http://schemas.microsoft.com/office/drawing/2014/main" id="{EF8F6DE5-4306-4A76-8DE4-5813478A643B}"/>
              </a:ext>
            </a:extLst>
          </p:cNvPr>
          <p:cNvSpPr>
            <a:spLocks noGrp="1"/>
          </p:cNvSpPr>
          <p:nvPr/>
        </p:nvSpPr>
        <p:spPr>
          <a:xfrm>
            <a:off x="2514600" y="4924425"/>
            <a:ext cx="9067800" cy="781050"/>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解释何时只需改变探索分配，何时必须学习新结构关系，并改善同预算下累计SUN数量</a:t>
            </a:r>
          </a:p>
        </p:txBody>
      </p:sp>
      <p:sp>
        <p:nvSpPr>
          <p:cNvPr id="11" name="separator">
            <a:extLst>
              <a:ext uri="{FF2B5EF4-FFF2-40B4-BE49-F238E27FC236}">
                <a16:creationId xmlns:a16="http://schemas.microsoft.com/office/drawing/2014/main" id="{11268179-F9CA-4FBB-8C67-A0C68A935F7A}"/>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D7306DE4-2B10-49A0-A8B1-1CF345B1CA40}"/>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主任务为多轮DNG。条件采样定位具体化学区域中的能力变化。研究主张待验证。</a:t>
            </a:r>
          </a:p>
        </p:txBody>
      </p:sp>
      <p:sp>
        <p:nvSpPr>
          <p:cNvPr id="13" name="page-number">
            <a:extLst>
              <a:ext uri="{FF2B5EF4-FFF2-40B4-BE49-F238E27FC236}">
                <a16:creationId xmlns:a16="http://schemas.microsoft.com/office/drawing/2014/main" id="{D997659A-A973-4925-88D5-75C6A2C0B831}"/>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55</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8807381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DAB3952-BFD3-4198-ABC8-A5A08E570995}"/>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项目历史现象怎样进入四条路线</a:t>
            </a:r>
          </a:p>
        </p:txBody>
      </p:sp>
      <p:graphicFrame>
        <p:nvGraphicFramePr>
          <p:cNvPr id="2" name="表格 1">
            <a:extLst>
              <a:ext uri="{FF2B5EF4-FFF2-40B4-BE49-F238E27FC236}">
                <a16:creationId xmlns:a16="http://schemas.microsoft.com/office/drawing/2014/main" id="{54797108-6BCE-49D0-968A-92A443F16679}"/>
              </a:ext>
            </a:extLst>
          </p:cNvPr>
          <p:cNvGraphicFramePr/>
          <p:nvPr/>
        </p:nvGraphicFramePr>
        <p:xfrm>
          <a:off x="609600" y="1400175"/>
          <a:ext cx="10972800" cy="4010025"/>
        </p:xfrm>
        <a:graphic>
          <a:graphicData uri="http://schemas.openxmlformats.org/drawingml/2006/table">
            <a:tbl>
              <a:tblPr/>
              <a:tblGrid>
                <a:gridCol w="242887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533400">
                <a:tc>
                  <a:txBody>
                    <a:bodyPr/>
                    <a:lstStyle/>
                    <a:p>
                      <a:pPr algn="l">
                        <a:lnSpc>
                          <a:spcPct val="108000"/>
                        </a:lnSpc>
                        <a:buNone/>
                      </a:pPr>
                      <a:r>
                        <a:rPr sz="1800" b="1">
                          <a:solidFill>
                            <a:srgbClr val="173E67"/>
                          </a:solidFill>
                          <a:latin typeface="Microsoft YaHei"/>
                          <a:ea typeface="Microsoft YaHei"/>
                          <a:cs typeface="Microsoft YaHei"/>
                        </a:rPr>
                        <a:t>历史观察</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已完成结果</a:t>
                      </a:r>
                    </a:p>
                  </a:txBody>
                  <a:tcPr anchor="ctr">
                    <a:solidFill>
                      <a:srgbClr val="EDF2F6"/>
                    </a:solidFill>
                  </a:tcPr>
                </a:tc>
                <a:tc>
                  <a:txBody>
                    <a:bodyPr/>
                    <a:lstStyle/>
                    <a:p>
                      <a:pPr algn="l">
                        <a:lnSpc>
                          <a:spcPct val="108000"/>
                        </a:lnSpc>
                        <a:buNone/>
                      </a:pPr>
                      <a:r>
                        <a:rPr sz="1800" b="1">
                          <a:solidFill>
                            <a:srgbClr val="173E67"/>
                          </a:solidFill>
                          <a:latin typeface="Microsoft YaHei"/>
                          <a:ea typeface="Microsoft YaHei"/>
                          <a:cs typeface="Microsoft YaHei"/>
                        </a:rPr>
                        <a:t>对应的研究问题</a:t>
                      </a:r>
                    </a:p>
                  </a:txBody>
                  <a:tcPr anchor="ctr">
                    <a:solidFill>
                      <a:srgbClr val="EDF2F6"/>
                    </a:solidFill>
                  </a:tcPr>
                </a:tc>
                <a:extLst>
                  <a:ext uri="{0D108BD9-81ED-4DB2-BD59-A6C34878D82A}">
                    <a16:rowId xmlns:a16="http://schemas.microsoft.com/office/drawing/2014/main" val="10000"/>
                  </a:ext>
                </a:extLst>
              </a:tr>
              <a:tr h="1158875">
                <a:tc>
                  <a:txBody>
                    <a:bodyPr/>
                    <a:lstStyle/>
                    <a:p>
                      <a:pPr algn="l">
                        <a:lnSpc>
                          <a:spcPct val="108000"/>
                        </a:lnSpc>
                        <a:buNone/>
                      </a:pPr>
                      <a:r>
                        <a:rPr sz="1725" b="0">
                          <a:solidFill>
                            <a:srgbClr val="1B2533"/>
                          </a:solidFill>
                          <a:latin typeface="Microsoft YaHei"/>
                          <a:ea typeface="Microsoft YaHei"/>
                          <a:cs typeface="Microsoft YaHei"/>
                        </a:rPr>
                        <a:t>几何反馈增加稳定终点</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同512来源已知稳定数</a:t>
                      </a:r>
                    </a:p>
                    <a:p>
                      <a:pPr algn="l">
                        <a:lnSpc>
                          <a:spcPct val="108000"/>
                        </a:lnSpc>
                        <a:buNone/>
                      </a:pPr>
                      <a:r>
                        <a:rPr sz="1725" b="0">
                          <a:solidFill>
                            <a:srgbClr val="1B2533"/>
                          </a:solidFill>
                          <a:latin typeface="Microsoft YaHei"/>
                          <a:ea typeface="Microsoft YaHei"/>
                          <a:cs typeface="Microsoft YaHei"/>
                        </a:rPr>
                        <a:t>plain / restored / detached为76 / 85 / 86</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A / C：什么信息和变化使化学与结构配对更有效？</a:t>
                      </a:r>
                    </a:p>
                  </a:txBody>
                  <a:tcPr anchor="ctr">
                    <a:solidFill>
                      <a:srgbClr val="FFFFFF"/>
                    </a:solidFill>
                  </a:tcPr>
                </a:tc>
                <a:extLst>
                  <a:ext uri="{0D108BD9-81ED-4DB2-BD59-A6C34878D82A}">
                    <a16:rowId xmlns:a16="http://schemas.microsoft.com/office/drawing/2014/main" val="10001"/>
                  </a:ext>
                </a:extLst>
              </a:tr>
              <a:tr h="1158875">
                <a:tc>
                  <a:txBody>
                    <a:bodyPr/>
                    <a:lstStyle/>
                    <a:p>
                      <a:pPr algn="l">
                        <a:lnSpc>
                          <a:spcPct val="108000"/>
                        </a:lnSpc>
                        <a:buNone/>
                      </a:pPr>
                      <a:r>
                        <a:rPr sz="1725" b="0">
                          <a:solidFill>
                            <a:srgbClr val="1B2533"/>
                          </a:solidFill>
                          <a:latin typeface="Microsoft YaHei"/>
                          <a:ea typeface="Microsoft YaHei"/>
                          <a:cs typeface="Microsoft YaHei"/>
                        </a:rPr>
                        <a:t>指定动作缺少终点事件</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PDE18：128个DEV父来源</a:t>
                      </a:r>
                    </a:p>
                    <a:p>
                      <a:pPr algn="l">
                        <a:lnSpc>
                          <a:spcPct val="108000"/>
                        </a:lnSpc>
                        <a:buNone/>
                      </a:pPr>
                      <a:r>
                        <a:rPr sz="1725" b="0">
                          <a:solidFill>
                            <a:srgbClr val="1B2533"/>
                          </a:solidFill>
                          <a:latin typeface="Microsoft YaHei"/>
                          <a:ea typeface="Microsoft YaHei"/>
                          <a:cs typeface="Microsoft YaHei"/>
                        </a:rPr>
                        <a:t>512配对严格稳定 gain / loss = 0 / 0</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C：反馈必须支持能够改变完整后果的决定</a:t>
                      </a:r>
                    </a:p>
                  </a:txBody>
                  <a:tcPr anchor="ctr">
                    <a:solidFill>
                      <a:srgbClr val="FFFFFF"/>
                    </a:solidFill>
                  </a:tcPr>
                </a:tc>
                <a:extLst>
                  <a:ext uri="{0D108BD9-81ED-4DB2-BD59-A6C34878D82A}">
                    <a16:rowId xmlns:a16="http://schemas.microsoft.com/office/drawing/2014/main" val="10002"/>
                  </a:ext>
                </a:extLst>
              </a:tr>
              <a:tr h="1158875">
                <a:tc>
                  <a:txBody>
                    <a:bodyPr/>
                    <a:lstStyle/>
                    <a:p>
                      <a:pPr algn="l">
                        <a:lnSpc>
                          <a:spcPct val="108000"/>
                        </a:lnSpc>
                        <a:buNone/>
                      </a:pPr>
                      <a:r>
                        <a:rPr sz="1725" b="0">
                          <a:solidFill>
                            <a:srgbClr val="1B2533"/>
                          </a:solidFill>
                          <a:latin typeface="Microsoft YaHei"/>
                          <a:ea typeface="Microsoft YaHei"/>
                          <a:cs typeface="Microsoft YaHei"/>
                        </a:rPr>
                        <a:t>稳定性到SUN仍有损失</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PDE22：86个稳定尝试</a:t>
                      </a:r>
                    </a:p>
                    <a:p>
                      <a:pPr algn="l">
                        <a:lnSpc>
                          <a:spcPct val="108000"/>
                        </a:lnSpc>
                        <a:buNone/>
                      </a:pPr>
                      <a:r>
                        <a:rPr sz="1725" b="0">
                          <a:solidFill>
                            <a:srgbClr val="1B2533"/>
                          </a:solidFill>
                          <a:latin typeface="Microsoft YaHei"/>
                          <a:ea typeface="Microsoft YaHei"/>
                          <a:cs typeface="Microsoft YaHei"/>
                        </a:rPr>
                        <a:t>58个稳定新颖，53个独特SUN</a:t>
                      </a:r>
                    </a:p>
                  </a:txBody>
                  <a:tcPr anchor="ctr">
                    <a:solidFill>
                      <a:srgbClr val="FFFFFF"/>
                    </a:solidFill>
                  </a:tcPr>
                </a:tc>
                <a:tc>
                  <a:txBody>
                    <a:bodyPr/>
                    <a:lstStyle/>
                    <a:p>
                      <a:pPr algn="l">
                        <a:lnSpc>
                          <a:spcPct val="108000"/>
                        </a:lnSpc>
                        <a:buNone/>
                      </a:pPr>
                      <a:r>
                        <a:rPr sz="1725" b="0">
                          <a:solidFill>
                            <a:srgbClr val="1B2533"/>
                          </a:solidFill>
                          <a:latin typeface="Microsoft YaHei"/>
                          <a:ea typeface="Microsoft YaHei"/>
                          <a:cs typeface="Microsoft YaHei"/>
                        </a:rPr>
                        <a:t>D：资格、新颖性与重复分别影响最终发现集合</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conclusion">
            <a:extLst>
              <a:ext uri="{FF2B5EF4-FFF2-40B4-BE49-F238E27FC236}">
                <a16:creationId xmlns:a16="http://schemas.microsoft.com/office/drawing/2014/main" id="{F30B8621-7005-4905-B022-10EFE063FECE}"/>
              </a:ext>
            </a:extLst>
          </p:cNvPr>
          <p:cNvSpPr>
            <a:spLocks noGrp="1"/>
          </p:cNvSpPr>
          <p:nvPr/>
        </p:nvSpPr>
        <p:spPr>
          <a:xfrm>
            <a:off x="609600" y="5619750"/>
            <a:ext cx="10972800" cy="485775"/>
          </a:xfrm>
          <a:prstGeom prst="rect">
            <a:avLst/>
          </a:prstGeom>
          <a:noFill/>
          <a:ln w="0">
            <a:noFill/>
          </a:ln>
        </p:spPr>
        <p:txBody>
          <a:bodyPr wrap="square" lIns="0" tIns="0" rIns="0" bIns="0" anchor="t">
            <a:noAutofit/>
          </a:bodyPr>
          <a:lstStyle>
            <a:defPPr algn="l">
              <a:defRPr sz="1725" b="0">
                <a:solidFill>
                  <a:srgbClr val="173E67"/>
                </a:solidFill>
                <a:latin typeface="Microsoft YaHei"/>
                <a:ea typeface="Microsoft YaHei"/>
                <a:cs typeface="Microsoft YaHei"/>
              </a:defRPr>
            </a:defPPr>
          </a:lstStyle>
          <a:p>
            <a:pPr algn="l">
              <a:lnSpc>
                <a:spcPct val="118000"/>
              </a:lnSpc>
              <a:buNone/>
              <a:defRPr sz="1725" b="0">
                <a:solidFill>
                  <a:srgbClr val="173E67"/>
                </a:solidFill>
                <a:latin typeface="Microsoft YaHei"/>
                <a:ea typeface="Microsoft YaHei"/>
                <a:cs typeface="Microsoft YaHei"/>
              </a:defRPr>
            </a:pPr>
            <a:r>
              <a:rPr sz="1725" b="0">
                <a:solidFill>
                  <a:srgbClr val="173E67"/>
                </a:solidFill>
                <a:latin typeface="Microsoft YaHei"/>
                <a:ea typeface="Microsoft YaHei"/>
                <a:cs typeface="Microsoft YaHei"/>
              </a:rPr>
              <a:t>B的依据主要来自局部环境与组合生成文献，其稳定组合能力需要新的直接证据。</a:t>
            </a:r>
          </a:p>
        </p:txBody>
      </p:sp>
      <p:sp>
        <p:nvSpPr>
          <p:cNvPr id="4" name="separator">
            <a:extLst>
              <a:ext uri="{FF2B5EF4-FFF2-40B4-BE49-F238E27FC236}">
                <a16:creationId xmlns:a16="http://schemas.microsoft.com/office/drawing/2014/main" id="{9D84A363-F2EB-410C-BE18-D583157E4FA9}"/>
              </a:ext>
            </a:extLst>
          </p:cNvPr>
          <p:cNvSpPr>
            <a:spLocks noGrp="1"/>
          </p:cNvSpPr>
          <p:nvPr/>
        </p:nvSpPr>
        <p:spPr>
          <a:xfrm>
            <a:off x="609600" y="6200775"/>
            <a:ext cx="10972800" cy="0"/>
          </a:xfrm>
          <a:prstGeom prst="line">
            <a:avLst/>
          </a:prstGeom>
          <a:ln w="9525">
            <a:solidFill>
              <a:srgbClr val="D5DCE3"/>
            </a:solidFill>
          </a:ln>
        </p:spPr>
      </p:sp>
      <p:sp>
        <p:nvSpPr>
          <p:cNvPr id="5" name="sources">
            <a:extLst>
              <a:ext uri="{FF2B5EF4-FFF2-40B4-BE49-F238E27FC236}">
                <a16:creationId xmlns:a16="http://schemas.microsoft.com/office/drawing/2014/main" id="{8C410AFA-89A0-48FF-BF61-13C4AE1AF0FD}"/>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项目历史证据：crystal/evidence/historical-evidence.md。每臂能量未知状态保留。</a:t>
            </a:r>
          </a:p>
        </p:txBody>
      </p:sp>
      <p:sp>
        <p:nvSpPr>
          <p:cNvPr id="6" name="page-number">
            <a:extLst>
              <a:ext uri="{FF2B5EF4-FFF2-40B4-BE49-F238E27FC236}">
                <a16:creationId xmlns:a16="http://schemas.microsoft.com/office/drawing/2014/main" id="{468C4EC4-91A6-4D52-830C-371D7F8B13B0}"/>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56</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41757591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C6D81C23-A719-4FD4-A1A9-9A488400E4AE}"/>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参考文献：任务与表示</a:t>
            </a:r>
          </a:p>
        </p:txBody>
      </p:sp>
      <p:sp>
        <p:nvSpPr>
          <p:cNvPr id="2" name="bibliography-R08">
            <a:extLst>
              <a:ext uri="{FF2B5EF4-FFF2-40B4-BE49-F238E27FC236}">
                <a16:creationId xmlns:a16="http://schemas.microsoft.com/office/drawing/2014/main" id="{9BFD347A-51D0-48A9-BFCC-A89D2A11A999}"/>
              </a:ext>
            </a:extLst>
          </p:cNvPr>
          <p:cNvSpPr>
            <a:spLocks noGrp="1"/>
          </p:cNvSpPr>
          <p:nvPr/>
        </p:nvSpPr>
        <p:spPr>
          <a:xfrm>
            <a:off x="609600" y="13906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[R08] Tian Xie et al. Crystal Diffusion Variational Autoencoder for Periodic Material Generation. ICLR 2022.</a:t>
            </a:r>
          </a:p>
        </p:txBody>
      </p:sp>
      <p:sp>
        <p:nvSpPr>
          <p:cNvPr id="3" name="bibliography-R13">
            <a:extLst>
              <a:ext uri="{FF2B5EF4-FFF2-40B4-BE49-F238E27FC236}">
                <a16:creationId xmlns:a16="http://schemas.microsoft.com/office/drawing/2014/main" id="{3A6BFA70-01BC-4B2E-90D6-40E8080CCCB4}"/>
              </a:ext>
            </a:extLst>
          </p:cNvPr>
          <p:cNvSpPr>
            <a:spLocks noGrp="1"/>
          </p:cNvSpPr>
          <p:nvPr/>
        </p:nvSpPr>
        <p:spPr>
          <a:xfrm>
            <a:off x="609600" y="18880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[R13] Rui Jiao et al. Crystal Structure Prediction by Joint Equivariant Diffusion. NeurIPS 2023.</a:t>
            </a:r>
          </a:p>
        </p:txBody>
      </p:sp>
      <p:sp>
        <p:nvSpPr>
          <p:cNvPr id="4" name="bibliography-R26">
            <a:extLst>
              <a:ext uri="{FF2B5EF4-FFF2-40B4-BE49-F238E27FC236}">
                <a16:creationId xmlns:a16="http://schemas.microsoft.com/office/drawing/2014/main" id="{7BA83C7A-ECD0-4E91-9583-6CAE89FAD034}"/>
              </a:ext>
            </a:extLst>
          </p:cNvPr>
          <p:cNvSpPr>
            <a:spLocks noGrp="1"/>
          </p:cNvSpPr>
          <p:nvPr/>
        </p:nvSpPr>
        <p:spPr>
          <a:xfrm>
            <a:off x="609600" y="23854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[R26] Benjamin Kurt Miller et al. FlowMM: Generating Materials with Riemannian Flow Matching. ICML 2024, PMLR 235.</a:t>
            </a:r>
          </a:p>
        </p:txBody>
      </p:sp>
      <p:sp>
        <p:nvSpPr>
          <p:cNvPr id="5" name="bibliography-R21">
            <a:extLst>
              <a:ext uri="{FF2B5EF4-FFF2-40B4-BE49-F238E27FC236}">
                <a16:creationId xmlns:a16="http://schemas.microsoft.com/office/drawing/2014/main" id="{E4661740-BDCD-4210-8695-63E556C8EF22}"/>
              </a:ext>
            </a:extLst>
          </p:cNvPr>
          <p:cNvSpPr>
            <a:spLocks noGrp="1"/>
          </p:cNvSpPr>
          <p:nvPr/>
        </p:nvSpPr>
        <p:spPr>
          <a:xfrm>
            <a:off x="609600" y="288290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[R21] Nate Gruver et al. Fine-Tuned Language Models Generate Stable Inorganic Materials as Text. ICLR 2024.</a:t>
            </a:r>
          </a:p>
        </p:txBody>
      </p:sp>
      <p:sp>
        <p:nvSpPr>
          <p:cNvPr id="6" name="bibliography-R28">
            <a:extLst>
              <a:ext uri="{FF2B5EF4-FFF2-40B4-BE49-F238E27FC236}">
                <a16:creationId xmlns:a16="http://schemas.microsoft.com/office/drawing/2014/main" id="{5B90F555-6432-4AC7-AD28-B3EB444366DD}"/>
              </a:ext>
            </a:extLst>
          </p:cNvPr>
          <p:cNvSpPr>
            <a:spLocks noGrp="1"/>
          </p:cNvSpPr>
          <p:nvPr/>
        </p:nvSpPr>
        <p:spPr>
          <a:xfrm>
            <a:off x="609600" y="338031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[R28] Sherry Yang et al. Generative Hierarchical Materials Search. NeurIPS 2024.</a:t>
            </a:r>
          </a:p>
        </p:txBody>
      </p:sp>
      <p:sp>
        <p:nvSpPr>
          <p:cNvPr id="7" name="bibliography-R29">
            <a:extLst>
              <a:ext uri="{FF2B5EF4-FFF2-40B4-BE49-F238E27FC236}">
                <a16:creationId xmlns:a16="http://schemas.microsoft.com/office/drawing/2014/main" id="{50B1B8CA-29CB-405C-89F0-AA997C8FB6F9}"/>
              </a:ext>
            </a:extLst>
          </p:cNvPr>
          <p:cNvSpPr>
            <a:spLocks noGrp="1"/>
          </p:cNvSpPr>
          <p:nvPr/>
        </p:nvSpPr>
        <p:spPr>
          <a:xfrm>
            <a:off x="609600" y="387773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[R29] Anuroop Sriram et al. FlowLLM: Flow Matching for Material Generation with Large Language Models as Base Distributions. NeurIPS 2024.</a:t>
            </a:r>
          </a:p>
        </p:txBody>
      </p:sp>
      <p:sp>
        <p:nvSpPr>
          <p:cNvPr id="8" name="bibliography-R43">
            <a:extLst>
              <a:ext uri="{FF2B5EF4-FFF2-40B4-BE49-F238E27FC236}">
                <a16:creationId xmlns:a16="http://schemas.microsoft.com/office/drawing/2014/main" id="{F8E49B6D-A21C-414D-9491-04D5962645D2}"/>
              </a:ext>
            </a:extLst>
          </p:cNvPr>
          <p:cNvSpPr>
            <a:spLocks noGrp="1"/>
          </p:cNvSpPr>
          <p:nvPr/>
        </p:nvSpPr>
        <p:spPr>
          <a:xfrm>
            <a:off x="609600" y="43751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[R43] Subhojyoti Khastagir et al. LLM Meets Diffusion: A Hybrid Framework for Crystal Material Generation. NeurIPS 2025.</a:t>
            </a:r>
          </a:p>
        </p:txBody>
      </p:sp>
      <p:sp>
        <p:nvSpPr>
          <p:cNvPr id="9" name="bibliography-R34">
            <a:extLst>
              <a:ext uri="{FF2B5EF4-FFF2-40B4-BE49-F238E27FC236}">
                <a16:creationId xmlns:a16="http://schemas.microsoft.com/office/drawing/2014/main" id="{26DBC63F-445D-4532-B0E2-419E9B132616}"/>
              </a:ext>
            </a:extLst>
          </p:cNvPr>
          <p:cNvSpPr>
            <a:spLocks noGrp="1"/>
          </p:cNvSpPr>
          <p:nvPr/>
        </p:nvSpPr>
        <p:spPr>
          <a:xfrm>
            <a:off x="609600" y="48725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[R34] Philipp Hoellmer et al. Open Materials Generation with Stochastic Interpolants. ICML 2025, PMLR 267.</a:t>
            </a:r>
          </a:p>
        </p:txBody>
      </p:sp>
      <p:sp>
        <p:nvSpPr>
          <p:cNvPr id="10" name="bibliography-R49">
            <a:extLst>
              <a:ext uri="{FF2B5EF4-FFF2-40B4-BE49-F238E27FC236}">
                <a16:creationId xmlns:a16="http://schemas.microsoft.com/office/drawing/2014/main" id="{E1F5D481-1C6F-4BBC-997E-5EA9B6375580}"/>
              </a:ext>
            </a:extLst>
          </p:cNvPr>
          <p:cNvSpPr>
            <a:spLocks noGrp="1"/>
          </p:cNvSpPr>
          <p:nvPr/>
        </p:nvSpPr>
        <p:spPr>
          <a:xfrm>
            <a:off x="609600" y="53699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[R49] Kiyoung Seong et al. Multimodal Crystal Flow: Any-to-Any Modality Generation for Unified Crystal Modeling. ICML2026, PMLR306:109105–109131.</a:t>
            </a:r>
          </a:p>
        </p:txBody>
      </p:sp>
      <p:sp>
        <p:nvSpPr>
          <p:cNvPr id="11" name="separator">
            <a:extLst>
              <a:ext uri="{FF2B5EF4-FFF2-40B4-BE49-F238E27FC236}">
                <a16:creationId xmlns:a16="http://schemas.microsoft.com/office/drawing/2014/main" id="{2D6DC92B-7460-41C7-A8B4-5DFC04F5ECB2}"/>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2A4B1798-09B5-4D0A-8D06-356566917B0F}"/>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正文逐页备注提供完整引文和原文位置。编号沿用综述文献索引。</a:t>
            </a:r>
          </a:p>
        </p:txBody>
      </p:sp>
      <p:sp>
        <p:nvSpPr>
          <p:cNvPr id="13" name="page-number">
            <a:extLst>
              <a:ext uri="{FF2B5EF4-FFF2-40B4-BE49-F238E27FC236}">
                <a16:creationId xmlns:a16="http://schemas.microsoft.com/office/drawing/2014/main" id="{E8916077-8972-46C1-AAFD-A720DA2F968A}"/>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57</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3620996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9C5E4EFA-3A0C-4807-8732-08A4C17C2ED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参考文献：条件与组合</a:t>
            </a:r>
          </a:p>
        </p:txBody>
      </p:sp>
      <p:sp>
        <p:nvSpPr>
          <p:cNvPr id="2" name="bibliography-R19">
            <a:extLst>
              <a:ext uri="{FF2B5EF4-FFF2-40B4-BE49-F238E27FC236}">
                <a16:creationId xmlns:a16="http://schemas.microsoft.com/office/drawing/2014/main" id="{0976A950-D1E6-48D5-9CF3-D286B656FAF3}"/>
              </a:ext>
            </a:extLst>
          </p:cNvPr>
          <p:cNvSpPr>
            <a:spLocks noGrp="1"/>
          </p:cNvSpPr>
          <p:nvPr/>
        </p:nvSpPr>
        <p:spPr>
          <a:xfrm>
            <a:off x="609600" y="13906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[R19] Claudio Zeni et al. A generative model for inorganic materials design. Nature 2025.</a:t>
            </a:r>
          </a:p>
        </p:txBody>
      </p:sp>
      <p:sp>
        <p:nvSpPr>
          <p:cNvPr id="3" name="bibliography-R27">
            <a:extLst>
              <a:ext uri="{FF2B5EF4-FFF2-40B4-BE49-F238E27FC236}">
                <a16:creationId xmlns:a16="http://schemas.microsoft.com/office/drawing/2014/main" id="{FFA6199A-8BA6-4EEB-9FA7-015FFBB75B03}"/>
              </a:ext>
            </a:extLst>
          </p:cNvPr>
          <p:cNvSpPr>
            <a:spLocks noGrp="1"/>
          </p:cNvSpPr>
          <p:nvPr/>
        </p:nvSpPr>
        <p:spPr>
          <a:xfrm>
            <a:off x="609600" y="18880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[R27] Ryotaro Okabe et al. Structural constraint integration in a generative model for the discovery of quantum materials. Nature Materials 25, 223–230 2026.</a:t>
            </a:r>
          </a:p>
        </p:txBody>
      </p:sp>
      <p:sp>
        <p:nvSpPr>
          <p:cNvPr id="4" name="bibliography-R35">
            <a:extLst>
              <a:ext uri="{FF2B5EF4-FFF2-40B4-BE49-F238E27FC236}">
                <a16:creationId xmlns:a16="http://schemas.microsoft.com/office/drawing/2014/main" id="{D0DE8C04-7BFE-4A58-8777-9505B2E20DBC}"/>
              </a:ext>
            </a:extLst>
          </p:cNvPr>
          <p:cNvSpPr>
            <a:spLocks noGrp="1"/>
          </p:cNvSpPr>
          <p:nvPr/>
        </p:nvSpPr>
        <p:spPr>
          <a:xfrm>
            <a:off x="609600" y="23854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[R35] Daniel Levy et al. SymmCD: Symmetry-Preserving Crystal Generation with Diffusion Models. ICLR 2025.</a:t>
            </a:r>
          </a:p>
        </p:txBody>
      </p:sp>
      <p:sp>
        <p:nvSpPr>
          <p:cNvPr id="5" name="bibliography-R38">
            <a:extLst>
              <a:ext uri="{FF2B5EF4-FFF2-40B4-BE49-F238E27FC236}">
                <a16:creationId xmlns:a16="http://schemas.microsoft.com/office/drawing/2014/main" id="{77A0E4EA-197A-45EC-98F3-C2AA5A1FE034}"/>
              </a:ext>
            </a:extLst>
          </p:cNvPr>
          <p:cNvSpPr>
            <a:spLocks noGrp="1"/>
          </p:cNvSpPr>
          <p:nvPr/>
        </p:nvSpPr>
        <p:spPr>
          <a:xfrm>
            <a:off x="609600" y="288290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[R38] Nikita Kazeev et al. Wyckoff Transformer: Generation of Symmetric Crystals. ICML 2025, PMLR 267, 29495–29526.</a:t>
            </a:r>
          </a:p>
        </p:txBody>
      </p:sp>
      <p:sp>
        <p:nvSpPr>
          <p:cNvPr id="6" name="bibliography-R16">
            <a:extLst>
              <a:ext uri="{FF2B5EF4-FFF2-40B4-BE49-F238E27FC236}">
                <a16:creationId xmlns:a16="http://schemas.microsoft.com/office/drawing/2014/main" id="{3EBA2A19-865C-4B0D-89E0-2016F4C1587B}"/>
              </a:ext>
            </a:extLst>
          </p:cNvPr>
          <p:cNvSpPr>
            <a:spLocks noGrp="1"/>
          </p:cNvSpPr>
          <p:nvPr/>
        </p:nvSpPr>
        <p:spPr>
          <a:xfrm>
            <a:off x="609600" y="338031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[R16] Hang Xiao et al. An invertible, invariant crystal representation for inverse design of solid-state materials using generative deep learning. Nature Communications 14, 7027 2023.</a:t>
            </a:r>
          </a:p>
        </p:txBody>
      </p:sp>
      <p:sp>
        <p:nvSpPr>
          <p:cNvPr id="7" name="bibliography-R51">
            <a:extLst>
              <a:ext uri="{FF2B5EF4-FFF2-40B4-BE49-F238E27FC236}">
                <a16:creationId xmlns:a16="http://schemas.microsoft.com/office/drawing/2014/main" id="{873CC497-AD1E-4476-B72C-C6A9F626BB78}"/>
              </a:ext>
            </a:extLst>
          </p:cNvPr>
          <p:cNvSpPr>
            <a:spLocks noGrp="1"/>
          </p:cNvSpPr>
          <p:nvPr/>
        </p:nvSpPr>
        <p:spPr>
          <a:xfrm>
            <a:off x="609600" y="387773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[R51] Nian Liu et al. Composable Crystals: Controllable Materials Discovery via Concept Learning. arXiv 预印本 2026.</a:t>
            </a:r>
          </a:p>
        </p:txBody>
      </p:sp>
      <p:sp>
        <p:nvSpPr>
          <p:cNvPr id="8" name="bibliography-R55">
            <a:extLst>
              <a:ext uri="{FF2B5EF4-FFF2-40B4-BE49-F238E27FC236}">
                <a16:creationId xmlns:a16="http://schemas.microsoft.com/office/drawing/2014/main" id="{1A5B9998-DF6A-4537-8B35-30F4D48B2411}"/>
              </a:ext>
            </a:extLst>
          </p:cNvPr>
          <p:cNvSpPr>
            <a:spLocks noGrp="1"/>
          </p:cNvSpPr>
          <p:nvPr/>
        </p:nvSpPr>
        <p:spPr>
          <a:xfrm>
            <a:off x="609600" y="43751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[R55] Jingyi Zhou et al. Topology-Stratified Materials Discovery with A Flow-Based Generative Model. arXiv 预印本 2026.</a:t>
            </a:r>
          </a:p>
        </p:txBody>
      </p:sp>
      <p:sp>
        <p:nvSpPr>
          <p:cNvPr id="9" name="bibliography-T01">
            <a:extLst>
              <a:ext uri="{FF2B5EF4-FFF2-40B4-BE49-F238E27FC236}">
                <a16:creationId xmlns:a16="http://schemas.microsoft.com/office/drawing/2014/main" id="{4BBDD855-67DD-4517-AB53-FAA067FD7E8A}"/>
              </a:ext>
            </a:extLst>
          </p:cNvPr>
          <p:cNvSpPr>
            <a:spLocks noGrp="1"/>
          </p:cNvSpPr>
          <p:nvPr/>
        </p:nvSpPr>
        <p:spPr>
          <a:xfrm>
            <a:off x="609600" y="48725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[T01] Yueming Pan et al. Semantics Lead the Way: Harmonizing Semantic and Texture Modeling with Asynchronous Latent Diffusion. CVPR 2026.</a:t>
            </a:r>
          </a:p>
        </p:txBody>
      </p:sp>
      <p:sp>
        <p:nvSpPr>
          <p:cNvPr id="10" name="bibliography-T03">
            <a:extLst>
              <a:ext uri="{FF2B5EF4-FFF2-40B4-BE49-F238E27FC236}">
                <a16:creationId xmlns:a16="http://schemas.microsoft.com/office/drawing/2014/main" id="{0838C115-5EE3-405C-B5E0-0BAD4AD88EAE}"/>
              </a:ext>
            </a:extLst>
          </p:cNvPr>
          <p:cNvSpPr>
            <a:spLocks noGrp="1"/>
          </p:cNvSpPr>
          <p:nvPr/>
        </p:nvSpPr>
        <p:spPr>
          <a:xfrm>
            <a:off x="609600" y="53699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[T03] Arwen Bradley. Local Mechanisms of Compositional Generalization in Conditional Diffusion. ICML 2026, PMLR 306:9531–9565.</a:t>
            </a:r>
          </a:p>
        </p:txBody>
      </p:sp>
      <p:sp>
        <p:nvSpPr>
          <p:cNvPr id="11" name="separator">
            <a:extLst>
              <a:ext uri="{FF2B5EF4-FFF2-40B4-BE49-F238E27FC236}">
                <a16:creationId xmlns:a16="http://schemas.microsoft.com/office/drawing/2014/main" id="{936569FB-920F-4F56-9E58-E04271D496A6}"/>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DAFF93A9-B5B6-472C-B7FF-A13B733FA98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正式发表与预印本分别标明。T编号为从既有跨领域调研补入的方法依据。</a:t>
            </a:r>
          </a:p>
        </p:txBody>
      </p:sp>
      <p:sp>
        <p:nvSpPr>
          <p:cNvPr id="13" name="page-number">
            <a:extLst>
              <a:ext uri="{FF2B5EF4-FFF2-40B4-BE49-F238E27FC236}">
                <a16:creationId xmlns:a16="http://schemas.microsoft.com/office/drawing/2014/main" id="{CD5E9190-3A2F-46E7-8307-B9CEE64D17B3}"/>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58</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20968925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5EF22C3D-B8A8-422E-8629-2B59AE2DB446}"/>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参考文献：反馈与持续发现</a:t>
            </a:r>
          </a:p>
        </p:txBody>
      </p:sp>
      <p:sp>
        <p:nvSpPr>
          <p:cNvPr id="2" name="bibliography-R40">
            <a:extLst>
              <a:ext uri="{FF2B5EF4-FFF2-40B4-BE49-F238E27FC236}">
                <a16:creationId xmlns:a16="http://schemas.microsoft.com/office/drawing/2014/main" id="{7BF685A4-6A3C-4511-AD7A-C45E1AD93F2D}"/>
              </a:ext>
            </a:extLst>
          </p:cNvPr>
          <p:cNvSpPr>
            <a:spLocks noGrp="1"/>
          </p:cNvSpPr>
          <p:nvPr/>
        </p:nvSpPr>
        <p:spPr>
          <a:xfrm>
            <a:off x="609600" y="13906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[R40] Andy Xu et al. PLaID++: A Preference Aligned Language Model for Targeted Inorganic Materials Design. ICML 2026.</a:t>
            </a:r>
          </a:p>
        </p:txBody>
      </p:sp>
      <p:sp>
        <p:nvSpPr>
          <p:cNvPr id="3" name="bibliography-R45">
            <a:extLst>
              <a:ext uri="{FF2B5EF4-FFF2-40B4-BE49-F238E27FC236}">
                <a16:creationId xmlns:a16="http://schemas.microsoft.com/office/drawing/2014/main" id="{2004369C-FAE4-42CC-9295-9FF0879F1985}"/>
              </a:ext>
            </a:extLst>
          </p:cNvPr>
          <p:cNvSpPr>
            <a:spLocks noGrp="1"/>
          </p:cNvSpPr>
          <p:nvPr/>
        </p:nvSpPr>
        <p:spPr>
          <a:xfrm>
            <a:off x="609600" y="18880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[R45] Hyunsoo Park et al. Guiding Generative Models to Uncover Diverse and Novel Crystals via Reinforcement Learning. Nature Machine Intelligence 2026.</a:t>
            </a:r>
          </a:p>
        </p:txBody>
      </p:sp>
      <p:sp>
        <p:nvSpPr>
          <p:cNvPr id="4" name="bibliography-R48">
            <a:extLst>
              <a:ext uri="{FF2B5EF4-FFF2-40B4-BE49-F238E27FC236}">
                <a16:creationId xmlns:a16="http://schemas.microsoft.com/office/drawing/2014/main" id="{D78A3B5C-0EC8-4E2C-99AF-19E41293F3E7}"/>
              </a:ext>
            </a:extLst>
          </p:cNvPr>
          <p:cNvSpPr>
            <a:spLocks noGrp="1"/>
          </p:cNvSpPr>
          <p:nvPr/>
        </p:nvSpPr>
        <p:spPr>
          <a:xfrm>
            <a:off x="609600" y="23854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[R48] Philipp Hoellmer et al. Open Materials Generation with Inference-Time Reinforcement Learning. ICML 2026.</a:t>
            </a:r>
          </a:p>
        </p:txBody>
      </p:sp>
      <p:sp>
        <p:nvSpPr>
          <p:cNvPr id="5" name="bibliography-R54">
            <a:extLst>
              <a:ext uri="{FF2B5EF4-FFF2-40B4-BE49-F238E27FC236}">
                <a16:creationId xmlns:a16="http://schemas.microsoft.com/office/drawing/2014/main" id="{F5E3038E-271E-407A-8478-42B5645284D0}"/>
              </a:ext>
            </a:extLst>
          </p:cNvPr>
          <p:cNvSpPr>
            <a:spLocks noGrp="1"/>
          </p:cNvSpPr>
          <p:nvPr/>
        </p:nvSpPr>
        <p:spPr>
          <a:xfrm>
            <a:off x="609600" y="288290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[R54] Thomas Egg et al. OMatG-flash: An All-Atom Flow Map with Reinforce Adjoint Matching for Scalable Materials Discovery. arXiv 预印本 2026.</a:t>
            </a:r>
          </a:p>
        </p:txBody>
      </p:sp>
      <p:sp>
        <p:nvSpPr>
          <p:cNvPr id="6" name="bibliography-R56">
            <a:extLst>
              <a:ext uri="{FF2B5EF4-FFF2-40B4-BE49-F238E27FC236}">
                <a16:creationId xmlns:a16="http://schemas.microsoft.com/office/drawing/2014/main" id="{2CDDCF7D-C0D1-4235-9D20-5AB1C0A21361}"/>
              </a:ext>
            </a:extLst>
          </p:cNvPr>
          <p:cNvSpPr>
            <a:spLocks noGrp="1"/>
          </p:cNvSpPr>
          <p:nvPr/>
        </p:nvSpPr>
        <p:spPr>
          <a:xfrm>
            <a:off x="609600" y="338031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[R56] Emma Lei Hovmand et al. Let CSP Be Your ANCHOR: Adaptive Crystal Search over Frozen Structure Priors. arXiv 预印本 2026.</a:t>
            </a:r>
          </a:p>
        </p:txBody>
      </p:sp>
      <p:sp>
        <p:nvSpPr>
          <p:cNvPr id="7" name="bibliography-R23">
            <a:extLst>
              <a:ext uri="{FF2B5EF4-FFF2-40B4-BE49-F238E27FC236}">
                <a16:creationId xmlns:a16="http://schemas.microsoft.com/office/drawing/2014/main" id="{93B9548E-D936-4505-94E2-8C546B2BE9A4}"/>
              </a:ext>
            </a:extLst>
          </p:cNvPr>
          <p:cNvSpPr>
            <a:spLocks noGrp="1"/>
          </p:cNvSpPr>
          <p:nvPr/>
        </p:nvSpPr>
        <p:spPr>
          <a:xfrm>
            <a:off x="609600" y="387773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[R23] Marta Wolinska et al. Illuminating the property space in crystal structure prediction using Quality-Diversity algorithms. Digital Discovery 2024.</a:t>
            </a:r>
          </a:p>
        </p:txBody>
      </p:sp>
      <p:sp>
        <p:nvSpPr>
          <p:cNvPr id="8" name="bibliography-T04">
            <a:extLst>
              <a:ext uri="{FF2B5EF4-FFF2-40B4-BE49-F238E27FC236}">
                <a16:creationId xmlns:a16="http://schemas.microsoft.com/office/drawing/2014/main" id="{9289EA2E-9374-48C5-8DCD-6FFD93BCB682}"/>
              </a:ext>
            </a:extLst>
          </p:cNvPr>
          <p:cNvSpPr>
            <a:spLocks noGrp="1"/>
          </p:cNvSpPr>
          <p:nvPr/>
        </p:nvSpPr>
        <p:spPr>
          <a:xfrm>
            <a:off x="609600" y="4375150"/>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[T04] Jie Liu et al. Flow-GRPO: Training Flow Matching Models via Online RL. NeurIPS 2025.</a:t>
            </a:r>
          </a:p>
        </p:txBody>
      </p:sp>
      <p:sp>
        <p:nvSpPr>
          <p:cNvPr id="9" name="bibliography-T05">
            <a:extLst>
              <a:ext uri="{FF2B5EF4-FFF2-40B4-BE49-F238E27FC236}">
                <a16:creationId xmlns:a16="http://schemas.microsoft.com/office/drawing/2014/main" id="{6174C68A-FE48-43AD-A0C5-3A67704C6454}"/>
              </a:ext>
            </a:extLst>
          </p:cNvPr>
          <p:cNvSpPr>
            <a:spLocks noGrp="1"/>
          </p:cNvSpPr>
          <p:nvPr/>
        </p:nvSpPr>
        <p:spPr>
          <a:xfrm>
            <a:off x="609600" y="4872567"/>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[T05] Andreas Bergmeister et al. Reinforce Adjoint Matching: Scaling RL Post-Training of Diffusion and Flow-Matching Models. arXiv 2605.10759v2 (2026).</a:t>
            </a:r>
          </a:p>
        </p:txBody>
      </p:sp>
      <p:sp>
        <p:nvSpPr>
          <p:cNvPr id="10" name="bibliography-T06">
            <a:extLst>
              <a:ext uri="{FF2B5EF4-FFF2-40B4-BE49-F238E27FC236}">
                <a16:creationId xmlns:a16="http://schemas.microsoft.com/office/drawing/2014/main" id="{168992D3-7F51-4507-98B8-573A7751B645}"/>
              </a:ext>
            </a:extLst>
          </p:cNvPr>
          <p:cNvSpPr>
            <a:spLocks noGrp="1"/>
          </p:cNvSpPr>
          <p:nvPr/>
        </p:nvSpPr>
        <p:spPr>
          <a:xfrm>
            <a:off x="609600" y="5369983"/>
            <a:ext cx="10972800" cy="478367"/>
          </a:xfrm>
          <a:prstGeom prst="rect">
            <a:avLst/>
          </a:prstGeom>
          <a:noFill/>
          <a:ln w="0">
            <a:noFill/>
          </a:ln>
        </p:spPr>
        <p:txBody>
          <a:bodyPr wrap="square" lIns="0" tIns="0" rIns="0" bIns="0" anchor="t">
            <a:noAutofit/>
          </a:bodyPr>
          <a:lstStyle>
            <a:defPPr algn="l">
              <a:defRPr sz="1388" b="0">
                <a:solidFill>
                  <a:srgbClr val="1B2533"/>
                </a:solidFill>
                <a:latin typeface="Microsoft YaHei"/>
                <a:ea typeface="Microsoft YaHei"/>
                <a:cs typeface="Microsoft YaHei"/>
              </a:defRPr>
            </a:defPPr>
          </a:lstStyle>
          <a:p>
            <a:pPr algn="l">
              <a:lnSpc>
                <a:spcPct val="118000"/>
              </a:lnSpc>
              <a:buNone/>
              <a:defRPr sz="1388" b="0">
                <a:solidFill>
                  <a:srgbClr val="1B2533"/>
                </a:solidFill>
                <a:latin typeface="Microsoft YaHei"/>
                <a:ea typeface="Microsoft YaHei"/>
                <a:cs typeface="Microsoft YaHei"/>
              </a:defRPr>
            </a:pPr>
            <a:r>
              <a:rPr sz="1388" b="0">
                <a:solidFill>
                  <a:srgbClr val="1B2533"/>
                </a:solidFill>
                <a:latin typeface="Microsoft YaHei"/>
                <a:ea typeface="Microsoft YaHei"/>
                <a:cs typeface="Microsoft YaHei"/>
              </a:rPr>
              <a:t>[T06] Ku Onoda et al. Multi-Axis Max@K Reinforcement Learning for Representative Diversity in Text-to-Image Generation. arXiv 2607.14962v2 (2026)，原文注记WACV 2027接收.</a:t>
            </a:r>
          </a:p>
        </p:txBody>
      </p:sp>
      <p:sp>
        <p:nvSpPr>
          <p:cNvPr id="11" name="separator">
            <a:extLst>
              <a:ext uri="{FF2B5EF4-FFF2-40B4-BE49-F238E27FC236}">
                <a16:creationId xmlns:a16="http://schemas.microsoft.com/office/drawing/2014/main" id="{921DDA9F-033A-492D-868F-F0AE16C3B1AA}"/>
              </a:ext>
            </a:extLst>
          </p:cNvPr>
          <p:cNvSpPr>
            <a:spLocks noGrp="1"/>
          </p:cNvSpPr>
          <p:nvPr/>
        </p:nvSpPr>
        <p:spPr>
          <a:xfrm>
            <a:off x="609600" y="6200775"/>
            <a:ext cx="10972800" cy="0"/>
          </a:xfrm>
          <a:prstGeom prst="line">
            <a:avLst/>
          </a:prstGeom>
          <a:ln w="9525">
            <a:solidFill>
              <a:srgbClr val="D5DCE3"/>
            </a:solidFill>
          </a:ln>
        </p:spPr>
      </p:sp>
      <p:sp>
        <p:nvSpPr>
          <p:cNvPr id="12" name="sources">
            <a:extLst>
              <a:ext uri="{FF2B5EF4-FFF2-40B4-BE49-F238E27FC236}">
                <a16:creationId xmlns:a16="http://schemas.microsoft.com/office/drawing/2014/main" id="{06CA0E62-E138-471F-9E07-F658F237FA8E}"/>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完整来源、任务和文献角色见配套“任务与文献演化”材料，以及本页备注。</a:t>
            </a:r>
          </a:p>
        </p:txBody>
      </p:sp>
      <p:sp>
        <p:nvSpPr>
          <p:cNvPr id="13" name="page-number">
            <a:extLst>
              <a:ext uri="{FF2B5EF4-FFF2-40B4-BE49-F238E27FC236}">
                <a16:creationId xmlns:a16="http://schemas.microsoft.com/office/drawing/2014/main" id="{FC36235A-CA25-4591-8594-6CF434571A4B}"/>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59</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1856372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90E79B8D-C92C-417A-AE20-60BD2DE72400}"/>
              </a:ext>
            </a:extLst>
          </p:cNvPr>
          <p:cNvSpPr>
            <a:spLocks noGrp="1"/>
          </p:cNvSpPr>
          <p:nvPr/>
        </p:nvSpPr>
        <p:spPr>
          <a:xfrm>
            <a:off x="609600" y="361950"/>
            <a:ext cx="10972800" cy="609600"/>
          </a:xfrm>
          <a:prstGeom prst="rect">
            <a:avLst/>
          </a:prstGeom>
          <a:noFill/>
          <a:ln w="0">
            <a:noFill/>
          </a:ln>
        </p:spPr>
        <p:txBody>
          <a:bodyPr wrap="square" lIns="0" tIns="0" rIns="0" bIns="0" anchor="t">
            <a:noAutofit/>
          </a:bodyPr>
          <a:lstStyle>
            <a:defPPr algn="l">
              <a:defRPr sz="3150" b="1">
                <a:solidFill>
                  <a:srgbClr val="173E67"/>
                </a:solidFill>
                <a:latin typeface="Microsoft YaHei"/>
                <a:ea typeface="Microsoft YaHei"/>
                <a:cs typeface="Microsoft YaHei"/>
              </a:defRPr>
            </a:defPPr>
          </a:lstStyle>
          <a:p>
            <a:pPr algn="l">
              <a:lnSpc>
                <a:spcPct val="118000"/>
              </a:lnSpc>
              <a:buNone/>
              <a:defRPr sz="3150" b="1">
                <a:solidFill>
                  <a:srgbClr val="173E67"/>
                </a:solidFill>
                <a:latin typeface="Microsoft YaHei"/>
                <a:ea typeface="Microsoft YaHei"/>
                <a:cs typeface="Microsoft YaHei"/>
              </a:defRPr>
            </a:pPr>
            <a:r>
              <a:rPr sz="3150" b="1">
                <a:solidFill>
                  <a:srgbClr val="173E67"/>
                </a:solidFill>
                <a:latin typeface="Microsoft YaHei"/>
                <a:ea typeface="Microsoft YaHei"/>
                <a:cs typeface="Microsoft YaHei"/>
              </a:rPr>
              <a:t>阅读与复现的关键来源</a:t>
            </a:r>
          </a:p>
        </p:txBody>
      </p:sp>
      <p:sp>
        <p:nvSpPr>
          <p:cNvPr id="2" name="text">
            <a:extLst>
              <a:ext uri="{FF2B5EF4-FFF2-40B4-BE49-F238E27FC236}">
                <a16:creationId xmlns:a16="http://schemas.microsoft.com/office/drawing/2014/main" id="{59DBD5C9-5FBE-4918-9778-3BD9B6EA4BFE}"/>
              </a:ext>
            </a:extLst>
          </p:cNvPr>
          <p:cNvSpPr>
            <a:spLocks noGrp="1"/>
          </p:cNvSpPr>
          <p:nvPr/>
        </p:nvSpPr>
        <p:spPr>
          <a:xfrm>
            <a:off x="609600" y="1476375"/>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任务与基准</a:t>
            </a:r>
          </a:p>
        </p:txBody>
      </p:sp>
      <p:sp>
        <p:nvSpPr>
          <p:cNvPr id="3" name="text">
            <a:extLst>
              <a:ext uri="{FF2B5EF4-FFF2-40B4-BE49-F238E27FC236}">
                <a16:creationId xmlns:a16="http://schemas.microsoft.com/office/drawing/2014/main" id="{AC176E5B-6FC7-4295-BC5A-52414484999A}"/>
              </a:ext>
            </a:extLst>
          </p:cNvPr>
          <p:cNvSpPr>
            <a:spLocks noGrp="1"/>
          </p:cNvSpPr>
          <p:nvPr/>
        </p:nvSpPr>
        <p:spPr>
          <a:xfrm>
            <a:off x="2514600" y="1476375"/>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CDVAE、DiffCSP、FlowMM的原文与官方数据配置</a:t>
            </a:r>
          </a:p>
        </p:txBody>
      </p:sp>
      <p:sp>
        <p:nvSpPr>
          <p:cNvPr id="4" name="text">
            <a:extLst>
              <a:ext uri="{FF2B5EF4-FFF2-40B4-BE49-F238E27FC236}">
                <a16:creationId xmlns:a16="http://schemas.microsoft.com/office/drawing/2014/main" id="{92B27CDB-5E8F-4D55-A893-C76711AF1FB6}"/>
              </a:ext>
            </a:extLst>
          </p:cNvPr>
          <p:cNvSpPr>
            <a:spLocks noGrp="1"/>
          </p:cNvSpPr>
          <p:nvPr/>
        </p:nvSpPr>
        <p:spPr>
          <a:xfrm>
            <a:off x="609600" y="2574131"/>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数据与相稳定</a:t>
            </a:r>
          </a:p>
        </p:txBody>
      </p:sp>
      <p:sp>
        <p:nvSpPr>
          <p:cNvPr id="5" name="text">
            <a:extLst>
              <a:ext uri="{FF2B5EF4-FFF2-40B4-BE49-F238E27FC236}">
                <a16:creationId xmlns:a16="http://schemas.microsoft.com/office/drawing/2014/main" id="{3D16C4F6-A713-42EB-9C10-34D66DBAAD1B}"/>
              </a:ext>
            </a:extLst>
          </p:cNvPr>
          <p:cNvSpPr>
            <a:spLocks noGrp="1"/>
          </p:cNvSpPr>
          <p:nvPr/>
        </p:nvSpPr>
        <p:spPr>
          <a:xfrm>
            <a:off x="2514600" y="2574131"/>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Materials Project方法文档、Alexandria发布页、pymatgen相图与结构匹配</a:t>
            </a:r>
          </a:p>
        </p:txBody>
      </p:sp>
      <p:sp>
        <p:nvSpPr>
          <p:cNvPr id="6" name="text">
            <a:extLst>
              <a:ext uri="{FF2B5EF4-FFF2-40B4-BE49-F238E27FC236}">
                <a16:creationId xmlns:a16="http://schemas.microsoft.com/office/drawing/2014/main" id="{0C423A97-2063-453B-AEF6-EF1DAF504870}"/>
              </a:ext>
            </a:extLst>
          </p:cNvPr>
          <p:cNvSpPr>
            <a:spLocks noGrp="1"/>
          </p:cNvSpPr>
          <p:nvPr/>
        </p:nvSpPr>
        <p:spPr>
          <a:xfrm>
            <a:off x="609600" y="3671888"/>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物理计算</a:t>
            </a:r>
          </a:p>
        </p:txBody>
      </p:sp>
      <p:sp>
        <p:nvSpPr>
          <p:cNvPr id="7" name="text">
            <a:extLst>
              <a:ext uri="{FF2B5EF4-FFF2-40B4-BE49-F238E27FC236}">
                <a16:creationId xmlns:a16="http://schemas.microsoft.com/office/drawing/2014/main" id="{3B6A22A8-E252-46EE-9548-F921FC87A343}"/>
              </a:ext>
            </a:extLst>
          </p:cNvPr>
          <p:cNvSpPr>
            <a:spLocks noGrp="1"/>
          </p:cNvSpPr>
          <p:nvPr/>
        </p:nvSpPr>
        <p:spPr>
          <a:xfrm>
            <a:off x="2514600" y="3671888"/>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CHGNet / MACE / MatterSim模型资料；ASE与Phonopy方法说明</a:t>
            </a:r>
          </a:p>
        </p:txBody>
      </p:sp>
      <p:sp>
        <p:nvSpPr>
          <p:cNvPr id="8" name="text">
            <a:extLst>
              <a:ext uri="{FF2B5EF4-FFF2-40B4-BE49-F238E27FC236}">
                <a16:creationId xmlns:a16="http://schemas.microsoft.com/office/drawing/2014/main" id="{73EAFB6F-3BA9-4488-A049-7977261F4316}"/>
              </a:ext>
            </a:extLst>
          </p:cNvPr>
          <p:cNvSpPr>
            <a:spLocks noGrp="1"/>
          </p:cNvSpPr>
          <p:nvPr/>
        </p:nvSpPr>
        <p:spPr>
          <a:xfrm>
            <a:off x="609600" y="4769644"/>
            <a:ext cx="1762125" cy="476250"/>
          </a:xfrm>
          <a:prstGeom prst="rect">
            <a:avLst/>
          </a:prstGeom>
          <a:noFill/>
          <a:ln w="0">
            <a:noFill/>
          </a:ln>
        </p:spPr>
        <p:txBody>
          <a:bodyPr wrap="square" lIns="0" tIns="0" rIns="0" bIns="0" anchor="t">
            <a:noAutofit/>
          </a:bodyPr>
          <a:lstStyle>
            <a:defPPr algn="l">
              <a:defRPr sz="1950" b="1">
                <a:solidFill>
                  <a:srgbClr val="173E67"/>
                </a:solidFill>
                <a:latin typeface="Microsoft YaHei"/>
                <a:ea typeface="Microsoft YaHei"/>
                <a:cs typeface="Microsoft YaHei"/>
              </a:defRPr>
            </a:defPPr>
          </a:lstStyle>
          <a:p>
            <a:pPr algn="l">
              <a:lnSpc>
                <a:spcPct val="118000"/>
              </a:lnSpc>
              <a:buNone/>
              <a:defRPr sz="1950" b="1">
                <a:solidFill>
                  <a:srgbClr val="173E67"/>
                </a:solidFill>
                <a:latin typeface="Microsoft YaHei"/>
                <a:ea typeface="Microsoft YaHei"/>
                <a:cs typeface="Microsoft YaHei"/>
              </a:defRPr>
            </a:pPr>
            <a:r>
              <a:rPr sz="1950" b="1">
                <a:solidFill>
                  <a:srgbClr val="173E67"/>
                </a:solidFill>
                <a:latin typeface="Microsoft YaHei"/>
                <a:ea typeface="Microsoft YaHei"/>
                <a:cs typeface="Microsoft YaHei"/>
              </a:rPr>
              <a:t>MatterGen</a:t>
            </a:r>
          </a:p>
        </p:txBody>
      </p:sp>
      <p:sp>
        <p:nvSpPr>
          <p:cNvPr id="9" name="text">
            <a:extLst>
              <a:ext uri="{FF2B5EF4-FFF2-40B4-BE49-F238E27FC236}">
                <a16:creationId xmlns:a16="http://schemas.microsoft.com/office/drawing/2014/main" id="{ED32D5F9-4586-4B06-B8D1-710E567266B9}"/>
              </a:ext>
            </a:extLst>
          </p:cNvPr>
          <p:cNvSpPr>
            <a:spLocks noGrp="1"/>
          </p:cNvSpPr>
          <p:nvPr/>
        </p:nvSpPr>
        <p:spPr>
          <a:xfrm>
            <a:off x="2514600" y="4769644"/>
            <a:ext cx="9067800" cy="935831"/>
          </a:xfrm>
          <a:prstGeom prst="rect">
            <a:avLst/>
          </a:prstGeom>
          <a:noFill/>
          <a:ln w="0">
            <a:noFill/>
          </a:ln>
        </p:spPr>
        <p:txBody>
          <a:bodyPr wrap="square" lIns="0" tIns="0" rIns="0" bIns="0" anchor="t">
            <a:noAutofit/>
          </a:bodyPr>
          <a:lstStyle>
            <a:defPPr algn="l">
              <a:defRPr sz="1950" b="0">
                <a:solidFill>
                  <a:srgbClr val="1B2533"/>
                </a:solidFill>
                <a:latin typeface="Microsoft YaHei"/>
                <a:ea typeface="Microsoft YaHei"/>
                <a:cs typeface="Microsoft YaHei"/>
              </a:defRPr>
            </a:defPPr>
          </a:lstStyle>
          <a:p>
            <a:pPr algn="l">
              <a:lnSpc>
                <a:spcPct val="118000"/>
              </a:lnSpc>
              <a:buNone/>
              <a:defRPr sz="1950" b="0">
                <a:solidFill>
                  <a:srgbClr val="1B2533"/>
                </a:solidFill>
                <a:latin typeface="Microsoft YaHei"/>
                <a:ea typeface="Microsoft YaHei"/>
                <a:cs typeface="Microsoft YaHei"/>
              </a:defRPr>
            </a:pPr>
            <a:r>
              <a:rPr sz="1950" b="0">
                <a:solidFill>
                  <a:srgbClr val="1B2533"/>
                </a:solidFill>
                <a:latin typeface="Microsoft YaHei"/>
                <a:ea typeface="Microsoft YaHei"/>
                <a:cs typeface="Microsoft YaHei"/>
              </a:rPr>
              <a:t>Nature正式论文、补充材料与官方代码。五页所引数据和原图各有来源位置</a:t>
            </a:r>
          </a:p>
        </p:txBody>
      </p:sp>
      <p:sp>
        <p:nvSpPr>
          <p:cNvPr id="10" name="separator">
            <a:extLst>
              <a:ext uri="{FF2B5EF4-FFF2-40B4-BE49-F238E27FC236}">
                <a16:creationId xmlns:a16="http://schemas.microsoft.com/office/drawing/2014/main" id="{02C2DF0B-7752-485D-8B31-FB874EFA0323}"/>
              </a:ext>
            </a:extLst>
          </p:cNvPr>
          <p:cNvSpPr>
            <a:spLocks noGrp="1"/>
          </p:cNvSpPr>
          <p:nvPr/>
        </p:nvSpPr>
        <p:spPr>
          <a:xfrm>
            <a:off x="609600" y="6200775"/>
            <a:ext cx="10972800" cy="0"/>
          </a:xfrm>
          <a:prstGeom prst="line">
            <a:avLst/>
          </a:prstGeom>
          <a:ln w="9525">
            <a:solidFill>
              <a:srgbClr val="D5DCE3"/>
            </a:solidFill>
          </a:ln>
        </p:spPr>
      </p:sp>
      <p:sp>
        <p:nvSpPr>
          <p:cNvPr id="11" name="sources">
            <a:extLst>
              <a:ext uri="{FF2B5EF4-FFF2-40B4-BE49-F238E27FC236}">
                <a16:creationId xmlns:a16="http://schemas.microsoft.com/office/drawing/2014/main" id="{7933885C-A96F-40F6-BDF9-D62C8DDBAFB1}"/>
              </a:ext>
            </a:extLst>
          </p:cNvPr>
          <p:cNvSpPr>
            <a:spLocks noGrp="1"/>
          </p:cNvSpPr>
          <p:nvPr/>
        </p:nvSpPr>
        <p:spPr>
          <a:xfrm>
            <a:off x="609600" y="6353175"/>
            <a:ext cx="10363200" cy="342900"/>
          </a:xfrm>
          <a:prstGeom prst="rect">
            <a:avLst/>
          </a:prstGeom>
          <a:noFill/>
          <a:ln w="0">
            <a:noFill/>
          </a:ln>
        </p:spPr>
        <p:txBody>
          <a:bodyPr wrap="square" lIns="0" tIns="0" rIns="0" bIns="0" anchor="t">
            <a:noAutofit/>
          </a:bodyPr>
          <a:lstStyle>
            <a:defPPr algn="l">
              <a:defRPr sz="1013" b="0">
                <a:solidFill>
                  <a:srgbClr val="526170"/>
                </a:solidFill>
                <a:latin typeface="Microsoft YaHei"/>
                <a:ea typeface="Microsoft YaHei"/>
                <a:cs typeface="Microsoft YaHei"/>
              </a:defRPr>
            </a:defPPr>
          </a:lstStyle>
          <a:p>
            <a:pPr algn="l">
              <a:lnSpc>
                <a:spcPct val="118000"/>
              </a:lnSpc>
              <a:buNone/>
              <a:defRPr sz="1013" b="0">
                <a:solidFill>
                  <a:srgbClr val="526170"/>
                </a:solidFill>
                <a:latin typeface="Microsoft YaHei"/>
                <a:ea typeface="Microsoft YaHei"/>
                <a:cs typeface="Microsoft YaHei"/>
              </a:defRPr>
            </a:pPr>
            <a:r>
              <a:rPr sz="1013" b="0">
                <a:solidFill>
                  <a:srgbClr val="526170"/>
                </a:solidFill>
                <a:latin typeface="Microsoft YaHei"/>
                <a:ea typeface="Microsoft YaHei"/>
                <a:cs typeface="Microsoft YaHei"/>
              </a:rPr>
              <a:t>完整逐页来源与讲稿另附可检索文档。论文版本、训练快照与开源默认评测分别记录。</a:t>
            </a:r>
          </a:p>
        </p:txBody>
      </p:sp>
      <p:sp>
        <p:nvSpPr>
          <p:cNvPr id="12" name="page-number">
            <a:extLst>
              <a:ext uri="{FF2B5EF4-FFF2-40B4-BE49-F238E27FC236}">
                <a16:creationId xmlns:a16="http://schemas.microsoft.com/office/drawing/2014/main" id="{4A141FD4-6195-414A-B653-5D1BA340C899}"/>
              </a:ext>
            </a:extLst>
          </p:cNvPr>
          <p:cNvSpPr>
            <a:spLocks noGrp="1"/>
          </p:cNvSpPr>
          <p:nvPr/>
        </p:nvSpPr>
        <p:spPr>
          <a:xfrm>
            <a:off x="11334750" y="6334125"/>
            <a:ext cx="266700" cy="238125"/>
          </a:xfrm>
          <a:prstGeom prst="rect">
            <a:avLst/>
          </a:prstGeom>
          <a:noFill/>
          <a:ln w="0">
            <a:noFill/>
          </a:ln>
        </p:spPr>
        <p:txBody>
          <a:bodyPr wrap="square" lIns="0" tIns="0" rIns="0" bIns="0" anchor="t">
            <a:noAutofit/>
          </a:bodyPr>
          <a:lstStyle>
            <a:defPPr algn="r">
              <a:defRPr sz="1275" b="0">
                <a:solidFill>
                  <a:srgbClr val="526170"/>
                </a:solidFill>
                <a:latin typeface="Microsoft YaHei"/>
                <a:ea typeface="Microsoft YaHei"/>
                <a:cs typeface="Microsoft YaHei"/>
              </a:defRPr>
            </a:defPPr>
          </a:lstStyle>
          <a:p>
            <a:pPr algn="r">
              <a:lnSpc>
                <a:spcPct val="118000"/>
              </a:lnSpc>
              <a:buNone/>
              <a:defRPr sz="1275" b="0">
                <a:solidFill>
                  <a:srgbClr val="526170"/>
                </a:solidFill>
                <a:latin typeface="Microsoft YaHei"/>
                <a:ea typeface="Microsoft YaHei"/>
                <a:cs typeface="Microsoft YaHei"/>
              </a:defRPr>
            </a:pPr>
            <a:r>
              <a:rPr lang="en-US" altLang="zh-CN" sz="1275" b="0">
                <a:solidFill>
                  <a:srgbClr val="526170"/>
                </a:solidFill>
                <a:latin typeface="Microsoft YaHei"/>
                <a:ea typeface="Microsoft YaHei"/>
                <a:cs typeface="Microsoft YaHei"/>
              </a:rPr>
              <a:t>60</a:t>
            </a:r>
            <a:endParaRPr sz="1275" b="0">
              <a:solidFill>
                <a:srgbClr val="526170"/>
              </a:solidFill>
              <a:latin typeface="Microsoft YaHei"/>
              <a:ea typeface="Microsoft YaHei"/>
              <a:cs typeface="Microsoft YaHei"/>
            </a:endParaRPr>
          </a:p>
        </p:txBody>
      </p:sp>
    </p:spTree>
    <p:extLst>
      <p:ext uri="{BB962C8B-B14F-4D97-AF65-F5344CB8AC3E}">
        <p14:creationId xmlns:p14="http://schemas.microsoft.com/office/powerpoint/2010/main" val="345980546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31432</Words>
  <Application>Microsoft Office PowerPoint</Application>
  <DocSecurity>0</DocSecurity>
  <PresentationFormat>宽屏</PresentationFormat>
  <Paragraphs>1956</Paragraphs>
  <Slides>60</Slides>
  <Notes>60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60</vt:i4>
      </vt:variant>
    </vt:vector>
  </HeadingPairs>
  <TitlesOfParts>
    <vt:vector size="63" baseType="lpstr">
      <vt:lpstr>Aptos</vt:lpstr>
      <vt:lpstr>Microsoft YaHei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cp:lastModifiedBy>
  <cp:revision>2</cp:revision>
  <dcterms:created xsi:type="dcterms:W3CDTF">2026-10-13T07:59:22Z</dcterms:created>
  <dcterms:modified xsi:type="dcterms:W3CDTF">2026-10-13T12:49:31Z</dcterms:modified>
</cp:coreProperties>
</file>