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4.xml" ContentType="application/vnd.openxmlformats-officedocument.drawingml.chart+xml"/>
  <Override PartName="/ppt/notesSlides/notesSlide26.xml" ContentType="application/vnd.openxmlformats-officedocument.presentationml.notesSlide+xml"/>
  <Override PartName="/ppt/charts/chart5.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A原子</c:v>
          </c:tx>
          <c:spPr>
            <a:ln w="0">
              <a:noFill/>
            </a:ln>
          </c:spPr>
          <c:marker>
            <c:symbol val="circle"/>
            <c:size val="12"/>
            <c:spPr>
              <a:solidFill>
                <a:srgbClr val="173E67"/>
              </a:solidFill>
            </c:spPr>
          </c:marker>
          <c:xVal>
            <c:numRef>
              <c:f>'Chart Data'!$A$2:$A$5</c:f>
              <c:numCache>
                <c:formatCode>General</c:formatCode>
                <c:ptCount val="4"/>
                <c:pt idx="0">
                  <c:v>0.05</c:v>
                </c:pt>
                <c:pt idx="1">
                  <c:v>1.05</c:v>
                </c:pt>
                <c:pt idx="2">
                  <c:v>0.05</c:v>
                </c:pt>
                <c:pt idx="3">
                  <c:v>1.05</c:v>
                </c:pt>
              </c:numCache>
            </c:numRef>
          </c:xVal>
          <c:yVal>
            <c:numRef>
              <c:f>'Chart Data'!$B$2:$B$5</c:f>
              <c:numCache>
                <c:formatCode>0</c:formatCode>
                <c:ptCount val="4"/>
                <c:pt idx="0">
                  <c:v>0.2</c:v>
                </c:pt>
                <c:pt idx="1">
                  <c:v>0.2</c:v>
                </c:pt>
                <c:pt idx="2">
                  <c:v>1.2</c:v>
                </c:pt>
                <c:pt idx="3">
                  <c:v>1.2</c:v>
                </c:pt>
              </c:numCache>
            </c:numRef>
          </c:yVal>
          <c:smooth val="1"/>
          <c:extLst>
            <c:ext xmlns:c16="http://schemas.microsoft.com/office/drawing/2014/chart" uri="{C3380CC4-5D6E-409C-BE32-E72D297353CC}">
              <c16:uniqueId val="{00000000-84AC-469E-8EB3-3681D3069F46}"/>
            </c:ext>
          </c:extLst>
        </c:ser>
        <c:ser>
          <c:idx val="1"/>
          <c:order val="1"/>
          <c:tx>
            <c:v>B原子</c:v>
          </c:tx>
          <c:spPr>
            <a:ln w="0">
              <a:noFill/>
            </a:ln>
          </c:spPr>
          <c:marker>
            <c:symbol val="circle"/>
            <c:size val="12"/>
            <c:spPr>
              <a:solidFill>
                <a:srgbClr val="A3664E"/>
              </a:solidFill>
            </c:spPr>
          </c:marker>
          <c:xVal>
            <c:numRef>
              <c:f>'Chart Data'!$C$2:$C$5</c:f>
              <c:numCache>
                <c:formatCode>General</c:formatCode>
                <c:ptCount val="4"/>
                <c:pt idx="0">
                  <c:v>0.95</c:v>
                </c:pt>
                <c:pt idx="1">
                  <c:v>1.95</c:v>
                </c:pt>
                <c:pt idx="2">
                  <c:v>0.95</c:v>
                </c:pt>
                <c:pt idx="3">
                  <c:v>1.95</c:v>
                </c:pt>
              </c:numCache>
            </c:numRef>
          </c:xVal>
          <c:yVal>
            <c:numRef>
              <c:f>'Chart Data'!$D$2:$D$5</c:f>
              <c:numCache>
                <c:formatCode>0</c:formatCode>
                <c:ptCount val="4"/>
                <c:pt idx="0">
                  <c:v>0.2</c:v>
                </c:pt>
                <c:pt idx="1">
                  <c:v>0.2</c:v>
                </c:pt>
                <c:pt idx="2">
                  <c:v>1.2</c:v>
                </c:pt>
                <c:pt idx="3">
                  <c:v>1.2</c:v>
                </c:pt>
              </c:numCache>
            </c:numRef>
          </c:yVal>
          <c:smooth val="1"/>
          <c:extLst>
            <c:ext xmlns:c16="http://schemas.microsoft.com/office/drawing/2014/chart" uri="{C3380CC4-5D6E-409C-BE32-E72D297353CC}">
              <c16:uniqueId val="{00000001-84AC-469E-8EB3-3681D3069F46}"/>
            </c:ext>
          </c:extLst>
        </c:ser>
        <c:dLbls>
          <c:showLegendKey val="0"/>
          <c:showVal val="0"/>
          <c:showCatName val="0"/>
          <c:showSerName val="0"/>
          <c:showPercent val="0"/>
          <c:showBubbleSize val="0"/>
        </c:dLbls>
        <c:axId val="48650112"/>
        <c:axId val="48672768"/>
      </c:scatterChart>
      <c:valAx>
        <c:axId val="48672768"/>
        <c:scaling>
          <c:orientation val="minMax"/>
          <c:max val="2"/>
          <c:min val="0"/>
        </c:scaling>
        <c:delete val="0"/>
        <c:axPos val="l"/>
        <c:majorGridlines>
          <c:spPr>
            <a:ln w="9525">
              <a:solidFill>
                <a:srgbClr val="D5DCE3"/>
              </a:solidFill>
            </a:ln>
          </c:spPr>
        </c:majorGridlines>
        <c:numFmt formatCode="0" sourceLinked="1"/>
        <c:majorTickMark val="none"/>
        <c:minorTickMark val="none"/>
        <c:tickLblPos val="nextTo"/>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50112"/>
        <c:crossesAt val="0"/>
        <c:crossBetween val="midCat"/>
        <c:majorUnit val="1"/>
      </c:valAx>
      <c:valAx>
        <c:axId val="48650112"/>
        <c:scaling>
          <c:orientation val="minMax"/>
          <c:max val="2"/>
          <c:min val="0"/>
        </c:scaling>
        <c:delete val="0"/>
        <c:axPos val="b"/>
        <c:majorGridlines>
          <c:spPr>
            <a:ln w="9525">
              <a:solidFill>
                <a:srgbClr val="D5DCE3"/>
              </a:solidFill>
            </a:ln>
          </c:spPr>
        </c:majorGridlines>
        <c:numFmt formatCode="General" sourceLinked="1"/>
        <c:majorTickMark val="none"/>
        <c:minorTickMark val="none"/>
        <c:tickLblPos val="low"/>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72768"/>
        <c:crosses val="autoZero"/>
        <c:crossBetween val="midCat"/>
        <c:majorUnit val="1"/>
      </c:valAx>
      <c:spPr>
        <a:solidFill>
          <a:srgbClr val="FFFFFF"/>
        </a:solidFill>
        <a:ln w="0">
          <a:noFill/>
        </a:ln>
      </c:spPr>
    </c:plotArea>
    <c:legend>
      <c:legendPos val="b"/>
      <c:overlay val="0"/>
      <c:txPr>
        <a:bodyPr anchorCtr="1"/>
        <a:lstStyle/>
        <a:p>
          <a:pPr>
            <a:defRPr sz="1425">
              <a:solidFill>
                <a:srgbClr val="1B2533"/>
              </a:solidFill>
              <a:latin typeface="Microsoft YaHei"/>
              <a:ea typeface="Microsoft YaHei"/>
              <a:cs typeface="Microsoft YaHei"/>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固定参考包</c:v>
          </c:tx>
          <c:spPr>
            <a:ln w="21908">
              <a:solidFill>
                <a:srgbClr val="6B7C8C"/>
              </a:solidFill>
            </a:ln>
          </c:spPr>
          <c:marker>
            <c:symbol val="circle"/>
            <c:size val="7"/>
            <c:spPr>
              <a:solidFill>
                <a:srgbClr val="6B7C8C"/>
              </a:solidFill>
            </c:spPr>
          </c:marker>
          <c:xVal>
            <c:numRef>
              <c:f>'Chart Data'!$A$2:$A$6</c:f>
              <c:numCache>
                <c:formatCode>General</c:formatCode>
                <c:ptCount val="5"/>
                <c:pt idx="0">
                  <c:v>0</c:v>
                </c:pt>
                <c:pt idx="1">
                  <c:v>0.25</c:v>
                </c:pt>
                <c:pt idx="2">
                  <c:v>0.5</c:v>
                </c:pt>
                <c:pt idx="3">
                  <c:v>0.75</c:v>
                </c:pt>
                <c:pt idx="4">
                  <c:v>1</c:v>
                </c:pt>
              </c:numCache>
            </c:numRef>
          </c:xVal>
          <c:yVal>
            <c:numRef>
              <c:f>'Chart Data'!$B$2:$B$6</c:f>
              <c:numCache>
                <c:formatCode>0.0</c:formatCode>
                <c:ptCount val="5"/>
                <c:pt idx="0">
                  <c:v>0</c:v>
                </c:pt>
                <c:pt idx="1">
                  <c:v>-0.3</c:v>
                </c:pt>
                <c:pt idx="2">
                  <c:v>-0.5</c:v>
                </c:pt>
                <c:pt idx="3">
                  <c:v>-0.3</c:v>
                </c:pt>
                <c:pt idx="4">
                  <c:v>0</c:v>
                </c:pt>
              </c:numCache>
            </c:numRef>
          </c:yVal>
          <c:smooth val="0"/>
          <c:extLst>
            <c:ext xmlns:c16="http://schemas.microsoft.com/office/drawing/2014/chart" uri="{C3380CC4-5D6E-409C-BE32-E72D297353CC}">
              <c16:uniqueId val="{00000000-E124-4A69-924C-739166648D5F}"/>
            </c:ext>
          </c:extLst>
        </c:ser>
        <c:ser>
          <c:idx val="1"/>
          <c:order val="1"/>
          <c:tx>
            <c:v>新候选</c:v>
          </c:tx>
          <c:marker>
            <c:symbol val="diamond"/>
            <c:size val="12"/>
            <c:spPr>
              <a:solidFill>
                <a:srgbClr val="173E67"/>
              </a:solidFill>
            </c:spPr>
          </c:marker>
          <c:xVal>
            <c:numRef>
              <c:f>'Chart Data'!$C$2:$C$2</c:f>
              <c:numCache>
                <c:formatCode>General</c:formatCode>
                <c:ptCount val="1"/>
                <c:pt idx="0">
                  <c:v>0.333333333333</c:v>
                </c:pt>
              </c:numCache>
            </c:numRef>
          </c:xVal>
          <c:yVal>
            <c:numRef>
              <c:f>'Chart Data'!$D$2:$D$2</c:f>
              <c:numCache>
                <c:formatCode>0.0</c:formatCode>
                <c:ptCount val="1"/>
                <c:pt idx="0">
                  <c:v>-0.45</c:v>
                </c:pt>
              </c:numCache>
            </c:numRef>
          </c:yVal>
          <c:smooth val="0"/>
          <c:extLst>
            <c:ext xmlns:c16="http://schemas.microsoft.com/office/drawing/2014/chart" uri="{C3380CC4-5D6E-409C-BE32-E72D297353CC}">
              <c16:uniqueId val="{00000001-E124-4A69-924C-739166648D5F}"/>
            </c:ext>
          </c:extLst>
        </c:ser>
        <c:ser>
          <c:idx val="2"/>
          <c:order val="2"/>
          <c:tx>
            <c:v>较高能多晶型</c:v>
          </c:tx>
          <c:marker>
            <c:symbol val="square"/>
            <c:size val="10"/>
            <c:spPr>
              <a:solidFill>
                <a:srgbClr val="A3664E"/>
              </a:solidFill>
            </c:spPr>
          </c:marker>
          <c:xVal>
            <c:numRef>
              <c:f>'Chart Data'!$E$2:$E$2</c:f>
              <c:numCache>
                <c:formatCode>General</c:formatCode>
                <c:ptCount val="1"/>
                <c:pt idx="0">
                  <c:v>0.333333333333</c:v>
                </c:pt>
              </c:numCache>
            </c:numRef>
          </c:xVal>
          <c:yVal>
            <c:numRef>
              <c:f>'Chart Data'!$F$2:$F$2</c:f>
              <c:numCache>
                <c:formatCode>0.0</c:formatCode>
                <c:ptCount val="1"/>
                <c:pt idx="0">
                  <c:v>-0.2</c:v>
                </c:pt>
              </c:numCache>
            </c:numRef>
          </c:yVal>
          <c:smooth val="0"/>
          <c:extLst>
            <c:ext xmlns:c16="http://schemas.microsoft.com/office/drawing/2014/chart" uri="{C3380CC4-5D6E-409C-BE32-E72D297353CC}">
              <c16:uniqueId val="{00000002-E124-4A69-924C-739166648D5F}"/>
            </c:ext>
          </c:extLst>
        </c:ser>
        <c:dLbls>
          <c:showLegendKey val="0"/>
          <c:showVal val="0"/>
          <c:showCatName val="0"/>
          <c:showSerName val="0"/>
          <c:showPercent val="0"/>
          <c:showBubbleSize val="0"/>
        </c:dLbls>
        <c:axId val="48650112"/>
        <c:axId val="48672768"/>
      </c:scatterChart>
      <c:valAx>
        <c:axId val="48672768"/>
        <c:scaling>
          <c:orientation val="minMax"/>
          <c:max val="0"/>
          <c:min val="-0.6"/>
        </c:scaling>
        <c:delete val="0"/>
        <c:axPos val="l"/>
        <c:majorGridlines>
          <c:spPr>
            <a:ln w="9525">
              <a:solidFill>
                <a:srgbClr val="D5DCE3"/>
              </a:solidFill>
            </a:ln>
          </c:spPr>
        </c:majorGridlines>
        <c:numFmt formatCode="0.0" sourceLinked="1"/>
        <c:majorTickMark val="none"/>
        <c:minorTickMark val="none"/>
        <c:tickLblPos val="nextTo"/>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50112"/>
        <c:crossesAt val="-0.6"/>
        <c:crossBetween val="midCat"/>
        <c:majorUnit val="0.1"/>
      </c:valAx>
      <c:valAx>
        <c:axId val="48650112"/>
        <c:scaling>
          <c:orientation val="minMax"/>
          <c:max val="1"/>
          <c:min val="0"/>
        </c:scaling>
        <c:delete val="0"/>
        <c:axPos val="b"/>
        <c:majorGridlines>
          <c:spPr>
            <a:ln w="9525">
              <a:solidFill>
                <a:srgbClr val="D5DCE3"/>
              </a:solidFill>
            </a:ln>
          </c:spPr>
        </c:majorGridlines>
        <c:numFmt formatCode="General" sourceLinked="1"/>
        <c:majorTickMark val="none"/>
        <c:minorTickMark val="none"/>
        <c:tickLblPos val="low"/>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72768"/>
        <c:crosses val="autoZero"/>
        <c:crossBetween val="midCat"/>
        <c:majorUnit val="0.25"/>
      </c:valAx>
      <c:spPr>
        <a:solidFill>
          <a:srgbClr val="FFFFFF"/>
        </a:solidFill>
        <a:ln w="0">
          <a:noFill/>
        </a:ln>
      </c:spPr>
    </c:plotArea>
    <c:legend>
      <c:legendPos val="b"/>
      <c:overlay val="0"/>
      <c:txPr>
        <a:bodyPr anchorCtr="1"/>
        <a:lstStyle/>
        <a:p>
          <a:pPr>
            <a:defRPr sz="1425">
              <a:solidFill>
                <a:srgbClr val="1B2533"/>
              </a:solidFill>
              <a:latin typeface="Microsoft YaHei"/>
              <a:ea typeface="Microsoft YaHei"/>
              <a:cs typeface="Microsoft YaHei"/>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结构数量</c:v>
          </c:tx>
          <c:spPr>
            <a:solidFill>
              <a:srgbClr val="173E67"/>
            </a:solidFill>
          </c:spPr>
          <c:invertIfNegative val="0"/>
          <c:dLbls>
            <c:numFmt formatCode="0" sourceLinked="0"/>
            <c:spPr>
              <a:noFill/>
              <a:ln>
                <a:noFill/>
              </a:ln>
              <a:effectLst/>
            </c:spPr>
            <c:txPr>
              <a:bodyPr anchorCtr="1"/>
              <a:lstStyle/>
              <a:p>
                <a:pPr>
                  <a:defRPr sz="1425"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请求</c:v>
                </c:pt>
                <c:pt idx="1">
                  <c:v>有效</c:v>
                </c:pt>
                <c:pt idx="2">
                  <c:v>稳定</c:v>
                </c:pt>
                <c:pt idx="3">
                  <c:v>稳定去重</c:v>
                </c:pt>
                <c:pt idx="4">
                  <c:v>SUN</c:v>
                </c:pt>
              </c:strCache>
            </c:strRef>
          </c:cat>
          <c:val>
            <c:numRef>
              <c:f>'Chart Data'!$B$2:$B$6</c:f>
              <c:numCache>
                <c:formatCode>General</c:formatCode>
                <c:ptCount val="5"/>
                <c:pt idx="0">
                  <c:v>100</c:v>
                </c:pt>
                <c:pt idx="1">
                  <c:v>90</c:v>
                </c:pt>
                <c:pt idx="2">
                  <c:v>40</c:v>
                </c:pt>
                <c:pt idx="3">
                  <c:v>30</c:v>
                </c:pt>
                <c:pt idx="4">
                  <c:v>12</c:v>
                </c:pt>
              </c:numCache>
            </c:numRef>
          </c:val>
          <c:extLst>
            <c:ext xmlns:c16="http://schemas.microsoft.com/office/drawing/2014/chart" uri="{C3380CC4-5D6E-409C-BE32-E72D297353CC}">
              <c16:uniqueId val="{00000000-CE7A-40E4-94BA-712707BF4CF6}"/>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10"/>
          <c:min val="0"/>
        </c:scaling>
        <c:delete val="0"/>
        <c:axPos val="l"/>
        <c:majorGridlines>
          <c:spPr>
            <a:ln w="9525">
              <a:solidFill>
                <a:srgbClr val="E2E7EC"/>
              </a:solidFill>
            </a:ln>
          </c:spPr>
        </c:majorGridlines>
        <c:numFmt formatCode="General" sourceLinked="1"/>
        <c:majorTickMark val="none"/>
        <c:minorTickMark val="none"/>
        <c:tickLblPos val="nextTo"/>
        <c:spPr>
          <a:ln w="0">
            <a:noFill/>
          </a:ln>
        </c:spPr>
        <c:txPr>
          <a:bodyPr anchorCtr="1"/>
          <a:lstStyle/>
          <a:p>
            <a:pPr>
              <a:defRPr sz="1425">
                <a:solidFill>
                  <a:srgbClr val="1B2533"/>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论文SUN（%）</c:v>
          </c:tx>
          <c:spPr>
            <a:solidFill>
              <a:srgbClr val="173E67"/>
            </a:solidFill>
          </c:spPr>
          <c:invertIfNegative val="0"/>
          <c:dPt>
            <c:idx val="0"/>
            <c:invertIfNegative val="0"/>
            <c:bubble3D val="0"/>
            <c:spPr>
              <a:solidFill>
                <a:srgbClr val="A8B5C2"/>
              </a:solidFill>
            </c:spPr>
            <c:extLst>
              <c:ext xmlns:c16="http://schemas.microsoft.com/office/drawing/2014/chart" uri="{C3380CC4-5D6E-409C-BE32-E72D297353CC}">
                <c16:uniqueId val="{00000001-C728-4E33-9237-7E61979C88B0}"/>
              </c:ext>
            </c:extLst>
          </c:dPt>
          <c:dPt>
            <c:idx val="1"/>
            <c:invertIfNegative val="0"/>
            <c:bubble3D val="0"/>
            <c:extLst>
              <c:ext xmlns:c16="http://schemas.microsoft.com/office/drawing/2014/chart" uri="{C3380CC4-5D6E-409C-BE32-E72D297353CC}">
                <c16:uniqueId val="{00000003-C728-4E33-9237-7E61979C88B0}"/>
              </c:ext>
            </c:extLst>
          </c:dPt>
          <c:dLbls>
            <c:numFmt formatCode="0.0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DiffCSP</c:v>
                </c:pt>
                <c:pt idx="1">
                  <c:v>MatterGen</c:v>
                </c:pt>
              </c:strCache>
            </c:strRef>
          </c:cat>
          <c:val>
            <c:numRef>
              <c:f>'Chart Data'!$B$2:$B$3</c:f>
              <c:numCache>
                <c:formatCode>0</c:formatCode>
                <c:ptCount val="2"/>
                <c:pt idx="0">
                  <c:v>33.27</c:v>
                </c:pt>
                <c:pt idx="1">
                  <c:v>38.57</c:v>
                </c:pt>
              </c:numCache>
            </c:numRef>
          </c:val>
          <c:extLst>
            <c:ext xmlns:c16="http://schemas.microsoft.com/office/drawing/2014/chart" uri="{C3380CC4-5D6E-409C-BE32-E72D297353CC}">
              <c16:uniqueId val="{00000004-C728-4E33-9237-7E61979C88B0}"/>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500">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45"/>
          <c:min val="0"/>
        </c:scaling>
        <c:delete val="0"/>
        <c:axPos val="l"/>
        <c:majorGridlines>
          <c:spPr>
            <a:ln w="9525">
              <a:solidFill>
                <a:srgbClr val="E2E7EC"/>
              </a:solidFill>
            </a:ln>
          </c:spPr>
        </c:majorGridlines>
        <c:numFmt formatCode="0" sourceLinked="1"/>
        <c:majorTickMark val="none"/>
        <c:minorTickMark val="none"/>
        <c:tickLblPos val="nextTo"/>
        <c:spPr>
          <a:ln w="0">
            <a:noFill/>
          </a:ln>
        </c:spPr>
        <c:txPr>
          <a:bodyPr anchorCtr="1"/>
          <a:lstStyle/>
          <a:p>
            <a:pPr>
              <a:defRPr sz="1500">
                <a:solidFill>
                  <a:srgbClr val="1B2533"/>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体模量 &gt; 400 GPa的论文SUN数</c:v>
          </c:tx>
          <c:spPr>
            <a:solidFill>
              <a:srgbClr val="173E67"/>
            </a:solidFill>
          </c:spPr>
          <c:invertIfNegative val="0"/>
          <c:dPt>
            <c:idx val="0"/>
            <c:invertIfNegative val="0"/>
            <c:bubble3D val="0"/>
            <c:spPr>
              <a:solidFill>
                <a:srgbClr val="A8B5C2"/>
              </a:solidFill>
            </c:spPr>
            <c:extLst>
              <c:ext xmlns:c16="http://schemas.microsoft.com/office/drawing/2014/chart" uri="{C3380CC4-5D6E-409C-BE32-E72D297353CC}">
                <c16:uniqueId val="{00000001-2324-4F9F-8FB2-88B9B8C60A7F}"/>
              </c:ext>
            </c:extLst>
          </c:dPt>
          <c:dPt>
            <c:idx val="1"/>
            <c:invertIfNegative val="0"/>
            <c:bubble3D val="0"/>
            <c:extLst>
              <c:ext xmlns:c16="http://schemas.microsoft.com/office/drawing/2014/chart" uri="{C3380CC4-5D6E-409C-BE32-E72D297353CC}">
                <c16:uniqueId val="{00000003-2324-4F9F-8FB2-88B9B8C60A7F}"/>
              </c:ext>
            </c:extLst>
          </c:dPt>
          <c:dLbls>
            <c:numFmt formatCode="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筛选参照</c:v>
                </c:pt>
                <c:pt idx="1">
                  <c:v>MatterGen</c:v>
                </c:pt>
              </c:strCache>
            </c:strRef>
          </c:cat>
          <c:val>
            <c:numRef>
              <c:f>'Chart Data'!$B$2:$B$3</c:f>
              <c:numCache>
                <c:formatCode>0</c:formatCode>
                <c:ptCount val="2"/>
                <c:pt idx="0">
                  <c:v>40</c:v>
                </c:pt>
                <c:pt idx="1">
                  <c:v>106</c:v>
                </c:pt>
              </c:numCache>
            </c:numRef>
          </c:val>
          <c:extLst>
            <c:ext xmlns:c16="http://schemas.microsoft.com/office/drawing/2014/chart" uri="{C3380CC4-5D6E-409C-BE32-E72D297353CC}">
              <c16:uniqueId val="{00000004-2324-4F9F-8FB2-88B9B8C60A7F}"/>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500">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20"/>
          <c:min val="0"/>
        </c:scaling>
        <c:delete val="0"/>
        <c:axPos val="l"/>
        <c:majorGridlines>
          <c:spPr>
            <a:ln w="9525">
              <a:solidFill>
                <a:srgbClr val="E2E7EC"/>
              </a:solidFill>
            </a:ln>
          </c:spPr>
        </c:majorGridlines>
        <c:numFmt formatCode="0" sourceLinked="1"/>
        <c:majorTickMark val="none"/>
        <c:minorTickMark val="none"/>
        <c:tickLblPos val="nextTo"/>
        <c:spPr>
          <a:ln w="0">
            <a:noFill/>
          </a:ln>
        </c:spPr>
        <c:txPr>
          <a:bodyPr anchorCtr="1"/>
          <a:lstStyle/>
          <a:p>
            <a:pPr>
              <a:defRPr sz="1500">
                <a:solidFill>
                  <a:srgbClr val="1B2533"/>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补充篇承接2026年10月12日的30页晶体研究演化PPT，面向熟悉AI而不熟悉材料科学的听众。主线为生成对象、训练数据、评价定义和实际物理验证，不重复六挑战与四路线。所有标为教学示例的数据均为人为构造。MatterGen在第23–27页单独展开五页。</a:t>
            </a:r>
          </a:p>
          <a:p>
            <a:endParaRPr/>
          </a:p>
          <a:p>
            <a:r>
              <a:t>参考文献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为每个位点元素，不仅是化学式。F为分数坐标，L列向量为三个晶格矢量，代码也可能使用行向量约定。占位无序、缺陷和磁性需要额外变量，当前多数DNG基准主要考虑有序周期结构。原胞为最小平移重复胞，常规胞强调对称，超胞通过重复扩大。</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[IUCR] How to read (and understand) Volume A of International Tables for Crystallography: an introduction for nonspecialists. 2010. https://journals.iucr.org/j/issues/2010/05/02/kk5061/index.html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图中A、B仅为虚构原子类别，四个方格重复相同的两个分数位置，不代表真实材料。坐标逐项MSE或CIF字符串相等通常不足以判断晶体身份。NaCl原胞2原子而常规立方胞8原子，说明胞选择会影响原子数限制。</a:t>
            </a:r>
          </a:p>
          <a:p>
            <a:endParaRPr/>
          </a:p>
          <a:p>
            <a:r>
              <a:t>参考文献</a:t>
            </a:r>
          </a:p>
          <a:p>
            <a:endParaRPr/>
          </a:p>
          <a:p>
            <a:r>
              <a:t>[R13] Rui Jiao, Wenbing Huang, Peijia Lin, Jiaqi Han, Pin Chen, Yutong Lu, Yang Liu. Crystal Structure Prediction by Joint Equivariant Diffusion. NeurIPS 2023. https://arxiv.org/abs/2309.04475</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[IUCR] How to read (and understand) Volume A of International Tables for Crystallography: an introduction for nonspecialists. 2010. https://journals.iucr.org/j/issues/2010/05/02/kk5061/index.html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重构任务还可能编码整个输入晶体，不能自动视为仅给组成的CSP。MCFlow的互条件主要是元素A与几何(F,L)，不指所有自然语言、光谱和实验模态。</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ICSD也收录部分理论结构，因此不能写成全部实验材料。COD涵盖有机、无机、金属有机和矿物，不自动带统一DFT能量或力。不同库的泛函、磁性、修正和结构标准化需要对齐。</a:t>
            </a:r>
          </a:p>
          <a:p>
            <a:endParaRPr/>
          </a:p>
          <a:p>
            <a:r>
              <a:t>参考文献</a:t>
            </a:r>
          </a:p>
          <a:p>
            <a:endParaRPr/>
          </a:p>
          <a:p>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p>
          <a:p>
            <a:endParaRPr/>
          </a:p>
          <a:p>
            <a:r>
              <a:t>[ALEX] Alexandria official dataset releases. Official documentation. https://alexandria.icams.rub.de/datasets.html</a:t>
            </a:r>
          </a:p>
          <a:p>
            <a:endParaRPr/>
          </a:p>
          <a:p>
            <a:r>
              <a:t>[OQMD] OQMD official structure sources and API documentation. Official documentation. https://oqmd.org/documentation/structures</a:t>
            </a:r>
          </a:p>
          <a:p>
            <a:endParaRPr/>
          </a:p>
          <a:p>
            <a:r>
              <a:t>[ICSD] ICSD official data curation and theoretical data categories. Official documentation. https://icsd.products.fiz-karlsruhe.de/en/about/data-curation</a:t>
            </a:r>
          </a:p>
          <a:p>
            <a:endParaRPr/>
          </a:p>
          <a:p>
            <a:r>
              <a:t>[COD] Crystallography Open Database (COD): an open-access collection of crystal structures and platform for world-wide collaboration. 2012. https://academic.oup.com/nar/article/40/D1/D420/2903497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前三个数据集为CDVAE固定快照，原随机划分60/20/20。Carbon-24来自10 GPa AIRSS候选低能10%及DFT弛豫，不能直接用来声称常压稳定发现。MP-20原过滤包括ICSD来源、Ehull&lt;0.08eV/atom与formation energy&lt;2eV/atom。MPTS-52按最早文献年份划分，缺失年份者排除。原胞/常规胞/超胞改变原子数，公开配置primitive=False，页面采用基准输入胞表述。</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[CDVAE_CFG] CDVAE official MP-20 configuration and build_crystal preprocessing. Official documentation. https://github.com/txie-93/cdvae/blob/main/conf/data/mp_20.yaml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CHGNet MPtrj含89种元素，原模型能量标签已做MP2020兼容性修正。MatterSim模型名1M/5M接近参数规模，当前模型卡的训练样本数是3M/6M，不能混为一项。不同模型/快照的标签和覆盖范围需分别描述。</a:t>
            </a:r>
          </a:p>
          <a:p>
            <a:endParaRPr/>
          </a:p>
          <a:p>
            <a:r>
              <a:t>参考文献</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[MATTERSIM_CARD] MatterSim official model card: v1.0.0-1M and v1.0.0-5M. Official documentation. https://github.com/microsoft/mattersim/blob/main/MODEL_CARD.md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DiffCSP主任务为固定组成的CSP，另有DNG扩展。FlowLLM针对LLM起始分布训练flow；CrysLLMGen加噪后用扩散精修，二者连续阶段固定元素。空间群和Wyckoff压缩几何自由度，但相稳定性仍需能量评价。</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[R26] Miller, Benjamin Kurt, Chen, Ricky T. Q., Sriram, Anuroop, Wood, Brandon M. FlowMM: Generating Materials with Riemannian Flow Matching. ICML 2024, PMLR 235. https://proceedings.mlr.press/v235/miller24a.html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[R21] Nate Gruver, Anuroop Sriram, Andrea Madotto, Andrew Gordon Wilson, C. Lawrence Zitnick, Zachary Ulissi. Fine-Tuned Language Models Generate Stable Inorganic Materials as Text. ICLR 2024. https://arxiv.org/abs/2402.04379</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CDVAE原文主要生成指标不是大规模DFT发现率。FlowLLM所引4.92%为DFT，CrysLLMGen所引9.21%为CHGNet。MatterGen正文对生成器与基线使用DFT，公开repo默认MatterSim评测另列。Chemeleon2细节在第28页及来源笔记。</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[R45] Hyunsoo Park, Aron Walsh. Guiding Generative Models to Uncover Diverse and Novel Crystals via Reinforcement Learning. Nature Machine Intelligence 2026. DOI: 10.1038/s42256-026-01262-4. https://www.nature.com/articles/s42256-026-01262-4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力从总能量对位置的导数得到，不能把每原子能量不加转换地求导当总力。MACE是架构和模型系列，MP-0/MPA/OMat等权重不同。CHGNet磁矩作为训练监督并非精确原子电荷输入。模型覆盖元素集合，不表示它覆盖所有配位、温度和压力状态。</a:t>
            </a:r>
          </a:p>
          <a:p>
            <a:endParaRPr/>
          </a:p>
          <a:p>
            <a:r>
              <a:t>参考文献</a:t>
            </a:r>
          </a:p>
          <a:p>
            <a:endParaRPr/>
          </a:p>
          <a:p>
            <a:r>
              <a:t>[R10] Chi Chen, Shyue Ping Ong. A universal graph deep learning interatomic potential for the periodic table. Nature Computational Science 2, 718–728. DOI: 10.1038/s43588-022-00349-3. https://www.nature.com/articles/s43588-022-00349-3</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[MACE] A foundation model for atomistic materials chemistry. 2025. https://arxiv.org/html/2401.00096v3</a:t>
            </a:r>
          </a:p>
          <a:p>
            <a:endParaRPr/>
          </a:p>
          <a:p>
            <a:r>
              <a:t>[MATTERSIM] MatterSim: A Deep Learning Atomistic Model Across Elements, Temperatures and Pressures. 2024. https://arxiv.org/html/2405.04967v2</a:t>
            </a:r>
          </a:p>
          <a:p>
            <a:endParaRPr/>
          </a:p>
          <a:p>
            <a:r>
              <a:t>[MATTERSIM_CARD] MatterSim official model card: v1.0.0-1M and v1.0.0-5M. Official documentation. https://github.com/microsoft/mattersim/blob/main/MODEL_CARD.md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不同GPU小时与CPU core-hours分别报告，只有有明确计费或换算才能相加。生成速度与完整发现成本不同。性质选样后的成功比例属于条件样本群体，应保留筛选过程。</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[R26] Miller, Benjamin Kurt, Chen, Ricky T. Q., Sriram, Anuroop, Wood, Brandon M. FlowMM: Generating Materials with Riemannian Flow Matching. ICML 2024, PMLR 235. https://proceedings.mlr.press/v235/miller24a.html</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[ASE_OPT] ASE: Structure optimization. Official documentation. https://docs.ase-lib.org/ase/optimize.html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距离必须考虑周期镜像。SMACT可单独处理单质和金属合金，离子氧化态规则有适用范围。几何有效、组成有效及其交集分开报告。原论文公式和实际代码中的检查项应共同核对。</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[SMACT] SMACT screening module. Official documentation. https://smact.readthedocs.io/en/latest/smact.screening.html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DiffCSP使用stol=0.5、ltol=0.3、angle_tol=10°；stol按自由长度归一化，不能解释为0.5Å。需要区分到参考结构的误差与生成结构到弛豫终态的位移。能量排序后的top-k还需计入排序成本。</a:t>
            </a:r>
          </a:p>
          <a:p>
            <a:endParaRPr/>
          </a:p>
          <a:p>
            <a:r>
              <a:t>参考文献</a:t>
            </a:r>
          </a:p>
          <a:p>
            <a:endParaRPr/>
          </a:p>
          <a:p>
            <a:r>
              <a:t>[R13] Rui Jiao, Wenbing Huang, Peijia Lin, Jiaqi Han, Pin Chen, Yutong Lu, Yang Liu. Crystal Structure Prediction by Joint Equivariant Diffusion. NeurIPS 2023. https://arxiv.org/abs/2309.04475</a:t>
            </a:r>
          </a:p>
          <a:p>
            <a:endParaRPr/>
          </a:p>
          <a:p>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a:endParaRPr/>
          </a:p>
          <a:p>
            <a:r>
              <a:t>[MATCHER] pymatgen StructureMatcher. Official API documentation. https://pymatgen.org/pymatgen.analysis.html#pymatgen.analysis.structure_matcher.StructureMatcher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CDVAE使用CrystalNN结构指纹和归一化Magpie组成指纹。其Appendix G同一对同时近的公式，与公开源码分别取两类最近邻再AND存在差别，复现需声明版本。教学例：密度{3,3}与{4,4}g/cm³的W1=1g/cm³。空间群编号是类别，编号间数值距离不具有一般物理含义。</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[R26] Miller, Benjamin Kurt, Chen, Ricky T. Q., Sriram, Anuroop, Wood, Brandon M. FlowMM: Generating Materials with Riemannian Flow Matching. ICML 2024, PMLR 235. https://proceedings.mlr.press/v235/miller24a.html</a:t>
            </a:r>
          </a:p>
          <a:p>
            <a:endParaRPr/>
          </a:p>
          <a:p>
            <a:r>
              <a:t>[SCIPY_JS] scipy.spatial.distance.jensenshannon. Official documentation. https://docs.scipy.org/doc/scipy/reference/generated/scipy.spatial.distance.jensenshannon.html</a:t>
            </a:r>
          </a:p>
          <a:p>
            <a:endParaRPr/>
          </a:p>
          <a:p>
            <a:r>
              <a:t>[SCIPY_W] scipy.stats.wasserstein_distance. Official documentation. https://docs.scipy.org/doc/scipy/reference/generated/scipy.stats.wasserstein_distance.html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教学算例：AB总能−10.6eV，A与B参考每原子能−4.0和−5.6eV，Eform=(−10.6+4.0+5.6)/2=−0.5eV/atom。凸包h_R(x)=min Σλ_r E_r，约束λ≥0、Σλ=1、Σλx_r=x。</a:t>
            </a:r>
          </a:p>
          <a:p>
            <a:endParaRPr/>
          </a:p>
          <a:p>
            <a:r>
              <a:t>参考文献</a:t>
            </a:r>
          </a:p>
          <a:p>
            <a:endParaRPr/>
          </a:p>
          <a:p>
            <a:r>
              <a:t>[PHASE] Materials Project: Phase diagrams and thermodynamic stability. Official documentation. https://docs.materialsproject.org/methodology/materials-methodology/thermodynamic-stability/phase-diagrams-pds</a:t>
            </a:r>
          </a:p>
          <a:p>
            <a:endParaRPr/>
          </a:p>
          <a:p>
            <a:r>
              <a:t>[MP_COMPAT] Materials Project: Anion and GGA/GGA+U Mixing. Official documentation. https://docs.materialsproject.org/methodology/materials-methodology/thermodynamic-stability/thermodynamic-stability/anion-and-gga-gga+u-mixing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点A(0,0)、A3B(.25,−.30)、AB(.5,−.50)、AB3(.75,−.30)、B(1,0)。候选A2B=(1/3,−.45)位于参考线下方；另一A2B=(1/3,−.20)形成能虽负仍在参考包上方。多个新候选也会互相竞争。某些生成论文把带符号参考距离记为Ehull，读文献时需核准定义。</a:t>
            </a:r>
          </a:p>
          <a:p>
            <a:endParaRPr/>
          </a:p>
          <a:p>
            <a:r>
              <a:t>参考文献</a:t>
            </a:r>
          </a:p>
          <a:p>
            <a:endParaRPr/>
          </a:p>
          <a:p>
            <a:r>
              <a:t>[PHASE] Materials Project: Phase diagrams and thermodynamic stability. Official documentation. https://docs.materialsproject.org/methodology/materials-methodology/thermodynamic-stability/phase-diagrams-pds</a:t>
            </a:r>
          </a:p>
          <a:p>
            <a:endParaRPr/>
          </a:p>
          <a:p>
            <a:r>
              <a:t>[PYM_HULL] pymatgen.analysis.phase_diagram.PhaseDiagram. Official documentation. https://pymatgen.org/pymatgen.analysis.html#pymatgen.analysis.phase_diagram.PhaseDiagram.get_decomp_and_e_above_hull</a:t>
            </a:r>
          </a:p>
          <a:p>
            <a:endParaRPr/>
          </a:p>
          <a:p>
            <a:r>
              <a:t>[R26] Miller, Benjamin Kurt, Chen, Ricky T. Q., Sriram, Anuroop, Wood, Brandon M. FlowMM: Generating Materials with Riemannian Flow Matching. ICML 2024, PMLR 235. https://proceedings.mlr.press/v235/miller24a.html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S/U/N应在同一物理终态重算。先筛稳定与新颖再去重，是一个可清楚解释的操作口径；其他论文顺序及分母可不同。引用其结果时保持原定义。标准hull=0与固定参考距离≤0按上页定义分别标明。</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[R52] Negishi, Masahiro, Walsh, Aron. Substitution-Based Analysis of Structural Novelty for Generative Models of Materials. arXiv 预印本 2026. https://arxiv.org/html/2606.23166v1</a:t>
            </a:r>
          </a:p>
          <a:p>
            <a:endParaRPr/>
          </a:p>
          <a:p>
            <a:r>
              <a:t>[MATCHER] pymatgen StructureMatcher. Official API documentation. https://pymatgen.org/pymatgen.analysis.html#pymatgen.analysis.structure_matcher.StructureMatcher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90/100 × 40/90 × 30/40 × 12/30 =12/100为条件计数恒等式。相同数据若全体U=60%、全体N=45%，乘.4×.6×.45=10.8%不等于SUN12%。如果只有80个完成评测，40/80是已评测比例，40/100是确认产出，剩余状态保留未知。</a:t>
            </a:r>
          </a:p>
          <a:p>
            <a:endParaRPr/>
          </a:p>
          <a:p>
            <a:r>
              <a:t>参考文献</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F在固定离子下迭代电子密度，外层离子/晶胞优化可多次调用SCF。PBE为常见近似泛函，并非精确真值。MP特定GGA(+U)设置用520eV截断及指定k点密度，但不能作为全部体系统一收敛保证。结构优化后可进行静态能量、能带或DOS计算。</a:t>
            </a:r>
          </a:p>
          <a:p>
            <a:endParaRPr/>
          </a:p>
          <a:p>
            <a:r>
              <a:t>参考文献</a:t>
            </a:r>
          </a:p>
          <a:p>
            <a:endParaRPr/>
          </a:p>
          <a:p>
            <a:r>
              <a:t>[MP_DFT] Materials Project: Parameters and Convergence. Official documentation. https://docs.materialsproject.org/methodology/materials-methodology/calculation-details/gga+u-calculations/parameters-and-convergence</a:t>
            </a:r>
          </a:p>
          <a:p>
            <a:endParaRPr/>
          </a:p>
          <a:p>
            <a:r>
              <a:t>[MP_ELECTRONIC] Materials Project: Electronic Structure. Official documentation. https://docs.materialsproject.org/methodology/materials-methodology/electronic-structure</a:t>
            </a:r>
          </a:p>
          <a:p>
            <a:endParaRPr/>
          </a:p>
          <a:p>
            <a:r>
              <a:t>[MP_COMPAT] Materials Project: Anion and GGA/GGA+U Mixing. Official documentation. https://docs.materialsproject.org/methodology/materials-methodology/thermodynamic-stability/thermodynamic-stability/anion-and-gga-gga+u-mixing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小残余力说明接近驻点，曲率/声子提供进一步局部稳定性证据。FIRE使用伪动力学，优化时间步不是材料演化的物理时长。达到最大步数和达到力阈值分别报告。压力下目标包含适当PV项。</a:t>
            </a:r>
          </a:p>
          <a:p>
            <a:endParaRPr/>
          </a:p>
          <a:p>
            <a:r>
              <a:t>参考文献</a:t>
            </a:r>
          </a:p>
          <a:p>
            <a:endParaRPr/>
          </a:p>
          <a:p>
            <a:r>
              <a:t>[ASE_OPT] ASE: Structure optimization. Official documentation. https://docs.ase-lib.org/ase/optimize.html</a:t>
            </a:r>
          </a:p>
          <a:p>
            <a:endParaRPr/>
          </a:p>
          <a:p>
            <a:r>
              <a:t>[ASE_FILTER] ASE: Filters. Official documentation. https://docs.ase-lib.org/ase/filters.html</a:t>
            </a:r>
          </a:p>
          <a:p>
            <a:endParaRPr/>
          </a:p>
          <a:p>
            <a:r>
              <a:t>[ASE_MD] ASE: Molecular dynamics. Official documentation. https://docs.ase-lib.org/ase/md.html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不同checkpoint可能使用PBE、r2SCAN、MatPES等训练数据，不能对所有MLIP统一说raw或corrected。自洽MLIP hull还需说明参考结构是固定几何单点，还是同一势弛豫后评价。项目既有MP校正约定不因这份教学PPT改变。</a:t>
            </a:r>
          </a:p>
          <a:p>
            <a:endParaRPr/>
          </a:p>
          <a:p>
            <a:r>
              <a:t>参考文献</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[CHGNET_DOC] CHGNet official project documentation. Official documentation. https://chgnet.lbl.gov/</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[MP_COMPAT] Materials Project: Anion and GGA/GGA+U Mixing. Official documentation. https://docs.materialsproject.org/methodology/materials-methodology/thermodynamic-stability/thermodynamic-stability/anion-and-gga-gga+u-mixing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声子负ω²对应虚频，Γ点不能代表全部波矢，近零声学频率需检查数值收敛。弹性张量的小应变正定性支持相应机械稳定，高体模量主要表示刚度。Ea=Esaddle−Einitial，单条低势垒仍需连通性、载流子浓度和温度才能联系宏观输运。XRD/Rietveld识别相及结构，化学成分和功能测量检验实际产物。</a:t>
            </a:r>
          </a:p>
          <a:p>
            <a:endParaRPr/>
          </a:p>
          <a:p>
            <a:r>
              <a:t>参考文献</a:t>
            </a:r>
          </a:p>
          <a:p>
            <a:endParaRPr/>
          </a:p>
          <a:p>
            <a:r>
              <a:t>[PHONOPY] Phonopy: Formulations. Official documentation. https://phonopy.github.io/phonopy/formulation.html</a:t>
            </a:r>
          </a:p>
          <a:p>
            <a:endParaRPr/>
          </a:p>
          <a:p>
            <a:r>
              <a:t>[MP_ELASTIC] Materials Project: Elastic Constants. Official documentation. https://docs.materialsproject.org/methodology/materials-methodology/elasticity</a:t>
            </a:r>
          </a:p>
          <a:p>
            <a:endParaRPr/>
          </a:p>
          <a:p>
            <a:r>
              <a:t>[ASE_MD] ASE: Molecular dynamics. Official documentation. https://docs.ase-lib.org/ase/md.html</a:t>
            </a:r>
          </a:p>
          <a:p>
            <a:endParaRPr/>
          </a:p>
          <a:p>
            <a:r>
              <a:t>[ASE_NEB] ASE: Nudged elastic band. Official documentation. https://docs.ase-lib.org/ase/neb.html</a:t>
            </a:r>
          </a:p>
          <a:p>
            <a:endParaRPr/>
          </a:p>
          <a:p>
            <a:r>
              <a:t>[MP_ELECTRONIC] Materials Project: Electronic Structure. Official documentation. https://docs.materialsproject.org/methodology/materials-methodology/electronic-structure</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MP v2022.10.28、ICSD release2023.1、Alexandria官方资源2022.126。训练过滤Ehull&lt;0.1eV/atom，移除well-explored系统和ICSD-only结构。OMatG报告完整675204及原90/10拆分，Nature正式训练607683。正式reference850384与公开repo845997不混用。来源计数为固定论文版本，不是当前数据库总量。</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[MG_DATA] MatterGen official Alex-MP data release. Official data documentation. https://github.com/microsoft/mattergen/blob/main/data-release/alex-mp/README.md</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原图保持原始比例与标记，来源Nature Fig1。SI A/B：GemNet-dT 4 message-passing层，邻域7Å，node/edge hidden512；categorical D3PM与coordinate/lattice score-matching联合损失。基础模型1.74M训练步，8×A100，每GPU batch64/global512，Adam lr1e-4。4个zero-init adapters；SI B.1明确fine-tune更新所有权重，非只训adapter。fine-tune globalbatch128 lr6e-5。1000 ancestral predictor步，位置/晶格Langevin corrector，SNR0.4/0.2；条件CFG γ=2。</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br/>
            <a:br/>
            <a:r>
              <a:t>Original figure: Zeni et al., Nature (2025), Fig.1, CC BY 4.0. https://media.springernature.com/full/springer-static/image/art%3A10.1038%2Fs41586-025-08628-5/MediaObjects/41586_2025_8628_Fig1_HTML.png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 TableD4的同Alex-MP对比：MatterGen SUN38.57%、RMSD0.021Å；DiffCSP33.27%、0.104Å。标准初批1024；Nature约75%与3%为正文概括。RMSD是到DFT弛豫终态的变化，不是CSP到已知参考的误差。参考hull850384有序结构，novelty另含117652无序ICSD。当前公开repo默认MatterSim预测评价，且checkpoints为重训版本，不直接替代本文DFT数字。</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[MG_REPO] Microsoft MatterGen official README and data-release descriptions. Official documentation. https://github.com/microsoft/mattergen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Fig4a-c显示性质条件分布，Fig4h为bulk modulus&gt;400GPa的合格数量。条件训练标签可由不同物理或ML预测器得到，例如bulk modulus adapter用ML预测标签，最终以DFT性质验证。需要同时检查条件命中及SUN交集，不把条件分布均值当材料发现。</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Fig6a为XRD/Rietveld及样品，b/c为有序目标及无序结构，d是95个ICSD再发现的DFT体模量，不是实验模量图。SI筛选：32768→7919含氧→2196(MatterSim Ehull≤.05)→551去重/新颖→119声子无负频→75(DFT≤.03)→4专家挑选→1报告合成，另外3个尝试失败。主文DFT222GPa，图6b标221GPa，页面用约222。纳米压痕测Young模量，K=Y/[3(1−2ν)]，ν取DFT0.30，四次推算均值158±11，最大169。原文“距目标20%内”采用最大值。2026-04-20 Juelsholt在Materials Horizons 13,5672–5679的再分析重新精修公开PXRD，报告Ta0.43Cr0.57O2，并指出已知TaCrO4型结构及三种有序近似存在训练资料，挑战该案例新化合物身份。这里分别归属2025原报告与2026再分析，未重做PXRD精修。</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[MG_REANALYSIS] Mikkel Juelsholt. Continued challenges in high-throughput materials predictions: MatterGen predicts compounds from the training dataset. Materials Horizons 13, 5672–5679 (2026). https://pubs.rsc.org/en/content/articlehtml/2026/mh/d6mh00268d</a:t>
            </a:r>
          </a:p>
          <a:p>
            <a:br/>
            <a:br/>
            <a:r>
              <a:t>Original figure: Zeni et al., Nature (2025), Fig.6, CC BY 4.0. https://media.springernature.com/full/springer-static/image/art%3A10.1038%2Fs41586-025-08628-5/MediaObjects/41586_2025_8628_Fig6_HTML.png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Chemeleon2基于latent DiT和GRPO，10,000个raw样本以MACE-MPA-0及Ehull&lt;0.1评mSUN。原文同Alex-MP-20 RL前后mSUN15.9%到61.3%；novelty62.3%到97.5%；uniqueness99.4%到88.7%。1,000个样本DFT检验代理，条件3eV每批512，82个raw同时mSUN与2.7–3.3eV，另评DFT弛豫后保持。不能与MatterGen DFT弛豫SUN直接排名。CHGNet示例Li0.5MnO2 1100K、1.5ns MD，以及LixFePO4相图；本文无新合成，使用既有实验比较。M3GNet优先2,000个DFT得到1,578个低hull候选，328个无虚频为M3GNet声子，不是全DFT声子或合成。</a:t>
            </a:r>
          </a:p>
          <a:p>
            <a:endParaRPr/>
          </a:p>
          <a:p>
            <a:r>
              <a:t>参考文献</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[R10] Chi Chen, Shyue Ping Ong. A universal graph deep learning interatomic potential for the periodic table. Nature Computational Science 2, 718–728. DOI: 10.1038/s43588-022-00349-3. https://www.nature.com/articles/s43588-022-00349-3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GEN生成提案TiPdBi/TiPdSb，实际材料TiPd0.22Bi0.88/Ti0.5Pd1.5Sb，计量和对称均变化；作者说明实验探索不是理想结构的直接验证。其大规模53%主要为残余力/结构弛豫资格，不能当hull、SUN或phonon无虚频率。Chemeleon和SLICES的计算与实验范围按对应原文保留，不据期刊名补写合成。</a:t>
            </a:r>
          </a:p>
          <a:p>
            <a:endParaRPr/>
          </a:p>
          <a:p>
            <a:r>
              <a:t>参考文献</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[R39] Hyunsoo Park, Anthony Onwuli, Aron Walsh. Exploration of crystal chemical space using text-guided generative artificial intelligence. Nature Communications 16, 4379 2025. DOI: 10.1038/s41467-025-59636-y. https://www.nature.com/articles/s41467-025-59636-y</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[R12] Luis M. Antunes, Keith T. Butler, Ricardo Grau-Crespo. Crystal structure generation with autoregressive large language modeling. Nature Communications 15, 10570 2024. DOI: 10.1038/s41467-024-54639-7. https://www.nature.com/articles/s41467-024-54639-7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本页备注附完整引用。教学图和算例为人为构造，其他数值均来自指定原始文献或官方方法资料。没有运行新生成、DFT或材料实验。</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[MG_REPO] Microsoft MatterGen official README and data-release descriptions. Official documentation. https://github.com/microsoft/mattergen</a:t>
            </a:r>
          </a:p>
          <a:p>
            <a:endParaRPr/>
          </a:p>
          <a:p>
            <a:r>
              <a:t>[PHASE] Materials Project: Phase diagrams and thermodynamic stability. Official documentation. https://docs.materialsproject.org/methodology/materials-methodology/thermodynamic-stability/phase-diagrams-pds</a:t>
            </a:r>
          </a:p>
          <a:p>
            <a:endParaRPr/>
          </a:p>
          <a:p>
            <a:r>
              <a:t>[MATCHER] pymatgen StructureMatcher. Official API documentation. https://pymatgen.org/pymatgen.analysis.html#pymatgen.analysis.structure_matcher.StructureMatcher</a:t>
            </a:r>
          </a:p>
          <a:p>
            <a:endParaRPr/>
          </a:p>
          <a:p>
            <a:r>
              <a:t>[ASE_OPT] ASE: Structure optimization. Official documentation. https://docs.ase-lib.org/ase/optimize.html</a:t>
            </a:r>
          </a:p>
          <a:p>
            <a:endParaRPr/>
          </a:p>
          <a:p>
            <a:r>
              <a:t>[PHONOPY] Phonopy: Formulations. Official documentation. https://phonopy.github.io/phonopy/formulation.html</a:t>
            </a:r>
          </a:p>
          <a:p>
            <a:br/>
            <a:br/>
            <a:r>
              <a:t>完整文献表（50项）</a:t>
            </a:r>
            <a:br/>
            <a:br/>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br/>
            <a:br/>
            <a:r>
              <a:t>[R08] Tian Xie, Xiang Fu, Octavian-Eugen Ganea, Regina Barzilay, Tommi Jaakkola. Crystal Diffusion Variational Autoencoder for Periodic Material Generation. ICLR 2022. https://arxiv.org/abs/2110.06197</a:t>
            </a:r>
            <a:br/>
            <a:br/>
            <a:r>
              <a:t>[R10] Chi Chen, Shyue Ping Ong. A universal graph deep learning interatomic potential for the periodic table. Nature Computational Science 2, 718–728. DOI: 10.1038/s43588-022-00349-3. https://www.nature.com/articles/s43588-022-00349-3</a:t>
            </a:r>
            <a:br/>
            <a:br/>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br/>
            <a:br/>
            <a:r>
              <a:t>[R12] Luis M. Antunes, Keith T. Butler, Ricardo Grau-Crespo. Crystal structure generation with autoregressive large language modeling. Nature Communications 15, 10570 2024. DOI: 10.1038/s41467-024-54639-7. https://www.nature.com/articles/s41467-024-54639-7</a:t>
            </a:r>
            <a:br/>
            <a:br/>
            <a:r>
              <a:t>[R13] Rui Jiao, Wenbing Huang, Peijia Lin, Jiaqi Han, Pin Chen, Yutong Lu, Yang Liu. Crystal Structure Prediction by Joint Equivariant Diffusion. NeurIPS 2023. https://arxiv.org/abs/2309.04475</a:t>
            </a:r>
            <a:br/>
            <a:br/>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br/>
            <a:br/>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br/>
            <a:br/>
            <a:r>
              <a:t>[R21] Nate Gruver, Anuroop Sriram, Andrea Madotto, Andrew Gordon Wilson, C. Lawrence Zitnick, Zachary Ulissi. Fine-Tuned Language Models Generate Stable Inorganic Materials as Text. ICLR 2024. https://arxiv.org/abs/2402.04379</a:t>
            </a:r>
            <a:br/>
            <a:br/>
            <a:r>
              <a:t>[R26] Miller, Benjamin Kurt, Chen, Ricky T. Q., Sriram, Anuroop, Wood, Brandon M. FlowMM: Generating Materials with Riemannian Flow Matching. ICML 2024, PMLR 235. https://proceedings.mlr.press/v235/miller24a.html</a:t>
            </a:r>
            <a:br/>
            <a:br/>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br/>
            <a:br/>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br/>
            <a:br/>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br/>
            <a:br/>
            <a:r>
              <a:t>[R35] Levy, Daniel, Panigrahi, Siba Smarak, Kaba, Sékou-Oumar, Zhu, Qiang, Lee, Kin Long Kelvin, Galkin, Mikhail, Miret, Santiago, Ravanbakhsh, Siamak. SymmCD: Symmetry-Preserving Crystal Generation with Diffusion Models. ICLR 2025. https://arxiv.org/abs/2502.03638</a:t>
            </a:r>
            <a:br/>
            <a:br/>
            <a:r>
              <a:t>[R39] Hyunsoo Park, Anthony Onwuli, Aron Walsh. Exploration of crystal chemical space using text-guided generative artificial intelligence. Nature Communications 16, 4379 2025. DOI: 10.1038/s41467-025-59636-y. https://www.nature.com/articles/s41467-025-59636-y</a:t>
            </a:r>
            <a:br/>
            <a:br/>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br/>
            <a:br/>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br/>
            <a:br/>
            <a:r>
              <a:t>[R45] Hyunsoo Park, Aron Walsh. Guiding Generative Models to Uncover Diverse and Novel Crystals via Reinforcement Learning. Nature Machine Intelligence 2026. DOI: 10.1038/s42256-026-01262-4. https://www.nature.com/articles/s42256-026-01262-4</a:t>
            </a:r>
            <a:br/>
            <a:br/>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br/>
            <a:br/>
            <a:r>
              <a:t>[R49] Kiyoung Seong, Sungsoo Ahn, Sehui Han, Changyoung Park. Multimodal Crystal Flow: Any-to-Any Modality Generation for Unified Crystal Modeling. ICML2026, PMLR306:109105–109131. https://proceedings.mlr.press/v306/seong26a.html</a:t>
            </a:r>
            <a:br/>
            <a:br/>
            <a:r>
              <a:t>[R52] Negishi, Masahiro, Walsh, Aron. Substitution-Based Analysis of Structural Novelty for Generative Models of Materials. arXiv 预印本 2026. https://arxiv.org/html/2606.23166v1</a:t>
            </a:r>
            <a:br/>
            <a:br/>
            <a:r>
              <a:t>[IUCR] How to read (and understand) Volume A of International Tables for Crystallography: an introduction for nonspecialists. 2010. https://journals.iucr.org/j/issues/2010/05/02/kk5061/index.html</a:t>
            </a:r>
            <a:br/>
            <a:br/>
            <a:r>
              <a:t>[ALEX] Alexandria official dataset releases. Official documentation. https://alexandria.icams.rub.de/datasets.html</a:t>
            </a:r>
            <a:br/>
            <a:br/>
            <a:r>
              <a:t>[OQMD] OQMD official structure sources and API documentation. Official documentation. https://oqmd.org/documentation/structures</a:t>
            </a:r>
            <a:br/>
            <a:br/>
            <a:r>
              <a:t>[ICSD] ICSD official data curation and theoretical data categories. Official documentation. https://icsd.products.fiz-karlsruhe.de/en/about/data-curation</a:t>
            </a:r>
            <a:br/>
            <a:br/>
            <a:r>
              <a:t>[COD] Crystallography Open Database (COD): an open-access collection of crystal structures and platform for world-wide collaboration. 2012. https://academic.oup.com/nar/article/40/D1/D420/2903497</a:t>
            </a:r>
            <a:br/>
            <a:br/>
            <a:r>
              <a:t>[CDVAE_CFG] CDVAE official MP-20 configuration and build_crystal preprocessing. Official documentation. https://github.com/txie-93/cdvae/blob/main/conf/data/mp_20.yaml</a:t>
            </a:r>
            <a:br/>
            <a:br/>
            <a:r>
              <a:t>[MACE] A foundation model for atomistic materials chemistry. 2025. https://arxiv.org/html/2401.00096v3</a:t>
            </a:r>
            <a:br/>
            <a:br/>
            <a:r>
              <a:t>[MATTERSIM] MatterSim: A Deep Learning Atomistic Model Across Elements, Temperatures and Pressures. 2024. https://arxiv.org/html/2405.04967v2</a:t>
            </a:r>
            <a:br/>
            <a:br/>
            <a:r>
              <a:t>[MATTERSIM_CARD] MatterSim official model card: v1.0.0-1M and v1.0.0-5M. Official documentation. https://github.com/microsoft/mattersim/blob/main/MODEL_CARD.md</a:t>
            </a:r>
            <a:br/>
            <a:br/>
            <a:r>
              <a:t>[SMACT] SMACT screening module. Official documentation. https://smact.readthedocs.io/en/latest/smact.screening.html</a:t>
            </a:r>
            <a:br/>
            <a:br/>
            <a:r>
              <a:t>[SCIPY_JS] scipy.spatial.distance.jensenshannon. Official documentation. https://docs.scipy.org/doc/scipy/reference/generated/scipy.spatial.distance.jensenshannon.html</a:t>
            </a:r>
            <a:br/>
            <a:br/>
            <a:r>
              <a:t>[SCIPY_W] scipy.stats.wasserstein_distance. Official documentation. https://docs.scipy.org/doc/scipy/reference/generated/scipy.stats.wasserstein_distance.html</a:t>
            </a:r>
            <a:br/>
            <a:br/>
            <a:r>
              <a:t>[PYM_HULL] pymatgen.analysis.phase_diagram.PhaseDiagram. Official documentation. https://pymatgen.org/pymatgen.analysis.html#pymatgen.analysis.phase_diagram.PhaseDiagram.get_decomp_and_e_above_hull</a:t>
            </a:r>
            <a:br/>
            <a:br/>
            <a:r>
              <a:t>[MP_COMPAT] Materials Project: Anion and GGA/GGA+U Mixing. Official documentation. https://docs.materialsproject.org/methodology/materials-methodology/thermodynamic-stability/thermodynamic-stability/anion-and-gga-gga+u-mixing</a:t>
            </a:r>
            <a:br/>
            <a:br/>
            <a:r>
              <a:t>[ASE_OPT] ASE: Structure optimization. Official documentation. https://docs.ase-lib.org/ase/optimize.html</a:t>
            </a:r>
            <a:br/>
            <a:br/>
            <a:r>
              <a:t>[ASE_FILTER] ASE: Filters. Official documentation. https://docs.ase-lib.org/ase/filters.html</a:t>
            </a:r>
            <a:br/>
            <a:br/>
            <a:r>
              <a:t>[ASE_MD] ASE: Molecular dynamics. Official documentation. https://docs.ase-lib.org/ase/md.html</a:t>
            </a:r>
            <a:br/>
            <a:br/>
            <a:r>
              <a:t>[ASE_NEB] ASE: Nudged elastic band. Official documentation. https://docs.ase-lib.org/ase/neb.html</a:t>
            </a:r>
            <a:br/>
            <a:br/>
            <a:r>
              <a:t>[PHONOPY] Phonopy: Formulations. Official documentation. https://phonopy.github.io/phonopy/formulation.html</a:t>
            </a:r>
            <a:br/>
            <a:br/>
            <a:r>
              <a:t>[MP_DFT] Materials Project: Parameters and Convergence. Official documentation. https://docs.materialsproject.org/methodology/materials-methodology/calculation-details/gga+u-calculations/parameters-and-convergence</a:t>
            </a:r>
            <a:br/>
            <a:br/>
            <a:r>
              <a:t>[MP_ELECTRONIC] Materials Project: Electronic Structure. Official documentation. https://docs.materialsproject.org/methodology/materials-methodology/electronic-structure</a:t>
            </a:r>
            <a:br/>
            <a:br/>
            <a:r>
              <a:t>[MP_ELASTIC] Materials Project: Elastic Constants. Official documentation. https://docs.materialsproject.org/methodology/materials-methodology/elasticity</a:t>
            </a:r>
            <a:br/>
            <a:br/>
            <a:r>
              <a:t>[CHGNET_DOC] CHGNet official project documentation. Official documentation. https://chgnet.lbl.gov/</a:t>
            </a:r>
            <a:br/>
            <a:br/>
            <a:r>
              <a:t>[MG_REPO] Microsoft MatterGen official README and data-release descriptions. Official documentation. https://github.com/microsoft/mattergen</a:t>
            </a:r>
            <a:br/>
            <a:br/>
            <a:r>
              <a:t>[MG_SI] Claudio Zeni et al.. MatterGen Supplementary Information, Sections A–D. Nature (2025). https://media.springernature.com/original/springer-static/esm/art%3A10.1038%2Fs41586-025-08628-5/MediaObjects/41586_2025_8628_MOESM1_ESM.pdf</a:t>
            </a:r>
            <a:br/>
            <a:br/>
            <a:r>
              <a:t>[MG_DATA] MatterGen official Alex-MP data release. Official data documentation. https://github.com/microsoft/mattergen/blob/main/data-release/alex-mp/README.md</a:t>
            </a:r>
            <a:br/>
            <a:br/>
            <a:r>
              <a:t>[PHASE] Materials Project: Phase diagrams and thermodynamic stability. Official documentation. https://docs.materialsproject.org/methodology/materials-methodology/thermodynamic-stability/phase-diagrams-pds</a:t>
            </a:r>
            <a:br/>
            <a:br/>
            <a:r>
              <a:t>[MATCHER] pymatgen StructureMatcher. Official API documentation. https://pymatgen.org/pymatgen.analysis.html#pymatgen.analysis.structure_matcher.StructureMatcher</a:t>
            </a:r>
            <a:br/>
            <a:br/>
            <a:r>
              <a:t>[MG_REANALYSIS] Mikkel Juelsholt. Continued challenges in high-throughput materials predictions: MatterGen predicts compounds from the training dataset. Materials Horizons 13, 5672–5679 (2026). https://pubs.rsc.org/en/content/articlehtml/2026/mh/d6mh00268d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A00E0D1-42F7-40C8-A8C5-B139388A90C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F501E5F-FE72-4FA7-B3B3-9A136C838BB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0FA84ED-CA11-4B37-9F69-B6E3464502E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5EE27F4-940C-42F5-9602-E1E55A10EEC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4B550442-E497-4B2F-BE83-010892C30E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98FE056-1B33-49F7-918A-60394EA412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BE644F-1A69-4629-9F27-667E3EDA5BC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92433C11-6F10-4085-8693-1B99A55D5FC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6C70100-0D81-4AB9-AC47-D0BF5325F6E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06453D6-150D-403D-86B6-95072175B11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over-title">
            <a:extLst>
              <a:ext uri="{FF2B5EF4-FFF2-40B4-BE49-F238E27FC236}">
                <a16:creationId xmlns:a16="http://schemas.microsoft.com/office/drawing/2014/main" id="{3AC1AE3D-0E64-466D-8917-BFEE974B1651}"/>
              </a:ext>
            </a:extLst>
          </p:cNvPr>
          <p:cNvSpPr>
            <a:spLocks noGrp="1"/>
          </p:cNvSpPr>
          <p:nvPr/>
        </p:nvSpPr>
        <p:spPr>
          <a:xfrm>
            <a:off x="609600" y="1704975"/>
            <a:ext cx="10972800" cy="952500"/>
          </a:xfrm>
          <a:prstGeom prst="rect">
            <a:avLst/>
          </a:prstGeom>
          <a:noFill/>
          <a:ln w="0">
            <a:noFill/>
          </a:ln>
        </p:spPr>
        <p:txBody>
          <a:bodyPr wrap="square" lIns="0" tIns="0" rIns="0" bIns="0" anchor="t">
            <a:noAutofit/>
          </a:bodyPr>
          <a:lstStyle>
            <a:defPPr algn="l">
              <a:defRPr sz="4650" b="1">
                <a:solidFill>
                  <a:srgbClr val="173E67"/>
                </a:solidFill>
                <a:latin typeface="Microsoft YaHei"/>
                <a:ea typeface="Microsoft YaHei"/>
                <a:cs typeface="Microsoft YaHei"/>
              </a:defRPr>
            </a:defPPr>
          </a:lstStyle>
          <a:p>
            <a:pPr algn="l">
              <a:lnSpc>
                <a:spcPct val="118000"/>
              </a:lnSpc>
              <a:buNone/>
              <a:defRPr sz="4650" b="1">
                <a:solidFill>
                  <a:srgbClr val="173E67"/>
                </a:solidFill>
                <a:latin typeface="Microsoft YaHei"/>
                <a:ea typeface="Microsoft YaHei"/>
                <a:cs typeface="Microsoft YaHei"/>
              </a:defRPr>
            </a:pPr>
            <a:r>
              <a:rPr sz="4650" b="1">
                <a:solidFill>
                  <a:srgbClr val="173E67"/>
                </a:solidFill>
                <a:latin typeface="Microsoft YaHei"/>
                <a:ea typeface="Microsoft YaHei"/>
                <a:cs typeface="Microsoft YaHei"/>
              </a:rPr>
              <a:t>晶体生成：数据、模型与验证</a:t>
            </a:r>
          </a:p>
        </p:txBody>
      </p:sp>
      <p:sp>
        <p:nvSpPr>
          <p:cNvPr id="2" name="text">
            <a:extLst>
              <a:ext uri="{FF2B5EF4-FFF2-40B4-BE49-F238E27FC236}">
                <a16:creationId xmlns:a16="http://schemas.microsoft.com/office/drawing/2014/main" id="{9DE62B18-E646-45D2-83F8-4225C900AB72}"/>
              </a:ext>
            </a:extLst>
          </p:cNvPr>
          <p:cNvSpPr>
            <a:spLocks noGrp="1"/>
          </p:cNvSpPr>
          <p:nvPr/>
        </p:nvSpPr>
        <p:spPr>
          <a:xfrm>
            <a:off x="609600" y="2800350"/>
            <a:ext cx="10972800" cy="666750"/>
          </a:xfrm>
          <a:prstGeom prst="rect">
            <a:avLst/>
          </a:prstGeom>
          <a:noFill/>
          <a:ln w="0">
            <a:noFill/>
          </a:ln>
        </p:spPr>
        <p:txBody>
          <a:bodyPr wrap="square" lIns="0" tIns="0" rIns="0" bIns="0" anchor="t">
            <a:noAutofit/>
          </a:bodyPr>
          <a:lstStyle>
            <a:defPPr algn="l">
              <a:defRPr sz="2550" b="0">
                <a:solidFill>
                  <a:srgbClr val="1B2533"/>
                </a:solidFill>
                <a:latin typeface="Microsoft YaHei"/>
                <a:ea typeface="Microsoft YaHei"/>
                <a:cs typeface="Microsoft YaHei"/>
              </a:defRPr>
            </a:defPPr>
          </a:lstStyle>
          <a:p>
            <a:pPr algn="l">
              <a:lnSpc>
                <a:spcPct val="118000"/>
              </a:lnSpc>
              <a:buNone/>
              <a:defRPr sz="2550" b="0">
                <a:solidFill>
                  <a:srgbClr val="1B2533"/>
                </a:solidFill>
                <a:latin typeface="Microsoft YaHei"/>
                <a:ea typeface="Microsoft YaHei"/>
                <a:cs typeface="Microsoft YaHei"/>
              </a:defRPr>
            </a:pPr>
            <a:r>
              <a:rPr sz="2550" b="0">
                <a:solidFill>
                  <a:srgbClr val="1B2533"/>
                </a:solidFill>
                <a:latin typeface="Microsoft YaHei"/>
                <a:ea typeface="Microsoft YaHei"/>
                <a:cs typeface="Microsoft YaHei"/>
              </a:rPr>
              <a:t>面向AI研究者的补充篇</a:t>
            </a:r>
          </a:p>
        </p:txBody>
      </p:sp>
      <p:sp>
        <p:nvSpPr>
          <p:cNvPr id="3" name="text">
            <a:extLst>
              <a:ext uri="{FF2B5EF4-FFF2-40B4-BE49-F238E27FC236}">
                <a16:creationId xmlns:a16="http://schemas.microsoft.com/office/drawing/2014/main" id="{52FC31B8-5280-42DA-BA9D-AB2D72F6B581}"/>
              </a:ext>
            </a:extLst>
          </p:cNvPr>
          <p:cNvSpPr>
            <a:spLocks noGrp="1"/>
          </p:cNvSpPr>
          <p:nvPr/>
        </p:nvSpPr>
        <p:spPr>
          <a:xfrm>
            <a:off x="609600" y="3876675"/>
            <a:ext cx="10972800" cy="666750"/>
          </a:xfrm>
          <a:prstGeom prst="rect">
            <a:avLst/>
          </a:prstGeom>
          <a:noFill/>
          <a:ln w="0">
            <a:noFill/>
          </a:ln>
        </p:spPr>
        <p:txBody>
          <a:bodyPr wrap="square" lIns="0" tIns="0" rIns="0" bIns="0" anchor="t">
            <a:noAutofit/>
          </a:bodyPr>
          <a:lstStyle>
            <a:defPPr algn="l">
              <a:defRPr sz="2025" b="0">
                <a:solidFill>
                  <a:srgbClr val="526170"/>
                </a:solidFill>
                <a:latin typeface="Microsoft YaHei"/>
                <a:ea typeface="Microsoft YaHei"/>
                <a:cs typeface="Microsoft YaHei"/>
              </a:defRPr>
            </a:defPPr>
          </a:lstStyle>
          <a:p>
            <a:pPr algn="l">
              <a:lnSpc>
                <a:spcPct val="118000"/>
              </a:lnSpc>
              <a:buNone/>
              <a:defRPr sz="2025" b="0">
                <a:solidFill>
                  <a:srgbClr val="526170"/>
                </a:solidFill>
                <a:latin typeface="Microsoft YaHei"/>
                <a:ea typeface="Microsoft YaHei"/>
                <a:cs typeface="Microsoft YaHei"/>
              </a:defRPr>
            </a:pPr>
            <a:r>
              <a:rPr sz="2025" b="0">
                <a:solidFill>
                  <a:srgbClr val="526170"/>
                </a:solidFill>
                <a:latin typeface="Microsoft YaHei"/>
                <a:ea typeface="Microsoft YaHei"/>
                <a:cs typeface="Microsoft YaHei"/>
              </a:rPr>
              <a:t>晶体表示与数据集 · 评价指标与物理计算 · MatterGen五页详解</a:t>
            </a:r>
          </a:p>
        </p:txBody>
      </p:sp>
      <p:sp>
        <p:nvSpPr>
          <p:cNvPr id="4" name="text">
            <a:extLst>
              <a:ext uri="{FF2B5EF4-FFF2-40B4-BE49-F238E27FC236}">
                <a16:creationId xmlns:a16="http://schemas.microsoft.com/office/drawing/2014/main" id="{AB131155-A94D-4BE7-949D-9626C935AE77}"/>
              </a:ext>
            </a:extLst>
          </p:cNvPr>
          <p:cNvSpPr>
            <a:spLocks noGrp="1"/>
          </p:cNvSpPr>
          <p:nvPr/>
        </p:nvSpPr>
        <p:spPr>
          <a:xfrm>
            <a:off x="609600" y="5638800"/>
            <a:ext cx="10972800" cy="361950"/>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2026年10月13日</a:t>
            </a:r>
          </a:p>
        </p:txBody>
      </p:sp>
    </p:spTree>
    <p:extLst>
      <p:ext uri="{BB962C8B-B14F-4D97-AF65-F5344CB8AC3E}">
        <p14:creationId xmlns:p14="http://schemas.microsoft.com/office/powerpoint/2010/main" val="153045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99172348-C2D1-4701-90BF-B8434172A56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模型生成的是一个周期结构</a:t>
            </a:r>
          </a:p>
        </p:txBody>
      </p:sp>
      <p:sp>
        <p:nvSpPr>
          <p:cNvPr id="2" name="lead">
            <a:extLst>
              <a:ext uri="{FF2B5EF4-FFF2-40B4-BE49-F238E27FC236}">
                <a16:creationId xmlns:a16="http://schemas.microsoft.com/office/drawing/2014/main" id="{EE90C67D-4161-4C90-AA69-4786E62F07BC}"/>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一个晶体可以表示为 C = (A, F, L)，原子数 n 也可能需要生成。</a:t>
            </a:r>
          </a:p>
        </p:txBody>
      </p:sp>
      <p:graphicFrame>
        <p:nvGraphicFramePr>
          <p:cNvPr id="3" name="表格 2">
            <a:extLst>
              <a:ext uri="{FF2B5EF4-FFF2-40B4-BE49-F238E27FC236}">
                <a16:creationId xmlns:a16="http://schemas.microsoft.com/office/drawing/2014/main" id="{7F66C798-906C-4292-9C87-CFC02DBC9A8D}"/>
              </a:ext>
            </a:extLst>
          </p:cNvPr>
          <p:cNvGraphicFramePr/>
          <p:nvPr/>
        </p:nvGraphicFramePr>
        <p:xfrm>
          <a:off x="609600" y="1990725"/>
          <a:ext cx="10972800" cy="3419475"/>
        </p:xfrm>
        <a:graphic>
          <a:graphicData uri="http://schemas.openxmlformats.org/drawingml/2006/table">
            <a:tbl>
              <a:tblPr/>
              <a:tblGrid>
                <a:gridCol w="2000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5353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变量</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数学表示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物理含义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元素 A</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每个位点的元素类别</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组成相同，原子排布仍可以不同</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分数坐标 F</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fᵢ ∈ [0, 1)³</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以晶格三条基矢表示原子位置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晶格 L</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L = [a  b  c]</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决定晶胞大小、形状与角度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周期复制</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rᵢ,ₘ = L(fᵢ + m)，m ∈ ℤ³</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有限胞内原子重复形成三维体材料</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C8B43473-71BB-42E9-BB05-C5E9CA5E2B03}"/>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CIF保存结构及晶体学信息。生成CIF后，还需要计算能量、性质和结构身份。</a:t>
            </a:r>
          </a:p>
        </p:txBody>
      </p:sp>
      <p:sp>
        <p:nvSpPr>
          <p:cNvPr id="5" name="separator">
            <a:extLst>
              <a:ext uri="{FF2B5EF4-FFF2-40B4-BE49-F238E27FC236}">
                <a16:creationId xmlns:a16="http://schemas.microsoft.com/office/drawing/2014/main" id="{892839E5-1FD1-4A5C-BC82-6E0E6F387A67}"/>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D1E13025-D0DE-4BA6-B3B5-F6618129919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CDVAE §3；DiffCSP §3–4；IUCr晶体学定义。这里采用晶格列向量约定。</a:t>
            </a:r>
          </a:p>
        </p:txBody>
      </p:sp>
      <p:sp>
        <p:nvSpPr>
          <p:cNvPr id="7" name="page-number">
            <a:extLst>
              <a:ext uri="{FF2B5EF4-FFF2-40B4-BE49-F238E27FC236}">
                <a16:creationId xmlns:a16="http://schemas.microsoft.com/office/drawing/2014/main" id="{70973EB3-FF9B-4411-9110-B3795F70F6A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02</a:t>
            </a:r>
          </a:p>
        </p:txBody>
      </p:sp>
    </p:spTree>
    <p:extLst>
      <p:ext uri="{BB962C8B-B14F-4D97-AF65-F5344CB8AC3E}">
        <p14:creationId xmlns:p14="http://schemas.microsoft.com/office/powerpoint/2010/main" val="247569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C4BF4A61-3CE9-4802-AE70-95308AFCC8F9}"/>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同一个晶体可以有多种编码</a:t>
            </a:r>
          </a:p>
        </p:txBody>
      </p:sp>
      <p:graphicFrame>
        <p:nvGraphicFramePr>
          <p:cNvPr id="2" name="Chart">
            <a:extLst>
              <a:ext uri="{FF2B5EF4-FFF2-40B4-BE49-F238E27FC236}">
                <a16:creationId xmlns:a16="http://schemas.microsoft.com/office/drawing/2014/main" id="{C7CD00DB-CAEF-4676-9D80-412649D6BF4C}"/>
              </a:ext>
            </a:extLst>
          </p:cNvPr>
          <p:cNvGraphicFramePr/>
          <p:nvPr/>
        </p:nvGraphicFramePr>
        <p:xfrm>
          <a:off x="647700" y="1685925"/>
          <a:ext cx="6048375"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extLst>
              <a:ext uri="{FF2B5EF4-FFF2-40B4-BE49-F238E27FC236}">
                <a16:creationId xmlns:a16="http://schemas.microsoft.com/office/drawing/2014/main" id="{7089ED8E-B8A4-4319-967C-E4AA810EA850}"/>
              </a:ext>
            </a:extLst>
          </p:cNvPr>
          <p:cNvSpPr>
            <a:spLocks noGrp="1"/>
          </p:cNvSpPr>
          <p:nvPr/>
        </p:nvSpPr>
        <p:spPr>
          <a:xfrm>
            <a:off x="685800" y="1333500"/>
            <a:ext cx="6096000" cy="285750"/>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二维周期坐标示意</a:t>
            </a:r>
          </a:p>
        </p:txBody>
      </p:sp>
      <p:sp>
        <p:nvSpPr>
          <p:cNvPr id="4" name="text">
            <a:extLst>
              <a:ext uri="{FF2B5EF4-FFF2-40B4-BE49-F238E27FC236}">
                <a16:creationId xmlns:a16="http://schemas.microsoft.com/office/drawing/2014/main" id="{FE41AD88-4042-4580-91A0-3BF4844BE959}"/>
              </a:ext>
            </a:extLst>
          </p:cNvPr>
          <p:cNvSpPr>
            <a:spLocks noGrp="1"/>
          </p:cNvSpPr>
          <p:nvPr/>
        </p:nvSpPr>
        <p:spPr>
          <a:xfrm>
            <a:off x="904875" y="5734050"/>
            <a:ext cx="5572125" cy="295275"/>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晶格方向的无量纲坐标</a:t>
            </a:r>
          </a:p>
        </p:txBody>
      </p:sp>
      <p:sp>
        <p:nvSpPr>
          <p:cNvPr id="5" name="text">
            <a:extLst>
              <a:ext uri="{FF2B5EF4-FFF2-40B4-BE49-F238E27FC236}">
                <a16:creationId xmlns:a16="http://schemas.microsoft.com/office/drawing/2014/main" id="{0E015F39-6307-4AE6-B915-A351B22610D6}"/>
              </a:ext>
            </a:extLst>
          </p:cNvPr>
          <p:cNvSpPr>
            <a:spLocks noGrp="1"/>
          </p:cNvSpPr>
          <p:nvPr/>
        </p:nvSpPr>
        <p:spPr>
          <a:xfrm>
            <a:off x="7219950" y="151447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周期边界</a:t>
            </a:r>
          </a:p>
        </p:txBody>
      </p:sp>
      <p:sp>
        <p:nvSpPr>
          <p:cNvPr id="6" name="text">
            <a:extLst>
              <a:ext uri="{FF2B5EF4-FFF2-40B4-BE49-F238E27FC236}">
                <a16:creationId xmlns:a16="http://schemas.microsoft.com/office/drawing/2014/main" id="{C7C01C6F-A0B1-49E0-B6B5-D167CA7B1F0C}"/>
              </a:ext>
            </a:extLst>
          </p:cNvPr>
          <p:cNvSpPr>
            <a:spLocks noGrp="1"/>
          </p:cNvSpPr>
          <p:nvPr/>
        </p:nvSpPr>
        <p:spPr>
          <a:xfrm>
            <a:off x="7219950" y="191452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f与f+m对应周期等价位置。0.99与0.01在胞边界两侧可以很近</a:t>
            </a:r>
          </a:p>
        </p:txBody>
      </p:sp>
      <p:sp>
        <p:nvSpPr>
          <p:cNvPr id="7" name="text">
            <a:extLst>
              <a:ext uri="{FF2B5EF4-FFF2-40B4-BE49-F238E27FC236}">
                <a16:creationId xmlns:a16="http://schemas.microsoft.com/office/drawing/2014/main" id="{8D3957BE-21A5-4FA0-A6FC-3CB3F4CB2105}"/>
              </a:ext>
            </a:extLst>
          </p:cNvPr>
          <p:cNvSpPr>
            <a:spLocks noGrp="1"/>
          </p:cNvSpPr>
          <p:nvPr/>
        </p:nvSpPr>
        <p:spPr>
          <a:xfrm>
            <a:off x="7219950" y="29337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几何等价</a:t>
            </a:r>
          </a:p>
        </p:txBody>
      </p:sp>
      <p:sp>
        <p:nvSpPr>
          <p:cNvPr id="8" name="text">
            <a:extLst>
              <a:ext uri="{FF2B5EF4-FFF2-40B4-BE49-F238E27FC236}">
                <a16:creationId xmlns:a16="http://schemas.microsoft.com/office/drawing/2014/main" id="{CB83921D-3789-49D9-87F3-11D71911125E}"/>
              </a:ext>
            </a:extLst>
          </p:cNvPr>
          <p:cNvSpPr>
            <a:spLocks noGrp="1"/>
          </p:cNvSpPr>
          <p:nvPr/>
        </p:nvSpPr>
        <p:spPr>
          <a:xfrm>
            <a:off x="7219950" y="3333750"/>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原子顺序、整体平移、旋转和晶胞选择都能改写输入</a:t>
            </a:r>
          </a:p>
        </p:txBody>
      </p:sp>
      <p:sp>
        <p:nvSpPr>
          <p:cNvPr id="9" name="text">
            <a:extLst>
              <a:ext uri="{FF2B5EF4-FFF2-40B4-BE49-F238E27FC236}">
                <a16:creationId xmlns:a16="http://schemas.microsoft.com/office/drawing/2014/main" id="{2EC5530B-7051-4546-A531-5F2328113E26}"/>
              </a:ext>
            </a:extLst>
          </p:cNvPr>
          <p:cNvSpPr>
            <a:spLocks noGrp="1"/>
          </p:cNvSpPr>
          <p:nvPr/>
        </p:nvSpPr>
        <p:spPr>
          <a:xfrm>
            <a:off x="7219950" y="435292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对称表示</a:t>
            </a:r>
          </a:p>
        </p:txBody>
      </p:sp>
      <p:sp>
        <p:nvSpPr>
          <p:cNvPr id="10" name="text">
            <a:extLst>
              <a:ext uri="{FF2B5EF4-FFF2-40B4-BE49-F238E27FC236}">
                <a16:creationId xmlns:a16="http://schemas.microsoft.com/office/drawing/2014/main" id="{93EB4462-BC4F-4C30-BBC0-1A19905E2E09}"/>
              </a:ext>
            </a:extLst>
          </p:cNvPr>
          <p:cNvSpPr>
            <a:spLocks noGrp="1"/>
          </p:cNvSpPr>
          <p:nvPr/>
        </p:nvSpPr>
        <p:spPr>
          <a:xfrm>
            <a:off x="7219950" y="475297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空间群操作展开非等价原子。Wyckoff位置记录对称位点的重复数与自由坐标</a:t>
            </a:r>
          </a:p>
        </p:txBody>
      </p:sp>
      <p:sp>
        <p:nvSpPr>
          <p:cNvPr id="11" name="separator">
            <a:extLst>
              <a:ext uri="{FF2B5EF4-FFF2-40B4-BE49-F238E27FC236}">
                <a16:creationId xmlns:a16="http://schemas.microsoft.com/office/drawing/2014/main" id="{1FC48CA1-680C-4B0B-B9FF-43723AAA6375}"/>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80881180-AF0A-4760-AD00-19544D91E5C9}"/>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左图为二维周期教学示意。真实晶体为三维。结构匹配需要处理物理等价关系。</a:t>
            </a:r>
          </a:p>
        </p:txBody>
      </p:sp>
      <p:sp>
        <p:nvSpPr>
          <p:cNvPr id="13" name="page-number">
            <a:extLst>
              <a:ext uri="{FF2B5EF4-FFF2-40B4-BE49-F238E27FC236}">
                <a16:creationId xmlns:a16="http://schemas.microsoft.com/office/drawing/2014/main" id="{0E665940-E97F-4019-B7DF-88D7E455789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03</a:t>
            </a:r>
          </a:p>
        </p:txBody>
      </p:sp>
    </p:spTree>
    <p:extLst>
      <p:ext uri="{BB962C8B-B14F-4D97-AF65-F5344CB8AC3E}">
        <p14:creationId xmlns:p14="http://schemas.microsoft.com/office/powerpoint/2010/main" val="31114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79FD529-DD91-48A3-B798-B68F449C69D8}"/>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先区分CSP、自主生成与条件设计</a:t>
            </a:r>
          </a:p>
        </p:txBody>
      </p:sp>
      <p:graphicFrame>
        <p:nvGraphicFramePr>
          <p:cNvPr id="2" name="表格 1">
            <a:extLst>
              <a:ext uri="{FF2B5EF4-FFF2-40B4-BE49-F238E27FC236}">
                <a16:creationId xmlns:a16="http://schemas.microsoft.com/office/drawing/2014/main" id="{30C28B82-D407-4E7A-BD97-5F52807BE28A}"/>
              </a:ext>
            </a:extLst>
          </p:cNvPr>
          <p:cNvGraphicFramePr/>
          <p:nvPr/>
        </p:nvGraphicFramePr>
        <p:xfrm>
          <a:off x="609600" y="1400175"/>
          <a:ext cx="10972800" cy="4010025"/>
        </p:xfrm>
        <a:graphic>
          <a:graphicData uri="http://schemas.openxmlformats.org/drawingml/2006/table">
            <a:tbl>
              <a:tblPr/>
              <a:tblGrid>
                <a:gridCol w="21431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gridCol w="3257550">
                  <a:extLst>
                    <a:ext uri="{9D8B030D-6E8A-4147-A177-3AD203B41FA5}">
                      <a16:colId xmlns:a16="http://schemas.microsoft.com/office/drawing/2014/main" val="20003"/>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任务</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给模型什么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模型需要输出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通常怎样评测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结构预测 CSP</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组成或化学式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晶胞与原子位置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参考命中、RMSD、多晶型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自主生成 DNG</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随机种子或噪声</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组成与完整结构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有效率、S/U/N、SUN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条件生成</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性质、元素范围、空间群或图案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满足要求的完整结构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条件命中与物理资格交集</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物理预测</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完整原子构型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能量、力、应力或性质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误差、动力学与应用表现</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858F2E61-84F8-4E87-A704-3962C4739506}"/>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化学系统条件如“Li–O”允许选择计量；给定“Li₂O”则固定了更具体的组成。</a:t>
            </a:r>
          </a:p>
        </p:txBody>
      </p:sp>
      <p:sp>
        <p:nvSpPr>
          <p:cNvPr id="4" name="separator">
            <a:extLst>
              <a:ext uri="{FF2B5EF4-FFF2-40B4-BE49-F238E27FC236}">
                <a16:creationId xmlns:a16="http://schemas.microsoft.com/office/drawing/2014/main" id="{F563BEF6-F171-4B68-B92B-FA3D5D64FCFA}"/>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86DDE3E5-D310-4297-9E20-E94D0B56752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任务输入不同，匹配率、性质命中率与材料发现率回答不同问题。</a:t>
            </a:r>
          </a:p>
        </p:txBody>
      </p:sp>
      <p:sp>
        <p:nvSpPr>
          <p:cNvPr id="6" name="page-number">
            <a:extLst>
              <a:ext uri="{FF2B5EF4-FFF2-40B4-BE49-F238E27FC236}">
                <a16:creationId xmlns:a16="http://schemas.microsoft.com/office/drawing/2014/main" id="{2B8B1C8F-EE53-4A99-82CF-20B4BDEA46C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04</a:t>
            </a:r>
          </a:p>
        </p:txBody>
      </p:sp>
    </p:spTree>
    <p:extLst>
      <p:ext uri="{BB962C8B-B14F-4D97-AF65-F5344CB8AC3E}">
        <p14:creationId xmlns:p14="http://schemas.microsoft.com/office/powerpoint/2010/main" val="1293837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07CFA535-89B2-41AE-B27C-4DE9421F523E}"/>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数据库、训练集与参考库各有用途</a:t>
            </a:r>
          </a:p>
        </p:txBody>
      </p:sp>
      <p:graphicFrame>
        <p:nvGraphicFramePr>
          <p:cNvPr id="2" name="表格 1">
            <a:extLst>
              <a:ext uri="{FF2B5EF4-FFF2-40B4-BE49-F238E27FC236}">
                <a16:creationId xmlns:a16="http://schemas.microsoft.com/office/drawing/2014/main" id="{9925F38D-EDDA-477E-8DBB-0561A3A1CCC0}"/>
              </a:ext>
            </a:extLst>
          </p:cNvPr>
          <p:cNvGraphicFramePr/>
          <p:nvPr/>
        </p:nvGraphicFramePr>
        <p:xfrm>
          <a:off x="609600" y="1400175"/>
          <a:ext cx="10972800" cy="4010025"/>
        </p:xfrm>
        <a:graphic>
          <a:graphicData uri="http://schemas.openxmlformats.org/drawingml/2006/table">
            <a:tbl>
              <a:tblPr/>
              <a:tblGrid>
                <a:gridCol w="2667000">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47339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资源</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主要内容</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在生成研究中的作用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Materials Project</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DFT结构、能量及性质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衍生训练集、竞争相和评价参考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Alexandria / OQMD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高通量DFT及假想结构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扩大化学覆盖，提供相能量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ICSD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整理后的无机结构，主要来自实验</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已知材料与新颖性参考，含无序占位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COD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开放CIF，覆盖多类晶体</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结构与文献来源，能量标签需另配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5E7695B3-5EE4-452D-9030-C06061A30BA4}"/>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数据库会更新；模型实际使用的是某次下载、过滤和划分后的固定快照。</a:t>
            </a:r>
          </a:p>
        </p:txBody>
      </p:sp>
      <p:sp>
        <p:nvSpPr>
          <p:cNvPr id="4" name="separator">
            <a:extLst>
              <a:ext uri="{FF2B5EF4-FFF2-40B4-BE49-F238E27FC236}">
                <a16:creationId xmlns:a16="http://schemas.microsoft.com/office/drawing/2014/main" id="{D0D690F4-47B6-4F6F-B9A5-520D963715A0}"/>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E755F618-7B7A-4DAB-AAF9-CDD70E8A4053}"/>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数据类型与用途来自各数据库原始论文或官方说明。总库规模不等于训练样本数。</a:t>
            </a:r>
          </a:p>
        </p:txBody>
      </p:sp>
      <p:sp>
        <p:nvSpPr>
          <p:cNvPr id="6" name="page-number">
            <a:extLst>
              <a:ext uri="{FF2B5EF4-FFF2-40B4-BE49-F238E27FC236}">
                <a16:creationId xmlns:a16="http://schemas.microsoft.com/office/drawing/2014/main" id="{27DD8C6A-4C9D-4A8B-8C27-323FB5A82F7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05</a:t>
            </a:r>
          </a:p>
        </p:txBody>
      </p:sp>
    </p:spTree>
    <p:extLst>
      <p:ext uri="{BB962C8B-B14F-4D97-AF65-F5344CB8AC3E}">
        <p14:creationId xmlns:p14="http://schemas.microsoft.com/office/powerpoint/2010/main" val="46638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4CC7F086-FA0D-4251-A5B1-3C9892DA3FCD}"/>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常用生成基准各自检验什么</a:t>
            </a:r>
          </a:p>
        </p:txBody>
      </p:sp>
      <p:graphicFrame>
        <p:nvGraphicFramePr>
          <p:cNvPr id="2" name="表格 1">
            <a:extLst>
              <a:ext uri="{FF2B5EF4-FFF2-40B4-BE49-F238E27FC236}">
                <a16:creationId xmlns:a16="http://schemas.microsoft.com/office/drawing/2014/main" id="{72A68191-F15B-45EF-9F4B-0F7503A92C1F}"/>
              </a:ext>
            </a:extLst>
          </p:cNvPr>
          <p:cNvGraphicFramePr/>
          <p:nvPr/>
        </p:nvGraphicFramePr>
        <p:xfrm>
          <a:off x="609600" y="1400175"/>
          <a:ext cx="10972800" cy="4010025"/>
        </p:xfrm>
        <a:graphic>
          <a:graphicData uri="http://schemas.openxmlformats.org/drawingml/2006/table">
            <a:tbl>
              <a:tblPr/>
              <a:tblGrid>
                <a:gridCol w="209550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基准</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固定规模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结构范围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用途与划分</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Perov-5</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18,928</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ABX₃型，每胞5原子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组成变化为主；60/20/20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Carbon-24</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10,153</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仅C，6–24原子，10 GPa</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结构与多晶型；60/20/20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MP-20</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45,231</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89种元素，输入胞≤20原子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组成与结构；60/20/20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MPTS-52</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40,476</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输入胞≤52原子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按时间划分</a:t>
                      </a:r>
                    </a:p>
                    <a:p>
                      <a:pPr algn="l">
                        <a:lnSpc>
                          <a:spcPct val="108000"/>
                        </a:lnSpc>
                        <a:buNone/>
                      </a:pPr>
                      <a:r>
                        <a:rPr sz="1725" b="0">
                          <a:solidFill>
                            <a:srgbClr val="1B2533"/>
                          </a:solidFill>
                          <a:latin typeface="Microsoft YaHei"/>
                          <a:ea typeface="Microsoft YaHei"/>
                          <a:cs typeface="Microsoft YaHei"/>
                        </a:rPr>
                        <a:t>27,380 / 5,000 / 8,096</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81E1ABD1-8992-4E35-9B92-EE6C6801826C}"/>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MP-20是特定基准文件和预处理流程，不等于现在查询所有“≤20原子”的MP结构。</a:t>
            </a:r>
          </a:p>
        </p:txBody>
      </p:sp>
      <p:sp>
        <p:nvSpPr>
          <p:cNvPr id="4" name="separator">
            <a:extLst>
              <a:ext uri="{FF2B5EF4-FFF2-40B4-BE49-F238E27FC236}">
                <a16:creationId xmlns:a16="http://schemas.microsoft.com/office/drawing/2014/main" id="{C017D791-1E9A-4658-820B-28F764F797A4}"/>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F0727579-0790-4732-A6D2-1FE308D7A25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CDVAE §5 / Appendix C；DiffCSP §5 / Appendix F。比例依次为训练、验证、测试。</a:t>
            </a:r>
          </a:p>
        </p:txBody>
      </p:sp>
      <p:sp>
        <p:nvSpPr>
          <p:cNvPr id="6" name="page-number">
            <a:extLst>
              <a:ext uri="{FF2B5EF4-FFF2-40B4-BE49-F238E27FC236}">
                <a16:creationId xmlns:a16="http://schemas.microsoft.com/office/drawing/2014/main" id="{9C4F4013-2D3C-4845-9552-B0A5FCE0901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06</a:t>
            </a:r>
          </a:p>
        </p:txBody>
      </p:sp>
    </p:spTree>
    <p:extLst>
      <p:ext uri="{BB962C8B-B14F-4D97-AF65-F5344CB8AC3E}">
        <p14:creationId xmlns:p14="http://schemas.microsoft.com/office/powerpoint/2010/main" val="4828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9309453-EF88-453A-B8DC-D49D50A012CA}"/>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生成终态数据与势能轨迹数据不同</a:t>
            </a:r>
          </a:p>
        </p:txBody>
      </p:sp>
      <p:sp>
        <p:nvSpPr>
          <p:cNvPr id="2" name="lead">
            <a:extLst>
              <a:ext uri="{FF2B5EF4-FFF2-40B4-BE49-F238E27FC236}">
                <a16:creationId xmlns:a16="http://schemas.microsoft.com/office/drawing/2014/main" id="{BEDAB2D0-3FDB-4498-A4C7-795FA8A67E5A}"/>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生成器学习哪些结构会出现，MLIP还要学习离开终态后能量怎样变化。</a:t>
            </a:r>
          </a:p>
        </p:txBody>
      </p:sp>
      <p:sp>
        <p:nvSpPr>
          <p:cNvPr id="3" name="text">
            <a:extLst>
              <a:ext uri="{FF2B5EF4-FFF2-40B4-BE49-F238E27FC236}">
                <a16:creationId xmlns:a16="http://schemas.microsoft.com/office/drawing/2014/main" id="{16FDCED6-A2D5-405D-9C73-F86CCC640C97}"/>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生成训练集</a:t>
            </a:r>
          </a:p>
        </p:txBody>
      </p:sp>
      <p:sp>
        <p:nvSpPr>
          <p:cNvPr id="4" name="text">
            <a:extLst>
              <a:ext uri="{FF2B5EF4-FFF2-40B4-BE49-F238E27FC236}">
                <a16:creationId xmlns:a16="http://schemas.microsoft.com/office/drawing/2014/main" id="{6673A845-5577-4760-A60B-90359E7FF545}"/>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一条记录通常是一种结构及可选性质。Alex-MP-20将生成训练扩展到数十万结构</a:t>
            </a:r>
          </a:p>
        </p:txBody>
      </p:sp>
      <p:sp>
        <p:nvSpPr>
          <p:cNvPr id="5" name="text">
            <a:extLst>
              <a:ext uri="{FF2B5EF4-FFF2-40B4-BE49-F238E27FC236}">
                <a16:creationId xmlns:a16="http://schemas.microsoft.com/office/drawing/2014/main" id="{887D402C-F968-4562-8D3B-64B6B8276B6C}"/>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MLIP轨迹集</a:t>
            </a:r>
          </a:p>
        </p:txBody>
      </p:sp>
      <p:sp>
        <p:nvSpPr>
          <p:cNvPr id="6" name="text">
            <a:extLst>
              <a:ext uri="{FF2B5EF4-FFF2-40B4-BE49-F238E27FC236}">
                <a16:creationId xmlns:a16="http://schemas.microsoft.com/office/drawing/2014/main" id="{485CDD4C-8612-40C8-AF9D-7D6145B1350A}"/>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同一材料的弛豫过程包含多帧，每帧带能量、力和应力。MPtrj约158万构型来自约14.6万材料</a:t>
            </a:r>
          </a:p>
        </p:txBody>
      </p:sp>
      <p:sp>
        <p:nvSpPr>
          <p:cNvPr id="7" name="text">
            <a:extLst>
              <a:ext uri="{FF2B5EF4-FFF2-40B4-BE49-F238E27FC236}">
                <a16:creationId xmlns:a16="http://schemas.microsoft.com/office/drawing/2014/main" id="{C8B8D6EB-1203-4AD0-B906-54387BE725A4}"/>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划分单位</a:t>
            </a:r>
          </a:p>
        </p:txBody>
      </p:sp>
      <p:sp>
        <p:nvSpPr>
          <p:cNvPr id="8" name="text">
            <a:extLst>
              <a:ext uri="{FF2B5EF4-FFF2-40B4-BE49-F238E27FC236}">
                <a16:creationId xmlns:a16="http://schemas.microsoft.com/office/drawing/2014/main" id="{EF0EC640-08DC-4ACA-99A6-784FC6F5CE4F}"/>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CHGNet按材料划分80/10/10，避免同一材料的相邻帧跨训练和测试</a:t>
            </a:r>
          </a:p>
        </p:txBody>
      </p:sp>
      <p:sp>
        <p:nvSpPr>
          <p:cNvPr id="9" name="text">
            <a:extLst>
              <a:ext uri="{FF2B5EF4-FFF2-40B4-BE49-F238E27FC236}">
                <a16:creationId xmlns:a16="http://schemas.microsoft.com/office/drawing/2014/main" id="{B23AC698-E600-4661-BBDB-71AA03039A4B}"/>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复现信息</a:t>
            </a:r>
          </a:p>
        </p:txBody>
      </p:sp>
      <p:sp>
        <p:nvSpPr>
          <p:cNvPr id="10" name="text">
            <a:extLst>
              <a:ext uri="{FF2B5EF4-FFF2-40B4-BE49-F238E27FC236}">
                <a16:creationId xmlns:a16="http://schemas.microsoft.com/office/drawing/2014/main" id="{727FBAEA-DAF3-4BE1-B3DA-05ABB292377D}"/>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记录数据版本、计算口径、过滤和划分。构型数、材料数、模型参数量分别报告</a:t>
            </a:r>
          </a:p>
        </p:txBody>
      </p:sp>
      <p:sp>
        <p:nvSpPr>
          <p:cNvPr id="11" name="separator">
            <a:extLst>
              <a:ext uri="{FF2B5EF4-FFF2-40B4-BE49-F238E27FC236}">
                <a16:creationId xmlns:a16="http://schemas.microsoft.com/office/drawing/2014/main" id="{1851375D-1BBC-45EC-BBF7-B43FDAE6975A}"/>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53748887-6203-497B-9E3B-D592E9BADE8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MPtrj：MP 2022年9月快照，1,580,395构型。MatterGen训练数据将在第23页展开。</a:t>
            </a:r>
          </a:p>
        </p:txBody>
      </p:sp>
      <p:sp>
        <p:nvSpPr>
          <p:cNvPr id="13" name="page-number">
            <a:extLst>
              <a:ext uri="{FF2B5EF4-FFF2-40B4-BE49-F238E27FC236}">
                <a16:creationId xmlns:a16="http://schemas.microsoft.com/office/drawing/2014/main" id="{DE88189F-B0DE-4EFA-B575-53478F51675F}"/>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07</a:t>
            </a:r>
          </a:p>
        </p:txBody>
      </p:sp>
    </p:spTree>
    <p:extLst>
      <p:ext uri="{BB962C8B-B14F-4D97-AF65-F5344CB8AC3E}">
        <p14:creationId xmlns:p14="http://schemas.microsoft.com/office/powerpoint/2010/main" val="748544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5C28F049-83F3-44DD-8C04-EEB32567B2D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常见生成模型的技术分工</a:t>
            </a:r>
          </a:p>
        </p:txBody>
      </p:sp>
      <p:graphicFrame>
        <p:nvGraphicFramePr>
          <p:cNvPr id="2" name="表格 1">
            <a:extLst>
              <a:ext uri="{FF2B5EF4-FFF2-40B4-BE49-F238E27FC236}">
                <a16:creationId xmlns:a16="http://schemas.microsoft.com/office/drawing/2014/main" id="{7BDDFF92-23F4-4C82-9524-778BB236906B}"/>
              </a:ext>
            </a:extLst>
          </p:cNvPr>
          <p:cNvGraphicFramePr/>
          <p:nvPr/>
        </p:nvGraphicFramePr>
        <p:xfrm>
          <a:off x="609600" y="1400175"/>
          <a:ext cx="10972800" cy="4467225"/>
        </p:xfrm>
        <a:graphic>
          <a:graphicData uri="http://schemas.openxmlformats.org/drawingml/2006/table">
            <a:tbl>
              <a:tblPr/>
              <a:tblGrid>
                <a:gridCol w="261937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9244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模型家族</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代表工作</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直接生成什么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86765">
                <a:tc>
                  <a:txBody>
                    <a:bodyPr/>
                    <a:lstStyle/>
                    <a:p>
                      <a:pPr algn="l">
                        <a:lnSpc>
                          <a:spcPct val="108000"/>
                        </a:lnSpc>
                        <a:buNone/>
                      </a:pPr>
                      <a:r>
                        <a:rPr sz="1725" b="0">
                          <a:solidFill>
                            <a:srgbClr val="1B2533"/>
                          </a:solidFill>
                          <a:latin typeface="Microsoft YaHei"/>
                          <a:ea typeface="Microsoft YaHei"/>
                          <a:cs typeface="Microsoft YaHei"/>
                        </a:rPr>
                        <a:t>潜变量与周期去噪</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CDVAE</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先组织全局结构属性，再生成元素与坐标</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86765">
                <a:tc>
                  <a:txBody>
                    <a:bodyPr/>
                    <a:lstStyle/>
                    <a:p>
                      <a:pPr algn="l">
                        <a:lnSpc>
                          <a:spcPct val="108000"/>
                        </a:lnSpc>
                        <a:buNone/>
                      </a:pPr>
                      <a:r>
                        <a:rPr sz="1725" b="0">
                          <a:solidFill>
                            <a:srgbClr val="1B2533"/>
                          </a:solidFill>
                          <a:latin typeface="Microsoft YaHei"/>
                          <a:ea typeface="Microsoft YaHei"/>
                          <a:cs typeface="Microsoft YaHei"/>
                        </a:rPr>
                        <a:t>Diffusion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DiffCSP、MatterGen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对晶格、周期坐标及可选元素联合去噪</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86765">
                <a:tc>
                  <a:txBody>
                    <a:bodyPr/>
                    <a:lstStyle/>
                    <a:p>
                      <a:pPr algn="l">
                        <a:lnSpc>
                          <a:spcPct val="108000"/>
                        </a:lnSpc>
                        <a:buNone/>
                      </a:pPr>
                      <a:r>
                        <a:rPr sz="1725" b="0">
                          <a:solidFill>
                            <a:srgbClr val="1B2533"/>
                          </a:solidFill>
                          <a:latin typeface="Microsoft YaHei"/>
                          <a:ea typeface="Microsoft YaHei"/>
                          <a:cs typeface="Microsoft YaHei"/>
                        </a:rPr>
                        <a:t>Flow / SI</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FlowMM、OMatG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学习连接初始分布与晶体分布的连续过程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86765">
                <a:tc>
                  <a:txBody>
                    <a:bodyPr/>
                    <a:lstStyle/>
                    <a:p>
                      <a:pPr algn="l">
                        <a:lnSpc>
                          <a:spcPct val="108000"/>
                        </a:lnSpc>
                        <a:buNone/>
                      </a:pPr>
                      <a:r>
                        <a:rPr sz="1725" b="0">
                          <a:solidFill>
                            <a:srgbClr val="1B2533"/>
                          </a:solidFill>
                          <a:latin typeface="Microsoft YaHei"/>
                          <a:ea typeface="Microsoft YaHei"/>
                          <a:cs typeface="Microsoft YaHei"/>
                        </a:rPr>
                        <a:t>语言与混合生成</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Crystal-LLM、FlowLLM</a:t>
                      </a:r>
                    </a:p>
                    <a:p>
                      <a:pPr algn="l">
                        <a:lnSpc>
                          <a:spcPct val="108000"/>
                        </a:lnSpc>
                        <a:buNone/>
                      </a:pPr>
                      <a:r>
                        <a:rPr sz="1725" b="0">
                          <a:solidFill>
                            <a:srgbClr val="1B2533"/>
                          </a:solidFill>
                          <a:latin typeface="Microsoft YaHei"/>
                          <a:ea typeface="Microsoft YaHei"/>
                          <a:cs typeface="Microsoft YaHei"/>
                        </a:rPr>
                        <a:t>CrysLLMGen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序列化结构；或用LLM提案接连续精修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786765">
                <a:tc>
                  <a:txBody>
                    <a:bodyPr/>
                    <a:lstStyle/>
                    <a:p>
                      <a:pPr algn="l">
                        <a:lnSpc>
                          <a:spcPct val="108000"/>
                        </a:lnSpc>
                        <a:buNone/>
                      </a:pPr>
                      <a:r>
                        <a:rPr sz="1725" b="0">
                          <a:solidFill>
                            <a:srgbClr val="1B2533"/>
                          </a:solidFill>
                          <a:latin typeface="Microsoft YaHei"/>
                          <a:ea typeface="Microsoft YaHei"/>
                          <a:cs typeface="Microsoft YaHei"/>
                        </a:rPr>
                        <a:t>对称与多模态</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SymmCD、MCFlow</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生成非等价位点，或完成元素与几何的互条件任务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separator">
            <a:extLst>
              <a:ext uri="{FF2B5EF4-FFF2-40B4-BE49-F238E27FC236}">
                <a16:creationId xmlns:a16="http://schemas.microsoft.com/office/drawing/2014/main" id="{0A814388-DD3F-4CE7-B692-695D97695C82}"/>
              </a:ext>
            </a:extLst>
          </p:cNvPr>
          <p:cNvSpPr>
            <a:spLocks noGrp="1"/>
          </p:cNvSpPr>
          <p:nvPr/>
        </p:nvSpPr>
        <p:spPr>
          <a:xfrm>
            <a:off x="609600" y="6200775"/>
            <a:ext cx="10972800" cy="0"/>
          </a:xfrm>
          <a:prstGeom prst="line">
            <a:avLst/>
          </a:prstGeom>
          <a:ln w="9525">
            <a:solidFill>
              <a:srgbClr val="D5DCE3"/>
            </a:solidFill>
          </a:ln>
        </p:spPr>
      </p:sp>
      <p:sp>
        <p:nvSpPr>
          <p:cNvPr id="4" name="sources">
            <a:extLst>
              <a:ext uri="{FF2B5EF4-FFF2-40B4-BE49-F238E27FC236}">
                <a16:creationId xmlns:a16="http://schemas.microsoft.com/office/drawing/2014/main" id="{02FD896B-A93A-4B84-AD33-C53B1CE8BBDA}"/>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SI = stochastic interpolants。不同范式可组合，比较时保留任务输入。</a:t>
            </a:r>
          </a:p>
        </p:txBody>
      </p:sp>
      <p:sp>
        <p:nvSpPr>
          <p:cNvPr id="5" name="page-number">
            <a:extLst>
              <a:ext uri="{FF2B5EF4-FFF2-40B4-BE49-F238E27FC236}">
                <a16:creationId xmlns:a16="http://schemas.microsoft.com/office/drawing/2014/main" id="{23370F06-F5A4-4A1D-9BCF-5672B0FCF27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08</a:t>
            </a:r>
          </a:p>
        </p:txBody>
      </p:sp>
    </p:spTree>
    <p:extLst>
      <p:ext uri="{BB962C8B-B14F-4D97-AF65-F5344CB8AC3E}">
        <p14:creationId xmlns:p14="http://schemas.microsoft.com/office/powerpoint/2010/main" val="1000261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CABDC7F4-22C2-452E-B810-0CB83489B74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代表论文怎样连接数据、模型和评测</a:t>
            </a:r>
          </a:p>
        </p:txBody>
      </p:sp>
      <p:graphicFrame>
        <p:nvGraphicFramePr>
          <p:cNvPr id="2" name="表格 1">
            <a:extLst>
              <a:ext uri="{FF2B5EF4-FFF2-40B4-BE49-F238E27FC236}">
                <a16:creationId xmlns:a16="http://schemas.microsoft.com/office/drawing/2014/main" id="{8E30F35E-FEB1-4957-B75E-FB59CB57626C}"/>
              </a:ext>
            </a:extLst>
          </p:cNvPr>
          <p:cNvGraphicFramePr/>
          <p:nvPr/>
        </p:nvGraphicFramePr>
        <p:xfrm>
          <a:off x="609600" y="1400175"/>
          <a:ext cx="10972800" cy="4467225"/>
        </p:xfrm>
        <a:graphic>
          <a:graphicData uri="http://schemas.openxmlformats.org/drawingml/2006/table">
            <a:tbl>
              <a:tblPr/>
              <a:tblGrid>
                <a:gridCol w="242887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434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工作</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数据与任务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主要评测对象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86765">
                <a:tc>
                  <a:txBody>
                    <a:bodyPr/>
                    <a:lstStyle/>
                    <a:p>
                      <a:pPr algn="l">
                        <a:lnSpc>
                          <a:spcPct val="108000"/>
                        </a:lnSpc>
                        <a:buNone/>
                      </a:pPr>
                      <a:r>
                        <a:rPr sz="1725" b="0">
                          <a:solidFill>
                            <a:srgbClr val="1B2533"/>
                          </a:solidFill>
                          <a:latin typeface="Microsoft YaHei"/>
                          <a:ea typeface="Microsoft YaHei"/>
                          <a:cs typeface="Microsoft YaHei"/>
                        </a:rPr>
                        <a:t>CDVAE</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Perov-5 / Carbon-24 / MP-20</a:t>
                      </a:r>
                    </a:p>
                    <a:p>
                      <a:pPr algn="l">
                        <a:lnSpc>
                          <a:spcPct val="108000"/>
                        </a:lnSpc>
                        <a:buNone/>
                      </a:pPr>
                      <a:r>
                        <a:rPr sz="1725" b="0">
                          <a:solidFill>
                            <a:srgbClr val="1B2533"/>
                          </a:solidFill>
                          <a:latin typeface="Microsoft YaHei"/>
                          <a:ea typeface="Microsoft YaHei"/>
                          <a:cs typeface="Microsoft YaHei"/>
                        </a:rPr>
                        <a:t>重构与DNG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有效率、指纹覆盖、性质分布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86765">
                <a:tc>
                  <a:txBody>
                    <a:bodyPr/>
                    <a:lstStyle/>
                    <a:p>
                      <a:pPr algn="l">
                        <a:lnSpc>
                          <a:spcPct val="108000"/>
                        </a:lnSpc>
                        <a:buNone/>
                      </a:pPr>
                      <a:r>
                        <a:rPr sz="1725" b="0">
                          <a:solidFill>
                            <a:srgbClr val="1B2533"/>
                          </a:solidFill>
                          <a:latin typeface="Microsoft YaHei"/>
                          <a:ea typeface="Microsoft YaHei"/>
                          <a:cs typeface="Microsoft YaHei"/>
                        </a:rPr>
                        <a:t>DiffCSP / FlowMM</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MP-20等，组成CSP与DNG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CSP匹配/RMSD；DNG另做物理评价</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86765">
                <a:tc>
                  <a:txBody>
                    <a:bodyPr/>
                    <a:lstStyle/>
                    <a:p>
                      <a:pPr algn="l">
                        <a:lnSpc>
                          <a:spcPct val="108000"/>
                        </a:lnSpc>
                        <a:buNone/>
                      </a:pPr>
                      <a:r>
                        <a:rPr sz="1725" b="0">
                          <a:solidFill>
                            <a:srgbClr val="1B2533"/>
                          </a:solidFill>
                          <a:latin typeface="Microsoft YaHei"/>
                          <a:ea typeface="Microsoft YaHei"/>
                          <a:cs typeface="Microsoft YaHei"/>
                        </a:rPr>
                        <a:t>FlowLLM / CrysLLMGen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MP-20为主，混合DNG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前者报告DFT-SUN，后者主要CHGNet评测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86765">
                <a:tc>
                  <a:txBody>
                    <a:bodyPr/>
                    <a:lstStyle/>
                    <a:p>
                      <a:pPr algn="l">
                        <a:lnSpc>
                          <a:spcPct val="108000"/>
                        </a:lnSpc>
                        <a:buNone/>
                      </a:pPr>
                      <a:r>
                        <a:rPr sz="1725" b="0">
                          <a:solidFill>
                            <a:srgbClr val="1B2533"/>
                          </a:solidFill>
                          <a:latin typeface="Microsoft YaHei"/>
                          <a:ea typeface="Microsoft YaHei"/>
                          <a:cs typeface="Microsoft YaHei"/>
                        </a:rPr>
                        <a:t>MatterGen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Alex-MP-20，DNG与条件设计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统一DFT弛豫、SUN、性质及实验案例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786765">
                <a:tc>
                  <a:txBody>
                    <a:bodyPr/>
                    <a:lstStyle/>
                    <a:p>
                      <a:pPr algn="l">
                        <a:lnSpc>
                          <a:spcPct val="108000"/>
                        </a:lnSpc>
                        <a:buNone/>
                      </a:pPr>
                      <a:r>
                        <a:rPr sz="1725" b="0">
                          <a:solidFill>
                            <a:srgbClr val="1B2533"/>
                          </a:solidFill>
                          <a:latin typeface="Microsoft YaHei"/>
                          <a:ea typeface="Microsoft YaHei"/>
                          <a:cs typeface="Microsoft YaHei"/>
                        </a:rPr>
                        <a:t>Chemeleon2</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MP-20 / Alex-MP-20</a:t>
                      </a:r>
                    </a:p>
                    <a:p>
                      <a:pPr algn="l">
                        <a:lnSpc>
                          <a:spcPct val="108000"/>
                        </a:lnSpc>
                        <a:buNone/>
                      </a:pPr>
                      <a:r>
                        <a:rPr sz="1725" b="0">
                          <a:solidFill>
                            <a:srgbClr val="1B2533"/>
                          </a:solidFill>
                          <a:latin typeface="Microsoft YaHei"/>
                          <a:ea typeface="Microsoft YaHei"/>
                          <a:cs typeface="Microsoft YaHei"/>
                        </a:rPr>
                        <a:t>DNG与性质后训练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代理势评价与选定DFT，含性质交集指标</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separator">
            <a:extLst>
              <a:ext uri="{FF2B5EF4-FFF2-40B4-BE49-F238E27FC236}">
                <a16:creationId xmlns:a16="http://schemas.microsoft.com/office/drawing/2014/main" id="{C6133326-FB60-410C-8CE6-1027332F89DA}"/>
              </a:ext>
            </a:extLst>
          </p:cNvPr>
          <p:cNvSpPr>
            <a:spLocks noGrp="1"/>
          </p:cNvSpPr>
          <p:nvPr/>
        </p:nvSpPr>
        <p:spPr>
          <a:xfrm>
            <a:off x="609600" y="6200775"/>
            <a:ext cx="10972800" cy="0"/>
          </a:xfrm>
          <a:prstGeom prst="line">
            <a:avLst/>
          </a:prstGeom>
          <a:ln w="9525">
            <a:solidFill>
              <a:srgbClr val="D5DCE3"/>
            </a:solidFill>
          </a:ln>
        </p:spPr>
      </p:sp>
      <p:sp>
        <p:nvSpPr>
          <p:cNvPr id="4" name="sources">
            <a:extLst>
              <a:ext uri="{FF2B5EF4-FFF2-40B4-BE49-F238E27FC236}">
                <a16:creationId xmlns:a16="http://schemas.microsoft.com/office/drawing/2014/main" id="{B2B23D04-7757-49BD-BF7C-B265A4DF1CD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这是评测方式对照表。不同评价器、阈值与分母的SUN数值不构成统一排行榜。</a:t>
            </a:r>
          </a:p>
        </p:txBody>
      </p:sp>
      <p:sp>
        <p:nvSpPr>
          <p:cNvPr id="5" name="page-number">
            <a:extLst>
              <a:ext uri="{FF2B5EF4-FFF2-40B4-BE49-F238E27FC236}">
                <a16:creationId xmlns:a16="http://schemas.microsoft.com/office/drawing/2014/main" id="{E9D4F4AB-1F49-464C-BFC3-D78FF0F6993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09</a:t>
            </a:r>
          </a:p>
        </p:txBody>
      </p:sp>
    </p:spTree>
    <p:extLst>
      <p:ext uri="{BB962C8B-B14F-4D97-AF65-F5344CB8AC3E}">
        <p14:creationId xmlns:p14="http://schemas.microsoft.com/office/powerpoint/2010/main" val="2029239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30CD457E-5B79-4ACF-8DD1-B8926D43A7A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生成器与MLIP承担不同工作</a:t>
            </a:r>
          </a:p>
        </p:txBody>
      </p:sp>
      <p:sp>
        <p:nvSpPr>
          <p:cNvPr id="2" name="lead">
            <a:extLst>
              <a:ext uri="{FF2B5EF4-FFF2-40B4-BE49-F238E27FC236}">
                <a16:creationId xmlns:a16="http://schemas.microsoft.com/office/drawing/2014/main" id="{9A7D23C7-F9CC-4840-9EE5-6E2605B17E29}"/>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MLIP学习势能面；优化器使用它给出的力与应力更新结构。</a:t>
            </a:r>
          </a:p>
        </p:txBody>
      </p:sp>
      <p:graphicFrame>
        <p:nvGraphicFramePr>
          <p:cNvPr id="3" name="表格 2">
            <a:extLst>
              <a:ext uri="{FF2B5EF4-FFF2-40B4-BE49-F238E27FC236}">
                <a16:creationId xmlns:a16="http://schemas.microsoft.com/office/drawing/2014/main" id="{B7D53AD4-FB3C-454E-B16E-4D4827E3A09D}"/>
              </a:ext>
            </a:extLst>
          </p:cNvPr>
          <p:cNvGraphicFramePr/>
          <p:nvPr/>
        </p:nvGraphicFramePr>
        <p:xfrm>
          <a:off x="609600" y="1990725"/>
          <a:ext cx="10972800" cy="3419475"/>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物理模型</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主要训练信息</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典型用途</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M3GNet</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MP弛豫中的能量、力、应力</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结构弛豫、筛选与材料模拟</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CHGNet</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MPtrj，加磁矩相关监督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电荷环境相关表示、弛豫与动力学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MACE-MP-0</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等变多体网络，MPtrj</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能量及导数、弛豫与MD</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MatterSim-v1</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离平衡与温压采样数据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更广物理状态下的预测与计算</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8C61FEF3-0485-4BF9-A5DB-9EB3EB94A48B}"/>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物理输出包括 E、F = −∇ᵣE 和应力。记录实际checkpoint及标签口径。</a:t>
            </a:r>
          </a:p>
        </p:txBody>
      </p:sp>
      <p:sp>
        <p:nvSpPr>
          <p:cNvPr id="5" name="separator">
            <a:extLst>
              <a:ext uri="{FF2B5EF4-FFF2-40B4-BE49-F238E27FC236}">
                <a16:creationId xmlns:a16="http://schemas.microsoft.com/office/drawing/2014/main" id="{3304F92A-9809-4235-A905-92B259DD54AB}"/>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76D70AAC-3BEB-4307-B1AA-3D9E071800E0}"/>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能量常报eV/atom，力报eV/Å，应力报GPa。MAE只对相应测试分布有意义。</a:t>
            </a:r>
          </a:p>
        </p:txBody>
      </p:sp>
      <p:sp>
        <p:nvSpPr>
          <p:cNvPr id="7" name="page-number">
            <a:extLst>
              <a:ext uri="{FF2B5EF4-FFF2-40B4-BE49-F238E27FC236}">
                <a16:creationId xmlns:a16="http://schemas.microsoft.com/office/drawing/2014/main" id="{55B3488B-E3B1-4893-B045-2087A2E6730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10</a:t>
            </a:r>
          </a:p>
        </p:txBody>
      </p:sp>
    </p:spTree>
    <p:extLst>
      <p:ext uri="{BB962C8B-B14F-4D97-AF65-F5344CB8AC3E}">
        <p14:creationId xmlns:p14="http://schemas.microsoft.com/office/powerpoint/2010/main" val="108402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AB1EDD2-C31A-4ADD-AB4D-3B710AAE73B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一次生成实验包含哪些计算</a:t>
            </a:r>
          </a:p>
        </p:txBody>
      </p:sp>
      <p:graphicFrame>
        <p:nvGraphicFramePr>
          <p:cNvPr id="2" name="表格 1">
            <a:extLst>
              <a:ext uri="{FF2B5EF4-FFF2-40B4-BE49-F238E27FC236}">
                <a16:creationId xmlns:a16="http://schemas.microsoft.com/office/drawing/2014/main" id="{17EE4F27-CD4A-4813-B8BB-F28C5A76FD4D}"/>
              </a:ext>
            </a:extLst>
          </p:cNvPr>
          <p:cNvGraphicFramePr/>
          <p:nvPr/>
        </p:nvGraphicFramePr>
        <p:xfrm>
          <a:off x="609600" y="1400175"/>
          <a:ext cx="10972800" cy="4010025"/>
        </p:xfrm>
        <a:graphic>
          <a:graphicData uri="http://schemas.openxmlformats.org/drawingml/2006/table">
            <a:tbl>
              <a:tblPr/>
              <a:tblGrid>
                <a:gridCol w="257175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步骤</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得到什么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应记录的费用或数量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695325">
                <a:tc>
                  <a:txBody>
                    <a:bodyPr/>
                    <a:lstStyle/>
                    <a:p>
                      <a:pPr algn="l">
                        <a:lnSpc>
                          <a:spcPct val="108000"/>
                        </a:lnSpc>
                        <a:buNone/>
                      </a:pPr>
                      <a:r>
                        <a:rPr sz="1725" b="0">
                          <a:solidFill>
                            <a:srgbClr val="1B2533"/>
                          </a:solidFill>
                          <a:latin typeface="Microsoft YaHei"/>
                          <a:ea typeface="Microsoft YaHei"/>
                          <a:cs typeface="Microsoft YaHei"/>
                        </a:rPr>
                        <a:t>提出与有效性检查</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原始结构、可计算候选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请求数、失败数、采样步数与硬件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695325">
                <a:tc>
                  <a:txBody>
                    <a:bodyPr/>
                    <a:lstStyle/>
                    <a:p>
                      <a:pPr algn="l">
                        <a:lnSpc>
                          <a:spcPct val="108000"/>
                        </a:lnSpc>
                        <a:buNone/>
                      </a:pPr>
                      <a:r>
                        <a:rPr sz="1725" b="0">
                          <a:solidFill>
                            <a:srgbClr val="1B2533"/>
                          </a:solidFill>
                          <a:latin typeface="Microsoft YaHei"/>
                          <a:ea typeface="Microsoft YaHei"/>
                          <a:cs typeface="Microsoft YaHei"/>
                        </a:rPr>
                        <a:t>结构弛豫</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局部低能终态及收敛状态</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MLIP/DFT调用、优化步数、资源小时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695325">
                <a:tc>
                  <a:txBody>
                    <a:bodyPr/>
                    <a:lstStyle/>
                    <a:p>
                      <a:pPr algn="l">
                        <a:lnSpc>
                          <a:spcPct val="108000"/>
                        </a:lnSpc>
                        <a:buNone/>
                      </a:pPr>
                      <a:r>
                        <a:rPr sz="1725" b="0">
                          <a:solidFill>
                            <a:srgbClr val="1B2533"/>
                          </a:solidFill>
                          <a:latin typeface="Microsoft YaHei"/>
                          <a:ea typeface="Microsoft YaHei"/>
                          <a:cs typeface="Microsoft YaHei"/>
                        </a:rPr>
                        <a:t>能量与结构匹配</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稳定资格、U/N/SUN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竞争相参考、匹配规则、未知状态</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695325">
                <a:tc>
                  <a:txBody>
                    <a:bodyPr/>
                    <a:lstStyle/>
                    <a:p>
                      <a:pPr algn="l">
                        <a:lnSpc>
                          <a:spcPct val="108000"/>
                        </a:lnSpc>
                        <a:buNone/>
                      </a:pPr>
                      <a:r>
                        <a:rPr sz="1725" b="0">
                          <a:solidFill>
                            <a:srgbClr val="1B2533"/>
                          </a:solidFill>
                          <a:latin typeface="Microsoft YaHei"/>
                          <a:ea typeface="Microsoft YaHei"/>
                          <a:cs typeface="Microsoft YaHei"/>
                        </a:rPr>
                        <a:t>性质与物理复核</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功能性质、声子或迁移等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被选样本数、计算参数、筛选分母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695325">
                <a:tc>
                  <a:txBody>
                    <a:bodyPr/>
                    <a:lstStyle/>
                    <a:p>
                      <a:pPr algn="l">
                        <a:lnSpc>
                          <a:spcPct val="108000"/>
                        </a:lnSpc>
                        <a:buNone/>
                      </a:pPr>
                      <a:r>
                        <a:rPr sz="1725" b="0">
                          <a:solidFill>
                            <a:srgbClr val="1B2533"/>
                          </a:solidFill>
                          <a:latin typeface="Microsoft YaHei"/>
                          <a:ea typeface="Microsoft YaHei"/>
                          <a:cs typeface="Microsoft YaHei"/>
                        </a:rPr>
                        <a:t>实验材料</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实际产物、结构与性质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尝试数、纯度、表征与测量条件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conclusion">
            <a:extLst>
              <a:ext uri="{FF2B5EF4-FFF2-40B4-BE49-F238E27FC236}">
                <a16:creationId xmlns:a16="http://schemas.microsoft.com/office/drawing/2014/main" id="{6719EAEB-5232-4BB8-88F0-AA4E1D061BEE}"/>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发现费用还包含数据、训练、失败重试和参考相计算；DFT性质调用只是其中一项。</a:t>
            </a:r>
          </a:p>
        </p:txBody>
      </p:sp>
      <p:sp>
        <p:nvSpPr>
          <p:cNvPr id="4" name="separator">
            <a:extLst>
              <a:ext uri="{FF2B5EF4-FFF2-40B4-BE49-F238E27FC236}">
                <a16:creationId xmlns:a16="http://schemas.microsoft.com/office/drawing/2014/main" id="{A43F18E6-8FEE-49E2-B9B8-A5B8D776BFC8}"/>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9B025328-CCD8-4CA3-AB2F-FE93FA72D8CD}"/>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顺序按研究目的调整。原始生成、MLIP终态和DFT终态分别记录。</a:t>
            </a:r>
          </a:p>
        </p:txBody>
      </p:sp>
      <p:sp>
        <p:nvSpPr>
          <p:cNvPr id="6" name="page-number">
            <a:extLst>
              <a:ext uri="{FF2B5EF4-FFF2-40B4-BE49-F238E27FC236}">
                <a16:creationId xmlns:a16="http://schemas.microsoft.com/office/drawing/2014/main" id="{6D001D8F-EC28-4C1A-88F2-F62C6F5202E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11</a:t>
            </a:r>
          </a:p>
        </p:txBody>
      </p:sp>
    </p:spTree>
    <p:extLst>
      <p:ext uri="{BB962C8B-B14F-4D97-AF65-F5344CB8AC3E}">
        <p14:creationId xmlns:p14="http://schemas.microsoft.com/office/powerpoint/2010/main" val="37858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F15A34C9-CD48-4C57-9C67-4BA18D9B4028}"/>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Validity先判断候选能否继续计算</a:t>
            </a:r>
          </a:p>
        </p:txBody>
      </p:sp>
      <p:graphicFrame>
        <p:nvGraphicFramePr>
          <p:cNvPr id="2" name="表格 1">
            <a:extLst>
              <a:ext uri="{FF2B5EF4-FFF2-40B4-BE49-F238E27FC236}">
                <a16:creationId xmlns:a16="http://schemas.microsoft.com/office/drawing/2014/main" id="{32C6BB94-849E-47DA-8572-76A2840C17D5}"/>
              </a:ext>
            </a:extLst>
          </p:cNvPr>
          <p:cNvGraphicFramePr/>
          <p:nvPr/>
        </p:nvGraphicFramePr>
        <p:xfrm>
          <a:off x="609600" y="1400175"/>
          <a:ext cx="10972800" cy="4010025"/>
        </p:xfrm>
        <a:graphic>
          <a:graphicData uri="http://schemas.openxmlformats.org/drawingml/2006/table">
            <a:tbl>
              <a:tblPr/>
              <a:tblGrid>
                <a:gridCol w="2333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检查</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具体对象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结果含义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可读取与晶胞合法</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CIF、元素、占位、晶格体积</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得到完整且可解析的结构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几何有效性</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周期最小距离、密度、异常晶格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排除严重碰撞或畸形结构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组成有效性</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允许氧化态与电荷平衡等规则</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符合所采用的化学启发式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规则示例</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SMACT可寻找 Σₑ nₑqₑ = 0 的赋值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NaCl可用Na⁺和Cl⁻解释电荷平衡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179359A8-3D88-4A96-998E-0598D073EA0B}"/>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通过有效性检查后，再评价相稳定性和目标性质。</a:t>
            </a:r>
          </a:p>
        </p:txBody>
      </p:sp>
      <p:sp>
        <p:nvSpPr>
          <p:cNvPr id="4" name="separator">
            <a:extLst>
              <a:ext uri="{FF2B5EF4-FFF2-40B4-BE49-F238E27FC236}">
                <a16:creationId xmlns:a16="http://schemas.microsoft.com/office/drawing/2014/main" id="{8F929229-1D7C-4C1D-8202-B69D582943D2}"/>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46468B47-D360-4311-B84C-C292142805BA}"/>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阈值随协议变化：CDVAE距离阈值0.5 Å，LeMat-GenBench采用0.7 Å及额外检查。</a:t>
            </a:r>
          </a:p>
        </p:txBody>
      </p:sp>
      <p:sp>
        <p:nvSpPr>
          <p:cNvPr id="6" name="page-number">
            <a:extLst>
              <a:ext uri="{FF2B5EF4-FFF2-40B4-BE49-F238E27FC236}">
                <a16:creationId xmlns:a16="http://schemas.microsoft.com/office/drawing/2014/main" id="{505D270E-FA45-4543-83FE-DAFB3627E025}"/>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12</a:t>
            </a:r>
          </a:p>
        </p:txBody>
      </p:sp>
    </p:spTree>
    <p:extLst>
      <p:ext uri="{BB962C8B-B14F-4D97-AF65-F5344CB8AC3E}">
        <p14:creationId xmlns:p14="http://schemas.microsoft.com/office/powerpoint/2010/main" val="553353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C0E17F4F-C0D8-421A-9B85-92EBD6386A71}"/>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CSP评测：参考命中率与几何误差</a:t>
            </a:r>
          </a:p>
        </p:txBody>
      </p:sp>
      <p:sp>
        <p:nvSpPr>
          <p:cNvPr id="2" name="equation">
            <a:extLst>
              <a:ext uri="{FF2B5EF4-FFF2-40B4-BE49-F238E27FC236}">
                <a16:creationId xmlns:a16="http://schemas.microsoft.com/office/drawing/2014/main" id="{B9A96DCC-858F-40CA-BE9B-CB84C7BDF44A}"/>
              </a:ext>
            </a:extLst>
          </p:cNvPr>
          <p:cNvSpPr>
            <a:spLocks noGrp="1"/>
          </p:cNvSpPr>
          <p:nvPr/>
        </p:nvSpPr>
        <p:spPr>
          <a:xfrm>
            <a:off x="609600" y="1276350"/>
            <a:ext cx="10972800" cy="647700"/>
          </a:xfrm>
          <a:prstGeom prst="rect">
            <a:avLst/>
          </a:prstGeom>
          <a:noFill/>
          <a:ln w="0">
            <a:noFill/>
          </a:ln>
        </p:spPr>
        <p:txBody>
          <a:bodyPr wrap="square" lIns="0" tIns="0" rIns="0" bIns="0" anchor="t">
            <a:noAutofit/>
          </a:bodyPr>
          <a:lstStyle>
            <a:defPPr algn="l">
              <a:defRPr sz="2175" b="0">
                <a:solidFill>
                  <a:srgbClr val="173E67"/>
                </a:solidFill>
                <a:latin typeface="Microsoft YaHei"/>
                <a:ea typeface="Microsoft YaHei"/>
                <a:cs typeface="Microsoft YaHei"/>
              </a:defRPr>
            </a:defPPr>
          </a:lstStyle>
          <a:p>
            <a:pPr algn="l">
              <a:lnSpc>
                <a:spcPct val="118000"/>
              </a:lnSpc>
              <a:buNone/>
              <a:defRPr sz="2175" b="0">
                <a:solidFill>
                  <a:srgbClr val="173E67"/>
                </a:solidFill>
                <a:latin typeface="Microsoft YaHei"/>
                <a:ea typeface="Microsoft YaHei"/>
                <a:cs typeface="Microsoft YaHei"/>
              </a:defRPr>
            </a:pPr>
            <a:r>
              <a:rPr sz="2175" b="0">
                <a:solidFill>
                  <a:srgbClr val="173E67"/>
                </a:solidFill>
                <a:latin typeface="Microsoft YaHei"/>
                <a:ea typeface="Microsoft YaHei"/>
                <a:cs typeface="Microsoft YaHei"/>
              </a:rPr>
              <a:t>MR@k = 命中至少一个参考结构的测试请求数 / 全部测试请求数</a:t>
            </a:r>
          </a:p>
        </p:txBody>
      </p:sp>
      <p:sp>
        <p:nvSpPr>
          <p:cNvPr id="3" name="text">
            <a:extLst>
              <a:ext uri="{FF2B5EF4-FFF2-40B4-BE49-F238E27FC236}">
                <a16:creationId xmlns:a16="http://schemas.microsoft.com/office/drawing/2014/main" id="{C947B8F3-B5F0-4174-BF47-3DF74F28FB4C}"/>
              </a:ext>
            </a:extLst>
          </p:cNvPr>
          <p:cNvSpPr>
            <a:spLocks noGrp="1"/>
          </p:cNvSpPr>
          <p:nvPr/>
        </p:nvSpPr>
        <p:spPr>
          <a:xfrm>
            <a:off x="609600" y="227647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匹配</a:t>
            </a:r>
          </a:p>
        </p:txBody>
      </p:sp>
      <p:sp>
        <p:nvSpPr>
          <p:cNvPr id="4" name="text">
            <a:extLst>
              <a:ext uri="{FF2B5EF4-FFF2-40B4-BE49-F238E27FC236}">
                <a16:creationId xmlns:a16="http://schemas.microsoft.com/office/drawing/2014/main" id="{8916F323-7E79-4620-86C0-B6617CFB1242}"/>
              </a:ext>
            </a:extLst>
          </p:cNvPr>
          <p:cNvSpPr>
            <a:spLocks noGrp="1"/>
          </p:cNvSpPr>
          <p:nvPr/>
        </p:nvSpPr>
        <p:spPr>
          <a:xfrm>
            <a:off x="2457450" y="227647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处理原子重排、平移和晶胞等价后，按晶格、角度及位置容差比较</a:t>
            </a:r>
          </a:p>
        </p:txBody>
      </p:sp>
      <p:sp>
        <p:nvSpPr>
          <p:cNvPr id="5" name="text">
            <a:extLst>
              <a:ext uri="{FF2B5EF4-FFF2-40B4-BE49-F238E27FC236}">
                <a16:creationId xmlns:a16="http://schemas.microsoft.com/office/drawing/2014/main" id="{95E2DF17-E716-4DB9-BA78-F8E7C32E3149}"/>
              </a:ext>
            </a:extLst>
          </p:cNvPr>
          <p:cNvSpPr>
            <a:spLocks noGrp="1"/>
          </p:cNvSpPr>
          <p:nvPr/>
        </p:nvSpPr>
        <p:spPr>
          <a:xfrm>
            <a:off x="609600" y="314325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RMSD</a:t>
            </a:r>
          </a:p>
        </p:txBody>
      </p:sp>
      <p:sp>
        <p:nvSpPr>
          <p:cNvPr id="6" name="text">
            <a:extLst>
              <a:ext uri="{FF2B5EF4-FFF2-40B4-BE49-F238E27FC236}">
                <a16:creationId xmlns:a16="http://schemas.microsoft.com/office/drawing/2014/main" id="{C580D813-46CE-4102-8A6D-D9563A2AE931}"/>
              </a:ext>
            </a:extLst>
          </p:cNvPr>
          <p:cNvSpPr>
            <a:spLocks noGrp="1"/>
          </p:cNvSpPr>
          <p:nvPr/>
        </p:nvSpPr>
        <p:spPr>
          <a:xfrm>
            <a:off x="2457450" y="314325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匹配原子的位移均方根。文献可能报Å，也可能除以 (V/n)¹ᐟ³ 归一化</a:t>
            </a:r>
          </a:p>
        </p:txBody>
      </p:sp>
      <p:sp>
        <p:nvSpPr>
          <p:cNvPr id="7" name="text">
            <a:extLst>
              <a:ext uri="{FF2B5EF4-FFF2-40B4-BE49-F238E27FC236}">
                <a16:creationId xmlns:a16="http://schemas.microsoft.com/office/drawing/2014/main" id="{4CD1E437-D0F9-4F62-A892-563CF27777BD}"/>
              </a:ext>
            </a:extLst>
          </p:cNvPr>
          <p:cNvSpPr>
            <a:spLocks noGrp="1"/>
          </p:cNvSpPr>
          <p:nvPr/>
        </p:nvSpPr>
        <p:spPr>
          <a:xfrm>
            <a:off x="609600" y="401002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采样预算</a:t>
            </a:r>
          </a:p>
        </p:txBody>
      </p:sp>
      <p:sp>
        <p:nvSpPr>
          <p:cNvPr id="8" name="text">
            <a:extLst>
              <a:ext uri="{FF2B5EF4-FFF2-40B4-BE49-F238E27FC236}">
                <a16:creationId xmlns:a16="http://schemas.microsoft.com/office/drawing/2014/main" id="{2245A93C-5D96-441D-91B6-6670D95523DF}"/>
              </a:ext>
            </a:extLst>
          </p:cNvPr>
          <p:cNvSpPr>
            <a:spLocks noGrp="1"/>
          </p:cNvSpPr>
          <p:nvPr/>
        </p:nvSpPr>
        <p:spPr>
          <a:xfrm>
            <a:off x="2457450" y="401002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MR@20通常允许每个组成20个候选。best-of-k评测可用参考答案选最好者</a:t>
            </a:r>
          </a:p>
        </p:txBody>
      </p:sp>
      <p:sp>
        <p:nvSpPr>
          <p:cNvPr id="9" name="text">
            <a:extLst>
              <a:ext uri="{FF2B5EF4-FFF2-40B4-BE49-F238E27FC236}">
                <a16:creationId xmlns:a16="http://schemas.microsoft.com/office/drawing/2014/main" id="{E4F37994-F253-488E-BAB8-137369B3D95E}"/>
              </a:ext>
            </a:extLst>
          </p:cNvPr>
          <p:cNvSpPr>
            <a:spLocks noGrp="1"/>
          </p:cNvSpPr>
          <p:nvPr/>
        </p:nvSpPr>
        <p:spPr>
          <a:xfrm>
            <a:off x="609600" y="487680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多晶型</a:t>
            </a:r>
          </a:p>
        </p:txBody>
      </p:sp>
      <p:sp>
        <p:nvSpPr>
          <p:cNvPr id="10" name="text">
            <a:extLst>
              <a:ext uri="{FF2B5EF4-FFF2-40B4-BE49-F238E27FC236}">
                <a16:creationId xmlns:a16="http://schemas.microsoft.com/office/drawing/2014/main" id="{4ABEB17F-F33C-4C6F-9A01-3D83A46BDBFE}"/>
              </a:ext>
            </a:extLst>
          </p:cNvPr>
          <p:cNvSpPr>
            <a:spLocks noGrp="1"/>
          </p:cNvSpPr>
          <p:nvPr/>
        </p:nvSpPr>
        <p:spPr>
          <a:xfrm>
            <a:off x="2457450" y="487680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同一组成可能有多个低能结构，单个数据库参考不代表全部可行答案</a:t>
            </a:r>
          </a:p>
        </p:txBody>
      </p:sp>
      <p:sp>
        <p:nvSpPr>
          <p:cNvPr id="11" name="separator">
            <a:extLst>
              <a:ext uri="{FF2B5EF4-FFF2-40B4-BE49-F238E27FC236}">
                <a16:creationId xmlns:a16="http://schemas.microsoft.com/office/drawing/2014/main" id="{F3FD34E6-B9EA-429B-94F1-56161DA42431}"/>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754FC3B0-63EA-4D75-9AEC-75472152887D}"/>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DiffCSP §5.1；pymatgen StructureMatcher。匹配率应与成功匹配集上的RMSD一起读。</a:t>
            </a:r>
          </a:p>
        </p:txBody>
      </p:sp>
      <p:sp>
        <p:nvSpPr>
          <p:cNvPr id="13" name="page-number">
            <a:extLst>
              <a:ext uri="{FF2B5EF4-FFF2-40B4-BE49-F238E27FC236}">
                <a16:creationId xmlns:a16="http://schemas.microsoft.com/office/drawing/2014/main" id="{77DD9AC2-F8EC-46A8-98CA-B3D2DC3724B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13</a:t>
            </a:r>
          </a:p>
        </p:txBody>
      </p:sp>
    </p:spTree>
    <p:extLst>
      <p:ext uri="{BB962C8B-B14F-4D97-AF65-F5344CB8AC3E}">
        <p14:creationId xmlns:p14="http://schemas.microsoft.com/office/powerpoint/2010/main" val="1393710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9FDDE094-84A5-4773-9D81-61D6714878B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分布指标衡量覆盖与偏移</a:t>
            </a:r>
          </a:p>
        </p:txBody>
      </p:sp>
      <p:graphicFrame>
        <p:nvGraphicFramePr>
          <p:cNvPr id="2" name="表格 1">
            <a:extLst>
              <a:ext uri="{FF2B5EF4-FFF2-40B4-BE49-F238E27FC236}">
                <a16:creationId xmlns:a16="http://schemas.microsoft.com/office/drawing/2014/main" id="{610B2097-EB7C-4095-B290-30EB647EC6B2}"/>
              </a:ext>
            </a:extLst>
          </p:cNvPr>
          <p:cNvGraphicFramePr/>
          <p:nvPr/>
        </p:nvGraphicFramePr>
        <p:xfrm>
          <a:off x="609600" y="1400175"/>
          <a:ext cx="10972800" cy="4010025"/>
        </p:xfrm>
        <a:graphic>
          <a:graphicData uri="http://schemas.openxmlformats.org/drawingml/2006/table">
            <a:tbl>
              <a:tblPr/>
              <a:tblGrid>
                <a:gridCol w="2333625">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06717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指标</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如何计算或理解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它描述什么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COV-Recall</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参考集合中被生成指纹邻域覆盖的比例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生成集合覆盖了多少参考变化</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COV-Precision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生成集合中靠近参考指纹分布的比例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有多少输出处于参考邻域</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JSD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两个类别分布的对称差异</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元素、空间群等分布偏移</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Wasserstein-1</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将一份标量分布搬成另一份的平均距离</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密度、能量等性质分布差异</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D017B519-493E-4852-90B8-57DFFE604B14}"/>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这些指标描述统计分布；稳定新材料还需要结构匹配及物理资格。</a:t>
            </a:r>
          </a:p>
        </p:txBody>
      </p:sp>
      <p:sp>
        <p:nvSpPr>
          <p:cNvPr id="4" name="separator">
            <a:extLst>
              <a:ext uri="{FF2B5EF4-FFF2-40B4-BE49-F238E27FC236}">
                <a16:creationId xmlns:a16="http://schemas.microsoft.com/office/drawing/2014/main" id="{8843113A-B17D-4D63-A1F0-E18DAC72E5E6}"/>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5F8687F9-D11E-4B42-AE96-46704B07F6A2}"/>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COV依赖结构/组成指纹与阈值；W₁保留性质单位。SciPy的Jensen–Shannon函数返回JSD的平方根。</a:t>
            </a:r>
          </a:p>
        </p:txBody>
      </p:sp>
      <p:sp>
        <p:nvSpPr>
          <p:cNvPr id="6" name="page-number">
            <a:extLst>
              <a:ext uri="{FF2B5EF4-FFF2-40B4-BE49-F238E27FC236}">
                <a16:creationId xmlns:a16="http://schemas.microsoft.com/office/drawing/2014/main" id="{72DCFBC0-60EA-446F-AB76-1501A3FE433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14</a:t>
            </a:r>
          </a:p>
        </p:txBody>
      </p:sp>
    </p:spTree>
    <p:extLst>
      <p:ext uri="{BB962C8B-B14F-4D97-AF65-F5344CB8AC3E}">
        <p14:creationId xmlns:p14="http://schemas.microsoft.com/office/powerpoint/2010/main" val="604912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1761231-F5FB-45D1-AB21-7FE12626C44E}"/>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形成能和凸包能比较不同的竞争对象</a:t>
            </a:r>
          </a:p>
        </p:txBody>
      </p:sp>
      <p:sp>
        <p:nvSpPr>
          <p:cNvPr id="2" name="equation">
            <a:extLst>
              <a:ext uri="{FF2B5EF4-FFF2-40B4-BE49-F238E27FC236}">
                <a16:creationId xmlns:a16="http://schemas.microsoft.com/office/drawing/2014/main" id="{116D7DA0-04AD-4C23-A0B9-53A151DC8701}"/>
              </a:ext>
            </a:extLst>
          </p:cNvPr>
          <p:cNvSpPr>
            <a:spLocks noGrp="1"/>
          </p:cNvSpPr>
          <p:nvPr/>
        </p:nvSpPr>
        <p:spPr>
          <a:xfrm>
            <a:off x="609600" y="1276350"/>
            <a:ext cx="10972800" cy="647700"/>
          </a:xfrm>
          <a:prstGeom prst="rect">
            <a:avLst/>
          </a:prstGeom>
          <a:noFill/>
          <a:ln w="0">
            <a:noFill/>
          </a:ln>
        </p:spPr>
        <p:txBody>
          <a:bodyPr wrap="square" lIns="0" tIns="0" rIns="0" bIns="0" anchor="t">
            <a:noAutofit/>
          </a:bodyPr>
          <a:lstStyle>
            <a:defPPr algn="l">
              <a:defRPr sz="2175" b="0">
                <a:solidFill>
                  <a:srgbClr val="173E67"/>
                </a:solidFill>
                <a:latin typeface="Microsoft YaHei"/>
                <a:ea typeface="Microsoft YaHei"/>
                <a:cs typeface="Microsoft YaHei"/>
              </a:defRPr>
            </a:defPPr>
          </a:lstStyle>
          <a:p>
            <a:pPr algn="l">
              <a:lnSpc>
                <a:spcPct val="118000"/>
              </a:lnSpc>
              <a:buNone/>
              <a:defRPr sz="2175" b="0">
                <a:solidFill>
                  <a:srgbClr val="173E67"/>
                </a:solidFill>
                <a:latin typeface="Microsoft YaHei"/>
                <a:ea typeface="Microsoft YaHei"/>
                <a:cs typeface="Microsoft YaHei"/>
              </a:defRPr>
            </a:pPr>
            <a:r>
              <a:rPr sz="2175" b="0">
                <a:solidFill>
                  <a:srgbClr val="173E67"/>
                </a:solidFill>
                <a:latin typeface="Microsoft YaHei"/>
                <a:ea typeface="Microsoft YaHei"/>
                <a:cs typeface="Microsoft YaHei"/>
              </a:rPr>
              <a:t>E_form = (E_cell − Σₑ nₑ μₑ) / n</a:t>
            </a:r>
          </a:p>
        </p:txBody>
      </p:sp>
      <p:sp>
        <p:nvSpPr>
          <p:cNvPr id="3" name="text">
            <a:extLst>
              <a:ext uri="{FF2B5EF4-FFF2-40B4-BE49-F238E27FC236}">
                <a16:creationId xmlns:a16="http://schemas.microsoft.com/office/drawing/2014/main" id="{F262C1AE-A029-4444-9CDE-11DC8F58C192}"/>
              </a:ext>
            </a:extLst>
          </p:cNvPr>
          <p:cNvSpPr>
            <a:spLocks noGrp="1"/>
          </p:cNvSpPr>
          <p:nvPr/>
        </p:nvSpPr>
        <p:spPr>
          <a:xfrm>
            <a:off x="609600" y="227647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形成能</a:t>
            </a:r>
          </a:p>
        </p:txBody>
      </p:sp>
      <p:sp>
        <p:nvSpPr>
          <p:cNvPr id="4" name="text">
            <a:extLst>
              <a:ext uri="{FF2B5EF4-FFF2-40B4-BE49-F238E27FC236}">
                <a16:creationId xmlns:a16="http://schemas.microsoft.com/office/drawing/2014/main" id="{2429CC8C-4016-4077-A7B3-87C428102B61}"/>
              </a:ext>
            </a:extLst>
          </p:cNvPr>
          <p:cNvSpPr>
            <a:spLocks noGrp="1"/>
          </p:cNvSpPr>
          <p:nvPr/>
        </p:nvSpPr>
        <p:spPr>
          <a:xfrm>
            <a:off x="2457450" y="227647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比较化合物与对应元素参考相。单位通常为eV/atom</a:t>
            </a:r>
          </a:p>
        </p:txBody>
      </p:sp>
      <p:sp>
        <p:nvSpPr>
          <p:cNvPr id="5" name="text">
            <a:extLst>
              <a:ext uri="{FF2B5EF4-FFF2-40B4-BE49-F238E27FC236}">
                <a16:creationId xmlns:a16="http://schemas.microsoft.com/office/drawing/2014/main" id="{C73D1543-EEA9-4DF3-9019-ED9722FF28D3}"/>
              </a:ext>
            </a:extLst>
          </p:cNvPr>
          <p:cNvSpPr>
            <a:spLocks noGrp="1"/>
          </p:cNvSpPr>
          <p:nvPr/>
        </p:nvSpPr>
        <p:spPr>
          <a:xfrm>
            <a:off x="609600" y="314325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相分解</a:t>
            </a:r>
          </a:p>
        </p:txBody>
      </p:sp>
      <p:sp>
        <p:nvSpPr>
          <p:cNvPr id="6" name="text">
            <a:extLst>
              <a:ext uri="{FF2B5EF4-FFF2-40B4-BE49-F238E27FC236}">
                <a16:creationId xmlns:a16="http://schemas.microsoft.com/office/drawing/2014/main" id="{0AC37E74-BFA1-414F-A180-494035F40918}"/>
              </a:ext>
            </a:extLst>
          </p:cNvPr>
          <p:cNvSpPr>
            <a:spLocks noGrp="1"/>
          </p:cNvSpPr>
          <p:nvPr/>
        </p:nvSpPr>
        <p:spPr>
          <a:xfrm>
            <a:off x="2457450" y="314325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即使形成能为负，也可能更愿意分解成若干更低能化合物</a:t>
            </a:r>
          </a:p>
        </p:txBody>
      </p:sp>
      <p:sp>
        <p:nvSpPr>
          <p:cNvPr id="7" name="text">
            <a:extLst>
              <a:ext uri="{FF2B5EF4-FFF2-40B4-BE49-F238E27FC236}">
                <a16:creationId xmlns:a16="http://schemas.microsoft.com/office/drawing/2014/main" id="{E4D37E6B-8389-4185-BA1F-98EBB2E08DE6}"/>
              </a:ext>
            </a:extLst>
          </p:cNvPr>
          <p:cNvSpPr>
            <a:spLocks noGrp="1"/>
          </p:cNvSpPr>
          <p:nvPr/>
        </p:nvSpPr>
        <p:spPr>
          <a:xfrm>
            <a:off x="609600" y="401002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凸包</a:t>
            </a:r>
          </a:p>
        </p:txBody>
      </p:sp>
      <p:sp>
        <p:nvSpPr>
          <p:cNvPr id="8" name="text">
            <a:extLst>
              <a:ext uri="{FF2B5EF4-FFF2-40B4-BE49-F238E27FC236}">
                <a16:creationId xmlns:a16="http://schemas.microsoft.com/office/drawing/2014/main" id="{738DFEA6-C613-443E-9A51-4A6DFD997031}"/>
              </a:ext>
            </a:extLst>
          </p:cNvPr>
          <p:cNvSpPr>
            <a:spLocks noGrp="1"/>
          </p:cNvSpPr>
          <p:nvPr/>
        </p:nvSpPr>
        <p:spPr>
          <a:xfrm>
            <a:off x="2457450" y="401002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在组成守恒下，求参考相混合所能达到的最低能量</a:t>
            </a:r>
          </a:p>
        </p:txBody>
      </p:sp>
      <p:sp>
        <p:nvSpPr>
          <p:cNvPr id="9" name="text">
            <a:extLst>
              <a:ext uri="{FF2B5EF4-FFF2-40B4-BE49-F238E27FC236}">
                <a16:creationId xmlns:a16="http://schemas.microsoft.com/office/drawing/2014/main" id="{C168B676-8AF2-4909-B6BC-71549BB14606}"/>
              </a:ext>
            </a:extLst>
          </p:cNvPr>
          <p:cNvSpPr>
            <a:spLocks noGrp="1"/>
          </p:cNvSpPr>
          <p:nvPr/>
        </p:nvSpPr>
        <p:spPr>
          <a:xfrm>
            <a:off x="609600" y="487680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物理条件</a:t>
            </a:r>
          </a:p>
        </p:txBody>
      </p:sp>
      <p:sp>
        <p:nvSpPr>
          <p:cNvPr id="10" name="text">
            <a:extLst>
              <a:ext uri="{FF2B5EF4-FFF2-40B4-BE49-F238E27FC236}">
                <a16:creationId xmlns:a16="http://schemas.microsoft.com/office/drawing/2014/main" id="{1A2AABC5-8979-48B3-8EDC-3403898D5307}"/>
              </a:ext>
            </a:extLst>
          </p:cNvPr>
          <p:cNvSpPr>
            <a:spLocks noGrp="1"/>
          </p:cNvSpPr>
          <p:nvPr/>
        </p:nvSpPr>
        <p:spPr>
          <a:xfrm>
            <a:off x="2457450" y="487680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常见电子能凸包近似0 K条件；压力下比较焓，有限温度平衡需要自由能</a:t>
            </a:r>
          </a:p>
        </p:txBody>
      </p:sp>
      <p:sp>
        <p:nvSpPr>
          <p:cNvPr id="11" name="separator">
            <a:extLst>
              <a:ext uri="{FF2B5EF4-FFF2-40B4-BE49-F238E27FC236}">
                <a16:creationId xmlns:a16="http://schemas.microsoft.com/office/drawing/2014/main" id="{27A83ECC-9692-42CA-AB76-A5926F9F799F}"/>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618DEC13-A5D8-4D53-8D2C-5437172902EF}"/>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μₑ为元素参考的每原子能量。候选、元素端点与竞争相应使用相容的能量口径。</a:t>
            </a:r>
          </a:p>
        </p:txBody>
      </p:sp>
      <p:sp>
        <p:nvSpPr>
          <p:cNvPr id="13" name="page-number">
            <a:extLst>
              <a:ext uri="{FF2B5EF4-FFF2-40B4-BE49-F238E27FC236}">
                <a16:creationId xmlns:a16="http://schemas.microsoft.com/office/drawing/2014/main" id="{6493AB21-8636-4FC7-AE60-C3EE43F7EBB8}"/>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15</a:t>
            </a:r>
          </a:p>
        </p:txBody>
      </p:sp>
    </p:spTree>
    <p:extLst>
      <p:ext uri="{BB962C8B-B14F-4D97-AF65-F5344CB8AC3E}">
        <p14:creationId xmlns:p14="http://schemas.microsoft.com/office/powerpoint/2010/main" val="177585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9B717FED-7F04-4758-B199-7763A09E2D7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凸包能量差的两种口径</a:t>
            </a:r>
          </a:p>
        </p:txBody>
      </p:sp>
      <p:graphicFrame>
        <p:nvGraphicFramePr>
          <p:cNvPr id="2" name="Chart">
            <a:extLst>
              <a:ext uri="{FF2B5EF4-FFF2-40B4-BE49-F238E27FC236}">
                <a16:creationId xmlns:a16="http://schemas.microsoft.com/office/drawing/2014/main" id="{701E117A-16C3-4E20-A01C-2755DD8814BA}"/>
              </a:ext>
            </a:extLst>
          </p:cNvPr>
          <p:cNvGraphicFramePr/>
          <p:nvPr/>
        </p:nvGraphicFramePr>
        <p:xfrm>
          <a:off x="647700" y="1685925"/>
          <a:ext cx="6048375"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extLst>
              <a:ext uri="{FF2B5EF4-FFF2-40B4-BE49-F238E27FC236}">
                <a16:creationId xmlns:a16="http://schemas.microsoft.com/office/drawing/2014/main" id="{9EB405FE-513A-44EE-A58C-0AB95BC5FB38}"/>
              </a:ext>
            </a:extLst>
          </p:cNvPr>
          <p:cNvSpPr>
            <a:spLocks noGrp="1"/>
          </p:cNvSpPr>
          <p:nvPr/>
        </p:nvSpPr>
        <p:spPr>
          <a:xfrm>
            <a:off x="685800" y="1333500"/>
            <a:ext cx="6096000" cy="285750"/>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形成能（eV/atom）</a:t>
            </a:r>
          </a:p>
        </p:txBody>
      </p:sp>
      <p:sp>
        <p:nvSpPr>
          <p:cNvPr id="4" name="text">
            <a:extLst>
              <a:ext uri="{FF2B5EF4-FFF2-40B4-BE49-F238E27FC236}">
                <a16:creationId xmlns:a16="http://schemas.microsoft.com/office/drawing/2014/main" id="{7C6F72FC-CF7A-4A29-991F-0A297AB89C53}"/>
              </a:ext>
            </a:extLst>
          </p:cNvPr>
          <p:cNvSpPr>
            <a:spLocks noGrp="1"/>
          </p:cNvSpPr>
          <p:nvPr/>
        </p:nvSpPr>
        <p:spPr>
          <a:xfrm>
            <a:off x="904875" y="5734050"/>
            <a:ext cx="5572125" cy="295275"/>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B的原子分数</a:t>
            </a:r>
          </a:p>
        </p:txBody>
      </p:sp>
      <p:sp>
        <p:nvSpPr>
          <p:cNvPr id="5" name="text">
            <a:extLst>
              <a:ext uri="{FF2B5EF4-FFF2-40B4-BE49-F238E27FC236}">
                <a16:creationId xmlns:a16="http://schemas.microsoft.com/office/drawing/2014/main" id="{284F0894-9241-448F-AD22-04AE8A0C51D1}"/>
              </a:ext>
            </a:extLst>
          </p:cNvPr>
          <p:cNvSpPr>
            <a:spLocks noGrp="1"/>
          </p:cNvSpPr>
          <p:nvPr/>
        </p:nvSpPr>
        <p:spPr>
          <a:xfrm>
            <a:off x="7219950" y="151447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固定参考包</a:t>
            </a:r>
          </a:p>
        </p:txBody>
      </p:sp>
      <p:sp>
        <p:nvSpPr>
          <p:cNvPr id="6" name="text">
            <a:extLst>
              <a:ext uri="{FF2B5EF4-FFF2-40B4-BE49-F238E27FC236}">
                <a16:creationId xmlns:a16="http://schemas.microsoft.com/office/drawing/2014/main" id="{61C3C008-597D-431F-8265-9E1DE867A8C0}"/>
              </a:ext>
            </a:extLst>
          </p:cNvPr>
          <p:cNvSpPr>
            <a:spLocks noGrp="1"/>
          </p:cNvSpPr>
          <p:nvPr/>
        </p:nvSpPr>
        <p:spPr>
          <a:xfrm>
            <a:off x="7219950" y="191452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ΔE_ref = 候选形成能 − 参考包能量。它可为负，表示降低旧参考包</a:t>
            </a:r>
          </a:p>
        </p:txBody>
      </p:sp>
      <p:sp>
        <p:nvSpPr>
          <p:cNvPr id="7" name="text">
            <a:extLst>
              <a:ext uri="{FF2B5EF4-FFF2-40B4-BE49-F238E27FC236}">
                <a16:creationId xmlns:a16="http://schemas.microsoft.com/office/drawing/2014/main" id="{2645DB8C-B8D9-4A05-976C-50F331D74EC2}"/>
              </a:ext>
            </a:extLst>
          </p:cNvPr>
          <p:cNvSpPr>
            <a:spLocks noGrp="1"/>
          </p:cNvSpPr>
          <p:nvPr/>
        </p:nvSpPr>
        <p:spPr>
          <a:xfrm>
            <a:off x="7219950" y="29337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lang="zh-CN" altLang="en-US" sz="1950" b="1">
                <a:solidFill>
                  <a:srgbClr val="173E67"/>
                </a:solidFill>
                <a:latin typeface="Microsoft YaHei"/>
                <a:ea typeface="Microsoft YaHei"/>
                <a:cs typeface="Microsoft YaHei"/>
              </a:rPr>
              <a:t>高于凸包的能量</a:t>
            </a:r>
            <a:endParaRPr sz="1950" b="1">
              <a:solidFill>
                <a:srgbClr val="173E67"/>
              </a:solidFill>
              <a:latin typeface="Microsoft YaHei"/>
              <a:ea typeface="Microsoft YaHei"/>
              <a:cs typeface="Microsoft YaHei"/>
            </a:endParaRPr>
          </a:p>
        </p:txBody>
      </p:sp>
      <p:sp>
        <p:nvSpPr>
          <p:cNvPr id="8" name="text">
            <a:extLst>
              <a:ext uri="{FF2B5EF4-FFF2-40B4-BE49-F238E27FC236}">
                <a16:creationId xmlns:a16="http://schemas.microsoft.com/office/drawing/2014/main" id="{204C9DAE-41B2-4A12-AB00-4FBA680E0F1B}"/>
              </a:ext>
            </a:extLst>
          </p:cNvPr>
          <p:cNvSpPr>
            <a:spLocks noGrp="1"/>
          </p:cNvSpPr>
          <p:nvPr/>
        </p:nvSpPr>
        <p:spPr>
          <a:xfrm>
            <a:off x="7219950" y="3333750"/>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把候选也加入相集合后，E_above hull ≥ 0；位于凸包上的结构为0</a:t>
            </a:r>
          </a:p>
        </p:txBody>
      </p:sp>
      <p:sp>
        <p:nvSpPr>
          <p:cNvPr id="9" name="text">
            <a:extLst>
              <a:ext uri="{FF2B5EF4-FFF2-40B4-BE49-F238E27FC236}">
                <a16:creationId xmlns:a16="http://schemas.microsoft.com/office/drawing/2014/main" id="{8F232932-2E81-42A9-A018-5297DBC6E4F6}"/>
              </a:ext>
            </a:extLst>
          </p:cNvPr>
          <p:cNvSpPr>
            <a:spLocks noGrp="1"/>
          </p:cNvSpPr>
          <p:nvPr/>
        </p:nvSpPr>
        <p:spPr>
          <a:xfrm>
            <a:off x="7219950" y="435292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教学算例</a:t>
            </a:r>
          </a:p>
        </p:txBody>
      </p:sp>
      <p:sp>
        <p:nvSpPr>
          <p:cNvPr id="10" name="text">
            <a:extLst>
              <a:ext uri="{FF2B5EF4-FFF2-40B4-BE49-F238E27FC236}">
                <a16:creationId xmlns:a16="http://schemas.microsoft.com/office/drawing/2014/main" id="{7C5AA6D3-0663-4DC4-B281-1215B455A2CF}"/>
              </a:ext>
            </a:extLst>
          </p:cNvPr>
          <p:cNvSpPr>
            <a:spLocks noGrp="1"/>
          </p:cNvSpPr>
          <p:nvPr/>
        </p:nvSpPr>
        <p:spPr>
          <a:xfrm>
            <a:off x="7219950" y="475297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A₂B能量−0.450，旧包为−0.3667 eV/atom，ΔE_ref = −0.0833</a:t>
            </a:r>
          </a:p>
        </p:txBody>
      </p:sp>
      <p:sp>
        <p:nvSpPr>
          <p:cNvPr id="11" name="separator">
            <a:extLst>
              <a:ext uri="{FF2B5EF4-FFF2-40B4-BE49-F238E27FC236}">
                <a16:creationId xmlns:a16="http://schemas.microsoft.com/office/drawing/2014/main" id="{4C883484-ABCE-460F-9911-D0A47521A18F}"/>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512D6A65-F9BA-4AA8-9A33-7368E535EB9E}"/>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虚构二元体系教学图，非实验数据。加入候选后，它的标准E_above hull为0。</a:t>
            </a:r>
          </a:p>
        </p:txBody>
      </p:sp>
      <p:sp>
        <p:nvSpPr>
          <p:cNvPr id="13" name="page-number">
            <a:extLst>
              <a:ext uri="{FF2B5EF4-FFF2-40B4-BE49-F238E27FC236}">
                <a16:creationId xmlns:a16="http://schemas.microsoft.com/office/drawing/2014/main" id="{7AAED8E8-B6C1-4A38-933C-7E33EBFDFB69}"/>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16</a:t>
            </a:r>
          </a:p>
        </p:txBody>
      </p:sp>
    </p:spTree>
    <p:extLst>
      <p:ext uri="{BB962C8B-B14F-4D97-AF65-F5344CB8AC3E}">
        <p14:creationId xmlns:p14="http://schemas.microsoft.com/office/powerpoint/2010/main" val="1797100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AF2CF90-0E5F-4895-8866-49D2BD29A0F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S、U、N与SUN分别回答什么</a:t>
            </a:r>
          </a:p>
        </p:txBody>
      </p:sp>
      <p:graphicFrame>
        <p:nvGraphicFramePr>
          <p:cNvPr id="2" name="表格 1">
            <a:extLst>
              <a:ext uri="{FF2B5EF4-FFF2-40B4-BE49-F238E27FC236}">
                <a16:creationId xmlns:a16="http://schemas.microsoft.com/office/drawing/2014/main" id="{3EF404BE-268B-4F8A-9C91-5EAEE1F8DEB0}"/>
              </a:ext>
            </a:extLst>
          </p:cNvPr>
          <p:cNvGraphicFramePr/>
          <p:nvPr/>
        </p:nvGraphicFramePr>
        <p:xfrm>
          <a:off x="609600" y="1400175"/>
          <a:ext cx="10972800" cy="4010025"/>
        </p:xfrm>
        <a:graphic>
          <a:graphicData uri="http://schemas.openxmlformats.org/drawingml/2006/table">
            <a:tbl>
              <a:tblPr/>
              <a:tblGrid>
                <a:gridCol w="219075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指标</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计算对象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需要声明的条件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Stable，S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达到稳定或近凸包阈值的结构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阈值、评价器、能量参考、弛豫阶段</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Unique，U</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一批结果中去重后的不同结构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匹配容差、聚类顺序、代表选择</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Novel，N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与固定参考库不匹配的结构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参考库版本、化学和结构匹配规则</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SUN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稳定且新颖的结果去重后的数量或比例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完整交集和分母，不假定各项独立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333ADC60-B0CE-4ED7-91CA-BA736D4EC888}"/>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新化学可以沿用熟悉结构原型。参考库外、训练集外和项目首次发现是不同概念。</a:t>
            </a:r>
          </a:p>
        </p:txBody>
      </p:sp>
      <p:sp>
        <p:nvSpPr>
          <p:cNvPr id="4" name="separator">
            <a:extLst>
              <a:ext uri="{FF2B5EF4-FFF2-40B4-BE49-F238E27FC236}">
                <a16:creationId xmlns:a16="http://schemas.microsoft.com/office/drawing/2014/main" id="{5A8E82BB-FFD7-4F44-B023-9B7E47E94C21}"/>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EFD53BA6-4CE5-4D91-ACCD-04CC7A9E418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论文“Stable”可能允许≤0.1 eV/atom。严格on-hull和近凸包结果应分别读。</a:t>
            </a:r>
          </a:p>
        </p:txBody>
      </p:sp>
      <p:sp>
        <p:nvSpPr>
          <p:cNvPr id="6" name="page-number">
            <a:extLst>
              <a:ext uri="{FF2B5EF4-FFF2-40B4-BE49-F238E27FC236}">
                <a16:creationId xmlns:a16="http://schemas.microsoft.com/office/drawing/2014/main" id="{024D7770-CF7A-44FD-9134-063E04FB23A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17</a:t>
            </a:r>
          </a:p>
        </p:txBody>
      </p:sp>
    </p:spTree>
    <p:extLst>
      <p:ext uri="{BB962C8B-B14F-4D97-AF65-F5344CB8AC3E}">
        <p14:creationId xmlns:p14="http://schemas.microsoft.com/office/powerpoint/2010/main" val="1564362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A35DF8E8-D1F2-4288-9967-D1D2CC6A3B6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SUN的分母与去重：一个算例</a:t>
            </a:r>
          </a:p>
        </p:txBody>
      </p:sp>
      <p:graphicFrame>
        <p:nvGraphicFramePr>
          <p:cNvPr id="2" name="Chart">
            <a:extLst>
              <a:ext uri="{FF2B5EF4-FFF2-40B4-BE49-F238E27FC236}">
                <a16:creationId xmlns:a16="http://schemas.microsoft.com/office/drawing/2014/main" id="{8E574662-AB15-403D-9CDD-C50298C21B91}"/>
              </a:ext>
            </a:extLst>
          </p:cNvPr>
          <p:cNvGraphicFramePr/>
          <p:nvPr/>
        </p:nvGraphicFramePr>
        <p:xfrm>
          <a:off x="609600" y="1543050"/>
          <a:ext cx="62865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extLst>
              <a:ext uri="{FF2B5EF4-FFF2-40B4-BE49-F238E27FC236}">
                <a16:creationId xmlns:a16="http://schemas.microsoft.com/office/drawing/2014/main" id="{F6A69D22-A07B-443E-937B-F715B8F219F9}"/>
              </a:ext>
            </a:extLst>
          </p:cNvPr>
          <p:cNvSpPr>
            <a:spLocks noGrp="1"/>
          </p:cNvSpPr>
          <p:nvPr/>
        </p:nvSpPr>
        <p:spPr>
          <a:xfrm>
            <a:off x="7219950" y="16002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全部请求</a:t>
            </a:r>
          </a:p>
        </p:txBody>
      </p:sp>
      <p:sp>
        <p:nvSpPr>
          <p:cNvPr id="4" name="text">
            <a:extLst>
              <a:ext uri="{FF2B5EF4-FFF2-40B4-BE49-F238E27FC236}">
                <a16:creationId xmlns:a16="http://schemas.microsoft.com/office/drawing/2014/main" id="{9E9A248C-D9D1-49F5-A1F9-CB13858E7E71}"/>
              </a:ext>
            </a:extLst>
          </p:cNvPr>
          <p:cNvSpPr>
            <a:spLocks noGrp="1"/>
          </p:cNvSpPr>
          <p:nvPr/>
        </p:nvSpPr>
        <p:spPr>
          <a:xfrm>
            <a:off x="7219950" y="2000250"/>
            <a:ext cx="4362450" cy="771525"/>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100个提案，90个通过有效性检查</a:t>
            </a:r>
          </a:p>
        </p:txBody>
      </p:sp>
      <p:sp>
        <p:nvSpPr>
          <p:cNvPr id="5" name="text">
            <a:extLst>
              <a:ext uri="{FF2B5EF4-FFF2-40B4-BE49-F238E27FC236}">
                <a16:creationId xmlns:a16="http://schemas.microsoft.com/office/drawing/2014/main" id="{3D7879DD-7145-45C4-B063-8EC28D449359}"/>
              </a:ext>
            </a:extLst>
          </p:cNvPr>
          <p:cNvSpPr>
            <a:spLocks noGrp="1"/>
          </p:cNvSpPr>
          <p:nvPr/>
        </p:nvSpPr>
        <p:spPr>
          <a:xfrm>
            <a:off x="7219950" y="28194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稳定与去重</a:t>
            </a:r>
          </a:p>
        </p:txBody>
      </p:sp>
      <p:sp>
        <p:nvSpPr>
          <p:cNvPr id="6" name="text">
            <a:extLst>
              <a:ext uri="{FF2B5EF4-FFF2-40B4-BE49-F238E27FC236}">
                <a16:creationId xmlns:a16="http://schemas.microsoft.com/office/drawing/2014/main" id="{09323EE1-73A5-4FA8-AF30-9704E9258CC7}"/>
              </a:ext>
            </a:extLst>
          </p:cNvPr>
          <p:cNvSpPr>
            <a:spLocks noGrp="1"/>
          </p:cNvSpPr>
          <p:nvPr/>
        </p:nvSpPr>
        <p:spPr>
          <a:xfrm>
            <a:off x="7219950" y="3219450"/>
            <a:ext cx="4362450" cy="771525"/>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40个确认稳定，去重剩30个不同稳定结构</a:t>
            </a:r>
          </a:p>
        </p:txBody>
      </p:sp>
      <p:sp>
        <p:nvSpPr>
          <p:cNvPr id="7" name="text">
            <a:extLst>
              <a:ext uri="{FF2B5EF4-FFF2-40B4-BE49-F238E27FC236}">
                <a16:creationId xmlns:a16="http://schemas.microsoft.com/office/drawing/2014/main" id="{3F75D8F1-967A-4983-A662-8106CE8B36AB}"/>
              </a:ext>
            </a:extLst>
          </p:cNvPr>
          <p:cNvSpPr>
            <a:spLocks noGrp="1"/>
          </p:cNvSpPr>
          <p:nvPr/>
        </p:nvSpPr>
        <p:spPr>
          <a:xfrm>
            <a:off x="7219950" y="40386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新颖交集</a:t>
            </a:r>
          </a:p>
        </p:txBody>
      </p:sp>
      <p:sp>
        <p:nvSpPr>
          <p:cNvPr id="8" name="text">
            <a:extLst>
              <a:ext uri="{FF2B5EF4-FFF2-40B4-BE49-F238E27FC236}">
                <a16:creationId xmlns:a16="http://schemas.microsoft.com/office/drawing/2014/main" id="{9CFA07A2-6B07-43CF-8C77-42609A66FBC4}"/>
              </a:ext>
            </a:extLst>
          </p:cNvPr>
          <p:cNvSpPr>
            <a:spLocks noGrp="1"/>
          </p:cNvSpPr>
          <p:nvPr/>
        </p:nvSpPr>
        <p:spPr>
          <a:xfrm>
            <a:off x="7219950" y="4438650"/>
            <a:ext cx="4362450" cy="771525"/>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其中12个不在参考库，SUN = 12/100 = 12%</a:t>
            </a:r>
          </a:p>
        </p:txBody>
      </p:sp>
      <p:sp>
        <p:nvSpPr>
          <p:cNvPr id="9" name="conclusion">
            <a:extLst>
              <a:ext uri="{FF2B5EF4-FFF2-40B4-BE49-F238E27FC236}">
                <a16:creationId xmlns:a16="http://schemas.microsoft.com/office/drawing/2014/main" id="{DC0D3CB2-AB03-468B-8CDC-0453BDCDD4C6}"/>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条件比例相乘可还原漏斗；全体S、U、N的边缘比例不能直接相乘。</a:t>
            </a:r>
          </a:p>
        </p:txBody>
      </p:sp>
      <p:sp>
        <p:nvSpPr>
          <p:cNvPr id="10" name="separator">
            <a:extLst>
              <a:ext uri="{FF2B5EF4-FFF2-40B4-BE49-F238E27FC236}">
                <a16:creationId xmlns:a16="http://schemas.microsoft.com/office/drawing/2014/main" id="{741E6D16-FA27-489B-AB03-8DBA72E2D243}"/>
              </a:ext>
            </a:extLst>
          </p:cNvPr>
          <p:cNvSpPr>
            <a:spLocks noGrp="1"/>
          </p:cNvSpPr>
          <p:nvPr/>
        </p:nvSpPr>
        <p:spPr>
          <a:xfrm>
            <a:off x="609600" y="6200775"/>
            <a:ext cx="10972800" cy="0"/>
          </a:xfrm>
          <a:prstGeom prst="line">
            <a:avLst/>
          </a:prstGeom>
          <a:ln w="9525">
            <a:solidFill>
              <a:srgbClr val="D5DCE3"/>
            </a:solidFill>
          </a:ln>
        </p:spPr>
      </p:sp>
      <p:sp>
        <p:nvSpPr>
          <p:cNvPr id="11" name="sources">
            <a:extLst>
              <a:ext uri="{FF2B5EF4-FFF2-40B4-BE49-F238E27FC236}">
                <a16:creationId xmlns:a16="http://schemas.microsoft.com/office/drawing/2014/main" id="{24188637-11E4-495A-8B63-AB722461437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教学算例，全部数字为人为构造。失败、未完成和能量未知另行记账。</a:t>
            </a:r>
          </a:p>
        </p:txBody>
      </p:sp>
      <p:sp>
        <p:nvSpPr>
          <p:cNvPr id="12" name="page-number">
            <a:extLst>
              <a:ext uri="{FF2B5EF4-FFF2-40B4-BE49-F238E27FC236}">
                <a16:creationId xmlns:a16="http://schemas.microsoft.com/office/drawing/2014/main" id="{A9238B68-6A40-4905-BFDF-4573ACE4FBC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18</a:t>
            </a:r>
          </a:p>
        </p:txBody>
      </p:sp>
    </p:spTree>
    <p:extLst>
      <p:ext uri="{BB962C8B-B14F-4D97-AF65-F5344CB8AC3E}">
        <p14:creationId xmlns:p14="http://schemas.microsoft.com/office/powerpoint/2010/main" val="2019156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7B33DC5E-B4A0-4212-8E05-EDABD2B1BD8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DFT在计算什么，为什么有不同结果</a:t>
            </a:r>
          </a:p>
        </p:txBody>
      </p:sp>
      <p:sp>
        <p:nvSpPr>
          <p:cNvPr id="2" name="lead">
            <a:extLst>
              <a:ext uri="{FF2B5EF4-FFF2-40B4-BE49-F238E27FC236}">
                <a16:creationId xmlns:a16="http://schemas.microsoft.com/office/drawing/2014/main" id="{686016E1-C2FF-400A-8B13-7AE0C7C28A74}"/>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固定原子时求电子密度；得到能量、力和应力后，再决定是否更新结构。</a:t>
            </a:r>
          </a:p>
        </p:txBody>
      </p:sp>
      <p:graphicFrame>
        <p:nvGraphicFramePr>
          <p:cNvPr id="3" name="表格 2">
            <a:extLst>
              <a:ext uri="{FF2B5EF4-FFF2-40B4-BE49-F238E27FC236}">
                <a16:creationId xmlns:a16="http://schemas.microsoft.com/office/drawing/2014/main" id="{877F166D-FEFE-421F-8E51-D360B1ECF78B}"/>
              </a:ext>
            </a:extLst>
          </p:cNvPr>
          <p:cNvGraphicFramePr/>
          <p:nvPr/>
        </p:nvGraphicFramePr>
        <p:xfrm>
          <a:off x="609600" y="1990725"/>
          <a:ext cx="10972800" cy="3419475"/>
        </p:xfrm>
        <a:graphic>
          <a:graphicData uri="http://schemas.openxmlformats.org/drawingml/2006/table">
            <a:tbl>
              <a:tblPr/>
              <a:tblGrid>
                <a:gridCol w="2524125">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计算设置</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含义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影响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泛函、Hubbard U</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电子交换关联及局域电子近似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相对能量、带隙与磁性</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赝势 / PAW</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核电子与价电子表示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能量基准与数值精度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k点与平面波截断</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布里渊区积分与基组大小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能量、力和应力收敛</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磁性、SOC与收敛标准</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电子状态及计算精度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可能收敛到不同电子或磁性解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99C95AA8-1705-4D22-AACE-606DC7B20E5F}"/>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一次DFT弛豫含多次电子自洽计算。比较相稳定性时，候选和参照必须相容。</a:t>
            </a:r>
          </a:p>
        </p:txBody>
      </p:sp>
      <p:sp>
        <p:nvSpPr>
          <p:cNvPr id="5" name="separator">
            <a:extLst>
              <a:ext uri="{FF2B5EF4-FFF2-40B4-BE49-F238E27FC236}">
                <a16:creationId xmlns:a16="http://schemas.microsoft.com/office/drawing/2014/main" id="{53277C00-41D3-44A5-8B6D-95B1B359BAB2}"/>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DBAB6561-FA1B-4190-892B-E4DABA75A2A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DFT = density functional theory；SCF = self-consistent field。参数取值应随目标与协议说明。</a:t>
            </a:r>
          </a:p>
        </p:txBody>
      </p:sp>
      <p:sp>
        <p:nvSpPr>
          <p:cNvPr id="7" name="page-number">
            <a:extLst>
              <a:ext uri="{FF2B5EF4-FFF2-40B4-BE49-F238E27FC236}">
                <a16:creationId xmlns:a16="http://schemas.microsoft.com/office/drawing/2014/main" id="{A91D30F8-3512-4C47-9B04-A4F7353748A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19</a:t>
            </a:r>
          </a:p>
        </p:txBody>
      </p:sp>
    </p:spTree>
    <p:extLst>
      <p:ext uri="{BB962C8B-B14F-4D97-AF65-F5344CB8AC3E}">
        <p14:creationId xmlns:p14="http://schemas.microsoft.com/office/powerpoint/2010/main" val="1248058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BDBE916-20F0-4E2B-B9E2-61F1D753FE59}"/>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弛豫是在寻找局部低能结构</a:t>
            </a:r>
          </a:p>
        </p:txBody>
      </p:sp>
      <p:graphicFrame>
        <p:nvGraphicFramePr>
          <p:cNvPr id="2" name="表格 1">
            <a:extLst>
              <a:ext uri="{FF2B5EF4-FFF2-40B4-BE49-F238E27FC236}">
                <a16:creationId xmlns:a16="http://schemas.microsoft.com/office/drawing/2014/main" id="{3FA49831-933C-4BF3-8DBE-9E1076367FD2}"/>
              </a:ext>
            </a:extLst>
          </p:cNvPr>
          <p:cNvGraphicFramePr/>
          <p:nvPr/>
        </p:nvGraphicFramePr>
        <p:xfrm>
          <a:off x="609600" y="1400175"/>
          <a:ext cx="10972800" cy="4010025"/>
        </p:xfrm>
        <a:graphic>
          <a:graphicData uri="http://schemas.openxmlformats.org/drawingml/2006/table">
            <a:tbl>
              <a:tblPr/>
              <a:tblGrid>
                <a:gridCol w="25717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方式或工具</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优化什么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应报告什么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固定晶胞</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原子位置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原子最大力、步数、是否收敛</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变胞弛豫</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原子位置与晶胞形状/体积</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力、应力、外压和约束</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FIRE / L-BFGS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使用能量及梯度作局部优化</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优化器、阈值、最大步数</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MD / AIMD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按运动方程推进时间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温度、系综、步长与物理时长</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156BFFE1-DB13-4EF3-8489-11574ACAB3E1}"/>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FIRE的200步是优化工作量；MD的10,000步×1 fs才对应10 ps模拟时间。</a:t>
            </a:r>
          </a:p>
        </p:txBody>
      </p:sp>
      <p:sp>
        <p:nvSpPr>
          <p:cNvPr id="4" name="separator">
            <a:extLst>
              <a:ext uri="{FF2B5EF4-FFF2-40B4-BE49-F238E27FC236}">
                <a16:creationId xmlns:a16="http://schemas.microsoft.com/office/drawing/2014/main" id="{83996D23-01E9-49FE-832D-5DEAE368BCF6}"/>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D7F53DCC-538A-4D81-B056-0566CE2C08B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教学时间算例。不同提案可能弛豫到同一终态，因此后处理也会改变U和N。</a:t>
            </a:r>
          </a:p>
        </p:txBody>
      </p:sp>
      <p:sp>
        <p:nvSpPr>
          <p:cNvPr id="6" name="page-number">
            <a:extLst>
              <a:ext uri="{FF2B5EF4-FFF2-40B4-BE49-F238E27FC236}">
                <a16:creationId xmlns:a16="http://schemas.microsoft.com/office/drawing/2014/main" id="{C8AC7CB6-3A6E-4945-AFAB-D11EC649404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20</a:t>
            </a:r>
          </a:p>
        </p:txBody>
      </p:sp>
    </p:spTree>
    <p:extLst>
      <p:ext uri="{BB962C8B-B14F-4D97-AF65-F5344CB8AC3E}">
        <p14:creationId xmlns:p14="http://schemas.microsoft.com/office/powerpoint/2010/main" val="614731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B05A5C62-DF87-4315-B997-725FEBFC940C}"/>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MLIP与DFT怎样配合评价</a:t>
            </a:r>
          </a:p>
        </p:txBody>
      </p:sp>
      <p:sp>
        <p:nvSpPr>
          <p:cNvPr id="2" name="lead">
            <a:extLst>
              <a:ext uri="{FF2B5EF4-FFF2-40B4-BE49-F238E27FC236}">
                <a16:creationId xmlns:a16="http://schemas.microsoft.com/office/drawing/2014/main" id="{DCAC67EF-B00F-4149-873E-5EF80C327BEC}"/>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先用低成本势处理大量候选，再围绕论文主张选择DFT与性质复核。</a:t>
            </a:r>
          </a:p>
        </p:txBody>
      </p:sp>
      <p:sp>
        <p:nvSpPr>
          <p:cNvPr id="3" name="text">
            <a:extLst>
              <a:ext uri="{FF2B5EF4-FFF2-40B4-BE49-F238E27FC236}">
                <a16:creationId xmlns:a16="http://schemas.microsoft.com/office/drawing/2014/main" id="{D3C6E0E9-8036-41B5-8075-8D3BEEABA892}"/>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标签一致</a:t>
            </a:r>
          </a:p>
        </p:txBody>
      </p:sp>
      <p:sp>
        <p:nvSpPr>
          <p:cNvPr id="4" name="text">
            <a:extLst>
              <a:ext uri="{FF2B5EF4-FFF2-40B4-BE49-F238E27FC236}">
                <a16:creationId xmlns:a16="http://schemas.microsoft.com/office/drawing/2014/main" id="{3ECDC694-F53C-4E1E-A74B-4C62FE9DE176}"/>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MLIP可能学习raw或已修正能量。候选、元素参考和竞争相必须处于相容尺度</a:t>
            </a:r>
          </a:p>
        </p:txBody>
      </p:sp>
      <p:sp>
        <p:nvSpPr>
          <p:cNvPr id="5" name="text">
            <a:extLst>
              <a:ext uri="{FF2B5EF4-FFF2-40B4-BE49-F238E27FC236}">
                <a16:creationId xmlns:a16="http://schemas.microsoft.com/office/drawing/2014/main" id="{DDBBA682-EBE8-458E-AFC6-CE1C534C7DE3}"/>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具体例子</a:t>
            </a:r>
          </a:p>
        </p:txBody>
      </p:sp>
      <p:sp>
        <p:nvSpPr>
          <p:cNvPr id="6" name="text">
            <a:extLst>
              <a:ext uri="{FF2B5EF4-FFF2-40B4-BE49-F238E27FC236}">
                <a16:creationId xmlns:a16="http://schemas.microsoft.com/office/drawing/2014/main" id="{2498100B-E3C2-44F2-BED3-6884D397DC53}"/>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CHGNet原MPtrj权重学习已做MP2020修正的能量，重复加同一修正会再次移动能量</a:t>
            </a:r>
          </a:p>
        </p:txBody>
      </p:sp>
      <p:sp>
        <p:nvSpPr>
          <p:cNvPr id="7" name="text">
            <a:extLst>
              <a:ext uri="{FF2B5EF4-FFF2-40B4-BE49-F238E27FC236}">
                <a16:creationId xmlns:a16="http://schemas.microsoft.com/office/drawing/2014/main" id="{401EB8BD-79E8-4FFE-8F89-BA52B78E9978}"/>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自洽凸包</a:t>
            </a:r>
          </a:p>
        </p:txBody>
      </p:sp>
      <p:sp>
        <p:nvSpPr>
          <p:cNvPr id="8" name="text">
            <a:extLst>
              <a:ext uri="{FF2B5EF4-FFF2-40B4-BE49-F238E27FC236}">
                <a16:creationId xmlns:a16="http://schemas.microsoft.com/office/drawing/2014/main" id="{90FC542B-A816-4931-AFFC-13E1769B2B6A}"/>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可用同一MLIP计算候选和竞争相，再构造参考包；模型外推误差仍需研究</a:t>
            </a:r>
          </a:p>
        </p:txBody>
      </p:sp>
      <p:sp>
        <p:nvSpPr>
          <p:cNvPr id="9" name="text">
            <a:extLst>
              <a:ext uri="{FF2B5EF4-FFF2-40B4-BE49-F238E27FC236}">
                <a16:creationId xmlns:a16="http://schemas.microsoft.com/office/drawing/2014/main" id="{0713E350-4834-4491-A951-CBAF1D663AE9}"/>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DFT复核</a:t>
            </a:r>
          </a:p>
        </p:txBody>
      </p:sp>
      <p:sp>
        <p:nvSpPr>
          <p:cNvPr id="10" name="text">
            <a:extLst>
              <a:ext uri="{FF2B5EF4-FFF2-40B4-BE49-F238E27FC236}">
                <a16:creationId xmlns:a16="http://schemas.microsoft.com/office/drawing/2014/main" id="{F4DABC51-AF01-4A2A-8E0D-5D85DABA7A5C}"/>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记录选样规则、原始分母与失败。随机核验、阈值附近核验和高分筛选回答不同问题</a:t>
            </a:r>
          </a:p>
        </p:txBody>
      </p:sp>
      <p:sp>
        <p:nvSpPr>
          <p:cNvPr id="11" name="separator">
            <a:extLst>
              <a:ext uri="{FF2B5EF4-FFF2-40B4-BE49-F238E27FC236}">
                <a16:creationId xmlns:a16="http://schemas.microsoft.com/office/drawing/2014/main" id="{7158EAD5-4934-4D53-AC1A-6D6637F8AF96}"/>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E2637A2E-CD25-4D02-B954-DD17B19C889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固定组成的能量常数修正不改变原子力，但会影响跨组成的相能量比较。</a:t>
            </a:r>
          </a:p>
        </p:txBody>
      </p:sp>
      <p:sp>
        <p:nvSpPr>
          <p:cNvPr id="13" name="page-number">
            <a:extLst>
              <a:ext uri="{FF2B5EF4-FFF2-40B4-BE49-F238E27FC236}">
                <a16:creationId xmlns:a16="http://schemas.microsoft.com/office/drawing/2014/main" id="{A16871FE-B206-4F48-A54E-31393E978B7C}"/>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21</a:t>
            </a:r>
          </a:p>
        </p:txBody>
      </p:sp>
    </p:spTree>
    <p:extLst>
      <p:ext uri="{BB962C8B-B14F-4D97-AF65-F5344CB8AC3E}">
        <p14:creationId xmlns:p14="http://schemas.microsoft.com/office/powerpoint/2010/main" val="1602439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63C7C836-FC40-4E2E-85F1-C37C56978323}"/>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功能与物理稳定性怎样进一步计算</a:t>
            </a:r>
          </a:p>
        </p:txBody>
      </p:sp>
      <p:graphicFrame>
        <p:nvGraphicFramePr>
          <p:cNvPr id="2" name="表格 1">
            <a:extLst>
              <a:ext uri="{FF2B5EF4-FFF2-40B4-BE49-F238E27FC236}">
                <a16:creationId xmlns:a16="http://schemas.microsoft.com/office/drawing/2014/main" id="{747A5A6E-8FAB-4392-93FA-4478608E70BA}"/>
              </a:ext>
            </a:extLst>
          </p:cNvPr>
          <p:cNvGraphicFramePr/>
          <p:nvPr/>
        </p:nvGraphicFramePr>
        <p:xfrm>
          <a:off x="609600" y="1400175"/>
          <a:ext cx="10972800" cy="4010025"/>
        </p:xfrm>
        <a:graphic>
          <a:graphicData uri="http://schemas.openxmlformats.org/drawingml/2006/table">
            <a:tbl>
              <a:tblPr/>
              <a:tblGrid>
                <a:gridCol w="300037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科学问题</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计算或测量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得到的证据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695325">
                <a:tc>
                  <a:txBody>
                    <a:bodyPr/>
                    <a:lstStyle/>
                    <a:p>
                      <a:pPr algn="l">
                        <a:lnSpc>
                          <a:spcPct val="108000"/>
                        </a:lnSpc>
                        <a:buNone/>
                      </a:pPr>
                      <a:r>
                        <a:rPr sz="1725" b="0">
                          <a:solidFill>
                            <a:srgbClr val="1B2533"/>
                          </a:solidFill>
                          <a:latin typeface="Microsoft YaHei"/>
                          <a:ea typeface="Microsoft YaHei"/>
                          <a:cs typeface="Microsoft YaHei"/>
                        </a:rPr>
                        <a:t>小扰动是否失稳</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声子：二阶力常数与频率</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集体微扰的动力学稳定性</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695325">
                <a:tc>
                  <a:txBody>
                    <a:bodyPr/>
                    <a:lstStyle/>
                    <a:p>
                      <a:pPr algn="l">
                        <a:lnSpc>
                          <a:spcPct val="108000"/>
                        </a:lnSpc>
                        <a:buNone/>
                      </a:pPr>
                      <a:r>
                        <a:rPr sz="1725" b="0">
                          <a:solidFill>
                            <a:srgbClr val="1B2533"/>
                          </a:solidFill>
                          <a:latin typeface="Microsoft YaHei"/>
                          <a:ea typeface="Microsoft YaHei"/>
                          <a:cs typeface="Microsoft YaHei"/>
                        </a:rPr>
                        <a:t>刚度及机械响应</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应变—应力，弹性张量 Cᵢⱼ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体模量、剪切模量及机械稳定条件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695325">
                <a:tc>
                  <a:txBody>
                    <a:bodyPr/>
                    <a:lstStyle/>
                    <a:p>
                      <a:pPr algn="l">
                        <a:lnSpc>
                          <a:spcPct val="108000"/>
                        </a:lnSpc>
                        <a:buNone/>
                      </a:pPr>
                      <a:r>
                        <a:rPr sz="1725" b="0">
                          <a:solidFill>
                            <a:srgbClr val="1B2533"/>
                          </a:solidFill>
                          <a:latin typeface="Microsoft YaHei"/>
                          <a:ea typeface="Microsoft YaHei"/>
                          <a:cs typeface="Microsoft YaHei"/>
                        </a:rPr>
                        <a:t>有限温度下的行为</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MD / AIMD，给定温度与时间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该窗口内的结构保持或扩散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695325">
                <a:tc>
                  <a:txBody>
                    <a:bodyPr/>
                    <a:lstStyle/>
                    <a:p>
                      <a:pPr algn="l">
                        <a:lnSpc>
                          <a:spcPct val="108000"/>
                        </a:lnSpc>
                        <a:buNone/>
                      </a:pPr>
                      <a:r>
                        <a:rPr sz="1725" b="0">
                          <a:solidFill>
                            <a:srgbClr val="1B2533"/>
                          </a:solidFill>
                          <a:latin typeface="Microsoft YaHei"/>
                          <a:ea typeface="Microsoft YaHei"/>
                          <a:cs typeface="Microsoft YaHei"/>
                        </a:rPr>
                        <a:t>离子迁移或结构转变</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NEB / CI-NEB寻找路径与鞍点</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指定端点之间的激活势垒</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695325">
                <a:tc>
                  <a:txBody>
                    <a:bodyPr/>
                    <a:lstStyle/>
                    <a:p>
                      <a:pPr algn="l">
                        <a:lnSpc>
                          <a:spcPct val="108000"/>
                        </a:lnSpc>
                        <a:buNone/>
                      </a:pPr>
                      <a:r>
                        <a:rPr sz="1725" b="0">
                          <a:solidFill>
                            <a:srgbClr val="1B2533"/>
                          </a:solidFill>
                          <a:latin typeface="Microsoft YaHei"/>
                          <a:ea typeface="Microsoft YaHei"/>
                          <a:cs typeface="Microsoft YaHei"/>
                        </a:rPr>
                        <a:t>电子与实际材料性质</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能带 / DOS；XRD、成分及物性测量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计算功能与实验产物的相应证据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conclusion">
            <a:extLst>
              <a:ext uri="{FF2B5EF4-FFF2-40B4-BE49-F238E27FC236}">
                <a16:creationId xmlns:a16="http://schemas.microsoft.com/office/drawing/2014/main" id="{F3EF65B4-004B-420E-9D8F-5622FFB71EB8}"/>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每项计算回答一个具体问题。低凸包能、无虚频、短时MD保持与实际合成各有含义。</a:t>
            </a:r>
          </a:p>
        </p:txBody>
      </p:sp>
      <p:sp>
        <p:nvSpPr>
          <p:cNvPr id="4" name="separator">
            <a:extLst>
              <a:ext uri="{FF2B5EF4-FFF2-40B4-BE49-F238E27FC236}">
                <a16:creationId xmlns:a16="http://schemas.microsoft.com/office/drawing/2014/main" id="{E32BE716-F649-4046-9472-DF812B823ABC}"/>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C698DBD5-DA88-4E3F-A7E2-4BC2665C806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围绕目标选择计算，并报告泛函或势、超胞、温压、时长及收敛条件。</a:t>
            </a:r>
          </a:p>
        </p:txBody>
      </p:sp>
      <p:sp>
        <p:nvSpPr>
          <p:cNvPr id="6" name="page-number">
            <a:extLst>
              <a:ext uri="{FF2B5EF4-FFF2-40B4-BE49-F238E27FC236}">
                <a16:creationId xmlns:a16="http://schemas.microsoft.com/office/drawing/2014/main" id="{5A92FB1E-0CB1-4664-B83D-6B80AECDABFF}"/>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22</a:t>
            </a:r>
          </a:p>
        </p:txBody>
      </p:sp>
    </p:spTree>
    <p:extLst>
      <p:ext uri="{BB962C8B-B14F-4D97-AF65-F5344CB8AC3E}">
        <p14:creationId xmlns:p14="http://schemas.microsoft.com/office/powerpoint/2010/main" val="678094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B85D22DF-8C7A-4CB0-9A30-155BEBD32D4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1/5：问题、数据与训练对象</a:t>
            </a:r>
          </a:p>
        </p:txBody>
      </p:sp>
      <p:sp>
        <p:nvSpPr>
          <p:cNvPr id="2" name="lead">
            <a:extLst>
              <a:ext uri="{FF2B5EF4-FFF2-40B4-BE49-F238E27FC236}">
                <a16:creationId xmlns:a16="http://schemas.microsoft.com/office/drawing/2014/main" id="{ECB439B2-5607-4AC7-A5B7-65BF5B2B5171}"/>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目标是在元素、位置与晶胞上联合生成，并用科学条件改变生成分布。</a:t>
            </a:r>
          </a:p>
        </p:txBody>
      </p:sp>
      <p:graphicFrame>
        <p:nvGraphicFramePr>
          <p:cNvPr id="3" name="表格 2">
            <a:extLst>
              <a:ext uri="{FF2B5EF4-FFF2-40B4-BE49-F238E27FC236}">
                <a16:creationId xmlns:a16="http://schemas.microsoft.com/office/drawing/2014/main" id="{2CA1FB13-0F19-4A81-8585-6FF1F781AD87}"/>
              </a:ext>
            </a:extLst>
          </p:cNvPr>
          <p:cNvGraphicFramePr/>
          <p:nvPr/>
        </p:nvGraphicFramePr>
        <p:xfrm>
          <a:off x="609600" y="1990725"/>
          <a:ext cx="10972800" cy="3419475"/>
        </p:xfrm>
        <a:graphic>
          <a:graphicData uri="http://schemas.openxmlformats.org/drawingml/2006/table">
            <a:tbl>
              <a:tblPr/>
              <a:tblGrid>
                <a:gridCol w="22860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环节</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正式论文采用什么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为什么这样做</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预训练数据</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607,683个Alex-MP-20训练结构</a:t>
                      </a:r>
                    </a:p>
                    <a:p>
                      <a:pPr algn="l">
                        <a:lnSpc>
                          <a:spcPct val="108000"/>
                        </a:lnSpc>
                        <a:buNone/>
                      </a:pPr>
                      <a:r>
                        <a:rPr sz="1725" b="0">
                          <a:solidFill>
                            <a:srgbClr val="1B2533"/>
                          </a:solidFill>
                          <a:latin typeface="Microsoft YaHei"/>
                          <a:ea typeface="Microsoft YaHei"/>
                          <a:cs typeface="Microsoft YaHei"/>
                        </a:rPr>
                        <a:t>输入胞≤20原子，近凸包过滤</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联合学习化学与结构分布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能量对齐</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 + Alexandria，非MP结构</a:t>
                      </a:r>
                    </a:p>
                    <a:p>
                      <a:pPr algn="l">
                        <a:lnSpc>
                          <a:spcPct val="108000"/>
                        </a:lnSpc>
                        <a:buNone/>
                      </a:pPr>
                      <a:r>
                        <a:rPr sz="1725" b="0">
                          <a:solidFill>
                            <a:srgbClr val="1B2533"/>
                          </a:solidFill>
                          <a:latin typeface="Microsoft YaHei"/>
                          <a:ea typeface="Microsoft YaHei"/>
                          <a:cs typeface="Microsoft YaHei"/>
                        </a:rPr>
                        <a:t>按MP PBE(+U)流程重算</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把不同来源放到可比较的能量尺度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稳定性参考</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850,384个有序参考结构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计算相竞争的固定参考凸包</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新颖性参考</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上述结构再加117,652个</a:t>
                      </a:r>
                    </a:p>
                    <a:p>
                      <a:pPr algn="l">
                        <a:lnSpc>
                          <a:spcPct val="108000"/>
                        </a:lnSpc>
                        <a:buNone/>
                      </a:pPr>
                      <a:r>
                        <a:rPr sz="1725" b="0">
                          <a:solidFill>
                            <a:srgbClr val="1B2533"/>
                          </a:solidFill>
                          <a:latin typeface="Microsoft YaHei"/>
                          <a:ea typeface="Microsoft YaHei"/>
                          <a:cs typeface="Microsoft YaHei"/>
                        </a:rPr>
                        <a:t>无序ICSD结构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考虑实际已知材料和占位无序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4A3D7130-5C7B-46F6-A611-2A94CE1A39F5}"/>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这是特定训练和参考快照。完整公开Alex-MP-20的675,204条与训练分区不同。</a:t>
            </a:r>
          </a:p>
        </p:txBody>
      </p:sp>
      <p:sp>
        <p:nvSpPr>
          <p:cNvPr id="5" name="separator">
            <a:extLst>
              <a:ext uri="{FF2B5EF4-FFF2-40B4-BE49-F238E27FC236}">
                <a16:creationId xmlns:a16="http://schemas.microsoft.com/office/drawing/2014/main" id="{5F0AE1A6-8075-46DD-830E-49124DFCBDB9}"/>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B0AE19D3-9697-4A7B-AD54-659062DDCB8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Zeni et al., Nature 639, 624–632 (2025)，正文与SI C。MatterGen是Nature主刊论文。</a:t>
            </a:r>
          </a:p>
        </p:txBody>
      </p:sp>
      <p:sp>
        <p:nvSpPr>
          <p:cNvPr id="7" name="page-number">
            <a:extLst>
              <a:ext uri="{FF2B5EF4-FFF2-40B4-BE49-F238E27FC236}">
                <a16:creationId xmlns:a16="http://schemas.microsoft.com/office/drawing/2014/main" id="{D97C362A-6921-4106-BF4C-0FAECDCD68C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23</a:t>
            </a:r>
          </a:p>
        </p:txBody>
      </p:sp>
    </p:spTree>
    <p:extLst>
      <p:ext uri="{BB962C8B-B14F-4D97-AF65-F5344CB8AC3E}">
        <p14:creationId xmlns:p14="http://schemas.microsoft.com/office/powerpoint/2010/main" val="596848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0E2563D-C86E-4CA9-9CF7-4B05C700847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2/5：联合扩散与条件适配</a:t>
            </a:r>
          </a:p>
        </p:txBody>
      </p:sp>
      <p:pic>
        <p:nvPicPr>
          <p:cNvPr id="2" name="图片 1">
            <a:extLst>
              <a:ext uri="{FF2B5EF4-FFF2-40B4-BE49-F238E27FC236}">
                <a16:creationId xmlns:a16="http://schemas.microsoft.com/office/drawing/2014/main" id="{4BB8C2FE-A8B7-4141-8382-A86E21132038}"/>
              </a:ext>
            </a:extLst>
          </p:cNvPr>
          <p:cNvPicPr>
            <a:picLocks noChangeAspect="1"/>
          </p:cNvPicPr>
          <p:nvPr/>
        </p:nvPicPr>
        <p:blipFill>
          <a:blip r:embed="rId3"/>
          <a:stretch/>
        </p:blipFill>
        <p:spPr>
          <a:xfrm>
            <a:off x="1285875" y="1162050"/>
            <a:ext cx="9620250" cy="3786836"/>
          </a:xfrm>
          <a:prstGeom prst="rect">
            <a:avLst/>
          </a:prstGeom>
        </p:spPr>
      </p:pic>
      <p:sp>
        <p:nvSpPr>
          <p:cNvPr id="3" name="text">
            <a:extLst>
              <a:ext uri="{FF2B5EF4-FFF2-40B4-BE49-F238E27FC236}">
                <a16:creationId xmlns:a16="http://schemas.microsoft.com/office/drawing/2014/main" id="{CE5BABCF-9F96-4C69-BCC1-A78A71292FD4}"/>
              </a:ext>
            </a:extLst>
          </p:cNvPr>
          <p:cNvSpPr>
            <a:spLocks noGrp="1"/>
          </p:cNvSpPr>
          <p:nvPr/>
        </p:nvSpPr>
        <p:spPr>
          <a:xfrm>
            <a:off x="609600" y="5048250"/>
            <a:ext cx="1171575" cy="381000"/>
          </a:xfrm>
          <a:prstGeom prst="rect">
            <a:avLst/>
          </a:prstGeom>
          <a:noFill/>
          <a:ln w="0">
            <a:noFill/>
          </a:ln>
        </p:spPr>
        <p:txBody>
          <a:bodyPr wrap="square" lIns="0" tIns="0" rIns="0" bIns="0" anchor="t">
            <a:noAutofit/>
          </a:bodyPr>
          <a:lstStyle>
            <a:defPPr algn="l">
              <a:defRPr sz="1800" b="1">
                <a:solidFill>
                  <a:srgbClr val="173E67"/>
                </a:solidFill>
                <a:latin typeface="Microsoft YaHei"/>
                <a:ea typeface="Microsoft YaHei"/>
                <a:cs typeface="Microsoft YaHei"/>
              </a:defRPr>
            </a:defPPr>
          </a:lstStyle>
          <a:p>
            <a:pPr algn="l">
              <a:lnSpc>
                <a:spcPct val="118000"/>
              </a:lnSpc>
              <a:buNone/>
              <a:defRPr sz="1800" b="1">
                <a:solidFill>
                  <a:srgbClr val="173E67"/>
                </a:solidFill>
                <a:latin typeface="Microsoft YaHei"/>
                <a:ea typeface="Microsoft YaHei"/>
                <a:cs typeface="Microsoft YaHei"/>
              </a:defRPr>
            </a:pPr>
            <a:r>
              <a:rPr sz="1800" b="1">
                <a:solidFill>
                  <a:srgbClr val="173E67"/>
                </a:solidFill>
                <a:latin typeface="Microsoft YaHei"/>
                <a:ea typeface="Microsoft YaHei"/>
                <a:cs typeface="Microsoft YaHei"/>
              </a:rPr>
              <a:t>建模</a:t>
            </a:r>
          </a:p>
        </p:txBody>
      </p:sp>
      <p:sp>
        <p:nvSpPr>
          <p:cNvPr id="4" name="text">
            <a:extLst>
              <a:ext uri="{FF2B5EF4-FFF2-40B4-BE49-F238E27FC236}">
                <a16:creationId xmlns:a16="http://schemas.microsoft.com/office/drawing/2014/main" id="{37559F34-5663-4E5F-9EFC-F36423B8F6EE}"/>
              </a:ext>
            </a:extLst>
          </p:cNvPr>
          <p:cNvSpPr>
            <a:spLocks noGrp="1"/>
          </p:cNvSpPr>
          <p:nvPr/>
        </p:nvSpPr>
        <p:spPr>
          <a:xfrm>
            <a:off x="1933575" y="5048250"/>
            <a:ext cx="9648825" cy="504825"/>
          </a:xfrm>
          <a:prstGeom prst="rect">
            <a:avLst/>
          </a:prstGeom>
          <a:noFill/>
          <a:ln w="0">
            <a:noFill/>
          </a:ln>
        </p:spPr>
        <p:txBody>
          <a:bodyPr wrap="square" lIns="0" tIns="0" rIns="0" bIns="0" anchor="t">
            <a:noAutofit/>
          </a:bodyPr>
          <a:lstStyle>
            <a:defPPr algn="l">
              <a:defRPr sz="1763" b="0">
                <a:solidFill>
                  <a:srgbClr val="1B2533"/>
                </a:solidFill>
                <a:latin typeface="Microsoft YaHei"/>
                <a:ea typeface="Microsoft YaHei"/>
                <a:cs typeface="Microsoft YaHei"/>
              </a:defRPr>
            </a:defPPr>
          </a:lstStyle>
          <a:p>
            <a:pPr algn="l">
              <a:lnSpc>
                <a:spcPct val="118000"/>
              </a:lnSpc>
              <a:buNone/>
              <a:defRPr sz="1763" b="0">
                <a:solidFill>
                  <a:srgbClr val="1B2533"/>
                </a:solidFill>
                <a:latin typeface="Microsoft YaHei"/>
                <a:ea typeface="Microsoft YaHei"/>
                <a:cs typeface="Microsoft YaHei"/>
              </a:defRPr>
            </a:pPr>
            <a:r>
              <a:rPr sz="1763" b="0">
                <a:solidFill>
                  <a:srgbClr val="1B2533"/>
                </a:solidFill>
                <a:latin typeface="Microsoft YaHei"/>
                <a:ea typeface="Microsoft YaHei"/>
                <a:cs typeface="Microsoft YaHei"/>
              </a:rPr>
              <a:t>元素用吸收mask噪声，位置用周期噪声，晶格用连续噪声；GemNet-dT联合预测去噪</a:t>
            </a:r>
          </a:p>
        </p:txBody>
      </p:sp>
      <p:sp>
        <p:nvSpPr>
          <p:cNvPr id="5" name="text">
            <a:extLst>
              <a:ext uri="{FF2B5EF4-FFF2-40B4-BE49-F238E27FC236}">
                <a16:creationId xmlns:a16="http://schemas.microsoft.com/office/drawing/2014/main" id="{239D2771-081A-4153-B680-416D3831D833}"/>
              </a:ext>
            </a:extLst>
          </p:cNvPr>
          <p:cNvSpPr>
            <a:spLocks noGrp="1"/>
          </p:cNvSpPr>
          <p:nvPr/>
        </p:nvSpPr>
        <p:spPr>
          <a:xfrm>
            <a:off x="609600" y="5572125"/>
            <a:ext cx="1171575" cy="381000"/>
          </a:xfrm>
          <a:prstGeom prst="rect">
            <a:avLst/>
          </a:prstGeom>
          <a:noFill/>
          <a:ln w="0">
            <a:noFill/>
          </a:ln>
        </p:spPr>
        <p:txBody>
          <a:bodyPr wrap="square" lIns="0" tIns="0" rIns="0" bIns="0" anchor="t">
            <a:noAutofit/>
          </a:bodyPr>
          <a:lstStyle>
            <a:defPPr algn="l">
              <a:defRPr sz="1800" b="1">
                <a:solidFill>
                  <a:srgbClr val="173E67"/>
                </a:solidFill>
                <a:latin typeface="Microsoft YaHei"/>
                <a:ea typeface="Microsoft YaHei"/>
                <a:cs typeface="Microsoft YaHei"/>
              </a:defRPr>
            </a:defPPr>
          </a:lstStyle>
          <a:p>
            <a:pPr algn="l">
              <a:lnSpc>
                <a:spcPct val="118000"/>
              </a:lnSpc>
              <a:buNone/>
              <a:defRPr sz="1800" b="1">
                <a:solidFill>
                  <a:srgbClr val="173E67"/>
                </a:solidFill>
                <a:latin typeface="Microsoft YaHei"/>
                <a:ea typeface="Microsoft YaHei"/>
                <a:cs typeface="Microsoft YaHei"/>
              </a:defRPr>
            </a:pPr>
            <a:r>
              <a:rPr sz="1800" b="1">
                <a:solidFill>
                  <a:srgbClr val="173E67"/>
                </a:solidFill>
                <a:latin typeface="Microsoft YaHei"/>
                <a:ea typeface="Microsoft YaHei"/>
                <a:cs typeface="Microsoft YaHei"/>
              </a:rPr>
              <a:t>训练与控制</a:t>
            </a:r>
          </a:p>
        </p:txBody>
      </p:sp>
      <p:sp>
        <p:nvSpPr>
          <p:cNvPr id="6" name="text">
            <a:extLst>
              <a:ext uri="{FF2B5EF4-FFF2-40B4-BE49-F238E27FC236}">
                <a16:creationId xmlns:a16="http://schemas.microsoft.com/office/drawing/2014/main" id="{AD0544BB-1644-4AA3-BFE7-1D7F5450E86C}"/>
              </a:ext>
            </a:extLst>
          </p:cNvPr>
          <p:cNvSpPr>
            <a:spLocks noGrp="1"/>
          </p:cNvSpPr>
          <p:nvPr/>
        </p:nvSpPr>
        <p:spPr>
          <a:xfrm>
            <a:off x="1933575" y="5572125"/>
            <a:ext cx="9648825" cy="504825"/>
          </a:xfrm>
          <a:prstGeom prst="rect">
            <a:avLst/>
          </a:prstGeom>
          <a:noFill/>
          <a:ln w="0">
            <a:noFill/>
          </a:ln>
        </p:spPr>
        <p:txBody>
          <a:bodyPr wrap="square" lIns="0" tIns="0" rIns="0" bIns="0" anchor="t">
            <a:noAutofit/>
          </a:bodyPr>
          <a:lstStyle>
            <a:defPPr algn="l">
              <a:defRPr sz="1763" b="0">
                <a:solidFill>
                  <a:srgbClr val="1B2533"/>
                </a:solidFill>
                <a:latin typeface="Microsoft YaHei"/>
                <a:ea typeface="Microsoft YaHei"/>
                <a:cs typeface="Microsoft YaHei"/>
              </a:defRPr>
            </a:defPPr>
          </a:lstStyle>
          <a:p>
            <a:pPr algn="l">
              <a:lnSpc>
                <a:spcPct val="118000"/>
              </a:lnSpc>
              <a:buNone/>
              <a:defRPr sz="1763" b="0">
                <a:solidFill>
                  <a:srgbClr val="1B2533"/>
                </a:solidFill>
                <a:latin typeface="Microsoft YaHei"/>
                <a:ea typeface="Microsoft YaHei"/>
                <a:cs typeface="Microsoft YaHei"/>
              </a:defRPr>
            </a:pPr>
            <a:r>
              <a:rPr sz="1763" b="0">
                <a:solidFill>
                  <a:srgbClr val="1B2533"/>
                </a:solidFill>
                <a:latin typeface="Microsoft YaHei"/>
                <a:ea typeface="Microsoft YaHei"/>
                <a:cs typeface="Microsoft YaHei"/>
              </a:rPr>
              <a:t>条件经adapter注入，微调全部网络权重。采样用classifier-free guidance，保持周期结构表示</a:t>
            </a:r>
          </a:p>
        </p:txBody>
      </p:sp>
      <p:sp>
        <p:nvSpPr>
          <p:cNvPr id="7" name="separator">
            <a:extLst>
              <a:ext uri="{FF2B5EF4-FFF2-40B4-BE49-F238E27FC236}">
                <a16:creationId xmlns:a16="http://schemas.microsoft.com/office/drawing/2014/main" id="{D80F5B4C-D4CD-48DF-B9AB-E8AC023ABDBF}"/>
              </a:ext>
            </a:extLst>
          </p:cNvPr>
          <p:cNvSpPr>
            <a:spLocks noGrp="1"/>
          </p:cNvSpPr>
          <p:nvPr/>
        </p:nvSpPr>
        <p:spPr>
          <a:xfrm>
            <a:off x="609600" y="6200775"/>
            <a:ext cx="10972800" cy="0"/>
          </a:xfrm>
          <a:prstGeom prst="line">
            <a:avLst/>
          </a:prstGeom>
          <a:ln w="9525">
            <a:solidFill>
              <a:srgbClr val="D5DCE3"/>
            </a:solidFill>
          </a:ln>
        </p:spPr>
      </p:sp>
      <p:sp>
        <p:nvSpPr>
          <p:cNvPr id="8" name="sources">
            <a:extLst>
              <a:ext uri="{FF2B5EF4-FFF2-40B4-BE49-F238E27FC236}">
                <a16:creationId xmlns:a16="http://schemas.microsoft.com/office/drawing/2014/main" id="{2713311E-8514-4096-A1A9-D2E00731F2B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原图：MatterGen Fig.1。基础模型8×A100训练；正式微调更新全部模型权重。</a:t>
            </a:r>
          </a:p>
        </p:txBody>
      </p:sp>
      <p:sp>
        <p:nvSpPr>
          <p:cNvPr id="9" name="page-number">
            <a:extLst>
              <a:ext uri="{FF2B5EF4-FFF2-40B4-BE49-F238E27FC236}">
                <a16:creationId xmlns:a16="http://schemas.microsoft.com/office/drawing/2014/main" id="{C30A3F45-A24E-42A1-8540-1CAA5BCAB8D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24</a:t>
            </a:r>
          </a:p>
        </p:txBody>
      </p:sp>
    </p:spTree>
    <p:extLst>
      <p:ext uri="{BB962C8B-B14F-4D97-AF65-F5344CB8AC3E}">
        <p14:creationId xmlns:p14="http://schemas.microsoft.com/office/powerpoint/2010/main" val="1337798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00BF9615-9B80-457A-8AE1-904931DFB7E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3/5：无条件生成怎样评测</a:t>
            </a:r>
          </a:p>
        </p:txBody>
      </p:sp>
      <p:sp>
        <p:nvSpPr>
          <p:cNvPr id="2" name="lead">
            <a:extLst>
              <a:ext uri="{FF2B5EF4-FFF2-40B4-BE49-F238E27FC236}">
                <a16:creationId xmlns:a16="http://schemas.microsoft.com/office/drawing/2014/main" id="{028A0A6A-53D4-4811-A080-5028C66E1606}"/>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相同Alex-MP训练范围下，用DFT弛豫后的结构评价SUN。</a:t>
            </a:r>
          </a:p>
        </p:txBody>
      </p:sp>
      <p:graphicFrame>
        <p:nvGraphicFramePr>
          <p:cNvPr id="3" name="Chart">
            <a:extLst>
              <a:ext uri="{FF2B5EF4-FFF2-40B4-BE49-F238E27FC236}">
                <a16:creationId xmlns:a16="http://schemas.microsoft.com/office/drawing/2014/main" id="{E5D7FE22-A32E-4C97-92E1-9FC75F33468E}"/>
              </a:ext>
            </a:extLst>
          </p:cNvPr>
          <p:cNvGraphicFramePr/>
          <p:nvPr/>
        </p:nvGraphicFramePr>
        <p:xfrm>
          <a:off x="609600" y="1943100"/>
          <a:ext cx="6334125"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532427D4-11FD-4194-B06C-2A81121A7F96}"/>
              </a:ext>
            </a:extLst>
          </p:cNvPr>
          <p:cNvSpPr>
            <a:spLocks noGrp="1"/>
          </p:cNvSpPr>
          <p:nvPr/>
        </p:nvSpPr>
        <p:spPr>
          <a:xfrm>
            <a:off x="952500" y="5657850"/>
            <a:ext cx="5572125" cy="342900"/>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论文SUN（%）</a:t>
            </a:r>
          </a:p>
        </p:txBody>
      </p:sp>
      <p:sp>
        <p:nvSpPr>
          <p:cNvPr id="5" name="text">
            <a:extLst>
              <a:ext uri="{FF2B5EF4-FFF2-40B4-BE49-F238E27FC236}">
                <a16:creationId xmlns:a16="http://schemas.microsoft.com/office/drawing/2014/main" id="{4B340352-7C18-4151-91CE-2A2510ED01F5}"/>
              </a:ext>
            </a:extLst>
          </p:cNvPr>
          <p:cNvSpPr>
            <a:spLocks noGrp="1"/>
          </p:cNvSpPr>
          <p:nvPr/>
        </p:nvSpPr>
        <p:spPr>
          <a:xfrm>
            <a:off x="7277100" y="18669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评测链</a:t>
            </a:r>
          </a:p>
        </p:txBody>
      </p:sp>
      <p:sp>
        <p:nvSpPr>
          <p:cNvPr id="6" name="text">
            <a:extLst>
              <a:ext uri="{FF2B5EF4-FFF2-40B4-BE49-F238E27FC236}">
                <a16:creationId xmlns:a16="http://schemas.microsoft.com/office/drawing/2014/main" id="{149B4726-538F-4803-A1D1-12DBA56267F2}"/>
              </a:ext>
            </a:extLst>
          </p:cNvPr>
          <p:cNvSpPr>
            <a:spLocks noGrp="1"/>
          </p:cNvSpPr>
          <p:nvPr/>
        </p:nvSpPr>
        <p:spPr>
          <a:xfrm>
            <a:off x="7277100" y="22479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1,024个样本经DFT弛豫、能量比较与结构匹配。</a:t>
            </a:r>
          </a:p>
        </p:txBody>
      </p:sp>
      <p:sp>
        <p:nvSpPr>
          <p:cNvPr id="7" name="text">
            <a:extLst>
              <a:ext uri="{FF2B5EF4-FFF2-40B4-BE49-F238E27FC236}">
                <a16:creationId xmlns:a16="http://schemas.microsoft.com/office/drawing/2014/main" id="{A7DEB685-6BFB-4470-8ECA-33D3129C9ABA}"/>
              </a:ext>
            </a:extLst>
          </p:cNvPr>
          <p:cNvSpPr>
            <a:spLocks noGrp="1"/>
          </p:cNvSpPr>
          <p:nvPr/>
        </p:nvSpPr>
        <p:spPr>
          <a:xfrm>
            <a:off x="7277100" y="321945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结果</a:t>
            </a:r>
          </a:p>
        </p:txBody>
      </p:sp>
      <p:sp>
        <p:nvSpPr>
          <p:cNvPr id="8" name="text">
            <a:extLst>
              <a:ext uri="{FF2B5EF4-FFF2-40B4-BE49-F238E27FC236}">
                <a16:creationId xmlns:a16="http://schemas.microsoft.com/office/drawing/2014/main" id="{3EF56F40-54C3-4EC9-A657-7BC928934B55}"/>
              </a:ext>
            </a:extLst>
          </p:cNvPr>
          <p:cNvSpPr>
            <a:spLocks noGrp="1"/>
          </p:cNvSpPr>
          <p:nvPr/>
        </p:nvSpPr>
        <p:spPr>
          <a:xfrm>
            <a:off x="7277100" y="360045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约75%在参考凸包0.1 eV/atom内，约3%低于固定参考包。</a:t>
            </a:r>
          </a:p>
        </p:txBody>
      </p:sp>
      <p:sp>
        <p:nvSpPr>
          <p:cNvPr id="9" name="text">
            <a:extLst>
              <a:ext uri="{FF2B5EF4-FFF2-40B4-BE49-F238E27FC236}">
                <a16:creationId xmlns:a16="http://schemas.microsoft.com/office/drawing/2014/main" id="{6D8D18D5-7FA3-4ACD-90F0-615B2BD68C79}"/>
              </a:ext>
            </a:extLst>
          </p:cNvPr>
          <p:cNvSpPr>
            <a:spLocks noGrp="1"/>
          </p:cNvSpPr>
          <p:nvPr/>
        </p:nvSpPr>
        <p:spPr>
          <a:xfrm>
            <a:off x="7277100" y="45720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解释</a:t>
            </a:r>
          </a:p>
        </p:txBody>
      </p:sp>
      <p:sp>
        <p:nvSpPr>
          <p:cNvPr id="10" name="text">
            <a:extLst>
              <a:ext uri="{FF2B5EF4-FFF2-40B4-BE49-F238E27FC236}">
                <a16:creationId xmlns:a16="http://schemas.microsoft.com/office/drawing/2014/main" id="{948381E5-0C33-465E-90DD-02ECC566477A}"/>
              </a:ext>
            </a:extLst>
          </p:cNvPr>
          <p:cNvSpPr>
            <a:spLocks noGrp="1"/>
          </p:cNvSpPr>
          <p:nvPr/>
        </p:nvSpPr>
        <p:spPr>
          <a:xfrm>
            <a:off x="7277100" y="49530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Table D4的SUN为38.57%，生成到弛豫终态的RMSD为0.021 Å。</a:t>
            </a:r>
          </a:p>
        </p:txBody>
      </p:sp>
      <p:sp>
        <p:nvSpPr>
          <p:cNvPr id="11" name="separator">
            <a:extLst>
              <a:ext uri="{FF2B5EF4-FFF2-40B4-BE49-F238E27FC236}">
                <a16:creationId xmlns:a16="http://schemas.microsoft.com/office/drawing/2014/main" id="{897A9AC3-1EE0-4CA2-A87D-792EDC65476B}"/>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EFBABD2C-5E14-406C-BF2B-54E6746B35F2}"/>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数据：SI Table D4 / Fig.2。稳定阈值允许≤0.1 eV/atom；不是全部严格on-hull。</a:t>
            </a:r>
          </a:p>
        </p:txBody>
      </p:sp>
      <p:sp>
        <p:nvSpPr>
          <p:cNvPr id="13" name="page-number">
            <a:extLst>
              <a:ext uri="{FF2B5EF4-FFF2-40B4-BE49-F238E27FC236}">
                <a16:creationId xmlns:a16="http://schemas.microsoft.com/office/drawing/2014/main" id="{2D3AB3B2-857B-46A5-A09F-90C6B16A1B4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25</a:t>
            </a:r>
          </a:p>
        </p:txBody>
      </p:sp>
    </p:spTree>
    <p:extLst>
      <p:ext uri="{BB962C8B-B14F-4D97-AF65-F5344CB8AC3E}">
        <p14:creationId xmlns:p14="http://schemas.microsoft.com/office/powerpoint/2010/main" val="395739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D360DE8-FA3D-48FE-8A26-7830CF9BF83D}"/>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4/5：条件设计如何验证</a:t>
            </a:r>
          </a:p>
        </p:txBody>
      </p:sp>
      <p:sp>
        <p:nvSpPr>
          <p:cNvPr id="2" name="lead">
            <a:extLst>
              <a:ext uri="{FF2B5EF4-FFF2-40B4-BE49-F238E27FC236}">
                <a16:creationId xmlns:a16="http://schemas.microsoft.com/office/drawing/2014/main" id="{7FD47605-4235-4186-A5BA-253FB7261004}"/>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性质条件的价值，用满足目标且物理合格的候选数量检验。</a:t>
            </a:r>
          </a:p>
        </p:txBody>
      </p:sp>
      <p:graphicFrame>
        <p:nvGraphicFramePr>
          <p:cNvPr id="3" name="Chart">
            <a:extLst>
              <a:ext uri="{FF2B5EF4-FFF2-40B4-BE49-F238E27FC236}">
                <a16:creationId xmlns:a16="http://schemas.microsoft.com/office/drawing/2014/main" id="{0FCD55A1-25F4-47F3-B494-D2EA73A9DFE1}"/>
              </a:ext>
            </a:extLst>
          </p:cNvPr>
          <p:cNvGraphicFramePr/>
          <p:nvPr/>
        </p:nvGraphicFramePr>
        <p:xfrm>
          <a:off x="609600" y="1943100"/>
          <a:ext cx="6334125"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CB984F15-38B0-4218-939E-047B256EEC66}"/>
              </a:ext>
            </a:extLst>
          </p:cNvPr>
          <p:cNvSpPr>
            <a:spLocks noGrp="1"/>
          </p:cNvSpPr>
          <p:nvPr/>
        </p:nvSpPr>
        <p:spPr>
          <a:xfrm>
            <a:off x="952500" y="5657850"/>
            <a:ext cx="5572125" cy="342900"/>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体模量 &gt; 400 GPa的论文SUN数</a:t>
            </a:r>
          </a:p>
        </p:txBody>
      </p:sp>
      <p:sp>
        <p:nvSpPr>
          <p:cNvPr id="5" name="text">
            <a:extLst>
              <a:ext uri="{FF2B5EF4-FFF2-40B4-BE49-F238E27FC236}">
                <a16:creationId xmlns:a16="http://schemas.microsoft.com/office/drawing/2014/main" id="{5836E7E0-EB92-425A-8DF3-2774E86C19F2}"/>
              </a:ext>
            </a:extLst>
          </p:cNvPr>
          <p:cNvSpPr>
            <a:spLocks noGrp="1"/>
          </p:cNvSpPr>
          <p:nvPr/>
        </p:nvSpPr>
        <p:spPr>
          <a:xfrm>
            <a:off x="7277100" y="18669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条件与标签</a:t>
            </a:r>
          </a:p>
        </p:txBody>
      </p:sp>
      <p:sp>
        <p:nvSpPr>
          <p:cNvPr id="6" name="text">
            <a:extLst>
              <a:ext uri="{FF2B5EF4-FFF2-40B4-BE49-F238E27FC236}">
                <a16:creationId xmlns:a16="http://schemas.microsoft.com/office/drawing/2014/main" id="{1FF3BAC2-FCAB-494C-B8A9-31C9690E24D5}"/>
              </a:ext>
            </a:extLst>
          </p:cNvPr>
          <p:cNvSpPr>
            <a:spLocks noGrp="1"/>
          </p:cNvSpPr>
          <p:nvPr/>
        </p:nvSpPr>
        <p:spPr>
          <a:xfrm>
            <a:off x="7277100" y="22479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磁性约60.5万、带隙约4.2万、体模量约5,000个标签，分别用于对应任务。</a:t>
            </a:r>
          </a:p>
        </p:txBody>
      </p:sp>
      <p:sp>
        <p:nvSpPr>
          <p:cNvPr id="7" name="text">
            <a:extLst>
              <a:ext uri="{FF2B5EF4-FFF2-40B4-BE49-F238E27FC236}">
                <a16:creationId xmlns:a16="http://schemas.microsoft.com/office/drawing/2014/main" id="{E6C36FFE-3CEC-46EE-AF62-8E203412D216}"/>
              </a:ext>
            </a:extLst>
          </p:cNvPr>
          <p:cNvSpPr>
            <a:spLocks noGrp="1"/>
          </p:cNvSpPr>
          <p:nvPr/>
        </p:nvSpPr>
        <p:spPr>
          <a:xfrm>
            <a:off x="7277100" y="321945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计算对照</a:t>
            </a:r>
          </a:p>
        </p:txBody>
      </p:sp>
      <p:sp>
        <p:nvSpPr>
          <p:cNvPr id="8" name="text">
            <a:extLst>
              <a:ext uri="{FF2B5EF4-FFF2-40B4-BE49-F238E27FC236}">
                <a16:creationId xmlns:a16="http://schemas.microsoft.com/office/drawing/2014/main" id="{BDFB8874-3C93-4AEA-B2FB-267213B7030B}"/>
              </a:ext>
            </a:extLst>
          </p:cNvPr>
          <p:cNvSpPr>
            <a:spLocks noGrp="1"/>
          </p:cNvSpPr>
          <p:nvPr/>
        </p:nvSpPr>
        <p:spPr>
          <a:xfrm>
            <a:off x="7277100" y="360045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同一预测器辅助，180次DFT性质调用：MatterGen获得106个，筛选参照40个。</a:t>
            </a:r>
          </a:p>
        </p:txBody>
      </p:sp>
      <p:sp>
        <p:nvSpPr>
          <p:cNvPr id="9" name="text">
            <a:extLst>
              <a:ext uri="{FF2B5EF4-FFF2-40B4-BE49-F238E27FC236}">
                <a16:creationId xmlns:a16="http://schemas.microsoft.com/office/drawing/2014/main" id="{D7353DC1-4E61-46F2-AD41-88040490CD22}"/>
              </a:ext>
            </a:extLst>
          </p:cNvPr>
          <p:cNvSpPr>
            <a:spLocks noGrp="1"/>
          </p:cNvSpPr>
          <p:nvPr/>
        </p:nvSpPr>
        <p:spPr>
          <a:xfrm>
            <a:off x="7277100" y="45720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代价范围</a:t>
            </a:r>
          </a:p>
        </p:txBody>
      </p:sp>
      <p:sp>
        <p:nvSpPr>
          <p:cNvPr id="10" name="text">
            <a:extLst>
              <a:ext uri="{FF2B5EF4-FFF2-40B4-BE49-F238E27FC236}">
                <a16:creationId xmlns:a16="http://schemas.microsoft.com/office/drawing/2014/main" id="{F7B887EB-1D22-425F-B04C-A384A8466BBE}"/>
              </a:ext>
            </a:extLst>
          </p:cNvPr>
          <p:cNvSpPr>
            <a:spLocks noGrp="1"/>
          </p:cNvSpPr>
          <p:nvPr/>
        </p:nvSpPr>
        <p:spPr>
          <a:xfrm>
            <a:off x="7277100" y="49530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原文预算轴只统计性质调用。训练、筛选与DFT弛豫另计。</a:t>
            </a:r>
          </a:p>
        </p:txBody>
      </p:sp>
      <p:sp>
        <p:nvSpPr>
          <p:cNvPr id="11" name="separator">
            <a:extLst>
              <a:ext uri="{FF2B5EF4-FFF2-40B4-BE49-F238E27FC236}">
                <a16:creationId xmlns:a16="http://schemas.microsoft.com/office/drawing/2014/main" id="{A89D3F82-FE93-4535-B89F-D73A22621B25}"/>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AD5F7C91-9713-46C9-9A76-23406420A8C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MatterGen Fig.4h；稳定资格仍采用论文阈值。400 GPa设计任务与下页200 GPa实验目标不同。</a:t>
            </a:r>
          </a:p>
        </p:txBody>
      </p:sp>
      <p:sp>
        <p:nvSpPr>
          <p:cNvPr id="13" name="page-number">
            <a:extLst>
              <a:ext uri="{FF2B5EF4-FFF2-40B4-BE49-F238E27FC236}">
                <a16:creationId xmlns:a16="http://schemas.microsoft.com/office/drawing/2014/main" id="{2B843726-9609-4513-B55D-030F5ABE21E6}"/>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26</a:t>
            </a:r>
          </a:p>
        </p:txBody>
      </p:sp>
    </p:spTree>
    <p:extLst>
      <p:ext uri="{BB962C8B-B14F-4D97-AF65-F5344CB8AC3E}">
        <p14:creationId xmlns:p14="http://schemas.microsoft.com/office/powerpoint/2010/main" val="900472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DF727EA4-ECD2-4D60-A8C3-9D4C9D9A552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5/5：计算怎样连接实际实验</a:t>
            </a:r>
          </a:p>
        </p:txBody>
      </p:sp>
      <p:pic>
        <p:nvPicPr>
          <p:cNvPr id="2" name="图片 1">
            <a:extLst>
              <a:ext uri="{FF2B5EF4-FFF2-40B4-BE49-F238E27FC236}">
                <a16:creationId xmlns:a16="http://schemas.microsoft.com/office/drawing/2014/main" id="{9F0ED103-F39A-453E-AFFA-BEF07DAA5061}"/>
              </a:ext>
            </a:extLst>
          </p:cNvPr>
          <p:cNvPicPr>
            <a:picLocks noChangeAspect="1"/>
          </p:cNvPicPr>
          <p:nvPr/>
        </p:nvPicPr>
        <p:blipFill>
          <a:blip r:embed="rId3"/>
          <a:stretch/>
        </p:blipFill>
        <p:spPr>
          <a:xfrm>
            <a:off x="609600" y="1428750"/>
            <a:ext cx="5143500" cy="4322249"/>
          </a:xfrm>
          <a:prstGeom prst="rect">
            <a:avLst/>
          </a:prstGeom>
        </p:spPr>
      </p:pic>
      <p:sp>
        <p:nvSpPr>
          <p:cNvPr id="3" name="text">
            <a:extLst>
              <a:ext uri="{FF2B5EF4-FFF2-40B4-BE49-F238E27FC236}">
                <a16:creationId xmlns:a16="http://schemas.microsoft.com/office/drawing/2014/main" id="{B0EF0CA1-9CE5-4C01-833A-AC0E172D0A01}"/>
              </a:ext>
            </a:extLst>
          </p:cNvPr>
          <p:cNvSpPr>
            <a:spLocks noGrp="1"/>
          </p:cNvSpPr>
          <p:nvPr/>
        </p:nvSpPr>
        <p:spPr>
          <a:xfrm>
            <a:off x="6162675" y="1400175"/>
            <a:ext cx="5419725"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筛选过程</a:t>
            </a:r>
          </a:p>
        </p:txBody>
      </p:sp>
      <p:sp>
        <p:nvSpPr>
          <p:cNvPr id="4" name="text">
            <a:extLst>
              <a:ext uri="{FF2B5EF4-FFF2-40B4-BE49-F238E27FC236}">
                <a16:creationId xmlns:a16="http://schemas.microsoft.com/office/drawing/2014/main" id="{2E510F74-59D9-4432-9722-0FD39545AC21}"/>
              </a:ext>
            </a:extLst>
          </p:cNvPr>
          <p:cNvSpPr>
            <a:spLocks noGrp="1"/>
          </p:cNvSpPr>
          <p:nvPr/>
        </p:nvSpPr>
        <p:spPr>
          <a:xfrm>
            <a:off x="6162675" y="1800225"/>
            <a:ext cx="5419725" cy="866775"/>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8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32,768个提案逐级筛到75个DFT候选，选四个尝试，原文报告一个产物</a:t>
            </a:r>
          </a:p>
        </p:txBody>
      </p:sp>
      <p:sp>
        <p:nvSpPr>
          <p:cNvPr id="5" name="text">
            <a:extLst>
              <a:ext uri="{FF2B5EF4-FFF2-40B4-BE49-F238E27FC236}">
                <a16:creationId xmlns:a16="http://schemas.microsoft.com/office/drawing/2014/main" id="{DE0E553A-9AD3-49FE-A5B8-3F915E26A228}"/>
              </a:ext>
            </a:extLst>
          </p:cNvPr>
          <p:cNvSpPr>
            <a:spLocks noGrp="1"/>
          </p:cNvSpPr>
          <p:nvPr/>
        </p:nvSpPr>
        <p:spPr>
          <a:xfrm>
            <a:off x="6162675" y="2714625"/>
            <a:ext cx="5419725"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结构与成分</a:t>
            </a:r>
          </a:p>
        </p:txBody>
      </p:sp>
      <p:sp>
        <p:nvSpPr>
          <p:cNvPr id="6" name="text">
            <a:extLst>
              <a:ext uri="{FF2B5EF4-FFF2-40B4-BE49-F238E27FC236}">
                <a16:creationId xmlns:a16="http://schemas.microsoft.com/office/drawing/2014/main" id="{D216D214-EF55-4E0D-8D38-74819EE90058}"/>
              </a:ext>
            </a:extLst>
          </p:cNvPr>
          <p:cNvSpPr>
            <a:spLocks noGrp="1"/>
          </p:cNvSpPr>
          <p:nvPr/>
        </p:nvSpPr>
        <p:spPr>
          <a:xfrm>
            <a:off x="6162675" y="3114675"/>
            <a:ext cx="5419725" cy="866775"/>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8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原文将产物拟合为约98%无序TaCr₂O₆，另有约2% Cr₂O₃</a:t>
            </a:r>
          </a:p>
        </p:txBody>
      </p:sp>
      <p:sp>
        <p:nvSpPr>
          <p:cNvPr id="7" name="text">
            <a:extLst>
              <a:ext uri="{FF2B5EF4-FFF2-40B4-BE49-F238E27FC236}">
                <a16:creationId xmlns:a16="http://schemas.microsoft.com/office/drawing/2014/main" id="{43BFE368-FFA2-48EE-B02D-181CB991867B}"/>
              </a:ext>
            </a:extLst>
          </p:cNvPr>
          <p:cNvSpPr>
            <a:spLocks noGrp="1"/>
          </p:cNvSpPr>
          <p:nvPr/>
        </p:nvSpPr>
        <p:spPr>
          <a:xfrm>
            <a:off x="6162675" y="4029075"/>
            <a:ext cx="5419725"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功能测量</a:t>
            </a:r>
          </a:p>
        </p:txBody>
      </p:sp>
      <p:sp>
        <p:nvSpPr>
          <p:cNvPr id="8" name="text">
            <a:extLst>
              <a:ext uri="{FF2B5EF4-FFF2-40B4-BE49-F238E27FC236}">
                <a16:creationId xmlns:a16="http://schemas.microsoft.com/office/drawing/2014/main" id="{530B3F02-4997-4159-BDFB-180E9CB9CBEC}"/>
              </a:ext>
            </a:extLst>
          </p:cNvPr>
          <p:cNvSpPr>
            <a:spLocks noGrp="1"/>
          </p:cNvSpPr>
          <p:nvPr/>
        </p:nvSpPr>
        <p:spPr>
          <a:xfrm>
            <a:off x="6162675" y="4429125"/>
            <a:ext cx="5419725" cy="866775"/>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8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目标200 GPa，DFT约222。实验换算体模量158±11 GPa，最高169 GPa</a:t>
            </a:r>
          </a:p>
        </p:txBody>
      </p:sp>
      <p:sp>
        <p:nvSpPr>
          <p:cNvPr id="9" name="text">
            <a:extLst>
              <a:ext uri="{FF2B5EF4-FFF2-40B4-BE49-F238E27FC236}">
                <a16:creationId xmlns:a16="http://schemas.microsoft.com/office/drawing/2014/main" id="{5EB596EC-F1FB-4E0C-8F28-0326D452E065}"/>
              </a:ext>
            </a:extLst>
          </p:cNvPr>
          <p:cNvSpPr>
            <a:spLocks noGrp="1"/>
          </p:cNvSpPr>
          <p:nvPr/>
        </p:nvSpPr>
        <p:spPr>
          <a:xfrm>
            <a:off x="6162675" y="5467350"/>
            <a:ext cx="5419725" cy="600075"/>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纳米压痕测Young模量，K = Y / [3(1−2ν)]</a:t>
            </a:r>
          </a:p>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泊松比ν=0.30取自DFT计算</a:t>
            </a:r>
          </a:p>
        </p:txBody>
      </p:sp>
      <p:sp>
        <p:nvSpPr>
          <p:cNvPr id="10" name="separator">
            <a:extLst>
              <a:ext uri="{FF2B5EF4-FFF2-40B4-BE49-F238E27FC236}">
                <a16:creationId xmlns:a16="http://schemas.microsoft.com/office/drawing/2014/main" id="{ABCEDFED-9F59-4D3D-B9F8-E3A207A45EB5}"/>
              </a:ext>
            </a:extLst>
          </p:cNvPr>
          <p:cNvSpPr>
            <a:spLocks noGrp="1"/>
          </p:cNvSpPr>
          <p:nvPr/>
        </p:nvSpPr>
        <p:spPr>
          <a:xfrm>
            <a:off x="609600" y="6200775"/>
            <a:ext cx="10972800" cy="0"/>
          </a:xfrm>
          <a:prstGeom prst="line">
            <a:avLst/>
          </a:prstGeom>
          <a:ln w="9525">
            <a:solidFill>
              <a:srgbClr val="D5DCE3"/>
            </a:solidFill>
          </a:ln>
        </p:spPr>
      </p:sp>
      <p:sp>
        <p:nvSpPr>
          <p:cNvPr id="11" name="sources">
            <a:extLst>
              <a:ext uri="{FF2B5EF4-FFF2-40B4-BE49-F238E27FC236}">
                <a16:creationId xmlns:a16="http://schemas.microsoft.com/office/drawing/2014/main" id="{A440149D-B947-4CE5-8640-CC3ABCE63AC8}"/>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原图：Zeni et al., Nature 2025, Fig.6（CC BY 4.0）。</a:t>
            </a:r>
          </a:p>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2026年Materials Horizons再分析对产物身份及数据重合提出质疑，具体归属与证据见备注。</a:t>
            </a:r>
          </a:p>
        </p:txBody>
      </p:sp>
      <p:sp>
        <p:nvSpPr>
          <p:cNvPr id="12" name="page-number">
            <a:extLst>
              <a:ext uri="{FF2B5EF4-FFF2-40B4-BE49-F238E27FC236}">
                <a16:creationId xmlns:a16="http://schemas.microsoft.com/office/drawing/2014/main" id="{D446F351-8C7F-4A9F-9608-DEA9BDF5DB46}"/>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27</a:t>
            </a:r>
          </a:p>
        </p:txBody>
      </p:sp>
    </p:spTree>
    <p:extLst>
      <p:ext uri="{BB962C8B-B14F-4D97-AF65-F5344CB8AC3E}">
        <p14:creationId xmlns:p14="http://schemas.microsoft.com/office/powerpoint/2010/main" val="1738533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BC7588E2-57D1-4D90-8B2C-505AFD552C13}"/>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NMI及相关期刊中的两类模型贡献</a:t>
            </a:r>
          </a:p>
        </p:txBody>
      </p:sp>
      <p:graphicFrame>
        <p:nvGraphicFramePr>
          <p:cNvPr id="2" name="表格 1">
            <a:extLst>
              <a:ext uri="{FF2B5EF4-FFF2-40B4-BE49-F238E27FC236}">
                <a16:creationId xmlns:a16="http://schemas.microsoft.com/office/drawing/2014/main" id="{F2F63CC9-DD4A-4C1F-A84B-34F5F6D6104B}"/>
              </a:ext>
            </a:extLst>
          </p:cNvPr>
          <p:cNvGraphicFramePr/>
          <p:nvPr/>
        </p:nvGraphicFramePr>
        <p:xfrm>
          <a:off x="609600" y="1400175"/>
          <a:ext cx="10972800" cy="4010025"/>
        </p:xfrm>
        <a:graphic>
          <a:graphicData uri="http://schemas.openxmlformats.org/drawingml/2006/table">
            <a:tbl>
              <a:tblPr/>
              <a:tblGrid>
                <a:gridCol w="2667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论文</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模型与数据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主要评测与科学结果</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Chemeleon2</a:t>
                      </a:r>
                    </a:p>
                    <a:p>
                      <a:pPr algn="l">
                        <a:lnSpc>
                          <a:spcPct val="108000"/>
                        </a:lnSpc>
                        <a:buNone/>
                      </a:pPr>
                      <a:r>
                        <a:rPr sz="1725" b="0">
                          <a:solidFill>
                            <a:srgbClr val="1B2533"/>
                          </a:solidFill>
                          <a:latin typeface="Microsoft YaHei"/>
                          <a:ea typeface="Microsoft YaHei"/>
                          <a:cs typeface="Microsoft YaHei"/>
                        </a:rPr>
                        <a:t>NMI 2026</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latent Diffusion + GRPO</a:t>
                      </a:r>
                    </a:p>
                    <a:p>
                      <a:pPr algn="l">
                        <a:lnSpc>
                          <a:spcPct val="108000"/>
                        </a:lnSpc>
                        <a:buNone/>
                      </a:pPr>
                      <a:r>
                        <a:rPr sz="1725" b="0">
                          <a:solidFill>
                            <a:srgbClr val="1B2533"/>
                          </a:solidFill>
                          <a:latin typeface="Microsoft YaHei"/>
                          <a:ea typeface="Microsoft YaHei"/>
                          <a:cs typeface="Microsoft YaHei"/>
                        </a:rPr>
                        <a:t>MP-20 / Alex-MP-20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10,000个原始样本做MACE评测；选择性DFT与带隙交集，无新合成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CHGNet</a:t>
                      </a:r>
                    </a:p>
                    <a:p>
                      <a:pPr algn="l">
                        <a:lnSpc>
                          <a:spcPct val="108000"/>
                        </a:lnSpc>
                        <a:buNone/>
                      </a:pPr>
                      <a:r>
                        <a:rPr sz="1725" b="0">
                          <a:solidFill>
                            <a:srgbClr val="1B2533"/>
                          </a:solidFill>
                          <a:latin typeface="Microsoft YaHei"/>
                          <a:ea typeface="Microsoft YaHei"/>
                          <a:cs typeface="Microsoft YaHei"/>
                        </a:rPr>
                        <a:t>NMI 2023</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磁矩相关监督的通用势</a:t>
                      </a:r>
                    </a:p>
                    <a:p>
                      <a:pPr algn="l">
                        <a:lnSpc>
                          <a:spcPct val="108000"/>
                        </a:lnSpc>
                        <a:buNone/>
                      </a:pPr>
                      <a:r>
                        <a:rPr sz="1725" b="0">
                          <a:solidFill>
                            <a:srgbClr val="1B2533"/>
                          </a:solidFill>
                          <a:latin typeface="Microsoft YaHei"/>
                          <a:ea typeface="Microsoft YaHei"/>
                          <a:cs typeface="Microsoft YaHei"/>
                        </a:rPr>
                        <a:t>MPtrj弛豫数据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E/F/应力误差，MD及电荷相关应用；与DFT和已有实验比较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M3GNet</a:t>
                      </a:r>
                    </a:p>
                    <a:p>
                      <a:pPr algn="l">
                        <a:lnSpc>
                          <a:spcPct val="108000"/>
                        </a:lnSpc>
                        <a:buNone/>
                      </a:pPr>
                      <a:r>
                        <a:rPr sz="1725" b="0">
                          <a:solidFill>
                            <a:srgbClr val="1B2533"/>
                          </a:solidFill>
                          <a:latin typeface="Microsoft YaHei"/>
                          <a:ea typeface="Microsoft YaHei"/>
                          <a:cs typeface="Microsoft YaHei"/>
                        </a:rPr>
                        <a:t>Nature Computational Science</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三体图网络通用势</a:t>
                      </a:r>
                    </a:p>
                    <a:p>
                      <a:pPr algn="l">
                        <a:lnSpc>
                          <a:spcPct val="108000"/>
                        </a:lnSpc>
                        <a:buNone/>
                      </a:pPr>
                      <a:r>
                        <a:rPr sz="1725" b="0">
                          <a:solidFill>
                            <a:srgbClr val="1B2533"/>
                          </a:solidFill>
                          <a:latin typeface="Microsoft YaHei"/>
                          <a:ea typeface="Microsoft YaHei"/>
                          <a:cs typeface="Microsoft YaHei"/>
                        </a:rPr>
                        <a:t>MP弛豫数据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约3,100万假想结构筛选，优先2,000个DFT核验，并开展声子等计算</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C4DAD2FA-045A-451D-86FF-16339085B66F}"/>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前者研究怎样提出目标材料，后者研究怎样可靠计算结构响应。论文主张决定验证方式。</a:t>
            </a:r>
          </a:p>
        </p:txBody>
      </p:sp>
      <p:sp>
        <p:nvSpPr>
          <p:cNvPr id="4" name="separator">
            <a:extLst>
              <a:ext uri="{FF2B5EF4-FFF2-40B4-BE49-F238E27FC236}">
                <a16:creationId xmlns:a16="http://schemas.microsoft.com/office/drawing/2014/main" id="{CB8115DC-0837-4CE8-846E-F0986E6E706A}"/>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5BC7FAF4-1221-445C-B023-5762EC53273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NMI = Nature Machine Intelligence。这些是各论文实际采用的证据组合。</a:t>
            </a:r>
          </a:p>
        </p:txBody>
      </p:sp>
      <p:sp>
        <p:nvSpPr>
          <p:cNvPr id="6" name="page-number">
            <a:extLst>
              <a:ext uri="{FF2B5EF4-FFF2-40B4-BE49-F238E27FC236}">
                <a16:creationId xmlns:a16="http://schemas.microsoft.com/office/drawing/2014/main" id="{3BE13C03-83E5-442B-97FA-23E173FA57B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28</a:t>
            </a:r>
          </a:p>
        </p:txBody>
      </p:sp>
    </p:spTree>
    <p:extLst>
      <p:ext uri="{BB962C8B-B14F-4D97-AF65-F5344CB8AC3E}">
        <p14:creationId xmlns:p14="http://schemas.microsoft.com/office/powerpoint/2010/main" val="2062570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98FB7610-AF4F-4612-8A88-0D53A5CB7429}"/>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相关子刊怎样增加材料层面的证据</a:t>
            </a:r>
          </a:p>
        </p:txBody>
      </p:sp>
      <p:graphicFrame>
        <p:nvGraphicFramePr>
          <p:cNvPr id="2" name="表格 1">
            <a:extLst>
              <a:ext uri="{FF2B5EF4-FFF2-40B4-BE49-F238E27FC236}">
                <a16:creationId xmlns:a16="http://schemas.microsoft.com/office/drawing/2014/main" id="{3254764E-CC0B-4F71-963D-96225C588BE6}"/>
              </a:ext>
            </a:extLst>
          </p:cNvPr>
          <p:cNvGraphicFramePr/>
          <p:nvPr/>
        </p:nvGraphicFramePr>
        <p:xfrm>
          <a:off x="609600" y="1400175"/>
          <a:ext cx="10972800" cy="4010025"/>
        </p:xfrm>
        <a:graphic>
          <a:graphicData uri="http://schemas.openxmlformats.org/drawingml/2006/table">
            <a:tbl>
              <a:tblPr/>
              <a:tblGrid>
                <a:gridCol w="3143250">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工作与期刊</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核心问题</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在生成指标之外做什么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SCIGEN</a:t>
                      </a:r>
                    </a:p>
                    <a:p>
                      <a:pPr algn="l">
                        <a:lnSpc>
                          <a:spcPct val="108000"/>
                        </a:lnSpc>
                        <a:buNone/>
                      </a:pPr>
                      <a:r>
                        <a:rPr sz="1725" b="0">
                          <a:solidFill>
                            <a:srgbClr val="1B2533"/>
                          </a:solidFill>
                          <a:latin typeface="Microsoft YaHei"/>
                          <a:ea typeface="Microsoft YaHei"/>
                          <a:cs typeface="Microsoft YaHei"/>
                        </a:rPr>
                        <a:t>Nature Materials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把功能图案嵌入晶体</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DFT能带、合成探索、XRD及实际产物的磁性与电阻</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Chemeleon</a:t>
                      </a:r>
                    </a:p>
                    <a:p>
                      <a:pPr algn="l">
                        <a:lnSpc>
                          <a:spcPct val="108000"/>
                        </a:lnSpc>
                        <a:buNone/>
                      </a:pPr>
                      <a:r>
                        <a:rPr sz="1725" b="0">
                          <a:solidFill>
                            <a:srgbClr val="1B2533"/>
                          </a:solidFill>
                          <a:latin typeface="Microsoft YaHei"/>
                          <a:ea typeface="Microsoft YaHei"/>
                          <a:cs typeface="Microsoft YaHei"/>
                        </a:rPr>
                        <a:t>Nature Communications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文本条件探索化学空间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MACE预筛、DFT相图，选定Li₂PS₃做声子；无新合成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SLICES</a:t>
                      </a:r>
                    </a:p>
                    <a:p>
                      <a:pPr algn="l">
                        <a:lnSpc>
                          <a:spcPct val="108000"/>
                        </a:lnSpc>
                        <a:buNone/>
                      </a:pPr>
                      <a:r>
                        <a:rPr sz="1725" b="0">
                          <a:solidFill>
                            <a:srgbClr val="1B2533"/>
                          </a:solidFill>
                          <a:latin typeface="Microsoft YaHei"/>
                          <a:ea typeface="Microsoft YaHei"/>
                          <a:cs typeface="Microsoft YaHei"/>
                        </a:rPr>
                        <a:t>Nature Communications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周期结构的可逆图表示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重构、逆设计、最终14个计算直接带隙候选；无新合成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CrystaLLM</a:t>
                      </a:r>
                    </a:p>
                    <a:p>
                      <a:pPr algn="l">
                        <a:lnSpc>
                          <a:spcPct val="108000"/>
                        </a:lnSpc>
                        <a:buNone/>
                      </a:pPr>
                      <a:r>
                        <a:rPr sz="1725" b="0">
                          <a:solidFill>
                            <a:srgbClr val="1B2533"/>
                          </a:solidFill>
                          <a:latin typeface="Microsoft YaHei"/>
                          <a:ea typeface="Microsoft YaHei"/>
                          <a:cs typeface="Microsoft YaHei"/>
                        </a:rPr>
                        <a:t>Nature Communications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CIF自回归与引导搜索</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语法及结构指标，选择新颖子集做DFT；无新合成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5FBEBBC8-4B1A-4DC1-92E6-5FDD9DD51F47}"/>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这些案例把算法改善连接到具体材料问题，并明确计算候选与实际产物分别是什么。</a:t>
            </a:r>
          </a:p>
        </p:txBody>
      </p:sp>
      <p:sp>
        <p:nvSpPr>
          <p:cNvPr id="4" name="separator">
            <a:extLst>
              <a:ext uri="{FF2B5EF4-FFF2-40B4-BE49-F238E27FC236}">
                <a16:creationId xmlns:a16="http://schemas.microsoft.com/office/drawing/2014/main" id="{A8EE8931-B996-4C96-BD84-A9B07546C489}"/>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A1E50F23-7DB0-414F-BF0B-E8E5D5114FDC}"/>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SCIGEN 2025在线 / 2026卷期；Chemeleon 2025；SLICES 2023；CrystaLLM 2024。</a:t>
            </a:r>
          </a:p>
        </p:txBody>
      </p:sp>
      <p:sp>
        <p:nvSpPr>
          <p:cNvPr id="6" name="page-number">
            <a:extLst>
              <a:ext uri="{FF2B5EF4-FFF2-40B4-BE49-F238E27FC236}">
                <a16:creationId xmlns:a16="http://schemas.microsoft.com/office/drawing/2014/main" id="{BAD97A83-FB23-4918-92C6-78878EB9E495}"/>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29</a:t>
            </a:r>
          </a:p>
        </p:txBody>
      </p:sp>
    </p:spTree>
    <p:extLst>
      <p:ext uri="{BB962C8B-B14F-4D97-AF65-F5344CB8AC3E}">
        <p14:creationId xmlns:p14="http://schemas.microsoft.com/office/powerpoint/2010/main" val="1067743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0E79B8D-C92C-417A-AE20-60BD2DE7240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阅读与复现的关键来源</a:t>
            </a:r>
          </a:p>
        </p:txBody>
      </p:sp>
      <p:sp>
        <p:nvSpPr>
          <p:cNvPr id="2" name="text">
            <a:extLst>
              <a:ext uri="{FF2B5EF4-FFF2-40B4-BE49-F238E27FC236}">
                <a16:creationId xmlns:a16="http://schemas.microsoft.com/office/drawing/2014/main" id="{59DBD5C9-5FBE-4918-9778-3BD9B6EA4BFE}"/>
              </a:ext>
            </a:extLst>
          </p:cNvPr>
          <p:cNvSpPr>
            <a:spLocks noGrp="1"/>
          </p:cNvSpPr>
          <p:nvPr/>
        </p:nvSpPr>
        <p:spPr>
          <a:xfrm>
            <a:off x="609600" y="14763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任务与基准</a:t>
            </a:r>
          </a:p>
        </p:txBody>
      </p:sp>
      <p:sp>
        <p:nvSpPr>
          <p:cNvPr id="3" name="text">
            <a:extLst>
              <a:ext uri="{FF2B5EF4-FFF2-40B4-BE49-F238E27FC236}">
                <a16:creationId xmlns:a16="http://schemas.microsoft.com/office/drawing/2014/main" id="{AC176E5B-6FC7-4295-BC5A-52414484999A}"/>
              </a:ext>
            </a:extLst>
          </p:cNvPr>
          <p:cNvSpPr>
            <a:spLocks noGrp="1"/>
          </p:cNvSpPr>
          <p:nvPr/>
        </p:nvSpPr>
        <p:spPr>
          <a:xfrm>
            <a:off x="2514600" y="1476375"/>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CDVAE、DiffCSP、FlowMM的原文与官方数据配置</a:t>
            </a:r>
          </a:p>
        </p:txBody>
      </p:sp>
      <p:sp>
        <p:nvSpPr>
          <p:cNvPr id="4" name="text">
            <a:extLst>
              <a:ext uri="{FF2B5EF4-FFF2-40B4-BE49-F238E27FC236}">
                <a16:creationId xmlns:a16="http://schemas.microsoft.com/office/drawing/2014/main" id="{92B27CDB-5E8F-4D55-A893-C76711AF1FB6}"/>
              </a:ext>
            </a:extLst>
          </p:cNvPr>
          <p:cNvSpPr>
            <a:spLocks noGrp="1"/>
          </p:cNvSpPr>
          <p:nvPr/>
        </p:nvSpPr>
        <p:spPr>
          <a:xfrm>
            <a:off x="609600" y="2574131"/>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数据与相稳定</a:t>
            </a:r>
          </a:p>
        </p:txBody>
      </p:sp>
      <p:sp>
        <p:nvSpPr>
          <p:cNvPr id="5" name="text">
            <a:extLst>
              <a:ext uri="{FF2B5EF4-FFF2-40B4-BE49-F238E27FC236}">
                <a16:creationId xmlns:a16="http://schemas.microsoft.com/office/drawing/2014/main" id="{3D16C4F6-A713-42EB-9C10-34D66DBAAD1B}"/>
              </a:ext>
            </a:extLst>
          </p:cNvPr>
          <p:cNvSpPr>
            <a:spLocks noGrp="1"/>
          </p:cNvSpPr>
          <p:nvPr/>
        </p:nvSpPr>
        <p:spPr>
          <a:xfrm>
            <a:off x="2514600" y="2574131"/>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Materials Project方法文档、Alexandria发布页、pymatgen相图与结构匹配</a:t>
            </a:r>
          </a:p>
        </p:txBody>
      </p:sp>
      <p:sp>
        <p:nvSpPr>
          <p:cNvPr id="6" name="text">
            <a:extLst>
              <a:ext uri="{FF2B5EF4-FFF2-40B4-BE49-F238E27FC236}">
                <a16:creationId xmlns:a16="http://schemas.microsoft.com/office/drawing/2014/main" id="{0C423A97-2063-453B-AEF6-EF1DAF504870}"/>
              </a:ext>
            </a:extLst>
          </p:cNvPr>
          <p:cNvSpPr>
            <a:spLocks noGrp="1"/>
          </p:cNvSpPr>
          <p:nvPr/>
        </p:nvSpPr>
        <p:spPr>
          <a:xfrm>
            <a:off x="609600" y="3671888"/>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物理计算</a:t>
            </a:r>
          </a:p>
        </p:txBody>
      </p:sp>
      <p:sp>
        <p:nvSpPr>
          <p:cNvPr id="7" name="text">
            <a:extLst>
              <a:ext uri="{FF2B5EF4-FFF2-40B4-BE49-F238E27FC236}">
                <a16:creationId xmlns:a16="http://schemas.microsoft.com/office/drawing/2014/main" id="{3B6A22A8-E252-46EE-9548-F921FC87A343}"/>
              </a:ext>
            </a:extLst>
          </p:cNvPr>
          <p:cNvSpPr>
            <a:spLocks noGrp="1"/>
          </p:cNvSpPr>
          <p:nvPr/>
        </p:nvSpPr>
        <p:spPr>
          <a:xfrm>
            <a:off x="2514600" y="3671888"/>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CHGNet / MACE / MatterSim模型资料；ASE与Phonopy方法说明</a:t>
            </a:r>
          </a:p>
        </p:txBody>
      </p:sp>
      <p:sp>
        <p:nvSpPr>
          <p:cNvPr id="8" name="text">
            <a:extLst>
              <a:ext uri="{FF2B5EF4-FFF2-40B4-BE49-F238E27FC236}">
                <a16:creationId xmlns:a16="http://schemas.microsoft.com/office/drawing/2014/main" id="{73EAFB6F-3BA9-4488-A049-7977261F4316}"/>
              </a:ext>
            </a:extLst>
          </p:cNvPr>
          <p:cNvSpPr>
            <a:spLocks noGrp="1"/>
          </p:cNvSpPr>
          <p:nvPr/>
        </p:nvSpPr>
        <p:spPr>
          <a:xfrm>
            <a:off x="609600" y="4769644"/>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MatterGen</a:t>
            </a:r>
          </a:p>
        </p:txBody>
      </p:sp>
      <p:sp>
        <p:nvSpPr>
          <p:cNvPr id="9" name="text">
            <a:extLst>
              <a:ext uri="{FF2B5EF4-FFF2-40B4-BE49-F238E27FC236}">
                <a16:creationId xmlns:a16="http://schemas.microsoft.com/office/drawing/2014/main" id="{ED32D5F9-4586-4B06-B8D1-710E567266B9}"/>
              </a:ext>
            </a:extLst>
          </p:cNvPr>
          <p:cNvSpPr>
            <a:spLocks noGrp="1"/>
          </p:cNvSpPr>
          <p:nvPr/>
        </p:nvSpPr>
        <p:spPr>
          <a:xfrm>
            <a:off x="2514600" y="4769644"/>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Nature正式论文、补充材料与官方代码。五页所引数据和原图各有来源位置</a:t>
            </a:r>
          </a:p>
        </p:txBody>
      </p:sp>
      <p:sp>
        <p:nvSpPr>
          <p:cNvPr id="10" name="separator">
            <a:extLst>
              <a:ext uri="{FF2B5EF4-FFF2-40B4-BE49-F238E27FC236}">
                <a16:creationId xmlns:a16="http://schemas.microsoft.com/office/drawing/2014/main" id="{02C2DF0B-7752-485D-8B31-FB874EFA0323}"/>
              </a:ext>
            </a:extLst>
          </p:cNvPr>
          <p:cNvSpPr>
            <a:spLocks noGrp="1"/>
          </p:cNvSpPr>
          <p:nvPr/>
        </p:nvSpPr>
        <p:spPr>
          <a:xfrm>
            <a:off x="609600" y="6200775"/>
            <a:ext cx="10972800" cy="0"/>
          </a:xfrm>
          <a:prstGeom prst="line">
            <a:avLst/>
          </a:prstGeom>
          <a:ln w="9525">
            <a:solidFill>
              <a:srgbClr val="D5DCE3"/>
            </a:solidFill>
          </a:ln>
        </p:spPr>
      </p:sp>
      <p:sp>
        <p:nvSpPr>
          <p:cNvPr id="11" name="sources">
            <a:extLst>
              <a:ext uri="{FF2B5EF4-FFF2-40B4-BE49-F238E27FC236}">
                <a16:creationId xmlns:a16="http://schemas.microsoft.com/office/drawing/2014/main" id="{7933885C-A96F-40F6-BDF9-D62C8DDBAFB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完整逐页来源与讲稿另附可检索文档。论文版本、训练快照与开源默认评测分别记录。</a:t>
            </a:r>
          </a:p>
        </p:txBody>
      </p:sp>
      <p:sp>
        <p:nvSpPr>
          <p:cNvPr id="12" name="page-number">
            <a:extLst>
              <a:ext uri="{FF2B5EF4-FFF2-40B4-BE49-F238E27FC236}">
                <a16:creationId xmlns:a16="http://schemas.microsoft.com/office/drawing/2014/main" id="{4A141FD4-6195-414A-B653-5D1BA340C899}"/>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30</a:t>
            </a:r>
          </a:p>
        </p:txBody>
      </p:sp>
    </p:spTree>
    <p:extLst>
      <p:ext uri="{BB962C8B-B14F-4D97-AF65-F5344CB8AC3E}">
        <p14:creationId xmlns:p14="http://schemas.microsoft.com/office/powerpoint/2010/main" val="12971484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11897</Words>
  <Application>Microsoft Office PowerPoint</Application>
  <DocSecurity>0</DocSecurity>
  <PresentationFormat>宽屏</PresentationFormat>
  <Paragraphs>828</Paragraphs>
  <Slides>30</Slides>
  <Notes>30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30</vt:i4>
      </vt:variant>
    </vt:vector>
  </HeadingPairs>
  <TitlesOfParts>
    <vt:vector size="33" baseType="lpstr">
      <vt:lpstr>Aptos</vt:lpstr>
      <vt:lpstr>Microsoft YaHei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cp:lastModifiedBy>
  <cp:revision>1</cp:revision>
  <dcterms:created xsi:type="dcterms:W3CDTF">2026-10-13T07:59:22Z</dcterms:created>
  <dcterms:modified xsi:type="dcterms:W3CDTF">2026-10-13T08:06:18Z</dcterms:modified>
</cp:coreProperties>
</file>