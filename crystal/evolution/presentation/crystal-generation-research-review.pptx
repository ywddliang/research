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1.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2.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slides/charts/chart3.xml" ContentType="application/vnd.openxmlformats-officedocument.drawingml.chart+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59e941de1f314fca" /><Relationship Type="http://schemas.openxmlformats.org/officeDocument/2006/relationships/extended-properties" Target="/docProps/app.xml" Id="Rc8fc21a3d4c741f0" /><Relationship Type="http://schemas.openxmlformats.org/officeDocument/2006/relationships/officeDocument" Target="/ppt/presentation.xml" Id="R0ac39c50af99427d" /></Relationships>
</file>

<file path=ppt/presentation.xml><?xml version="1.0" encoding="utf-8"?>
<p:presentation xmlns:p="http://schemas.openxmlformats.org/presentationml/2006/main">
  <p:sldMasterIdLst>
    <p:sldMasterId xmlns:r="http://schemas.openxmlformats.org/officeDocument/2006/relationships" id="2147483648" r:id="R56160be82edf4fa4"/>
  </p:sldMasterIdLst>
  <p:notesMasterIdLst>
    <p:notesMasterId xmlns:r="http://schemas.openxmlformats.org/officeDocument/2006/relationships" r:id="Rab5a44074b3e4033"/>
  </p:notesMasterIdLst>
  <p:sldIdLst>
    <p:sldId xmlns:r="http://schemas.openxmlformats.org/officeDocument/2006/relationships" id="256" r:id="Rab0f12634f4a4524"/>
    <p:sldId xmlns:r="http://schemas.openxmlformats.org/officeDocument/2006/relationships" id="257" r:id="R497766d4a34d4b49"/>
    <p:sldId xmlns:r="http://schemas.openxmlformats.org/officeDocument/2006/relationships" id="258" r:id="R1feff04b2bb841a0"/>
    <p:sldId xmlns:r="http://schemas.openxmlformats.org/officeDocument/2006/relationships" id="259" r:id="Rc1f5c5072bbd43b2"/>
    <p:sldId xmlns:r="http://schemas.openxmlformats.org/officeDocument/2006/relationships" id="260" r:id="R1bfb505daaa4434f"/>
    <p:sldId xmlns:r="http://schemas.openxmlformats.org/officeDocument/2006/relationships" id="261" r:id="R37ff5fd2fb1044a3"/>
    <p:sldId xmlns:r="http://schemas.openxmlformats.org/officeDocument/2006/relationships" id="262" r:id="R2d29850a37504bbd"/>
    <p:sldId xmlns:r="http://schemas.openxmlformats.org/officeDocument/2006/relationships" id="263" r:id="Rb42ca3ea09db4eeb"/>
    <p:sldId xmlns:r="http://schemas.openxmlformats.org/officeDocument/2006/relationships" id="264" r:id="R83217339c94a4789"/>
    <p:sldId xmlns:r="http://schemas.openxmlformats.org/officeDocument/2006/relationships" id="265" r:id="R730df8c42142448e"/>
    <p:sldId xmlns:r="http://schemas.openxmlformats.org/officeDocument/2006/relationships" id="266" r:id="Rf014b4426b5144e7"/>
    <p:sldId xmlns:r="http://schemas.openxmlformats.org/officeDocument/2006/relationships" id="267" r:id="Rc24fed9a733c40d6"/>
    <p:sldId xmlns:r="http://schemas.openxmlformats.org/officeDocument/2006/relationships" id="268" r:id="R9ae2d483569c494a"/>
    <p:sldId xmlns:r="http://schemas.openxmlformats.org/officeDocument/2006/relationships" id="269" r:id="R3ae224cca573439c"/>
    <p:sldId xmlns:r="http://schemas.openxmlformats.org/officeDocument/2006/relationships" id="270" r:id="R9f4916b1f60d49e8"/>
    <p:sldId xmlns:r="http://schemas.openxmlformats.org/officeDocument/2006/relationships" id="271" r:id="R8c3a67e9bd7f4967"/>
    <p:sldId xmlns:r="http://schemas.openxmlformats.org/officeDocument/2006/relationships" id="272" r:id="Ra6f1ae6c88fe4b96"/>
    <p:sldId xmlns:r="http://schemas.openxmlformats.org/officeDocument/2006/relationships" id="273" r:id="Rbb630c5e23064802"/>
    <p:sldId xmlns:r="http://schemas.openxmlformats.org/officeDocument/2006/relationships" id="274" r:id="Reb971e8f42a34cc1"/>
    <p:sldId xmlns:r="http://schemas.openxmlformats.org/officeDocument/2006/relationships" id="275" r:id="R34c453108daf4f4c"/>
    <p:sldId xmlns:r="http://schemas.openxmlformats.org/officeDocument/2006/relationships" id="276" r:id="Rbf3008085a9d4ed6"/>
    <p:sldId xmlns:r="http://schemas.openxmlformats.org/officeDocument/2006/relationships" id="277" r:id="R194e2473ae5f472a"/>
    <p:sldId xmlns:r="http://schemas.openxmlformats.org/officeDocument/2006/relationships" id="278" r:id="R4afdb9c42ca049cb"/>
    <p:sldId xmlns:r="http://schemas.openxmlformats.org/officeDocument/2006/relationships" id="279" r:id="R631fe2c71c874ee2"/>
    <p:sldId xmlns:r="http://schemas.openxmlformats.org/officeDocument/2006/relationships" id="280" r:id="Rfe4b8bcd03a54173"/>
    <p:sldId xmlns:r="http://schemas.openxmlformats.org/officeDocument/2006/relationships" id="281" r:id="Raaf5860313bc4e7e"/>
    <p:sldId xmlns:r="http://schemas.openxmlformats.org/officeDocument/2006/relationships" id="282" r:id="R5f365971cd2b4dfa"/>
    <p:sldId xmlns:r="http://schemas.openxmlformats.org/officeDocument/2006/relationships" id="283" r:id="Rc6e9f7d10b314ce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cf7208cc2324086" /><Relationship Type="http://schemas.openxmlformats.org/officeDocument/2006/relationships/slideMaster" Target="/ppt/slideMasters/slideMaster1.xml" Id="R56160be82edf4fa4" /><Relationship Type="http://schemas.openxmlformats.org/officeDocument/2006/relationships/notesMaster" Target="/ppt/notesMasters/notesMaster1.xml" Id="Rab5a44074b3e4033" /><Relationship Type="http://schemas.openxmlformats.org/officeDocument/2006/relationships/presProps" Target="/ppt/presProps.xml" Id="R1cb081baf89b4193" /><Relationship Type="http://schemas.openxmlformats.org/officeDocument/2006/relationships/tableStyles" Target="/ppt/tableStyles.xml" Id="R4cb5727757dc4ca1" /><Relationship Type="http://schemas.openxmlformats.org/officeDocument/2006/relationships/slide" Target="/ppt/slides/slide1.xml" Id="Rab0f12634f4a4524" /><Relationship Type="http://schemas.openxmlformats.org/officeDocument/2006/relationships/slide" Target="/ppt/slides/slide2.xml" Id="R497766d4a34d4b49" /><Relationship Type="http://schemas.openxmlformats.org/officeDocument/2006/relationships/slide" Target="/ppt/slides/slide3.xml" Id="R1feff04b2bb841a0" /><Relationship Type="http://schemas.openxmlformats.org/officeDocument/2006/relationships/slide" Target="/ppt/slides/slide4.xml" Id="Rc1f5c5072bbd43b2" /><Relationship Type="http://schemas.openxmlformats.org/officeDocument/2006/relationships/slide" Target="/ppt/slides/slide5.xml" Id="R1bfb505daaa4434f" /><Relationship Type="http://schemas.openxmlformats.org/officeDocument/2006/relationships/slide" Target="/ppt/slides/slide6.xml" Id="R37ff5fd2fb1044a3" /><Relationship Type="http://schemas.openxmlformats.org/officeDocument/2006/relationships/slide" Target="/ppt/slides/slide7.xml" Id="R2d29850a37504bbd" /><Relationship Type="http://schemas.openxmlformats.org/officeDocument/2006/relationships/slide" Target="/ppt/slides/slide8.xml" Id="Rb42ca3ea09db4eeb" /><Relationship Type="http://schemas.openxmlformats.org/officeDocument/2006/relationships/slide" Target="/ppt/slides/slide9.xml" Id="R83217339c94a4789" /><Relationship Type="http://schemas.openxmlformats.org/officeDocument/2006/relationships/slide" Target="/ppt/slides/slide10.xml" Id="R730df8c42142448e" /><Relationship Type="http://schemas.openxmlformats.org/officeDocument/2006/relationships/slide" Target="/ppt/slides/slide11.xml" Id="Rf014b4426b5144e7" /><Relationship Type="http://schemas.openxmlformats.org/officeDocument/2006/relationships/slide" Target="/ppt/slides/slide12.xml" Id="Rc24fed9a733c40d6" /><Relationship Type="http://schemas.openxmlformats.org/officeDocument/2006/relationships/slide" Target="/ppt/slides/slide13.xml" Id="R9ae2d483569c494a" /><Relationship Type="http://schemas.openxmlformats.org/officeDocument/2006/relationships/slide" Target="/ppt/slides/slide14.xml" Id="R3ae224cca573439c" /><Relationship Type="http://schemas.openxmlformats.org/officeDocument/2006/relationships/slide" Target="/ppt/slides/slide15.xml" Id="R9f4916b1f60d49e8" /><Relationship Type="http://schemas.openxmlformats.org/officeDocument/2006/relationships/slide" Target="/ppt/slides/slide16.xml" Id="R8c3a67e9bd7f4967" /><Relationship Type="http://schemas.openxmlformats.org/officeDocument/2006/relationships/slide" Target="/ppt/slides/slide17.xml" Id="Ra6f1ae6c88fe4b96" /><Relationship Type="http://schemas.openxmlformats.org/officeDocument/2006/relationships/slide" Target="/ppt/slides/slide18.xml" Id="Rbb630c5e23064802" /><Relationship Type="http://schemas.openxmlformats.org/officeDocument/2006/relationships/slide" Target="/ppt/slides/slide19.xml" Id="Reb971e8f42a34cc1" /><Relationship Type="http://schemas.openxmlformats.org/officeDocument/2006/relationships/slide" Target="/ppt/slides/slide20.xml" Id="R34c453108daf4f4c" /><Relationship Type="http://schemas.openxmlformats.org/officeDocument/2006/relationships/slide" Target="/ppt/slides/slide21.xml" Id="Rbf3008085a9d4ed6" /><Relationship Type="http://schemas.openxmlformats.org/officeDocument/2006/relationships/slide" Target="/ppt/slides/slide22.xml" Id="R194e2473ae5f472a" /><Relationship Type="http://schemas.openxmlformats.org/officeDocument/2006/relationships/slide" Target="/ppt/slides/slide23.xml" Id="R4afdb9c42ca049cb" /><Relationship Type="http://schemas.openxmlformats.org/officeDocument/2006/relationships/slide" Target="/ppt/slides/slide24.xml" Id="R631fe2c71c874ee2" /><Relationship Type="http://schemas.openxmlformats.org/officeDocument/2006/relationships/slide" Target="/ppt/slides/slide25.xml" Id="Rfe4b8bcd03a54173" /><Relationship Type="http://schemas.openxmlformats.org/officeDocument/2006/relationships/slide" Target="/ppt/slides/slide26.xml" Id="Raaf5860313bc4e7e" /><Relationship Type="http://schemas.openxmlformats.org/officeDocument/2006/relationships/slide" Target="/ppt/slides/slide27.xml" Id="R5f365971cd2b4dfa" /><Relationship Type="http://schemas.openxmlformats.org/officeDocument/2006/relationships/slide" Target="/ppt/slides/slide28.xml" Id="Rc6e9f7d10b314ce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f95945ef8dd4dd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8ea6e4d6c614b37" /><Relationship Type="http://schemas.openxmlformats.org/officeDocument/2006/relationships/notesMaster" Target="/ppt/notesMasters/notesMaster1.xml" Id="R2f511b21831c4e76" /></Relationships>
</file>

<file path=ppt/notesSlides/_rels/notesSlide2.xml.rels>&#65279;<?xml version="1.0" encoding="utf-8"?><Relationships xmlns="http://schemas.openxmlformats.org/package/2006/relationships"><Relationship Type="http://schemas.openxmlformats.org/officeDocument/2006/relationships/slide" Target="/ppt/slides/slide2.xml" Id="R18a68cb7f04046ea" /><Relationship Type="http://schemas.openxmlformats.org/officeDocument/2006/relationships/notesMaster" Target="/ppt/notesMasters/notesMaster1.xml" Id="Rf09d4e5a78f145c9" /></Relationships>
</file>

<file path=ppt/notesSlides/_rels/notesSlide3.xml.rels>&#65279;<?xml version="1.0" encoding="utf-8"?><Relationships xmlns="http://schemas.openxmlformats.org/package/2006/relationships"><Relationship Type="http://schemas.openxmlformats.org/officeDocument/2006/relationships/slide" Target="/ppt/slides/slide3.xml" Id="R8c14705b30364db2" /><Relationship Type="http://schemas.openxmlformats.org/officeDocument/2006/relationships/notesMaster" Target="/ppt/notesMasters/notesMaster1.xml" Id="R69c2f30d386d4643" /></Relationships>
</file>

<file path=ppt/notesSlides/_rels/notesSlide4.xml.rels>&#65279;<?xml version="1.0" encoding="utf-8"?><Relationships xmlns="http://schemas.openxmlformats.org/package/2006/relationships"><Relationship Type="http://schemas.openxmlformats.org/officeDocument/2006/relationships/slide" Target="/ppt/slides/slide4.xml" Id="R8d2324bd1e21458c" /><Relationship Type="http://schemas.openxmlformats.org/officeDocument/2006/relationships/notesMaster" Target="/ppt/notesMasters/notesMaster1.xml" Id="Rcbc54e6eef964441" /></Relationships>
</file>

<file path=ppt/notesSlides/_rels/notesSlide5.xml.rels>&#65279;<?xml version="1.0" encoding="utf-8"?><Relationships xmlns="http://schemas.openxmlformats.org/package/2006/relationships"><Relationship Type="http://schemas.openxmlformats.org/officeDocument/2006/relationships/slide" Target="/ppt/slides/slide5.xml" Id="R3a056e182851444b" /><Relationship Type="http://schemas.openxmlformats.org/officeDocument/2006/relationships/notesMaster" Target="/ppt/notesMasters/notesMaster1.xml" Id="R0e45ec3e840d49a9" /></Relationships>
</file>

<file path=ppt/notesSlides/_rels/notesSlide6.xml.rels>&#65279;<?xml version="1.0" encoding="utf-8"?><Relationships xmlns="http://schemas.openxmlformats.org/package/2006/relationships"><Relationship Type="http://schemas.openxmlformats.org/officeDocument/2006/relationships/slide" Target="/ppt/slides/slide6.xml" Id="Rda6ebaff5ba04faa" /><Relationship Type="http://schemas.openxmlformats.org/officeDocument/2006/relationships/notesMaster" Target="/ppt/notesMasters/notesMaster1.xml" Id="Rd2283e9eb55348e7" /></Relationships>
</file>

<file path=ppt/notesSlides/_rels/notesSlide7.xml.rels>&#65279;<?xml version="1.0" encoding="utf-8"?><Relationships xmlns="http://schemas.openxmlformats.org/package/2006/relationships"><Relationship Type="http://schemas.openxmlformats.org/officeDocument/2006/relationships/slide" Target="/ppt/slides/slide7.xml" Id="Ree412bfa74314796" /><Relationship Type="http://schemas.openxmlformats.org/officeDocument/2006/relationships/notesMaster" Target="/ppt/notesMasters/notesMaster1.xml" Id="Rd7ffb0c0bb8e4a92" /></Relationships>
</file>

<file path=ppt/notesSlides/_rels/notesSlide8.xml.rels>&#65279;<?xml version="1.0" encoding="utf-8"?><Relationships xmlns="http://schemas.openxmlformats.org/package/2006/relationships"><Relationship Type="http://schemas.openxmlformats.org/officeDocument/2006/relationships/slide" Target="/ppt/slides/slide8.xml" Id="Rf022f93860c04653" /><Relationship Type="http://schemas.openxmlformats.org/officeDocument/2006/relationships/notesMaster" Target="/ppt/notesMasters/notesMaster1.xml" Id="R391ace8e39bc4540" /></Relationships>
</file>

<file path=ppt/notesSlides/_rels/notesSlide9.xml.rels>&#65279;<?xml version="1.0" encoding="utf-8"?><Relationships xmlns="http://schemas.openxmlformats.org/package/2006/relationships"><Relationship Type="http://schemas.openxmlformats.org/officeDocument/2006/relationships/slide" Target="/ppt/slides/slide9.xml" Id="Rb6f051ffb45b46be" /><Relationship Type="http://schemas.openxmlformats.org/officeDocument/2006/relationships/notesMaster" Target="/ppt/notesMasters/notesMaster1.xml" Id="R8cad49cd9a36435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56cae3acf62486b" /><Relationship Type="http://schemas.openxmlformats.org/officeDocument/2006/relationships/notesMaster" Target="/ppt/notesMasters/notesMaster1.xml" Id="Re68394dbf5b5499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b10603a6e8a4005" /><Relationship Type="http://schemas.openxmlformats.org/officeDocument/2006/relationships/notesMaster" Target="/ppt/notesMasters/notesMaster1.xml" Id="Rc4e67e5b92d044a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f7008aeb5a94406" /><Relationship Type="http://schemas.openxmlformats.org/officeDocument/2006/relationships/notesMaster" Target="/ppt/notesMasters/notesMaster1.xml" Id="Rb2f79841e25941b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5973a1deedf4268" /><Relationship Type="http://schemas.openxmlformats.org/officeDocument/2006/relationships/notesMaster" Target="/ppt/notesMasters/notesMaster1.xml" Id="R46b0dbabeb0742e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b781b4fa4534bcf" /><Relationship Type="http://schemas.openxmlformats.org/officeDocument/2006/relationships/notesMaster" Target="/ppt/notesMasters/notesMaster1.xml" Id="Rc5ed641a6b364d4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d6d81de071854fa1" /><Relationship Type="http://schemas.openxmlformats.org/officeDocument/2006/relationships/notesMaster" Target="/ppt/notesMasters/notesMaster1.xml" Id="R849a7bac098d445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bb5b0faaa5f4791" /><Relationship Type="http://schemas.openxmlformats.org/officeDocument/2006/relationships/notesMaster" Target="/ppt/notesMasters/notesMaster1.xml" Id="R2e72ae29bb53410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c5ae49115cc449e" /><Relationship Type="http://schemas.openxmlformats.org/officeDocument/2006/relationships/notesMaster" Target="/ppt/notesMasters/notesMaster1.xml" Id="R97d868d9b278436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1d2e5a7453a489e" /><Relationship Type="http://schemas.openxmlformats.org/officeDocument/2006/relationships/notesMaster" Target="/ppt/notesMasters/notesMaster1.xml" Id="R9d3bc8c3c1b645a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99977ce2c774f00" /><Relationship Type="http://schemas.openxmlformats.org/officeDocument/2006/relationships/notesMaster" Target="/ppt/notesMasters/notesMaster1.xml" Id="R69610e42c3e54a30"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ec5f800a3fc948de" /><Relationship Type="http://schemas.openxmlformats.org/officeDocument/2006/relationships/notesMaster" Target="/ppt/notesMasters/notesMaster1.xml" Id="Rb4ac5f27564649f5"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2e0c7ec999c4b13" /><Relationship Type="http://schemas.openxmlformats.org/officeDocument/2006/relationships/notesMaster" Target="/ppt/notesMasters/notesMaster1.xml" Id="R2b8259dd418f48a7"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1f7947b6af2f4ac9" /><Relationship Type="http://schemas.openxmlformats.org/officeDocument/2006/relationships/notesMaster" Target="/ppt/notesMasters/notesMaster1.xml" Id="R6ec296d5299c4876"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2f9a351ca05044ae" /><Relationship Type="http://schemas.openxmlformats.org/officeDocument/2006/relationships/notesMaster" Target="/ppt/notesMasters/notesMaster1.xml" Id="R701591dcf425426f"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d9c0448745840e1" /><Relationship Type="http://schemas.openxmlformats.org/officeDocument/2006/relationships/notesMaster" Target="/ppt/notesMasters/notesMaster1.xml" Id="Rf99c9bad57cc4bbf"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29830809fdb04e82" /><Relationship Type="http://schemas.openxmlformats.org/officeDocument/2006/relationships/notesMaster" Target="/ppt/notesMasters/notesMaster1.xml" Id="Rfbed4b486f5f47e2"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abb3d8a3067447d9" /><Relationship Type="http://schemas.openxmlformats.org/officeDocument/2006/relationships/notesMaster" Target="/ppt/notesMasters/notesMaster1.xml" Id="R727422de66c94b17"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934f723a92994218" /><Relationship Type="http://schemas.openxmlformats.org/officeDocument/2006/relationships/notesMaster" Target="/ppt/notesMasters/notesMaster1.xml" Id="R022ed051c85a4faf"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b00b27f56b6d4550" /><Relationship Type="http://schemas.openxmlformats.org/officeDocument/2006/relationships/notesMaster" Target="/ppt/notesMasters/notesMaster1.xml" Id="Rf6cdf952a84341f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本报告根据已完成的晶体生成综述组织。综述收录57项工作，主要讨论2025至2026年的进展，早期方法仅用于解释问题来源。四个方向属于研究议程，尚无对应的新算法实验结果。</a:t>
            </a:r>
          </a:p>
          <a:p xmlns:a="http://schemas.openxmlformats.org/drawingml/2006/main">
            <a:r>
              <a:t/>
            </a:r>
          </a:p>
          <a:p xmlns:a="http://schemas.openxmlformats.org/drawingml/2006/main">
            <a:r>
              <a:t>参考文献</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项目主目标为严格SUN。S采用E_hull≤0，单位eV/atom。U为生成集合内去重，N相对于声明的参考结构集合。稳定性评价应明确能量理论水平和参考相集合。熟悉结构框架中的新稳定化学也可以构成发现。</a:t>
            </a:r>
          </a:p>
          <a:p xmlns:a="http://schemas.openxmlformats.org/drawingml/2006/main">
            <a:r>
              <a:t/>
            </a:r>
          </a:p>
          <a:p xmlns:a="http://schemas.openxmlformats.org/drawingml/2006/main">
            <a:r>
              <a:t>参考文献</a:t>
            </a:r>
          </a:p>
          <a:p xmlns:a="http://schemas.openxmlformats.org/drawingml/2006/main">
            <a:r>
              <a:t/>
            </a:r>
          </a:p>
          <a:p xmlns:a="http://schemas.openxmlformats.org/drawingml/2006/main">
            <a:r>
              <a:t>[R04] Anubhav Jain, Shyue Ping Ong, Geoffroy Hautier, Wei Chen, William Davidson Richards, Stephen Dacek, Shreyas Cholia, Dan Gunter, David Skinner, Gerbrand Ceder, Kristin A. Persson. Commentary: The Materials Project: A materials genome approach to accelerating materials innovation. APL Materials 1, 011002 (2013). DOI: 10.1063/1.4812323. https://doi.org/10.1063/1.4812323</a:t>
            </a:r>
          </a:p>
          <a:p xmlns:a="http://schemas.openxmlformats.org/drawingml/2006/main">
            <a:r>
              <a:t/>
            </a:r>
          </a:p>
          <a:p xmlns:a="http://schemas.openxmlformats.org/drawingml/2006/main">
            <a:r>
              <a:t>[R18] Amil Merchant, Simon Batzner, Samuel S. Schoenholz, Muratahan Aykol, Gowoon Cheon, Ekin Dogus Cubuk. Scaling deep learning for materials discovery. Nature 2023. DOI: 10.1038/s41586-023-06735-9. https://www.nature.com/articles/s41586-023-06735-9</a:t>
            </a:r>
          </a:p>
          <a:p xmlns:a="http://schemas.openxmlformats.org/drawingml/2006/main">
            <a:r>
              <a:t/>
            </a:r>
          </a:p>
          <a:p xmlns:a="http://schemas.openxmlformats.org/drawingml/2006/main">
            <a:r>
              <a:t>[R19] Claudio Zeni, Robert Pinsler, Daniel Zügner, Andrew Fowler, Matthew Horton, Xiang Fu, Zilong Wang, Aliaksandra Shysheya, Jonathan Crabbé, Shoko Ueda, Roberto Sordillo, Lixin Sun, Jake Smith, Bichlien Nguyen, Hannes Schulz, Sarah Lewis, Chin-Wei Huang, Ziheng Lu, Yichi Zhou, Han Yang, Hongxia Hao, Jielan Li, Chunlei Yang, Wenjie Li, Ryota Tomioka, Tian Xie. A generative model for inorganic materials design. Nature 2025. DOI: 10.1038/s41586-025-08628-5. https://www.nature.com/articles/s41586-025-08628-5</a:t>
            </a:r>
          </a:p>
          <a:p xmlns:a="http://schemas.openxmlformats.org/drawingml/2006/main">
            <a:r>
              <a:t/>
            </a:r>
          </a:p>
          <a:p xmlns:a="http://schemas.openxmlformats.org/drawingml/2006/main">
            <a:r>
              <a:t>[R31] Nathan J. Szymanski, Christopher J. Bartel. Establishing baselines for generative discovery of inorganic crystals. Materials Horizons 2025. DOI: 10.1039/D5MH00010F. https://pubs.rsc.org/en/content/articlehtml/2025/mh/d5mh00010f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CSP = crystal structure prediction。DNG = de novo generation。本表按任务输入区分，不把单参考匹配率直接当作稳定新材料发现率。条件生成可与CSP或DNG交叠。</a:t>
            </a:r>
          </a:p>
          <a:p xmlns:a="http://schemas.openxmlformats.org/drawingml/2006/main">
            <a:r>
              <a:t/>
            </a:r>
          </a:p>
          <a:p xmlns:a="http://schemas.openxmlformats.org/drawingml/2006/main">
            <a:r>
              <a:t>参考文献</a:t>
            </a:r>
          </a:p>
          <a:p xmlns:a="http://schemas.openxmlformats.org/drawingml/2006/main">
            <a:r>
              <a:t/>
            </a:r>
          </a:p>
          <a:p xmlns:a="http://schemas.openxmlformats.org/drawingml/2006/main">
            <a:r>
              <a:t>[R08] Tian Xie, Xiang Fu, Octavian-Eugen Ganea, Regina Barzilay, Tommi Jaakkola. Crystal Diffusion Variational Autoencoder for Periodic Material Generation. ICLR 2022. https://arxiv.org/abs/2110.06197</a:t>
            </a:r>
          </a:p>
          <a:p xmlns:a="http://schemas.openxmlformats.org/drawingml/2006/main">
            <a:r>
              <a:t/>
            </a:r>
          </a:p>
          <a:p xmlns:a="http://schemas.openxmlformats.org/drawingml/2006/main">
            <a:r>
              <a:t>[R13] Rui Jiao, Wenbing Huang, Peijia Lin, Jiaqi Han, Pin Chen, Yutong Lu, Yang Liu. Crystal Structure Prediction by Joint Equivariant Diffusion. NeurIPS 2023. https://arxiv.org/abs/2309.04475</a:t>
            </a:r>
          </a:p>
          <a:p xmlns:a="http://schemas.openxmlformats.org/drawingml/2006/main">
            <a:r>
              <a:t/>
            </a:r>
          </a:p>
          <a:p xmlns:a="http://schemas.openxmlformats.org/drawingml/2006/main">
            <a:r>
              <a:t>[R19] Claudio Zeni, Robert Pinsler, Daniel Zügner, Andrew Fowler, Matthew Horton, Xiang Fu, Zilong Wang, Aliaksandra Shysheya, Jonathan Crabbé, Shoko Ueda, Roberto Sordillo, Lixin Sun, Jake Smith, Bichlien Nguyen, Hannes Schulz, Sarah Lewis, Chin-Wei Huang, Ziheng Lu, Yichi Zhou, Han Yang, Hongxia Hao, Jielan Li, Chunlei Yang, Wenjie Li, Ryota Tomioka, Tian Xie. A generative model for inorganic materials design. Nature 2025. DOI: 10.1038/s41586-025-08628-5. https://www.nature.com/articles/s41586-025-08628-5</a:t>
            </a:r>
          </a:p>
          <a:p xmlns:a="http://schemas.openxmlformats.org/drawingml/2006/main">
            <a:r>
              <a:t/>
            </a:r>
          </a:p>
          <a:p xmlns:a="http://schemas.openxmlformats.org/drawingml/2006/main">
            <a:r>
              <a:t>[R42] Martirossyan, Maya M., Egg, Thomas, Hoellmer, Philipp, Karypis, George, Transtrum, Mark, Roitberg, Adrian, Liu, Mingjie, Hennig, Richard G., Tadmor, Ellad B., Martiniani, Stefano. All that structure matches does not glitter. NeurIPS Datasets and Benchmarks 2025. https://arxiv.org/html/2509.12178v2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本页是能力演化的综合，不表示每一方法直接继承上一列。正式日期与首稿日期在完整文献年表中分别记录。SI、diffusion和flow存在数学联系，LLM可与连续生成模型结合。</a:t>
            </a:r>
          </a:p>
          <a:p xmlns:a="http://schemas.openxmlformats.org/drawingml/2006/main">
            <a:r>
              <a:t/>
            </a:r>
          </a:p>
          <a:p xmlns:a="http://schemas.openxmlformats.org/drawingml/2006/main">
            <a:r>
              <a:t>参考文献</a:t>
            </a:r>
          </a:p>
          <a:p xmlns:a="http://schemas.openxmlformats.org/drawingml/2006/main">
            <a:r>
              <a:t/>
            </a:r>
          </a:p>
          <a:p xmlns:a="http://schemas.openxmlformats.org/drawingml/2006/main">
            <a:r>
              <a:t>[R01] Chris J. Pickard, R. J. Needs. High-Pressure Phases of Silane. Physical Review Letters 97, 045504. DOI: 10.1103/PhysRevLett.97.045504. https://journals.aps.org/prl/abstract/10.1103/PhysRevLett.97.045504</a:t>
            </a:r>
          </a:p>
          <a:p xmlns:a="http://schemas.openxmlformats.org/drawingml/2006/main">
            <a:r>
              <a:t/>
            </a:r>
          </a:p>
          <a:p xmlns:a="http://schemas.openxmlformats.org/drawingml/2006/main">
            <a:r>
              <a:t>[R02] Artem R. Oganov, Colin W. Glass. Crystal structure prediction using ab initio evolutionary techniques: Principles and applications. Journal of Chemical Physics 124, 244704 (2006). DOI: 10.1063/1.2210932. https://doi.org/10.1063/1.2210932</a:t>
            </a:r>
          </a:p>
          <a:p xmlns:a="http://schemas.openxmlformats.org/drawingml/2006/main">
            <a:r>
              <a:t/>
            </a:r>
          </a:p>
          <a:p xmlns:a="http://schemas.openxmlformats.org/drawingml/2006/main">
            <a:r>
              <a:t>[R06] Juhwan Noh, Jaehoon Kim, Helge S. Stein, Benjamin Sanchez-Lengeling, John M. Gregoire, Alan Aspuru-Guzik, Yousung Jung. Inverse Design of Solid-State Materials via a Continuous Representation. Matter 1(5), 1370–1384. DOI: 10.1016/j.matt.2019.08.017. https://doi.org/10.1016/j.matt.2019.08.017</a:t>
            </a:r>
          </a:p>
          <a:p xmlns:a="http://schemas.openxmlformats.org/drawingml/2006/main">
            <a:r>
              <a:t/>
            </a:r>
          </a:p>
          <a:p xmlns:a="http://schemas.openxmlformats.org/drawingml/2006/main">
            <a:r>
              <a:t>[R07] Zekun Ren, Siyu Isaac Parker Tian, Juhwan Noh, Felipe Oviedo, Guangzong Xing, Jiali Li, Qiaohao Liang, Ruiming Zhu, Armin G. Aberle, Shijing Sun, Xiaonan Wang, Yi Liu, Qianxiao Li, Senthilnath Jayavelu, Kedar Hippalgaonkar, Yousung Jung, Tonio Buonassisi. An invertible crystallographic representation for general inverse design of inorganic crystals with targeted properties. Matter 5, 314–335 2022. DOI: 10.1016/j.matt.2021.11.032. https://arxiv.org/pdf/2005.07609v3</a:t>
            </a:r>
          </a:p>
          <a:p xmlns:a="http://schemas.openxmlformats.org/drawingml/2006/main">
            <a:r>
              <a:t/>
            </a:r>
          </a:p>
          <a:p xmlns:a="http://schemas.openxmlformats.org/drawingml/2006/main">
            <a:r>
              <a:t>[R08] Tian Xie, Xiang Fu, Octavian-Eugen Ganea, Regina Barzilay, Tommi Jaakkola. Crystal Diffusion Variational Autoencoder for Periodic Material Generation. ICLR 2022. https://arxiv.org/abs/2110.06197</a:t>
            </a:r>
          </a:p>
          <a:p xmlns:a="http://schemas.openxmlformats.org/drawingml/2006/main">
            <a:r>
              <a:t/>
            </a:r>
          </a:p>
          <a:p xmlns:a="http://schemas.openxmlformats.org/drawingml/2006/main">
            <a:r>
              <a:t>[R13] Rui Jiao, Wenbing Huang, Peijia Lin, Jiaqi Han, Pin Chen, Yutong Lu, Yang Liu. Crystal Structure Prediction by Joint Equivariant Diffusion. NeurIPS 2023. https://arxiv.org/abs/2309.04475</a:t>
            </a:r>
          </a:p>
          <a:p xmlns:a="http://schemas.openxmlformats.org/drawingml/2006/main">
            <a:r>
              <a:t/>
            </a:r>
          </a:p>
          <a:p xmlns:a="http://schemas.openxmlformats.org/drawingml/2006/main">
            <a:r>
              <a:t>[R26] Miller, Benjamin Kurt, Chen, Ricky T. Q., Sriram, Anuroop, Wood, Brandon M. FlowMM: Generating Materials with Riemannian Flow Matching. ICML 2024, PMLR 235. https://proceedings.mlr.press/v235/miller24a.html</a:t>
            </a:r>
          </a:p>
          <a:p xmlns:a="http://schemas.openxmlformats.org/drawingml/2006/main">
            <a:r>
              <a:t/>
            </a:r>
          </a:p>
          <a:p xmlns:a="http://schemas.openxmlformats.org/drawingml/2006/main">
            <a:r>
              <a:t>[R34] Hoellmer, Philipp, Egg, Thomas, Martirossyan, Maya M., Fuemmeler, Eric, Shui, Zeren, Gupta, Amit, Prakash, Pawan, Roitberg, Adrian, Liu, Mingjie, Karypis, George, Transtrum, Mark, Hennig, Richard G., Tadmor, Ellad B., Martiniani, Stefano. Open Materials Generation with Stochastic Interpolants. ICML 2025, PMLR 267. https://proceedings.mlr.press/v267/hollmer25a.html</a:t>
            </a:r>
          </a:p>
          <a:p xmlns:a="http://schemas.openxmlformats.org/drawingml/2006/main">
            <a:r>
              <a:t/>
            </a:r>
          </a:p>
          <a:p xmlns:a="http://schemas.openxmlformats.org/drawingml/2006/main">
            <a:r>
              <a:t>[R35] Levy, Daniel, Panigrahi, Siba Smarak, Kaba, Sékou-Oumar, Zhu, Qiang, Lee, Kin Long Kelvin, Galkin, Mikhail, Miret, Santiago, Ravanbakhsh, Siamak. SymmCD: Symmetry-Preserving Crystal Generation with Diffusion Models. ICLR 2025. https://arxiv.org/abs/2502.03638</a:t>
            </a:r>
          </a:p>
          <a:p xmlns:a="http://schemas.openxmlformats.org/drawingml/2006/main">
            <a:r>
              <a:t/>
            </a:r>
          </a:p>
          <a:p xmlns:a="http://schemas.openxmlformats.org/drawingml/2006/main">
            <a:r>
              <a:t>[R43] Subhojyoti Khastagir, Kishalay Das, Pawan Goyal, Seung-Cheol Lee, Satadeep Bhattacharjee, Niloy Ganguly. LLM Meets Diffusion: A Hybrid Framework for Crystal Material Generation. NeurIPS 2025. DOI: 10.52202/085713-5635. https://proceedings.neurips.cc/paper_files/paper/2025/hash/f789a628fca473e922c806657512a20f-Abstract-Conference.html</a:t>
            </a:r>
          </a:p>
          <a:p xmlns:a="http://schemas.openxmlformats.org/drawingml/2006/main">
            <a:r>
              <a:t/>
            </a:r>
          </a:p>
          <a:p xmlns:a="http://schemas.openxmlformats.org/drawingml/2006/main">
            <a:r>
              <a:t>[R49] Kiyoung Seong, Sungsoo Ahn, Sehui Han, Changyoung Park. Multimodal Crystal Flow: Any-to-Any Modality Generation for Unified Crystal Modeling. ICML2026, PMLR306:109105–109131. https://proceedings.mlr.press/v306/seong26a.html</a:t>
            </a:r>
          </a:p>
          <a:p xmlns:a="http://schemas.openxmlformats.org/drawingml/2006/main">
            <a:r>
              <a:t/>
            </a:r>
          </a:p>
          <a:p xmlns:a="http://schemas.openxmlformats.org/drawingml/2006/main">
            <a:r>
              <a:t>[R19] Claudio Zeni, Robert Pinsler, Daniel Zügner, Andrew Fowler, Matthew Horton, Xiang Fu, Zilong Wang, Aliaksandra Shysheya, Jonathan Crabbé, Shoko Ueda, Roberto Sordillo, Lixin Sun, Jake Smith, Bichlien Nguyen, Hannes Schulz, Sarah Lewis, Chin-Wei Huang, Ziheng Lu, Yichi Zhou, Han Yang, Hongxia Hao, Jielan Li, Chunlei Yang, Wenjie Li, Ryota Tomioka, Tian Xie. A generative model for inorganic materials design. Nature 2025. DOI: 10.1038/s41586-025-08628-5. https://www.nature.com/articles/s41586-025-08628-5</a:t>
            </a:r>
          </a:p>
          <a:p xmlns:a="http://schemas.openxmlformats.org/drawingml/2006/main">
            <a:r>
              <a:t/>
            </a:r>
          </a:p>
          <a:p xmlns:a="http://schemas.openxmlformats.org/drawingml/2006/main">
            <a:r>
              <a:t>[R27] Ryotaro Okabe, Mouyang Cheng, Abhijatmedhi Chotrattanapituk, Manasi Mandal, Kiran Mak, Denisse Córdova Carrizales, Nguyen Tuan Hung, Xiang Fu, Bowen Han, Yao Wang, Weiwei Xie, Robert J. Cava, Tommi S. Jaakkola, Yongqiang Cheng, Mingda Li. Structural constraint integration in a generative model for the discovery of quantum materials. Nature Materials 25, 223–230 2026. DOI: 10.1038/s41563-025-02355-y. https://www.nature.com/articles/s41563-025-02355-y</a:t>
            </a:r>
          </a:p>
          <a:p xmlns:a="http://schemas.openxmlformats.org/drawingml/2006/main">
            <a:r>
              <a:t/>
            </a:r>
          </a:p>
          <a:p xmlns:a="http://schemas.openxmlformats.org/drawingml/2006/main">
            <a:r>
              <a:t>[R40] Xu, Andy, Desai, Rohan, Wang, Larry, Ritz, Ethan, Hope, Gabriel. PLaID++: A Preference Aligned Language Model for Targeted Inorganic Materials Design. ICML 2026. https://arxiv.org/html/2509.07150v4</a:t>
            </a:r>
          </a:p>
          <a:p xmlns:a="http://schemas.openxmlformats.org/drawingml/2006/main">
            <a:r>
              <a:t/>
            </a:r>
          </a:p>
          <a:p xmlns:a="http://schemas.openxmlformats.org/drawingml/2006/main">
            <a:r>
              <a:t>[R18] Amil Merchant, Simon Batzner, Samuel S. Schoenholz, Muratahan Aykol, Gowoon Cheon, Ekin Dogus Cubuk. Scaling deep learning for materials discovery. Nature 2023. DOI: 10.1038/s41586-023-06735-9. https://www.nature.com/articles/s41586-023-06735-9</a:t>
            </a:r>
          </a:p>
          <a:p xmlns:a="http://schemas.openxmlformats.org/drawingml/2006/main">
            <a:r>
              <a:t/>
            </a:r>
          </a:p>
          <a:p xmlns:a="http://schemas.openxmlformats.org/drawingml/2006/main">
            <a:r>
              <a:t>[R23] Marta Wolinska, Aron Walsh, Antoine Cully. Illuminating the property space in crystal structure prediction using Quality-Diversity algorithms. Digital Discovery 2024. DOI: 10.1039/D4DD00054D. https://arxiv.org/html/2403.03511v1</a:t>
            </a:r>
          </a:p>
          <a:p xmlns:a="http://schemas.openxmlformats.org/drawingml/2006/main">
            <a:r>
              <a:t/>
            </a:r>
          </a:p>
          <a:p xmlns:a="http://schemas.openxmlformats.org/drawingml/2006/main">
            <a:r>
              <a:t>[R48] Hoellmer, Philipp, Martiniani, Stefano. Open Materials Generation with Inference-Time Reinforcement Learning. ICML 2026. https://arxiv.org/html/2602.00424v2</a:t>
            </a:r>
          </a:p>
          <a:p xmlns:a="http://schemas.openxmlformats.org/drawingml/2006/main">
            <a:r>
              <a:t/>
            </a:r>
          </a:p>
          <a:p xmlns:a="http://schemas.openxmlformats.org/drawingml/2006/main">
            <a:r>
              <a:t>[R56] Hovmand, Emma Lei, Elsborg, Jonas, Kandemir, Melih, Bhowmik, Arghya. Let CSP Be Your ANCHOR: Adaptive Crystal Search over Frozen Structure Priors. arXiv 预印本 2026. https://arxiv.org/html/2609.33407v2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 = stochastic interpolants，随机插值。SI为流与扩散提供统一的路径建模方式。这里保留方法差异，不将其描述成依次淘汰的模型序列。</a:t>
            </a:r>
          </a:p>
          <a:p xmlns:a="http://schemas.openxmlformats.org/drawingml/2006/main">
            <a:r>
              <a:t/>
            </a:r>
          </a:p>
          <a:p xmlns:a="http://schemas.openxmlformats.org/drawingml/2006/main">
            <a:r>
              <a:t>参考文献</a:t>
            </a:r>
          </a:p>
          <a:p xmlns:a="http://schemas.openxmlformats.org/drawingml/2006/main">
            <a:r>
              <a:t/>
            </a:r>
          </a:p>
          <a:p xmlns:a="http://schemas.openxmlformats.org/drawingml/2006/main">
            <a:r>
              <a:t>[R08] Tian Xie, Xiang Fu, Octavian-Eugen Ganea, Regina Barzilay, Tommi Jaakkola. Crystal Diffusion Variational Autoencoder for Periodic Material Generation. ICLR 2022. https://arxiv.org/abs/2110.06197</a:t>
            </a:r>
          </a:p>
          <a:p xmlns:a="http://schemas.openxmlformats.org/drawingml/2006/main">
            <a:r>
              <a:t/>
            </a:r>
          </a:p>
          <a:p xmlns:a="http://schemas.openxmlformats.org/drawingml/2006/main">
            <a:r>
              <a:t>[R13] Rui Jiao, Wenbing Huang, Peijia Lin, Jiaqi Han, Pin Chen, Yutong Lu, Yang Liu. Crystal Structure Prediction by Joint Equivariant Diffusion. NeurIPS 2023. https://arxiv.org/abs/2309.04475</a:t>
            </a:r>
          </a:p>
          <a:p xmlns:a="http://schemas.openxmlformats.org/drawingml/2006/main">
            <a:r>
              <a:t/>
            </a:r>
          </a:p>
          <a:p xmlns:a="http://schemas.openxmlformats.org/drawingml/2006/main">
            <a:r>
              <a:t>[R26] Miller, Benjamin Kurt, Chen, Ricky T. Q., Sriram, Anuroop, Wood, Brandon M. FlowMM: Generating Materials with Riemannian Flow Matching. ICML 2024, PMLR 235. https://proceedings.mlr.press/v235/miller24a.html</a:t>
            </a:r>
          </a:p>
          <a:p xmlns:a="http://schemas.openxmlformats.org/drawingml/2006/main">
            <a:r>
              <a:t/>
            </a:r>
          </a:p>
          <a:p xmlns:a="http://schemas.openxmlformats.org/drawingml/2006/main">
            <a:r>
              <a:t>[R34] Hoellmer, Philipp, Egg, Thomas, Martirossyan, Maya M., Fuemmeler, Eric, Shui, Zeren, Gupta, Amit, Prakash, Pawan, Roitberg, Adrian, Liu, Mingjie, Karypis, George, Transtrum, Mark, Hennig, Richard G., Tadmor, Ellad B., Martiniani, Stefano. Open Materials Generation with Stochastic Interpolants. ICML 2025, PMLR 267. https://proceedings.mlr.press/v267/hollmer25a.html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SymmCD数字来自其新模板分析，使用10,000个候选。原文稳定性/SUN表现与基线总体相近，不能把模板数量差异解读成严格SUN倍数增长。SymmCD的空间群和轨道数来自数据分布采样。</a:t>
            </a:r>
          </a:p>
          <a:p xmlns:a="http://schemas.openxmlformats.org/drawingml/2006/main">
            <a:r>
              <a:t/>
            </a:r>
          </a:p>
          <a:p xmlns:a="http://schemas.openxmlformats.org/drawingml/2006/main">
            <a:r>
              <a:t>参考文献</a:t>
            </a:r>
          </a:p>
          <a:p xmlns:a="http://schemas.openxmlformats.org/drawingml/2006/main">
            <a:r>
              <a:t/>
            </a:r>
          </a:p>
          <a:p xmlns:a="http://schemas.openxmlformats.org/drawingml/2006/main">
            <a:r>
              <a:t>[R22] Jiao, Rui, Huang, Wenbing, Liu, Yu, Zhao, Deli, Liu, Yang. Space Group Constrained Crystal Generation. ICLR 2024. https://arxiv.org/abs/2402.03992</a:t>
            </a:r>
          </a:p>
          <a:p xmlns:a="http://schemas.openxmlformats.org/drawingml/2006/main">
            <a:r>
              <a:t/>
            </a:r>
          </a:p>
          <a:p xmlns:a="http://schemas.openxmlformats.org/drawingml/2006/main">
            <a:r>
              <a:t>[R25] Zhendong Cao, Xiaoshan Luo, Jian Lv, Lei Wang. Space group informed transformer for crystalline materials generation. Science Bulletin 70, 3522–3533 2025. DOI: 10.1016/j.scib.2025.09.035. https://arxiv.org/abs/2403.15734</a:t>
            </a:r>
          </a:p>
          <a:p xmlns:a="http://schemas.openxmlformats.org/drawingml/2006/main">
            <a:r>
              <a:t/>
            </a:r>
          </a:p>
          <a:p xmlns:a="http://schemas.openxmlformats.org/drawingml/2006/main">
            <a:r>
              <a:t>[R35] Levy, Daniel, Panigrahi, Siba Smarak, Kaba, Sékou-Oumar, Zhu, Qiang, Lee, Kin Long Kelvin, Galkin, Mikhail, Miret, Santiago, Ravanbakhsh, Siamak. SymmCD: Symmetry-Preserving Crystal Generation with Diffusion Models. ICLR 2025. https://arxiv.org/abs/2502.03638</a:t>
            </a:r>
          </a:p>
          <a:p xmlns:a="http://schemas.openxmlformats.org/drawingml/2006/main">
            <a:r>
              <a:t/>
            </a:r>
          </a:p>
          <a:p xmlns:a="http://schemas.openxmlformats.org/drawingml/2006/main">
            <a:r>
              <a:t>[R36] Kelvinius, Filip Ekström, Andersson, Oskar B., Parackal, Abhijith S., Qian, Dong, Armiento, Rickard, Lindsten, Fredrik. WyckoffDiff – A Generative Diffusion Model for Crystal Symmetry. ICML 2025, PMLR 267. https://proceedings.mlr.press/v267/ekstrom-kelvinius25a.html</a:t>
            </a:r>
          </a:p>
          <a:p xmlns:a="http://schemas.openxmlformats.org/drawingml/2006/main">
            <a:r>
              <a:t/>
            </a:r>
          </a:p>
          <a:p xmlns:a="http://schemas.openxmlformats.org/drawingml/2006/main">
            <a:r>
              <a:t>[R38] Kazeev, Nikita, Nong, Wei, Romanov, Ignat, Zhu, Ruiming, Ustyuzhanin, Andrey, Yamazaki, Shuya, Hippalgaonkar, Kedar. Wyckoff Transformer: Generation of Symmetric Crystals. ICML 2025, PMLR 267, 29495–29526. https://arxiv.org/abs/2503.02407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FlowLLM与CrysLLMGen已有实际生成增益。前者报告DFT-SUN 4.92%，后者报告CHGNet-SUN 9.21%，评价器不同，因此本页不对数值排序。混合模型的价值不能仅用是否采用LLM判断。</a:t>
            </a:r>
          </a:p>
          <a:p xmlns:a="http://schemas.openxmlformats.org/drawingml/2006/main">
            <a:r>
              <a:t/>
            </a:r>
          </a:p>
          <a:p xmlns:a="http://schemas.openxmlformats.org/drawingml/2006/main">
            <a:r>
              <a:t>参考文献</a:t>
            </a:r>
          </a:p>
          <a:p xmlns:a="http://schemas.openxmlformats.org/drawingml/2006/main">
            <a:r>
              <a:t/>
            </a:r>
          </a:p>
          <a:p xmlns:a="http://schemas.openxmlformats.org/drawingml/2006/main">
            <a:r>
              <a:t>[R12] Luis M. Antunes, Keith T. Butler, Ricardo Grau-Crespo. Crystal structure generation with autoregressive large language modeling. Nature Communications 15, 10570 2024. DOI: 10.1038/s41467-024-54639-7. https://www.nature.com/articles/s41467-024-54639-7</a:t>
            </a:r>
          </a:p>
          <a:p xmlns:a="http://schemas.openxmlformats.org/drawingml/2006/main">
            <a:r>
              <a:t/>
            </a:r>
          </a:p>
          <a:p xmlns:a="http://schemas.openxmlformats.org/drawingml/2006/main">
            <a:r>
              <a:t>[R21] Nate Gruver, Anuroop Sriram, Andrea Madotto, Andrew Gordon Wilson, C. Lawrence Zitnick, Zachary Ulissi. Fine-Tuned Language Models Generate Stable Inorganic Materials as Text. ICLR 2024. https://arxiv.org/abs/2402.04379</a:t>
            </a:r>
          </a:p>
          <a:p xmlns:a="http://schemas.openxmlformats.org/drawingml/2006/main">
            <a:r>
              <a:t/>
            </a:r>
          </a:p>
          <a:p xmlns:a="http://schemas.openxmlformats.org/drawingml/2006/main">
            <a:r>
              <a:t>[R29] Anuroop Sriram, Benjamin Kurt Miller, Ricky T. Q. Chen, Brandon M. Wood. FlowLLM: Flow Matching for Material Generation with Large Language Models as Base Distributions. NeurIPS 2024. DOI: 10.52202/079017-1464. https://proceedings.neurips.cc/paper_files/paper/2024/hash/51d317df78eded9eb3c9d3fb1091c279-Abstract-Conference.html</a:t>
            </a:r>
          </a:p>
          <a:p xmlns:a="http://schemas.openxmlformats.org/drawingml/2006/main">
            <a:r>
              <a:t/>
            </a:r>
          </a:p>
          <a:p xmlns:a="http://schemas.openxmlformats.org/drawingml/2006/main">
            <a:r>
              <a:t>[R43] Subhojyoti Khastagir, Kishalay Das, Pawan Goyal, Seung-Cheol Lee, Satadeep Bhattacharjee, Niloy Ganguly. LLM Meets Diffusion: A Hybrid Framework for Crystal Material Generation. NeurIPS 2025. DOI: 10.52202/085713-5635. https://proceedings.neurips.cc/paper_files/paper/2025/hash/f789a628fca473e922c806657512a20f-Abstract-Conference.html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Composable Crystals截至资料截止日为预印本。条件类别有交叠，表格按主要研究目标组织。条件生成是本综述的一条主线，不能省略为普通生成后的筛选。</a:t>
            </a:r>
          </a:p>
          <a:p xmlns:a="http://schemas.openxmlformats.org/drawingml/2006/main">
            <a:r>
              <a:t/>
            </a:r>
          </a:p>
          <a:p xmlns:a="http://schemas.openxmlformats.org/drawingml/2006/main">
            <a:r>
              <a:t>参考文献</a:t>
            </a:r>
          </a:p>
          <a:p xmlns:a="http://schemas.openxmlformats.org/drawingml/2006/main">
            <a:r>
              <a:t/>
            </a:r>
          </a:p>
          <a:p xmlns:a="http://schemas.openxmlformats.org/drawingml/2006/main">
            <a:r>
              <a:t>[R24] Cai-Yuan Ye, Hong-Ming Weng, Quan-Sheng Wu. Con-CDVAE: A method for the conditional generation of crystal structures. Computational Materials Today 1, 100003 2024. DOI: 10.1016/j.commt.2024.100003. https://arxiv.org/html/2403.12478v1</a:t>
            </a:r>
          </a:p>
          <a:p xmlns:a="http://schemas.openxmlformats.org/drawingml/2006/main">
            <a:r>
              <a:t/>
            </a:r>
          </a:p>
          <a:p xmlns:a="http://schemas.openxmlformats.org/drawingml/2006/main">
            <a:r>
              <a:t>[R19] Claudio Zeni, Robert Pinsler, Daniel Zügner, Andrew Fowler, Matthew Horton, Xiang Fu, Zilong Wang, Aliaksandra Shysheya, Jonathan Crabbé, Shoko Ueda, Roberto Sordillo, Lixin Sun, Jake Smith, Bichlien Nguyen, Hannes Schulz, Sarah Lewis, Chin-Wei Huang, Ziheng Lu, Yichi Zhou, Han Yang, Hongxia Hao, Jielan Li, Chunlei Yang, Wenjie Li, Ryota Tomioka, Tian Xie. A generative model for inorganic materials design. Nature 2025. DOI: 10.1038/s41586-025-08628-5. https://www.nature.com/articles/s41586-025-08628-5</a:t>
            </a:r>
          </a:p>
          <a:p xmlns:a="http://schemas.openxmlformats.org/drawingml/2006/main">
            <a:r>
              <a:t/>
            </a:r>
          </a:p>
          <a:p xmlns:a="http://schemas.openxmlformats.org/drawingml/2006/main">
            <a:r>
              <a:t>[R22] Jiao, Rui, Huang, Wenbing, Liu, Yu, Zhao, Deli, Liu, Yang. Space Group Constrained Crystal Generation. ICLR 2024. https://arxiv.org/abs/2402.03992</a:t>
            </a:r>
          </a:p>
          <a:p xmlns:a="http://schemas.openxmlformats.org/drawingml/2006/main">
            <a:r>
              <a:t/>
            </a:r>
          </a:p>
          <a:p xmlns:a="http://schemas.openxmlformats.org/drawingml/2006/main">
            <a:r>
              <a:t>[R27] Ryotaro Okabe, Mouyang Cheng, Abhijatmedhi Chotrattanapituk, Manasi Mandal, Kiran Mak, Denisse Córdova Carrizales, Nguyen Tuan Hung, Xiang Fu, Bowen Han, Yao Wang, Weiwei Xie, Robert J. Cava, Tommi S. Jaakkola, Yongqiang Cheng, Mingda Li. Structural constraint integration in a generative model for the discovery of quantum materials. Nature Materials 25, 223–230 2026. DOI: 10.1038/s41563-025-02355-y. https://www.nature.com/articles/s41563-025-02355-y</a:t>
            </a:r>
          </a:p>
          <a:p xmlns:a="http://schemas.openxmlformats.org/drawingml/2006/main">
            <a:r>
              <a:t/>
            </a:r>
          </a:p>
          <a:p xmlns:a="http://schemas.openxmlformats.org/drawingml/2006/main">
            <a:r>
              <a:t>[R39] Hyunsoo Park, Anthony Onwuli, Aron Walsh. Exploration of crystal chemical space using text-guided generative artificial intelligence. Nature Communications 16, 4379 2025. DOI: 10.1038/s41467-025-59636-y. https://www.nature.com/articles/s41467-025-59636-y</a:t>
            </a:r>
          </a:p>
          <a:p xmlns:a="http://schemas.openxmlformats.org/drawingml/2006/main">
            <a:r>
              <a:t/>
            </a:r>
          </a:p>
          <a:p xmlns:a="http://schemas.openxmlformats.org/drawingml/2006/main">
            <a:r>
              <a:t>[R40] Xu, Andy, Desai, Rohan, Wang, Larry, Ritz, Ethan, Hope, Gabriel. PLaID++: A Preference Aligned Language Model for Targeted Inorganic Materials Design. ICML 2026. https://arxiv.org/html/2509.07150v4</a:t>
            </a:r>
          </a:p>
          <a:p xmlns:a="http://schemas.openxmlformats.org/drawingml/2006/main">
            <a:r>
              <a:t/>
            </a:r>
          </a:p>
          <a:p xmlns:a="http://schemas.openxmlformats.org/drawingml/2006/main">
            <a:r>
              <a:t>[R49] Kiyoung Seong, Sungsoo Ahn, Sehui Han, Changyoung Park. Multimodal Crystal Flow: Any-to-Any Modality Generation for Unified Crystal Modeling. ICML2026, PMLR306:109105–109131. https://proceedings.mlr.press/v306/seong26a.html</a:t>
            </a:r>
          </a:p>
          <a:p xmlns:a="http://schemas.openxmlformats.org/drawingml/2006/main">
            <a:r>
              <a:t/>
            </a:r>
          </a:p>
          <a:p xmlns:a="http://schemas.openxmlformats.org/drawingml/2006/main">
            <a:r>
              <a:t>[R51] Nian Liu, Yuwei Zeng, Ryoji Kubo, Nikita Kazeev, Stephen Gregory Dale, Artem Maevskiy, Pengru Huang, Thomas Laurent, Kostya S. Novoselov, Xavier Bresson. Composable Crystals: Controllable Materials Discovery via Concept Learning. arXiv 预印本 2026. https://arxiv.org/html/2605.14769v2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本页在同一论文和同一性质调用预算下对比。该预算不同于完整发现费用。模型基础实验的1024个DFT样本中75%在0.1eV/atom以内，3%低于0，不能将75%解释成严格稳定率。本页不展示跨论文排名。</a:t>
            </a:r>
          </a:p>
          <a:p xmlns:a="http://schemas.openxmlformats.org/drawingml/2006/main">
            <a:r>
              <a:t/>
            </a:r>
          </a:p>
          <a:p xmlns:a="http://schemas.openxmlformats.org/drawingml/2006/main">
            <a:r>
              <a:t>参考文献</a:t>
            </a:r>
          </a:p>
          <a:p xmlns:a="http://schemas.openxmlformats.org/drawingml/2006/main">
            <a:r>
              <a:t/>
            </a:r>
          </a:p>
          <a:p xmlns:a="http://schemas.openxmlformats.org/drawingml/2006/main">
            <a:r>
              <a:t>[R19] Claudio Zeni, Robert Pinsler, Daniel Zügner, Andrew Fowler, Matthew Horton, Xiang Fu, Zilong Wang, Aliaksandra Shysheya, Jonathan Crabbé, Shoko Ueda, Roberto Sordillo, Lixin Sun, Jake Smith, Bichlien Nguyen, Hannes Schulz, Sarah Lewis, Chin-Wei Huang, Ziheng Lu, Yichi Zhou, Han Yang, Hongxia Hao, Jielan Li, Chunlei Yang, Wenjie Li, Ryota Tomioka, Tian Xie. A generative model for inorganic materials design. Nature 2025. DOI: 10.1038/s41586-025-08628-5. https://www.nature.com/articles/s41586-025-08628-5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最终版本生成10.06百万候选，预筛1.01百万。26,000次DFT尝试中24,743个输出，约95.17%。13,880个最大力合格，约占尝试的53.38%。原文structural stability此处指最大残余力，不能替换为凸包稳定。生成提案为TiPdBi/TiPdSb，实验化学计量和空间群有变化。</a:t>
            </a:r>
          </a:p>
          <a:p xmlns:a="http://schemas.openxmlformats.org/drawingml/2006/main">
            <a:r>
              <a:t/>
            </a:r>
          </a:p>
          <a:p xmlns:a="http://schemas.openxmlformats.org/drawingml/2006/main">
            <a:r>
              <a:t>参考文献</a:t>
            </a:r>
          </a:p>
          <a:p xmlns:a="http://schemas.openxmlformats.org/drawingml/2006/main">
            <a:r>
              <a:t/>
            </a:r>
          </a:p>
          <a:p xmlns:a="http://schemas.openxmlformats.org/drawingml/2006/main">
            <a:r>
              <a:t>[R27] Ryotaro Okabe, Mouyang Cheng, Abhijatmedhi Chotrattanapituk, Manasi Mandal, Kiran Mak, Denisse Córdova Carrizales, Nguyen Tuan Hung, Xiang Fu, Bowen Han, Yao Wang, Weiwei Xie, Robert J. Cava, Tommi S. Jaakkola, Yongqiang Cheng, Mingda Li. Structural constraint integration in a generative model for the discovery of quantum materials. Nature Materials 25, 223–230 2026. DOI: 10.1038/s41563-025-02355-y. https://www.nature.com/articles/s41563-025-02355-y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MCFlow代表工作说明条件接口和信息进度值得研究。45.58%与63.14%来自coupled与独立时间版本的比较。该结果是参考CSP匹配率，不是SUN，也不直接证明学习型动态修订有效。</a:t>
            </a:r>
          </a:p>
          <a:p xmlns:a="http://schemas.openxmlformats.org/drawingml/2006/main">
            <a:r>
              <a:t/>
            </a:r>
          </a:p>
          <a:p xmlns:a="http://schemas.openxmlformats.org/drawingml/2006/main">
            <a:r>
              <a:t>参考文献</a:t>
            </a:r>
          </a:p>
          <a:p xmlns:a="http://schemas.openxmlformats.org/drawingml/2006/main">
            <a:r>
              <a:t/>
            </a:r>
          </a:p>
          <a:p xmlns:a="http://schemas.openxmlformats.org/drawingml/2006/main">
            <a:r>
              <a:t>[R49] Kiyoung Seong, Sungsoo Ahn, Sehui Han, Changyoung Park. Multimodal Crystal Flow: Any-to-Any Modality Generation for Unified Crystal Modeling. ICML2026, PMLR306:109105–109131. https://proceedings.mlr.press/v306/seong26a.html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反馈参与行动和训练已有强先行。OMatG-IRL已展示CSP式物理训练到自主DNG的用途，因此后续方向C的贡献需要具体落在响应关系的内容及迁移能力。数值优化轨迹和生成学习路径是不同对象。</a:t>
            </a:r>
          </a:p>
          <a:p xmlns:a="http://schemas.openxmlformats.org/drawingml/2006/main">
            <a:r>
              <a:t/>
            </a:r>
          </a:p>
          <a:p xmlns:a="http://schemas.openxmlformats.org/drawingml/2006/main">
            <a:r>
              <a:t>参考文献</a:t>
            </a:r>
          </a:p>
          <a:p xmlns:a="http://schemas.openxmlformats.org/drawingml/2006/main">
            <a:r>
              <a:t/>
            </a:r>
          </a:p>
          <a:p xmlns:a="http://schemas.openxmlformats.org/drawingml/2006/main">
            <a:r>
              <a:t>[R01] Chris J. Pickard, R. J. Needs. High-Pressure Phases of Silane. Physical Review Letters 97, 045504. DOI: 10.1103/PhysRevLett.97.045504. https://journals.aps.org/prl/abstract/10.1103/PhysRevLett.97.045504</a:t>
            </a:r>
          </a:p>
          <a:p xmlns:a="http://schemas.openxmlformats.org/drawingml/2006/main">
            <a:r>
              <a:t/>
            </a:r>
          </a:p>
          <a:p xmlns:a="http://schemas.openxmlformats.org/drawingml/2006/main">
            <a:r>
              <a:t>[R02] Artem R. Oganov, Colin W. Glass. Crystal structure prediction using ab initio evolutionary techniques: Principles and applications. Journal of Chemical Physics 124, 244704 (2006). DOI: 10.1063/1.2210932. https://doi.org/10.1063/1.2210932</a:t>
            </a:r>
          </a:p>
          <a:p xmlns:a="http://schemas.openxmlformats.org/drawingml/2006/main">
            <a:r>
              <a:t/>
            </a:r>
          </a:p>
          <a:p xmlns:a="http://schemas.openxmlformats.org/drawingml/2006/main">
            <a:r>
              <a:t>[R14] Elena Zamaraeva, Christopher M. Collins, Dmytro Antypov, Vladimir V. Gusev, Rahul Savani, Matthew S. Dyer, George R. Darling, Igor Potapov, Matthew J. Rosseinsky, Paul G. Spirakis. Reinforcement learning in crystal structure prediction. Digital Discovery 2023. DOI: 10.1039/D3DD00063J. https://pubs.rsc.org/en/content/articlehtml/2023/dd/d3dd00063j</a:t>
            </a:r>
          </a:p>
          <a:p xmlns:a="http://schemas.openxmlformats.org/drawingml/2006/main">
            <a:r>
              <a:t/>
            </a:r>
          </a:p>
          <a:p xmlns:a="http://schemas.openxmlformats.org/drawingml/2006/main">
            <a:r>
              <a:t>[R10] Chi Chen, Shyue Ping Ong. A universal graph deep learning interatomic potential for the periodic table. Nature Computational Science 2, 718–728. DOI: 10.1038/s43588-022-00349-3. https://www.nature.com/articles/s43588-022-00349-3</a:t>
            </a:r>
          </a:p>
          <a:p xmlns:a="http://schemas.openxmlformats.org/drawingml/2006/main">
            <a:r>
              <a:t/>
            </a:r>
          </a:p>
          <a:p xmlns:a="http://schemas.openxmlformats.org/drawingml/2006/main">
            <a:r>
              <a:t>[R11] Bowen Deng, Peichen Zhong, KyuJung Jun, Janosh Riebesell, Kevin Han, Christopher J. Bartel, Gerbrand Ceder. CHGNet as a pretrained universal neural network potential for charge-informed atomistic modelling. Nature Machine Intelligence 5, 1031–1041. DOI: 10.1038/s42256-023-00716-3. https://www.nature.com/articles/s42256-023-00716-3</a:t>
            </a:r>
          </a:p>
          <a:p xmlns:a="http://schemas.openxmlformats.org/drawingml/2006/main">
            <a:r>
              <a:t/>
            </a:r>
          </a:p>
          <a:p xmlns:a="http://schemas.openxmlformats.org/drawingml/2006/main">
            <a:r>
              <a:t>[R18] Amil Merchant, Simon Batzner, Samuel S. Schoenholz, Muratahan Aykol, Gowoon Cheon, Ekin Dogus Cubuk. Scaling deep learning for materials discovery. Nature 2023. DOI: 10.1038/s41586-023-06735-9. https://www.nature.com/articles/s41586-023-06735-9</a:t>
            </a:r>
          </a:p>
          <a:p xmlns:a="http://schemas.openxmlformats.org/drawingml/2006/main">
            <a:r>
              <a:t/>
            </a:r>
          </a:p>
          <a:p xmlns:a="http://schemas.openxmlformats.org/drawingml/2006/main">
            <a:r>
              <a:t>[R44] Chen, Junwu, Guo, Jeff, Fako, Edvin, Schwaller, Philippe. Accelerating inverse materials design using generative diffusion models with reinforcement learning. arXiv 预印本 2025. https://arxiv.org/html/2511.03112v1</a:t>
            </a:r>
          </a:p>
          <a:p xmlns:a="http://schemas.openxmlformats.org/drawingml/2006/main">
            <a:r>
              <a:t/>
            </a:r>
          </a:p>
          <a:p xmlns:a="http://schemas.openxmlformats.org/drawingml/2006/main">
            <a:r>
              <a:t>[R40] Xu, Andy, Desai, Rohan, Wang, Larry, Ritz, Ethan, Hope, Gabriel. PLaID++: A Preference Aligned Language Model for Targeted Inorganic Materials Design. ICML 2026. https://arxiv.org/html/2509.07150v4</a:t>
            </a:r>
          </a:p>
          <a:p xmlns:a="http://schemas.openxmlformats.org/drawingml/2006/main">
            <a:r>
              <a:t/>
            </a:r>
          </a:p>
          <a:p xmlns:a="http://schemas.openxmlformats.org/drawingml/2006/main">
            <a:r>
              <a:t>[R45] Hyunsoo Park, Aron Walsh. Guiding Generative Models to Uncover Diverse and Novel Crystals via Reinforcement Learning. Nature Machine Intelligence 2026. DOI: 10.1038/s42256-026-01262-4. https://www.nature.com/articles/s42256-026-01262-4</a:t>
            </a:r>
          </a:p>
          <a:p xmlns:a="http://schemas.openxmlformats.org/drawingml/2006/main">
            <a:r>
              <a:t/>
            </a:r>
          </a:p>
          <a:p xmlns:a="http://schemas.openxmlformats.org/drawingml/2006/main">
            <a:r>
              <a:t>[R48] Hoellmer, Philipp, Martiniani, Stefano. Open Materials Generation with Inference-Time Reinforcement Learning. ICML 2026. https://arxiv.org/html/2602.00424v2</a:t>
            </a:r>
          </a:p>
          <a:p xmlns:a="http://schemas.openxmlformats.org/drawingml/2006/main">
            <a:r>
              <a:t/>
            </a:r>
          </a:p>
          <a:p xmlns:a="http://schemas.openxmlformats.org/drawingml/2006/main">
            <a:r>
              <a:t>[R54] Egg, Thomas, Sullivan, Harry Winston, Tadmor, Ellad B., Martiniani, Stefano. OMatG-flash: An All-Atom Flow Map with Reinforce Adjoint Matching for Scalable Materials Discovery. arXiv 预印本 2026. https://arxiv.org/html/2609.26402v1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偏好信号由eqV2提供。失败解析重新采样，因此分母是可解析CIF而非全部生成请求。该对照不代表PLaID++主方法整体下降。图按原文数值重绘，不推断未在该对照中分离的U/N损失机制。</a:t>
            </a:r>
          </a:p>
          <a:p xmlns:a="http://schemas.openxmlformats.org/drawingml/2006/main">
            <a:r>
              <a:t/>
            </a:r>
          </a:p>
          <a:p xmlns:a="http://schemas.openxmlformats.org/drawingml/2006/main">
            <a:r>
              <a:t>参考文献</a:t>
            </a:r>
          </a:p>
          <a:p xmlns:a="http://schemas.openxmlformats.org/drawingml/2006/main">
            <a:r>
              <a:t/>
            </a:r>
          </a:p>
          <a:p xmlns:a="http://schemas.openxmlformats.org/drawingml/2006/main">
            <a:r>
              <a:t>[R40] Xu, Andy, Desai, Rohan, Wang, Larry, Ritz, Ethan, Hope, Gabriel. PLaID++: A Preference Aligned Language Model for Targeted Inorganic Materials Design. ICML 2026. https://arxiv.org/html/2509.07150v4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QD = Quality-Diversity。GFlowNet理论和成功搜索方法为多解发现提供基础。这里提出的剩余问题是未知物理资格、结果身份和持续学习之间的联系，不宣称分布优化或多样性搜索此前不存在。</a:t>
            </a:r>
          </a:p>
          <a:p xmlns:a="http://schemas.openxmlformats.org/drawingml/2006/main">
            <a:r>
              <a:t/>
            </a:r>
          </a:p>
          <a:p xmlns:a="http://schemas.openxmlformats.org/drawingml/2006/main">
            <a:r>
              <a:t>参考文献</a:t>
            </a:r>
          </a:p>
          <a:p xmlns:a="http://schemas.openxmlformats.org/drawingml/2006/main">
            <a:r>
              <a:t/>
            </a:r>
          </a:p>
          <a:p xmlns:a="http://schemas.openxmlformats.org/drawingml/2006/main">
            <a:r>
              <a:t>[R09] Bengio, Yoshua, Lahlou, Salem, Deleu, Tristan, Hu, Edward J., Tiwari, Mo, Bengio, Emmanuel. GFlowNet Foundations. Journal of Machine Learning Research 2023. https://jmlr.org/papers/v24/22-0364.html</a:t>
            </a:r>
          </a:p>
          <a:p xmlns:a="http://schemas.openxmlformats.org/drawingml/2006/main">
            <a:r>
              <a:t/>
            </a:r>
          </a:p>
          <a:p xmlns:a="http://schemas.openxmlformats.org/drawingml/2006/main">
            <a:r>
              <a:t>[R23] Marta Wolinska, Aron Walsh, Antoine Cully. Illuminating the property space in crystal structure prediction using Quality-Diversity algorithms. Digital Discovery 2024. DOI: 10.1039/D4DD00054D. https://arxiv.org/html/2403.03511v1</a:t>
            </a:r>
          </a:p>
          <a:p xmlns:a="http://schemas.openxmlformats.org/drawingml/2006/main">
            <a:r>
              <a:t/>
            </a:r>
          </a:p>
          <a:p xmlns:a="http://schemas.openxmlformats.org/drawingml/2006/main">
            <a:r>
              <a:t>[R30] Nguyen, Tri Minh, Tawfik, Sherif Abdulkader, Tran, Truyen, Gupta, Sunil, Rana, Santu, Venkatesh, Svetha. Efficient Symmetry-Aware Materials Generation via Hierarchical Generative Flow Networks. Digital Discovery 2026. DOI: 10.1039/D4DD00392F. https://arxiv.org/html/2411.04323v1</a:t>
            </a:r>
          </a:p>
          <a:p xmlns:a="http://schemas.openxmlformats.org/drawingml/2006/main">
            <a:r>
              <a:t/>
            </a:r>
          </a:p>
          <a:p xmlns:a="http://schemas.openxmlformats.org/drawingml/2006/main">
            <a:r>
              <a:t>[R56] Hovmand, Emma Lei, Elsborg, Jonas, Kandemir, Melih, Bhowmik, Arghya. Let CSP Be Your ANCHOR: Adaptive Crystal Search over Frozen Structure Priors. arXiv 预印本 2026. https://arxiv.org/html/2609.33407v2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严格SUN采用S≤0，另报M≤0.1。DFT校正口径、元素参考和竞争相集合固定。N/U与S应对应同一评价阶段。LeMat主比较各模型提交结构的流程不同，不能假设所有结构都是统一未弛豫输入。原型类别变化与参考结构新颖是互补指标。</a:t>
            </a:r>
          </a:p>
          <a:p xmlns:a="http://schemas.openxmlformats.org/drawingml/2006/main">
            <a:r>
              <a:t/>
            </a:r>
          </a:p>
          <a:p xmlns:a="http://schemas.openxmlformats.org/drawingml/2006/main">
            <a:r>
              <a:t>参考文献</a:t>
            </a:r>
          </a:p>
          <a:p xmlns:a="http://schemas.openxmlformats.org/drawingml/2006/main">
            <a:r>
              <a:t/>
            </a:r>
          </a:p>
          <a:p xmlns:a="http://schemas.openxmlformats.org/drawingml/2006/main">
            <a:r>
              <a:t>[R31] Nathan J. Szymanski, Christopher J. Bartel. Establishing baselines for generative discovery of inorganic crystals. Materials Horizons 2025. DOI: 10.1039/D5MH00010F. https://pubs.rsc.org/en/content/articlehtml/2025/mh/d5mh00010f</a:t>
            </a:r>
          </a:p>
          <a:p xmlns:a="http://schemas.openxmlformats.org/drawingml/2006/main">
            <a:r>
              <a:t/>
            </a:r>
          </a:p>
          <a:p xmlns:a="http://schemas.openxmlformats.org/drawingml/2006/main">
            <a:r>
              <a:t>[R42] Martirossyan, Maya M., Egg, Thomas, Hoellmer, Philipp, Karypis, George, Transtrum, Mark, Roitberg, Adrian, Liu, Mingjie, Hennig, Richard G., Tadmor, Ellad B., Martiniani, Stefano. All that structure matches does not glitter. NeurIPS Datasets and Benchmarks 2025. https://arxiv.org/html/2509.12178v2</a:t>
            </a:r>
          </a:p>
          <a:p xmlns:a="http://schemas.openxmlformats.org/drawingml/2006/main">
            <a:r>
              <a:t/>
            </a:r>
          </a:p>
          <a:p xmlns:a="http://schemas.openxmlformats.org/drawingml/2006/main">
            <a:r>
              <a:t>[R46] Betala, Siddharth, Gleason, Samuel P., Ramlaoui, Ali, Xu, Andy, Channing, Georgia, Levy, Daniel, Fourrier, Clémentine, Kazeev, Nikita, Joshi, Chaitanya K., Kaba, Sékou-Oumar, Therrien, Félix, Hernandez-Garcia, Alex, Mercado, Rocío, Krishnan, N. M. Anoop, Duval, Alexandre. LeMat-GenBench: A Unified Evaluation Framework for Crystal Generative Models. arXiv 预印本 2025. https://arxiv.org/html/2512.04562v2</a:t>
            </a:r>
          </a:p>
          <a:p xmlns:a="http://schemas.openxmlformats.org/drawingml/2006/main">
            <a:r>
              <a:t/>
            </a:r>
          </a:p>
          <a:p xmlns:a="http://schemas.openxmlformats.org/drawingml/2006/main">
            <a:r>
              <a:t>[R52] Negishi, Masahiro, Walsh, Aron. Substitution-Based Analysis of Structural Novelty for Generative Models of Materials. arXiv 预印本 2026. https://arxiv.org/html/2606.23166v1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证据来源：https://github.com/YWDDLiang/Research/blob/main/crystal/evidence/historical-evidence.md 。第一行每臂24个能量未知，组成固定，晶胞和位置仍演化。第二行是每个DEV父来源四个未来形成的512配对。第三行为同一项目队列的分解，不能当作通用领域损失比例。</a:t>
            </a:r>
          </a:p>
          <a:p xmlns:a="http://schemas.openxmlformats.org/drawingml/2006/main">
            <a:r>
              <a:t/>
            </a:r>
          </a:p>
          <a:p xmlns:a="http://schemas.openxmlformats.org/drawingml/2006/main">
            <a:r>
              <a:t>参考文献</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C1和C2是基于已有成果组织的残余问题，不标为某篇论文独自首次提出。方向A需与强分阶段模型及纯联合模型比较，而不预设双向交互必定更优。</a:t>
            </a:r>
          </a:p>
          <a:p xmlns:a="http://schemas.openxmlformats.org/drawingml/2006/main">
            <a:r>
              <a:t/>
            </a:r>
          </a:p>
          <a:p xmlns:a="http://schemas.openxmlformats.org/drawingml/2006/main">
            <a:r>
              <a:t>参考文献</a:t>
            </a:r>
          </a:p>
          <a:p xmlns:a="http://schemas.openxmlformats.org/drawingml/2006/main">
            <a:r>
              <a:t/>
            </a:r>
          </a:p>
          <a:p xmlns:a="http://schemas.openxmlformats.org/drawingml/2006/main">
            <a:r>
              <a:t>[R13] Rui Jiao, Wenbing Huang, Peijia Lin, Jiaqi Han, Pin Chen, Yutong Lu, Yang Liu. Crystal Structure Prediction by Joint Equivariant Diffusion. NeurIPS 2023. https://arxiv.org/abs/2309.04475</a:t>
            </a:r>
          </a:p>
          <a:p xmlns:a="http://schemas.openxmlformats.org/drawingml/2006/main">
            <a:r>
              <a:t/>
            </a:r>
          </a:p>
          <a:p xmlns:a="http://schemas.openxmlformats.org/drawingml/2006/main">
            <a:r>
              <a:t>[R19] Claudio Zeni, Robert Pinsler, Daniel Zügner, Andrew Fowler, Matthew Horton, Xiang Fu, Zilong Wang, Aliaksandra Shysheya, Jonathan Crabbé, Shoko Ueda, Roberto Sordillo, Lixin Sun, Jake Smith, Bichlien Nguyen, Hannes Schulz, Sarah Lewis, Chin-Wei Huang, Ziheng Lu, Yichi Zhou, Han Yang, Hongxia Hao, Jielan Li, Chunlei Yang, Wenjie Li, Ryota Tomioka, Tian Xie. A generative model for inorganic materials design. Nature 2025. DOI: 10.1038/s41586-025-08628-5. https://www.nature.com/articles/s41586-025-08628-5</a:t>
            </a:r>
          </a:p>
          <a:p xmlns:a="http://schemas.openxmlformats.org/drawingml/2006/main">
            <a:r>
              <a:t/>
            </a:r>
          </a:p>
          <a:p xmlns:a="http://schemas.openxmlformats.org/drawingml/2006/main">
            <a:r>
              <a:t>[R29] Anuroop Sriram, Benjamin Kurt Miller, Ricky T. Q. Chen, Brandon M. Wood. FlowLLM: Flow Matching for Material Generation with Large Language Models as Base Distributions. NeurIPS 2024. DOI: 10.52202/079017-1464. https://proceedings.neurips.cc/paper_files/paper/2024/hash/51d317df78eded9eb3c9d3fb1091c279-Abstract-Conference.html</a:t>
            </a:r>
          </a:p>
          <a:p xmlns:a="http://schemas.openxmlformats.org/drawingml/2006/main">
            <a:r>
              <a:t/>
            </a:r>
          </a:p>
          <a:p xmlns:a="http://schemas.openxmlformats.org/drawingml/2006/main">
            <a:r>
              <a:t>[R43] Subhojyoti Khastagir, Kishalay Das, Pawan Goyal, Seung-Cheol Lee, Satadeep Bhattacharjee, Niloy Ganguly. LLM Meets Diffusion: A Hybrid Framework for Crystal Material Generation. NeurIPS 2025. DOI: 10.52202/085713-5635. https://proceedings.neurips.cc/paper_files/paper/2025/hash/f789a628fca473e922c806657512a20f-Abstract-Conference.html</a:t>
            </a:r>
          </a:p>
          <a:p xmlns:a="http://schemas.openxmlformats.org/drawingml/2006/main">
            <a:r>
              <a:t/>
            </a:r>
          </a:p>
          <a:p xmlns:a="http://schemas.openxmlformats.org/drawingml/2006/main">
            <a:r>
              <a:t>[R49] Kiyoung Seong, Sungsoo Ahn, Sehui Han, Changyoung Park. Multimodal Crystal Flow: Any-to-Any Modality Generation for Unified Crystal Modeling. ICML2026, PMLR306:109105–109131. https://proceedings.mlr.press/v306/seong26a.html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局部知识可复用是动机。具体方法需区别局部关系、整个结构模板与后处理重组带来的收益。UFO-MGen给定新空间群配置的结构完成能力，与自主DNG提出新可行配置有所不同。</a:t>
            </a:r>
          </a:p>
          <a:p xmlns:a="http://schemas.openxmlformats.org/drawingml/2006/main">
            <a:r>
              <a:t/>
            </a:r>
          </a:p>
          <a:p xmlns:a="http://schemas.openxmlformats.org/drawingml/2006/main">
            <a:r>
              <a:t>参考文献</a:t>
            </a:r>
          </a:p>
          <a:p xmlns:a="http://schemas.openxmlformats.org/drawingml/2006/main">
            <a:r>
              <a:t/>
            </a:r>
          </a:p>
          <a:p xmlns:a="http://schemas.openxmlformats.org/drawingml/2006/main">
            <a:r>
              <a:t>[R05] Tian Xie, Jeffrey C. Grossman. Crystal Graph Convolutional Neural Networks for an Accurate and Interpretable Prediction of Material Properties. Physical Review Letters 120, 145301. DOI: 10.1103/PhysRevLett.120.145301. https://journals.aps.org/prl/abstract/10.1103/PhysRevLett.120.145301</a:t>
            </a:r>
          </a:p>
          <a:p xmlns:a="http://schemas.openxmlformats.org/drawingml/2006/main">
            <a:r>
              <a:t/>
            </a:r>
          </a:p>
          <a:p xmlns:a="http://schemas.openxmlformats.org/drawingml/2006/main">
            <a:r>
              <a:t>[R10] Chi Chen, Shyue Ping Ong. A universal graph deep learning interatomic potential for the periodic table. Nature Computational Science 2, 718–728. DOI: 10.1038/s43588-022-00349-3. https://www.nature.com/articles/s43588-022-00349-3</a:t>
            </a:r>
          </a:p>
          <a:p xmlns:a="http://schemas.openxmlformats.org/drawingml/2006/main">
            <a:r>
              <a:t/>
            </a:r>
          </a:p>
          <a:p xmlns:a="http://schemas.openxmlformats.org/drawingml/2006/main">
            <a:r>
              <a:t>[R11] Bowen Deng, Peichen Zhong, KyuJung Jun, Janosh Riebesell, Kevin Han, Christopher J. Bartel, Gerbrand Ceder. CHGNet as a pretrained universal neural network potential for charge-informed atomistic modelling. Nature Machine Intelligence 5, 1031–1041. DOI: 10.1038/s42256-023-00716-3. https://www.nature.com/articles/s42256-023-00716-3</a:t>
            </a:r>
          </a:p>
          <a:p xmlns:a="http://schemas.openxmlformats.org/drawingml/2006/main">
            <a:r>
              <a:t/>
            </a:r>
          </a:p>
          <a:p xmlns:a="http://schemas.openxmlformats.org/drawingml/2006/main">
            <a:r>
              <a:t>[R27] Ryotaro Okabe, Mouyang Cheng, Abhijatmedhi Chotrattanapituk, Manasi Mandal, Kiran Mak, Denisse Córdova Carrizales, Nguyen Tuan Hung, Xiang Fu, Bowen Han, Yao Wang, Weiwei Xie, Robert J. Cava, Tommi S. Jaakkola, Yongqiang Cheng, Mingda Li. Structural constraint integration in a generative model for the discovery of quantum materials. Nature Materials 25, 223–230 2026. DOI: 10.1038/s41563-025-02355-y. https://www.nature.com/articles/s41563-025-02355-y</a:t>
            </a:r>
          </a:p>
          <a:p xmlns:a="http://schemas.openxmlformats.org/drawingml/2006/main">
            <a:r>
              <a:t/>
            </a:r>
          </a:p>
          <a:p xmlns:a="http://schemas.openxmlformats.org/drawingml/2006/main">
            <a:r>
              <a:t>[R51] Nian Liu, Yuwei Zeng, Ryoji Kubo, Nikita Kazeev, Stephen Gregory Dale, Artem Maevskiy, Pengru Huang, Thomas Laurent, Kostya S. Novoselov, Xavier Bresson. Composable Crystals: Controllable Materials Discovery via Concept Learning. arXiv 预印本 2026. https://arxiv.org/html/2605.14769v2</a:t>
            </a:r>
          </a:p>
          <a:p xmlns:a="http://schemas.openxmlformats.org/drawingml/2006/main">
            <a:r>
              <a:t/>
            </a:r>
          </a:p>
          <a:p xmlns:a="http://schemas.openxmlformats.org/drawingml/2006/main">
            <a:r>
              <a:t>[R55] Jingyi Zhou, Oyshee Chowdhury, Noah Oyeniran, Chongze Hu. Topology-Stratified Materials Discovery with A Flow-Based Generative Model. arXiv 预印本 2026. https://arxiv.org/html/2609.26547v1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力和应力描述当前结构的响应，终点资格描述最终结果，完整分支比较提供有限变化后果。它们具有不同的信息内容。新工作需比较相同终点数据、相同物理预算下不同训练信息的效果。</a:t>
            </a:r>
          </a:p>
          <a:p xmlns:a="http://schemas.openxmlformats.org/drawingml/2006/main">
            <a:r>
              <a:t/>
            </a:r>
          </a:p>
          <a:p xmlns:a="http://schemas.openxmlformats.org/drawingml/2006/main">
            <a:r>
              <a:t>参考文献</a:t>
            </a:r>
          </a:p>
          <a:p xmlns:a="http://schemas.openxmlformats.org/drawingml/2006/main">
            <a:r>
              <a:t/>
            </a:r>
          </a:p>
          <a:p xmlns:a="http://schemas.openxmlformats.org/drawingml/2006/main">
            <a:r>
              <a:t>[R14] Elena Zamaraeva, Christopher M. Collins, Dmytro Antypov, Vladimir V. Gusev, Rahul Savani, Matthew S. Dyer, George R. Darling, Igor Potapov, Matthew J. Rosseinsky, Paul G. Spirakis. Reinforcement learning in crystal structure prediction. Digital Discovery 2023. DOI: 10.1039/D3DD00063J. https://pubs.rsc.org/en/content/articlehtml/2023/dd/d3dd00063j</a:t>
            </a:r>
          </a:p>
          <a:p xmlns:a="http://schemas.openxmlformats.org/drawingml/2006/main">
            <a:r>
              <a:t/>
            </a:r>
          </a:p>
          <a:p xmlns:a="http://schemas.openxmlformats.org/drawingml/2006/main">
            <a:r>
              <a:t>[R18] Amil Merchant, Simon Batzner, Samuel S. Schoenholz, Muratahan Aykol, Gowoon Cheon, Ekin Dogus Cubuk. Scaling deep learning for materials discovery. Nature 2023. DOI: 10.1038/s41586-023-06735-9. https://www.nature.com/articles/s41586-023-06735-9</a:t>
            </a:r>
          </a:p>
          <a:p xmlns:a="http://schemas.openxmlformats.org/drawingml/2006/main">
            <a:r>
              <a:t/>
            </a:r>
          </a:p>
          <a:p xmlns:a="http://schemas.openxmlformats.org/drawingml/2006/main">
            <a:r>
              <a:t>[R44] Chen, Junwu, Guo, Jeff, Fako, Edvin, Schwaller, Philippe. Accelerating inverse materials design using generative diffusion models with reinforcement learning. arXiv 预印本 2025. https://arxiv.org/html/2511.03112v1</a:t>
            </a:r>
          </a:p>
          <a:p xmlns:a="http://schemas.openxmlformats.org/drawingml/2006/main">
            <a:r>
              <a:t/>
            </a:r>
          </a:p>
          <a:p xmlns:a="http://schemas.openxmlformats.org/drawingml/2006/main">
            <a:r>
              <a:t>[R48] Hoellmer, Philipp, Martiniani, Stefano. Open Materials Generation with Inference-Time Reinforcement Learning. ICML 2026. https://arxiv.org/html/2602.00424v2</a:t>
            </a:r>
          </a:p>
          <a:p xmlns:a="http://schemas.openxmlformats.org/drawingml/2006/main">
            <a:r>
              <a:t/>
            </a:r>
          </a:p>
          <a:p xmlns:a="http://schemas.openxmlformats.org/drawingml/2006/main">
            <a:r>
              <a:t>[R50] Qin, Yifang, Shi, Yu, Tan, Junfu, Liu, Chang, Zhang, Ming, Lu, Ziheng. Generative structure search for efficient and diverse discovery of molecular and crystal structures. arXiv 预印本 2026. https://arxiv.org/html/2604.27636v2</a:t>
            </a:r>
          </a:p>
          <a:p xmlns:a="http://schemas.openxmlformats.org/drawingml/2006/main">
            <a:r>
              <a:t/>
            </a:r>
          </a:p>
          <a:p xmlns:a="http://schemas.openxmlformats.org/drawingml/2006/main">
            <a:r>
              <a:t>[R54] Egg, Thomas, Sullivan, Harry Winston, Tadmor, Ellad B., Martiniani, Stefano. OMatG-flash: An All-Atom Flow Map with Reinforce Adjoint Matching for Scalable Materials Discovery. arXiv 预印本 2026. https://arxiv.org/html/2609.26402v1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此处的多个结果指通过声明物理资格和结构身份判断的结果集合。一般几何距离、多样性或组成访问数可以帮助解释过程，但需连接到最终成功集合。</a:t>
            </a:r>
          </a:p>
          <a:p xmlns:a="http://schemas.openxmlformats.org/drawingml/2006/main">
            <a:r>
              <a:t/>
            </a:r>
          </a:p>
          <a:p xmlns:a="http://schemas.openxmlformats.org/drawingml/2006/main">
            <a:r>
              <a:t>参考文献</a:t>
            </a:r>
          </a:p>
          <a:p xmlns:a="http://schemas.openxmlformats.org/drawingml/2006/main">
            <a:r>
              <a:t/>
            </a:r>
          </a:p>
          <a:p xmlns:a="http://schemas.openxmlformats.org/drawingml/2006/main">
            <a:r>
              <a:t>[R09] Bengio, Yoshua, Lahlou, Salem, Deleu, Tristan, Hu, Edward J., Tiwari, Mo, Bengio, Emmanuel. GFlowNet Foundations. Journal of Machine Learning Research 2023. https://jmlr.org/papers/v24/22-0364.html</a:t>
            </a:r>
          </a:p>
          <a:p xmlns:a="http://schemas.openxmlformats.org/drawingml/2006/main">
            <a:r>
              <a:t/>
            </a:r>
          </a:p>
          <a:p xmlns:a="http://schemas.openxmlformats.org/drawingml/2006/main">
            <a:r>
              <a:t>[R23] Marta Wolinska, Aron Walsh, Antoine Cully. Illuminating the property space in crystal structure prediction using Quality-Diversity algorithms. Digital Discovery 2024. DOI: 10.1039/D4DD00054D. https://arxiv.org/html/2403.03511v1</a:t>
            </a:r>
          </a:p>
          <a:p xmlns:a="http://schemas.openxmlformats.org/drawingml/2006/main">
            <a:r>
              <a:t/>
            </a:r>
          </a:p>
          <a:p xmlns:a="http://schemas.openxmlformats.org/drawingml/2006/main">
            <a:r>
              <a:t>[R30] Nguyen, Tri Minh, Tawfik, Sherif Abdulkader, Tran, Truyen, Gupta, Sunil, Rana, Santu, Venkatesh, Svetha. Efficient Symmetry-Aware Materials Generation via Hierarchical Generative Flow Networks. Digital Discovery 2026. DOI: 10.1039/D4DD00392F. https://arxiv.org/html/2411.04323v1</a:t>
            </a:r>
          </a:p>
          <a:p xmlns:a="http://schemas.openxmlformats.org/drawingml/2006/main">
            <a:r>
              <a:t/>
            </a:r>
          </a:p>
          <a:p xmlns:a="http://schemas.openxmlformats.org/drawingml/2006/main">
            <a:r>
              <a:t>[R45] Hyunsoo Park, Aron Walsh. Guiding Generative Models to Uncover Diverse and Novel Crystals via Reinforcement Learning. Nature Machine Intelligence 2026. DOI: 10.1038/s42256-026-01262-4. https://www.nature.com/articles/s42256-026-01262-4</a:t>
            </a:r>
          </a:p>
          <a:p xmlns:a="http://schemas.openxmlformats.org/drawingml/2006/main">
            <a:r>
              <a:t/>
            </a:r>
          </a:p>
          <a:p xmlns:a="http://schemas.openxmlformats.org/drawingml/2006/main">
            <a:r>
              <a:t>[R56] Hovmand, Emma Lei, Elsborg, Jonas, Kandemir, Melih, Bhowmik, Arghya. Let CSP Be Your ANCHOR: Adaptive Crystal Search over Frozen Structure Priors. arXiv 预印本 2026. https://arxiv.org/html/2609.33407v2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本页为综述提出的四方向组织，不是已完成的新算法结果。A保留纯混合SI竞争路线，B可使用LLM组织关系方案，C保留AR决策+连续生成替代，D可固定低层生成器单独研究探索。</a:t>
            </a:r>
          </a:p>
          <a:p xmlns:a="http://schemas.openxmlformats.org/drawingml/2006/main">
            <a:r>
              <a:t/>
            </a:r>
          </a:p>
          <a:p xmlns:a="http://schemas.openxmlformats.org/drawingml/2006/main">
            <a:r>
              <a:t>参考文献</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核心科学假设是中间几何携带能够改善部分离散选择的信息。要证明这种信息的增量，需要保持训练数据和整体计算投入可比。纯离散—连续SI是独立候选方案，不预设LLM必须存在。</a:t>
            </a:r>
          </a:p>
          <a:p xmlns:a="http://schemas.openxmlformats.org/drawingml/2006/main">
            <a:r>
              <a:t/>
            </a:r>
          </a:p>
          <a:p xmlns:a="http://schemas.openxmlformats.org/drawingml/2006/main">
            <a:r>
              <a:t>参考文献</a:t>
            </a:r>
          </a:p>
          <a:p xmlns:a="http://schemas.openxmlformats.org/drawingml/2006/main">
            <a:r>
              <a:t/>
            </a:r>
          </a:p>
          <a:p xmlns:a="http://schemas.openxmlformats.org/drawingml/2006/main">
            <a:r>
              <a:t>[R29] Anuroop Sriram, Benjamin Kurt Miller, Ricky T. Q. Chen, Brandon M. Wood. FlowLLM: Flow Matching for Material Generation with Large Language Models as Base Distributions. NeurIPS 2024. DOI: 10.52202/079017-1464. https://proceedings.neurips.cc/paper_files/paper/2024/hash/51d317df78eded9eb3c9d3fb1091c279-Abstract-Conference.html</a:t>
            </a:r>
          </a:p>
          <a:p xmlns:a="http://schemas.openxmlformats.org/drawingml/2006/main">
            <a:r>
              <a:t/>
            </a:r>
          </a:p>
          <a:p xmlns:a="http://schemas.openxmlformats.org/drawingml/2006/main">
            <a:r>
              <a:t>[R43] Subhojyoti Khastagir, Kishalay Das, Pawan Goyal, Seung-Cheol Lee, Satadeep Bhattacharjee, Niloy Ganguly. LLM Meets Diffusion: A Hybrid Framework for Crystal Material Generation. NeurIPS 2025. DOI: 10.52202/085713-5635. https://proceedings.neurips.cc/paper_files/paper/2025/hash/f789a628fca473e922c806657512a20f-Abstract-Conference.html</a:t>
            </a:r>
          </a:p>
          <a:p xmlns:a="http://schemas.openxmlformats.org/drawingml/2006/main">
            <a:r>
              <a:t/>
            </a:r>
          </a:p>
          <a:p xmlns:a="http://schemas.openxmlformats.org/drawingml/2006/main">
            <a:r>
              <a:t>[R19] Claudio Zeni, Robert Pinsler, Daniel Zügner, Andrew Fowler, Matthew Horton, Xiang Fu, Zilong Wang, Aliaksandra Shysheya, Jonathan Crabbé, Shoko Ueda, Roberto Sordillo, Lixin Sun, Jake Smith, Bichlien Nguyen, Hannes Schulz, Sarah Lewis, Chin-Wei Huang, Ziheng Lu, Yichi Zhou, Han Yang, Hongxia Hao, Jielan Li, Chunlei Yang, Wenjie Li, Ryota Tomioka, Tian Xie. A generative model for inorganic materials design. Nature 2025. DOI: 10.1038/s41586-025-08628-5. https://www.nature.com/articles/s41586-025-08628-5</a:t>
            </a:r>
          </a:p>
          <a:p xmlns:a="http://schemas.openxmlformats.org/drawingml/2006/main">
            <a:r>
              <a:t/>
            </a:r>
          </a:p>
          <a:p xmlns:a="http://schemas.openxmlformats.org/drawingml/2006/main">
            <a:r>
              <a:t>[R34] Hoellmer, Philipp, Egg, Thomas, Martirossyan, Maya M., Fuemmeler, Eric, Shui, Zeren, Gupta, Amit, Prakash, Pawan, Roitberg, Adrian, Liu, Mingjie, Karypis, George, Transtrum, Mark, Hennig, Richard G., Tadmor, Ellad B., Martiniani, Stefano. Open Materials Generation with Stochastic Interpolants. ICML 2025, PMLR 267. https://proceedings.mlr.press/v267/hollmer25a.html</a:t>
            </a:r>
          </a:p>
          <a:p xmlns:a="http://schemas.openxmlformats.org/drawingml/2006/main">
            <a:r>
              <a:t/>
            </a:r>
          </a:p>
          <a:p xmlns:a="http://schemas.openxmlformats.org/drawingml/2006/main">
            <a:r>
              <a:t>[R49] Kiyoung Seong, Sungsoo Ahn, Sehui Han, Changyoung Park. Multimodal Crystal Flow: Any-to-Any Modality Generation for Unified Crystal Modeling. ICML2026, PMLR306:109105–109131. https://proceedings.mlr.press/v306/seong26a.html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LLM可以组织可检查的关系方案，但物理可行性由生成与评价建立。新的贡献需明确哪些全局共同条件帮助了局部规律迁移。对照要区分模板记忆、局部关系复用和弛豫修复。</a:t>
            </a:r>
          </a:p>
          <a:p xmlns:a="http://schemas.openxmlformats.org/drawingml/2006/main">
            <a:r>
              <a:t/>
            </a:r>
          </a:p>
          <a:p xmlns:a="http://schemas.openxmlformats.org/drawingml/2006/main">
            <a:r>
              <a:t>参考文献</a:t>
            </a:r>
          </a:p>
          <a:p xmlns:a="http://schemas.openxmlformats.org/drawingml/2006/main">
            <a:r>
              <a:t/>
            </a:r>
          </a:p>
          <a:p xmlns:a="http://schemas.openxmlformats.org/drawingml/2006/main">
            <a:r>
              <a:t>[R27] Ryotaro Okabe, Mouyang Cheng, Abhijatmedhi Chotrattanapituk, Manasi Mandal, Kiran Mak, Denisse Córdova Carrizales, Nguyen Tuan Hung, Xiang Fu, Bowen Han, Yao Wang, Weiwei Xie, Robert J. Cava, Tommi S. Jaakkola, Yongqiang Cheng, Mingda Li. Structural constraint integration in a generative model for the discovery of quantum materials. Nature Materials 25, 223–230 2026. DOI: 10.1038/s41563-025-02355-y. https://www.nature.com/articles/s41563-025-02355-y</a:t>
            </a:r>
          </a:p>
          <a:p xmlns:a="http://schemas.openxmlformats.org/drawingml/2006/main">
            <a:r>
              <a:t/>
            </a:r>
          </a:p>
          <a:p xmlns:a="http://schemas.openxmlformats.org/drawingml/2006/main">
            <a:r>
              <a:t>[R51] Nian Liu, Yuwei Zeng, Ryoji Kubo, Nikita Kazeev, Stephen Gregory Dale, Artem Maevskiy, Pengru Huang, Thomas Laurent, Kostya S. Novoselov, Xavier Bresson. Composable Crystals: Controllable Materials Discovery via Concept Learning. arXiv 预印本 2026. https://arxiv.org/html/2605.14769v2</a:t>
            </a:r>
          </a:p>
          <a:p xmlns:a="http://schemas.openxmlformats.org/drawingml/2006/main">
            <a:r>
              <a:t/>
            </a:r>
          </a:p>
          <a:p xmlns:a="http://schemas.openxmlformats.org/drawingml/2006/main">
            <a:r>
              <a:t>[R55] Jingyi Zhou, Oyshee Chowdhury, Noah Oyeniran, Chongze Hu. Topology-Stratified Materials Discovery with A Flow-Based Generative Model. arXiv 预印本 2026. https://arxiv.org/html/2609.26547v1</a:t>
            </a:r>
          </a:p>
          <a:p xmlns:a="http://schemas.openxmlformats.org/drawingml/2006/main">
            <a:r>
              <a:t/>
            </a:r>
          </a:p>
          <a:p xmlns:a="http://schemas.openxmlformats.org/drawingml/2006/main">
            <a:r>
              <a:t>[R11] Bowen Deng, Peichen Zhong, KyuJung Jun, Janosh Riebesell, Kevin Han, Christopher J. Bartel, Gerbrand Ceder. CHGNet as a pretrained universal neural network potential for charge-informed atomistic modelling. Nature Machine Intelligence 5, 1031–1041. DOI: 10.1038/s42256-023-00716-3. https://www.nature.com/articles/s42256-023-00716-3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生成路径不必等同于数值弛豫轨迹。要建立的知识包括结构变化需要的协同补偿及其最终后果。OMatG-IRL已有条件物理训练到DNG的先例，贡献不能只写成物理反馈+生成器。</a:t>
            </a:r>
          </a:p>
          <a:p xmlns:a="http://schemas.openxmlformats.org/drawingml/2006/main">
            <a:r>
              <a:t/>
            </a:r>
          </a:p>
          <a:p xmlns:a="http://schemas.openxmlformats.org/drawingml/2006/main">
            <a:r>
              <a:t>参考文献</a:t>
            </a:r>
          </a:p>
          <a:p xmlns:a="http://schemas.openxmlformats.org/drawingml/2006/main">
            <a:r>
              <a:t/>
            </a:r>
          </a:p>
          <a:p xmlns:a="http://schemas.openxmlformats.org/drawingml/2006/main">
            <a:r>
              <a:t>[R44] Chen, Junwu, Guo, Jeff, Fako, Edvin, Schwaller, Philippe. Accelerating inverse materials design using generative diffusion models with reinforcement learning. arXiv 预印本 2025. https://arxiv.org/html/2511.03112v1</a:t>
            </a:r>
          </a:p>
          <a:p xmlns:a="http://schemas.openxmlformats.org/drawingml/2006/main">
            <a:r>
              <a:t/>
            </a:r>
          </a:p>
          <a:p xmlns:a="http://schemas.openxmlformats.org/drawingml/2006/main">
            <a:r>
              <a:t>[R40] Xu, Andy, Desai, Rohan, Wang, Larry, Ritz, Ethan, Hope, Gabriel. PLaID++: A Preference Aligned Language Model for Targeted Inorganic Materials Design. ICML 2026. https://arxiv.org/html/2509.07150v4</a:t>
            </a:r>
          </a:p>
          <a:p xmlns:a="http://schemas.openxmlformats.org/drawingml/2006/main">
            <a:r>
              <a:t/>
            </a:r>
          </a:p>
          <a:p xmlns:a="http://schemas.openxmlformats.org/drawingml/2006/main">
            <a:r>
              <a:t>[R45] Hyunsoo Park, Aron Walsh. Guiding Generative Models to Uncover Diverse and Novel Crystals via Reinforcement Learning. Nature Machine Intelligence 2026. DOI: 10.1038/s42256-026-01262-4. https://www.nature.com/articles/s42256-026-01262-4</a:t>
            </a:r>
          </a:p>
          <a:p xmlns:a="http://schemas.openxmlformats.org/drawingml/2006/main">
            <a:r>
              <a:t/>
            </a:r>
          </a:p>
          <a:p xmlns:a="http://schemas.openxmlformats.org/drawingml/2006/main">
            <a:r>
              <a:t>[R48] Hoellmer, Philipp, Martiniani, Stefano. Open Materials Generation with Inference-Time Reinforcement Learning. ICML 2026. https://arxiv.org/html/2602.00424v2</a:t>
            </a:r>
          </a:p>
          <a:p xmlns:a="http://schemas.openxmlformats.org/drawingml/2006/main">
            <a:r>
              <a:t/>
            </a:r>
          </a:p>
          <a:p xmlns:a="http://schemas.openxmlformats.org/drawingml/2006/main">
            <a:r>
              <a:t>[R54] Egg, Thomas, Sullivan, Harry Winston, Tadmor, Ellad B., Martiniani, Stefano. OMatG-flash: An All-Atom Flow Map with Reinforce Adjoint Matching for Scalable Materials Discovery. arXiv 预印本 2026. https://arxiv.org/html/2609.26402v1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可以固定低层生成器，独立研究上层探索与学习，也可以研究联合模型。新颖类别不需预先枚举，但评价需声明结构匹配与物理资格。重点是未知成功的获得和保持，而非单纯访问更多组成。</a:t>
            </a:r>
          </a:p>
          <a:p xmlns:a="http://schemas.openxmlformats.org/drawingml/2006/main">
            <a:r>
              <a:t/>
            </a:r>
          </a:p>
          <a:p xmlns:a="http://schemas.openxmlformats.org/drawingml/2006/main">
            <a:r>
              <a:t>参考文献</a:t>
            </a:r>
          </a:p>
          <a:p xmlns:a="http://schemas.openxmlformats.org/drawingml/2006/main">
            <a:r>
              <a:t/>
            </a:r>
          </a:p>
          <a:p xmlns:a="http://schemas.openxmlformats.org/drawingml/2006/main">
            <a:r>
              <a:t>[R09] Bengio, Yoshua, Lahlou, Salem, Deleu, Tristan, Hu, Edward J., Tiwari, Mo, Bengio, Emmanuel. GFlowNet Foundations. Journal of Machine Learning Research 2023. https://jmlr.org/papers/v24/22-0364.html</a:t>
            </a:r>
          </a:p>
          <a:p xmlns:a="http://schemas.openxmlformats.org/drawingml/2006/main">
            <a:r>
              <a:t/>
            </a:r>
          </a:p>
          <a:p xmlns:a="http://schemas.openxmlformats.org/drawingml/2006/main">
            <a:r>
              <a:t>[R23] Marta Wolinska, Aron Walsh, Antoine Cully. Illuminating the property space in crystal structure prediction using Quality-Diversity algorithms. Digital Discovery 2024. DOI: 10.1039/D4DD00054D. https://arxiv.org/html/2403.03511v1</a:t>
            </a:r>
          </a:p>
          <a:p xmlns:a="http://schemas.openxmlformats.org/drawingml/2006/main">
            <a:r>
              <a:t/>
            </a:r>
          </a:p>
          <a:p xmlns:a="http://schemas.openxmlformats.org/drawingml/2006/main">
            <a:r>
              <a:t>[R30] Nguyen, Tri Minh, Tawfik, Sherif Abdulkader, Tran, Truyen, Gupta, Sunil, Rana, Santu, Venkatesh, Svetha. Efficient Symmetry-Aware Materials Generation via Hierarchical Generative Flow Networks. Digital Discovery 2026. DOI: 10.1039/D4DD00392F. https://arxiv.org/html/2411.04323v1</a:t>
            </a:r>
          </a:p>
          <a:p xmlns:a="http://schemas.openxmlformats.org/drawingml/2006/main">
            <a:r>
              <a:t/>
            </a:r>
          </a:p>
          <a:p xmlns:a="http://schemas.openxmlformats.org/drawingml/2006/main">
            <a:r>
              <a:t>[R56] Hovmand, Emma Lei, Elsborg, Jonas, Kandemir, Melih, Bhowmik, Arghya. Let CSP Be Your ANCHOR: Adaptive Crystal Search over Frozen Structure Priors. arXiv 预印本 2026. https://arxiv.org/html/2609.33407v2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本报告的已完成成果是文献演化、挑战谱系与研究议程。四方向不应缩成局部调参问题，也不把采用主流技术名词本身当成方法贡献。各方向均需提出可检验的机制，建立独立结果。</a:t>
            </a:r>
          </a:p>
          <a:p xmlns:a="http://schemas.openxmlformats.org/drawingml/2006/main">
            <a:r>
              <a:t/>
            </a:r>
          </a:p>
          <a:p xmlns:a="http://schemas.openxmlformats.org/drawingml/2006/main">
            <a:r>
              <a:t>参考文献</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这些是表示与条件生成的代表文献。所有正文使用文献均在对应页备注逐项给出完整元数据和来源链接。</a:t>
            </a:r>
          </a:p>
          <a:p xmlns:a="http://schemas.openxmlformats.org/drawingml/2006/main">
            <a:r>
              <a:t/>
            </a:r>
          </a:p>
          <a:p xmlns:a="http://schemas.openxmlformats.org/drawingml/2006/main">
            <a:r>
              <a:t>参考文献</a:t>
            </a:r>
          </a:p>
          <a:p xmlns:a="http://schemas.openxmlformats.org/drawingml/2006/main">
            <a:r>
              <a:t/>
            </a:r>
          </a:p>
          <a:p xmlns:a="http://schemas.openxmlformats.org/drawingml/2006/main">
            <a:r>
              <a:t>[R08] Tian Xie, Xiang Fu, Octavian-Eugen Ganea, Regina Barzilay, Tommi Jaakkola. Crystal Diffusion Variational Autoencoder for Periodic Material Generation. ICLR 2022. https://arxiv.org/abs/2110.06197</a:t>
            </a:r>
          </a:p>
          <a:p xmlns:a="http://schemas.openxmlformats.org/drawingml/2006/main">
            <a:r>
              <a:t/>
            </a:r>
          </a:p>
          <a:p xmlns:a="http://schemas.openxmlformats.org/drawingml/2006/main">
            <a:r>
              <a:t>[R13] Rui Jiao, Wenbing Huang, Peijia Lin, Jiaqi Han, Pin Chen, Yutong Lu, Yang Liu. Crystal Structure Prediction by Joint Equivariant Diffusion. NeurIPS 2023. https://arxiv.org/abs/2309.04475</a:t>
            </a:r>
          </a:p>
          <a:p xmlns:a="http://schemas.openxmlformats.org/drawingml/2006/main">
            <a:r>
              <a:t/>
            </a:r>
          </a:p>
          <a:p xmlns:a="http://schemas.openxmlformats.org/drawingml/2006/main">
            <a:r>
              <a:t>[R26] Miller, Benjamin Kurt, Chen, Ricky T. Q., Sriram, Anuroop, Wood, Brandon M. FlowMM: Generating Materials with Riemannian Flow Matching. ICML 2024, PMLR 235. https://proceedings.mlr.press/v235/miller24a.html</a:t>
            </a:r>
          </a:p>
          <a:p xmlns:a="http://schemas.openxmlformats.org/drawingml/2006/main">
            <a:r>
              <a:t/>
            </a:r>
          </a:p>
          <a:p xmlns:a="http://schemas.openxmlformats.org/drawingml/2006/main">
            <a:r>
              <a:t>[R34] Hoellmer, Philipp, Egg, Thomas, Martirossyan, Maya M., Fuemmeler, Eric, Shui, Zeren, Gupta, Amit, Prakash, Pawan, Roitberg, Adrian, Liu, Mingjie, Karypis, George, Transtrum, Mark, Hennig, Richard G., Tadmor, Ellad B., Martiniani, Stefano. Open Materials Generation with Stochastic Interpolants. ICML 2025, PMLR 267. https://proceedings.mlr.press/v267/hollmer25a.html</a:t>
            </a:r>
          </a:p>
          <a:p xmlns:a="http://schemas.openxmlformats.org/drawingml/2006/main">
            <a:r>
              <a:t/>
            </a:r>
          </a:p>
          <a:p xmlns:a="http://schemas.openxmlformats.org/drawingml/2006/main">
            <a:r>
              <a:t>[R35] Levy, Daniel, Panigrahi, Siba Smarak, Kaba, Sékou-Oumar, Zhu, Qiang, Lee, Kin Long Kelvin, Galkin, Mikhail, Miret, Santiago, Ravanbakhsh, Siamak. SymmCD: Symmetry-Preserving Crystal Generation with Diffusion Models. ICLR 2025. https://arxiv.org/abs/2502.03638</a:t>
            </a:r>
          </a:p>
          <a:p xmlns:a="http://schemas.openxmlformats.org/drawingml/2006/main">
            <a:r>
              <a:t/>
            </a:r>
          </a:p>
          <a:p xmlns:a="http://schemas.openxmlformats.org/drawingml/2006/main">
            <a:r>
              <a:t>[R19] Claudio Zeni, Robert Pinsler, Daniel Zügner, Andrew Fowler, Matthew Horton, Xiang Fu, Zilong Wang, Aliaksandra Shysheya, Jonathan Crabbé, Shoko Ueda, Roberto Sordillo, Lixin Sun, Jake Smith, Bichlien Nguyen, Hannes Schulz, Sarah Lewis, Chin-Wei Huang, Ziheng Lu, Yichi Zhou, Han Yang, Hongxia Hao, Jielan Li, Chunlei Yang, Wenjie Li, Ryota Tomioka, Tian Xie. A generative model for inorganic materials design. Nature 2025. DOI: 10.1038/s41586-025-08628-5. https://www.nature.com/articles/s41586-025-08628-5</a:t>
            </a:r>
          </a:p>
          <a:p xmlns:a="http://schemas.openxmlformats.org/drawingml/2006/main">
            <a:r>
              <a:t/>
            </a:r>
          </a:p>
          <a:p xmlns:a="http://schemas.openxmlformats.org/drawingml/2006/main">
            <a:r>
              <a:t>[R27] Ryotaro Okabe, Mouyang Cheng, Abhijatmedhi Chotrattanapituk, Manasi Mandal, Kiran Mak, Denisse Córdova Carrizales, Nguyen Tuan Hung, Xiang Fu, Bowen Han, Yao Wang, Weiwei Xie, Robert J. Cava, Tommi S. Jaakkola, Yongqiang Cheng, Mingda Li. Structural constraint integration in a generative model for the discovery of quantum materials. Nature Materials 25, 223–230 2026. DOI: 10.1038/s41563-025-02355-y. https://www.nature.com/articles/s41563-025-02355-y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完整综述：https://github.com/YWDDLiang/Research/tree/main/crystal/evolution 。references.json与references.bib含全部57项原始来源。资料截至2026年10月10日，预印本与正式发表分别标明。</a:t>
            </a:r>
          </a:p>
          <a:p xmlns:a="http://schemas.openxmlformats.org/drawingml/2006/main">
            <a:r>
              <a:t/>
            </a:r>
          </a:p>
          <a:p xmlns:a="http://schemas.openxmlformats.org/drawingml/2006/main">
            <a:r>
              <a:t>参考文献</a:t>
            </a:r>
          </a:p>
          <a:p xmlns:a="http://schemas.openxmlformats.org/drawingml/2006/main">
            <a:r>
              <a:t/>
            </a:r>
          </a:p>
          <a:p xmlns:a="http://schemas.openxmlformats.org/drawingml/2006/main">
            <a:r>
              <a:t>[R29] Anuroop Sriram, Benjamin Kurt Miller, Ricky T. Q. Chen, Brandon M. Wood. FlowLLM: Flow Matching for Material Generation with Large Language Models as Base Distributions. NeurIPS 2024. DOI: 10.52202/079017-1464. https://proceedings.neurips.cc/paper_files/paper/2024/hash/51d317df78eded9eb3c9d3fb1091c279-Abstract-Conference.html</a:t>
            </a:r>
          </a:p>
          <a:p xmlns:a="http://schemas.openxmlformats.org/drawingml/2006/main">
            <a:r>
              <a:t/>
            </a:r>
          </a:p>
          <a:p xmlns:a="http://schemas.openxmlformats.org/drawingml/2006/main">
            <a:r>
              <a:t>[R43] Subhojyoti Khastagir, Kishalay Das, Pawan Goyal, Seung-Cheol Lee, Satadeep Bhattacharjee, Niloy Ganguly. LLM Meets Diffusion: A Hybrid Framework for Crystal Material Generation. NeurIPS 2025. DOI: 10.52202/085713-5635. https://proceedings.neurips.cc/paper_files/paper/2025/hash/f789a628fca473e922c806657512a20f-Abstract-Conference.html</a:t>
            </a:r>
          </a:p>
          <a:p xmlns:a="http://schemas.openxmlformats.org/drawingml/2006/main">
            <a:r>
              <a:t/>
            </a:r>
          </a:p>
          <a:p xmlns:a="http://schemas.openxmlformats.org/drawingml/2006/main">
            <a:r>
              <a:t>[R40] Xu, Andy, Desai, Rohan, Wang, Larry, Ritz, Ethan, Hope, Gabriel. PLaID++: A Preference Aligned Language Model for Targeted Inorganic Materials Design. ICML 2026. https://arxiv.org/html/2509.07150v4</a:t>
            </a:r>
          </a:p>
          <a:p xmlns:a="http://schemas.openxmlformats.org/drawingml/2006/main">
            <a:r>
              <a:t/>
            </a:r>
          </a:p>
          <a:p xmlns:a="http://schemas.openxmlformats.org/drawingml/2006/main">
            <a:r>
              <a:t>[R49] Kiyoung Seong, Sungsoo Ahn, Sehui Han, Changyoung Park. Multimodal Crystal Flow: Any-to-Any Modality Generation for Unified Crystal Modeling. ICML2026, PMLR306:109105–109131. https://proceedings.mlr.press/v306/seong26a.html</a:t>
            </a:r>
          </a:p>
          <a:p xmlns:a="http://schemas.openxmlformats.org/drawingml/2006/main">
            <a:r>
              <a:t/>
            </a:r>
          </a:p>
          <a:p xmlns:a="http://schemas.openxmlformats.org/drawingml/2006/main">
            <a:r>
              <a:t>[R48] Hoellmer, Philipp, Martiniani, Stefano. Open Materials Generation with Inference-Time Reinforcement Learning. ICML 2026. https://arxiv.org/html/2602.00424v2</a:t>
            </a:r>
          </a:p>
          <a:p xmlns:a="http://schemas.openxmlformats.org/drawingml/2006/main">
            <a:r>
              <a:t/>
            </a:r>
          </a:p>
          <a:p xmlns:a="http://schemas.openxmlformats.org/drawingml/2006/main">
            <a:r>
              <a:t>[R45] Hyunsoo Park, Aron Walsh. Guiding Generative Models to Uncover Diverse and Novel Crystals via Reinforcement Learning. Nature Machine Intelligence 2026. DOI: 10.1038/s42256-026-01262-4. https://www.nature.com/articles/s42256-026-01262-4</a:t>
            </a:r>
          </a:p>
          <a:p xmlns:a="http://schemas.openxmlformats.org/drawingml/2006/main">
            <a:r>
              <a:t/>
            </a:r>
          </a:p>
          <a:p xmlns:a="http://schemas.openxmlformats.org/drawingml/2006/main">
            <a:r>
              <a:t>[R56] Hovmand, Emma Lei, Elsborg, Jonas, Kandemir, Melih, Bhowmik, Arghya. Let CSP Be Your ANCHOR: Adaptive Crystal Search over Frozen Structure Priors. arXiv 预印本 2026. https://arxiv.org/html/2609.33407v2</a:t>
            </a:r>
          </a:p>
          <a:p xmlns:a="http://schemas.openxmlformats.org/drawingml/2006/main">
            <a:br/>
            <a:br/>
            <a:r>
              <a:t>完整文献表（57项）</a:t>
            </a:r>
            <a:br/>
            <a:br/>
            <a:r>
              <a:t>[R01] Chris J. Pickard, R. J. Needs. High-Pressure Phases of Silane. Physical Review Letters 97, 045504. DOI: 10.1103/PhysRevLett.97.045504. https://journals.aps.org/prl/abstract/10.1103/PhysRevLett.97.045504</a:t>
            </a:r>
            <a:br/>
            <a:br/>
            <a:r>
              <a:t>[R02] Artem R. Oganov, Colin W. Glass. Crystal structure prediction using ab initio evolutionary techniques: Principles and applications. Journal of Chemical Physics 124, 244704 (2006). DOI: 10.1063/1.2210932. https://doi.org/10.1063/1.2210932</a:t>
            </a:r>
            <a:br/>
            <a:br/>
            <a:r>
              <a:t>[R03] Chris J Pickard, R J Needs. Ab initio Random Structure Searching. Journal of Physics: Condensed Matter 2011. DOI: 10.1088/0953-8984/23/5/053201. https://arxiv.org/abs/1101.3987</a:t>
            </a:r>
            <a:br/>
            <a:br/>
            <a:r>
              <a:t>[R04] Anubhav Jain, Shyue Ping Ong, Geoffroy Hautier, Wei Chen, William Davidson Richards, Stephen Dacek, Shreyas Cholia, Dan Gunter, David Skinner, Gerbrand Ceder, Kristin A. Persson. Commentary: The Materials Project: A materials genome approach to accelerating materials innovation. APL Materials 1, 011002 (2013). DOI: 10.1063/1.4812323. https://doi.org/10.1063/1.4812323</a:t>
            </a:r>
            <a:br/>
            <a:br/>
            <a:r>
              <a:t>[R05] Tian Xie, Jeffrey C. Grossman. Crystal Graph Convolutional Neural Networks for an Accurate and Interpretable Prediction of Material Properties. Physical Review Letters 120, 145301. DOI: 10.1103/PhysRevLett.120.145301. https://journals.aps.org/prl/abstract/10.1103/PhysRevLett.120.145301</a:t>
            </a:r>
            <a:br/>
            <a:br/>
            <a:r>
              <a:t>[R06] Juhwan Noh, Jaehoon Kim, Helge S. Stein, Benjamin Sanchez-Lengeling, John M. Gregoire, Alan Aspuru-Guzik, Yousung Jung. Inverse Design of Solid-State Materials via a Continuous Representation. Matter 1(5), 1370–1384. DOI: 10.1016/j.matt.2019.08.017. https://doi.org/10.1016/j.matt.2019.08.017</a:t>
            </a:r>
            <a:br/>
            <a:br/>
            <a:r>
              <a:t>[R07] Zekun Ren, Siyu Isaac Parker Tian, Juhwan Noh, Felipe Oviedo, Guangzong Xing, Jiali Li, Qiaohao Liang, Ruiming Zhu, Armin G. Aberle, Shijing Sun, Xiaonan Wang, Yi Liu, Qianxiao Li, Senthilnath Jayavelu, Kedar Hippalgaonkar, Yousung Jung, Tonio Buonassisi. An invertible crystallographic representation for general inverse design of inorganic crystals with targeted properties. Matter 5, 314–335 2022. DOI: 10.1016/j.matt.2021.11.032. https://arxiv.org/pdf/2005.07609v3</a:t>
            </a:r>
            <a:br/>
            <a:br/>
            <a:r>
              <a:t>[R08] Tian Xie, Xiang Fu, Octavian-Eugen Ganea, Regina Barzilay, Tommi Jaakkola. Crystal Diffusion Variational Autoencoder for Periodic Material Generation. ICLR 2022. https://arxiv.org/abs/2110.06197</a:t>
            </a:r>
            <a:br/>
            <a:br/>
            <a:r>
              <a:t>[R09] Bengio, Yoshua, Lahlou, Salem, Deleu, Tristan, Hu, Edward J., Tiwari, Mo, Bengio, Emmanuel. GFlowNet Foundations. Journal of Machine Learning Research 2023. https://jmlr.org/papers/v24/22-0364.html</a:t>
            </a:r>
            <a:br/>
            <a:br/>
            <a:r>
              <a:t>[R10] Chi Chen, Shyue Ping Ong. A universal graph deep learning interatomic potential for the periodic table. Nature Computational Science 2, 718–728. DOI: 10.1038/s43588-022-00349-3. https://www.nature.com/articles/s43588-022-00349-3</a:t>
            </a:r>
            <a:br/>
            <a:br/>
            <a:r>
              <a:t>[R11] Bowen Deng, Peichen Zhong, KyuJung Jun, Janosh Riebesell, Kevin Han, Christopher J. Bartel, Gerbrand Ceder. CHGNet as a pretrained universal neural network potential for charge-informed atomistic modelling. Nature Machine Intelligence 5, 1031–1041. DOI: 10.1038/s42256-023-00716-3. https://www.nature.com/articles/s42256-023-00716-3</a:t>
            </a:r>
            <a:br/>
            <a:br/>
            <a:r>
              <a:t>[R12] Luis M. Antunes, Keith T. Butler, Ricardo Grau-Crespo. Crystal structure generation with autoregressive large language modeling. Nature Communications 15, 10570 2024. DOI: 10.1038/s41467-024-54639-7. https://www.nature.com/articles/s41467-024-54639-7</a:t>
            </a:r>
            <a:br/>
            <a:br/>
            <a:r>
              <a:t>[R13] Rui Jiao, Wenbing Huang, Peijia Lin, Jiaqi Han, Pin Chen, Yutong Lu, Yang Liu. Crystal Structure Prediction by Joint Equivariant Diffusion. NeurIPS 2023. https://arxiv.org/abs/2309.04475</a:t>
            </a:r>
            <a:br/>
            <a:br/>
            <a:r>
              <a:t>[R14] Elena Zamaraeva, Christopher M. Collins, Dmytro Antypov, Vladimir V. Gusev, Rahul Savani, Matthew S. Dyer, George R. Darling, Igor Potapov, Matthew J. Rosseinsky, Paul G. Spirakis. Reinforcement learning in crystal structure prediction. Digital Discovery 2023. DOI: 10.1039/D3DD00063J. https://pubs.rsc.org/en/content/articlehtml/2023/dd/d3dd00063j</a:t>
            </a:r>
            <a:br/>
            <a:br/>
            <a:r>
              <a:t>[R15] Yang, Sherry, Cho, KwangHwan, Merchant, Amil, Abbeel, Pieter, Schuurmans, Dale, Mordatch, Igor, Cubuk, Ekin Dogus. Scalable Diffusion for Materials Generation. ICLR 2024. https://arxiv.org/abs/2311.09235</a:t>
            </a:r>
            <a:br/>
            <a:br/>
            <a:r>
              <a:t>[R16] Hang Xiao, Rong Li, Xiaoyang Shi, Yan Chen, Liangliang Zhu, Xi Chen, Lei Wang. An invertible, invariant crystal representation for inverse design of solid-state materials using generative deep learning. Nature Communications 14, 7027. DOI: 10.1038/s41467-023-42870-7. https://www.nature.com/articles/s41467-023-42870-7</a:t>
            </a:r>
            <a:br/>
            <a:br/>
            <a:r>
              <a:t>[R17] Nathan J. Szymanski, Bernardus Rendy, Yuxing Fei, Rishi E. Kumar, Tanjin He, David Milsted, Matthew J. McDermott, Max Gallant, Ekin Dogus Cubuk, Amil Merchant, Haegyeom Kim, Anubhav Jain, Christopher J. Bartel, Kristin Persson, Yan Zeng, Gerbrand Ceder. Author Correction: An autonomous laboratory for the accelerated synthesis of inorganic materials. Nature 650, E1 (2026). DOI: 10.1038/s41586-025-09992-y. https://www.nature.com/articles/s41586-025-09992-y</a:t>
            </a:r>
            <a:br/>
            <a:br/>
            <a:r>
              <a:t>[R18] Amil Merchant, Simon Batzner, Samuel S. Schoenholz, Muratahan Aykol, Gowoon Cheon, Ekin Dogus Cubuk. Scaling deep learning for materials discovery. Nature 2023. DOI: 10.1038/s41586-023-06735-9. https://www.nature.com/articles/s41586-023-06735-9</a:t>
            </a:r>
            <a:br/>
            <a:br/>
            <a:r>
              <a:t>[R19] Claudio Zeni, Robert Pinsler, Daniel Zügner, Andrew Fowler, Matthew Horton, Xiang Fu, Zilong Wang, Aliaksandra Shysheya, Jonathan Crabbé, Shoko Ueda, Roberto Sordillo, Lixin Sun, Jake Smith, Bichlien Nguyen, Hannes Schulz, Sarah Lewis, Chin-Wei Huang, Ziheng Lu, Yichi Zhou, Han Yang, Hongxia Hao, Jielan Li, Chunlei Yang, Wenjie Li, Ryota Tomioka, Tian Xie. A generative model for inorganic materials design. Nature 2025. DOI: 10.1038/s41586-025-08628-5. https://www.nature.com/articles/s41586-025-08628-5</a:t>
            </a:r>
            <a:br/>
            <a:br/>
            <a:r>
              <a:t>[R20] Yan, Keqiang, Li, Xiner, Ling, Hongyi, Ashen, Kenna, Edwards, Carl, Arróyave, Raymundo, Zitnik, Marinka, Ji, Heng, Qian, Xiaofeng, Qian, Xiaoning, Ji, Shuiwang. Invariant Tokenization of Crystalline Materials for Language Model Enabled Generation. NeurIPS 2024. https://papers.nips.cc/paper_files/paper/2024/hash/e23133d34964a0a09f6d076fc4b922a4-Abstract-Conference.html</a:t>
            </a:r>
            <a:br/>
            <a:br/>
            <a:r>
              <a:t>[R21] Nate Gruver, Anuroop Sriram, Andrea Madotto, Andrew Gordon Wilson, C. Lawrence Zitnick, Zachary Ulissi. Fine-Tuned Language Models Generate Stable Inorganic Materials as Text. ICLR 2024. https://arxiv.org/abs/2402.04379</a:t>
            </a:r>
            <a:br/>
            <a:br/>
            <a:r>
              <a:t>[R22] Jiao, Rui, Huang, Wenbing, Liu, Yu, Zhao, Deli, Liu, Yang. Space Group Constrained Crystal Generation. ICLR 2024. https://arxiv.org/abs/2402.03992</a:t>
            </a:r>
            <a:br/>
            <a:br/>
            <a:r>
              <a:t>[R23] Marta Wolinska, Aron Walsh, Antoine Cully. Illuminating the property space in crystal structure prediction using Quality-Diversity algorithms. Digital Discovery 2024. DOI: 10.1039/D4DD00054D. https://arxiv.org/html/2403.03511v1</a:t>
            </a:r>
            <a:br/>
            <a:br/>
            <a:r>
              <a:t>[R24] Cai-Yuan Ye, Hong-Ming Weng, Quan-Sheng Wu. Con-CDVAE: A method for the conditional generation of crystal structures. Computational Materials Today 1, 100003 2024. DOI: 10.1016/j.commt.2024.100003. https://arxiv.org/html/2403.12478v1</a:t>
            </a:r>
            <a:br/>
            <a:br/>
            <a:r>
              <a:t>[R25] Zhendong Cao, Xiaoshan Luo, Jian Lv, Lei Wang. Space group informed transformer for crystalline materials generation. Science Bulletin 70, 3522–3533 2025. DOI: 10.1016/j.scib.2025.09.035. https://arxiv.org/abs/2403.15734</a:t>
            </a:r>
            <a:br/>
            <a:br/>
            <a:r>
              <a:t>[R26] Miller, Benjamin Kurt, Chen, Ricky T. Q., Sriram, Anuroop, Wood, Brandon M. FlowMM: Generating Materials with Riemannian Flow Matching. ICML 2024, PMLR 235. https://proceedings.mlr.press/v235/miller24a.html</a:t>
            </a:r>
            <a:br/>
            <a:br/>
            <a:r>
              <a:t>[R27] Ryotaro Okabe, Mouyang Cheng, Abhijatmedhi Chotrattanapituk, Manasi Mandal, Kiran Mak, Denisse Córdova Carrizales, Nguyen Tuan Hung, Xiang Fu, Bowen Han, Yao Wang, Weiwei Xie, Robert J. Cava, Tommi S. Jaakkola, Yongqiang Cheng, Mingda Li. Structural constraint integration in a generative model for the discovery of quantum materials. Nature Materials 25, 223–230 2026. DOI: 10.1038/s41563-025-02355-y. https://www.nature.com/articles/s41563-025-02355-y</a:t>
            </a:r>
            <a:br/>
            <a:br/>
            <a:r>
              <a:t>[R28] Sherry Yang, Simon Batzner, Ruiqi Gao, Muratahan Aykol, Alexander L. Gaunt, Brendan McMorrow, Danilo J. Rezende, Dale Schuurmans, Igor Mordatch, Ekin D. Cubuk. Generative Hierarchical Materials Search. NeurIPS 2024. https://proceedings.neurips.cc/paper_files/paper/2024/file/447d012bd95b6767a4bfdebf96cdfcc9-Paper-Conference.pdf</a:t>
            </a:r>
            <a:br/>
            <a:br/>
            <a:r>
              <a:t>[R29] Anuroop Sriram, Benjamin Kurt Miller, Ricky T. Q. Chen, Brandon M. Wood. FlowLLM: Flow Matching for Material Generation with Large Language Models as Base Distributions. NeurIPS 2024. DOI: 10.52202/079017-1464. https://proceedings.neurips.cc/paper_files/paper/2024/hash/51d317df78eded9eb3c9d3fb1091c279-Abstract-Conference.html</a:t>
            </a:r>
            <a:br/>
            <a:br/>
            <a:r>
              <a:t>[R30] Nguyen, Tri Minh, Tawfik, Sherif Abdulkader, Tran, Truyen, Gupta, Sunil, Rana, Santu, Venkatesh, Svetha. Efficient Symmetry-Aware Materials Generation via Hierarchical Generative Flow Networks. Digital Discovery 2026. DOI: 10.1039/D4DD00392F. https://arxiv.org/html/2411.04323v1</a:t>
            </a:r>
            <a:br/>
            <a:br/>
            <a:r>
              <a:t>[R31] Nathan J. Szymanski, Christopher J. Bartel. Establishing baselines for generative discovery of inorganic crystals. Materials Horizons 2025. DOI: 10.1039/D5MH00010F. https://pubs.rsc.org/en/content/articlehtml/2025/mh/d5mh00010f</a:t>
            </a:r>
            <a:br/>
            <a:br/>
            <a:r>
              <a:t>[R32] Pierre-Paul De Breuck, Hashim A. Piracha, Gian-Marco Rignanese, Miguel A. L. Marques. A generative material transformer using Wyckoff representation. npj Computational Materials 12, 60 2026. DOI: 10.1038/s41524-025-01940-8. https://www.nature.com/articles/s41524-025-01940-8</a:t>
            </a:r>
            <a:br/>
            <a:br/>
            <a:r>
              <a:t>[R33] Wu, Hanlin, Song, Yuxuan, Gong, Jingjing, Cao, Ziyao, Ouyang, Yawen, Zhang, Jianbing, Zhou, Hao, Ma, Wei-Ying, Liu, Jingjing. A Periodic Bayesian Flow for Material Generation. ICLR 2025. https://arxiv.org/abs/2502.02016</a:t>
            </a:r>
            <a:br/>
            <a:br/>
            <a:r>
              <a:t>[R34] Hoellmer, Philipp, Egg, Thomas, Martirossyan, Maya M., Fuemmeler, Eric, Shui, Zeren, Gupta, Amit, Prakash, Pawan, Roitberg, Adrian, Liu, Mingjie, Karypis, George, Transtrum, Mark, Hennig, Richard G., Tadmor, Ellad B., Martiniani, Stefano. Open Materials Generation with Stochastic Interpolants. ICML 2025, PMLR 267. https://proceedings.mlr.press/v267/hollmer25a.html</a:t>
            </a:r>
            <a:br/>
            <a:br/>
            <a:r>
              <a:t>[R35] Levy, Daniel, Panigrahi, Siba Smarak, Kaba, Sékou-Oumar, Zhu, Qiang, Lee, Kin Long Kelvin, Galkin, Mikhail, Miret, Santiago, Ravanbakhsh, Siamak. SymmCD: Symmetry-Preserving Crystal Generation with Diffusion Models. ICLR 2025. https://arxiv.org/abs/2502.03638</a:t>
            </a:r>
            <a:br/>
            <a:br/>
            <a:r>
              <a:t>[R36] Kelvinius, Filip Ekström, Andersson, Oskar B., Parackal, Abhijith S., Qian, Dong, Armiento, Rickard, Lindsten, Fredrik. WyckoffDiff – A Generative Diffusion Model for Crystal Symmetry. ICML 2025, PMLR 267. https://proceedings.mlr.press/v267/ekstrom-kelvinius25a.html</a:t>
            </a:r>
            <a:br/>
            <a:br/>
            <a:r>
              <a:t>[R37] Kishalay Das, Subhojyoti Khastagir, Pawan Goyal, Seung-Cheol Lee, Satadeep Bhattacharjee, Niloy Ganguly. Periodic Materials Generation using Text-Guided Joint Diffusion Model. ICLR 2025. https://proceedings.iclr.cc/paper_files/paper/2025/hash/24e4e3234178a836b70e0aa48827e0ff-Abstract-Conference.html</a:t>
            </a:r>
            <a:br/>
            <a:br/>
            <a:r>
              <a:t>[R38] Kazeev, Nikita, Nong, Wei, Romanov, Ignat, Zhu, Ruiming, Ustyuzhanin, Andrey, Yamazaki, Shuya, Hippalgaonkar, Kedar. Wyckoff Transformer: Generation of Symmetric Crystals. ICML 2025, PMLR 267, 29495–29526. https://arxiv.org/abs/2503.02407</a:t>
            </a:r>
            <a:br/>
            <a:br/>
            <a:r>
              <a:t>[R39] Hyunsoo Park, Anthony Onwuli, Aron Walsh. Exploration of crystal chemical space using text-guided generative artificial intelligence. Nature Communications 16, 4379 2025. DOI: 10.1038/s41467-025-59636-y. https://www.nature.com/articles/s41467-025-59636-y</a:t>
            </a:r>
            <a:br/>
            <a:br/>
            <a:r>
              <a:t>[R40] Xu, Andy, Desai, Rohan, Wang, Larry, Ritz, Ethan, Hope, Gabriel. PLaID++: A Preference Aligned Language Model for Targeted Inorganic Materials Design. ICML 2026. https://arxiv.org/html/2509.07150v4</a:t>
            </a:r>
            <a:br/>
            <a:br/>
            <a:r>
              <a:t>[R41] Wang, Yinan, Wang, Xiaoyang, Wang, Zhenyu, Wu, Jing, Lv, Jian, Wang, Han. OpenCSP: A Deep Learning Framework for Crystal Structure Prediction from Ambient to High Pressure. arXiv 预印本 2025. https://arxiv.org/html/2509.10293v1</a:t>
            </a:r>
            <a:br/>
            <a:br/>
            <a:r>
              <a:t>[R42] Martirossyan, Maya M., Egg, Thomas, Hoellmer, Philipp, Karypis, George, Transtrum, Mark, Roitberg, Adrian, Liu, Mingjie, Hennig, Richard G., Tadmor, Ellad B., Martiniani, Stefano. All that structure matches does not glitter. NeurIPS Datasets and Benchmarks 2025. https://arxiv.org/html/2509.12178v2</a:t>
            </a:r>
            <a:br/>
            <a:br/>
            <a:r>
              <a:t>[R43] Subhojyoti Khastagir, Kishalay Das, Pawan Goyal, Seung-Cheol Lee, Satadeep Bhattacharjee, Niloy Ganguly. LLM Meets Diffusion: A Hybrid Framework for Crystal Material Generation. NeurIPS 2025. DOI: 10.52202/085713-5635. https://proceedings.neurips.cc/paper_files/paper/2025/hash/f789a628fca473e922c806657512a20f-Abstract-Conference.html</a:t>
            </a:r>
            <a:br/>
            <a:br/>
            <a:r>
              <a:t>[R44] Chen, Junwu, Guo, Jeff, Fako, Edvin, Schwaller, Philippe. Accelerating inverse materials design using generative diffusion models with reinforcement learning. arXiv 预印本 2025. https://arxiv.org/html/2511.03112v1</a:t>
            </a:r>
            <a:br/>
            <a:br/>
            <a:r>
              <a:t>[R45] Hyunsoo Park, Aron Walsh. Guiding Generative Models to Uncover Diverse and Novel Crystals via Reinforcement Learning. Nature Machine Intelligence 2026. DOI: 10.1038/s42256-026-01262-4. https://www.nature.com/articles/s42256-026-01262-4</a:t>
            </a:r>
            <a:br/>
            <a:br/>
            <a:r>
              <a:t>[R46] Betala, Siddharth, Gleason, Samuel P., Ramlaoui, Ali, Xu, Andy, Channing, Georgia, Levy, Daniel, Fourrier, Clémentine, Kazeev, Nikita, Joshi, Chaitanya K., Kaba, Sékou-Oumar, Therrien, Félix, Hernandez-Garcia, Alex, Mercado, Rocío, Krishnan, N. M. Anoop, Duval, Alexandre. LeMat-GenBench: A Unified Evaluation Framework for Crystal Generative Models. arXiv 预印本 2025. https://arxiv.org/html/2512.04562v2</a:t>
            </a:r>
            <a:br/>
            <a:br/>
            <a:r>
              <a:t>[R47] Peijia Lin, Zihan Zhang, Zhangrui Zhao, Shaohao Rui, Junyi An, Yun-Fei Shi, Fenglei Cao, Weijie Ma, Yutong Lu. Periodic Bayesian Flow Networks with Additive Accuracy. ICML 2026, PMLR 306, 75161–75176. https://proceedings.mlr.press/v306/lin26ar.html</a:t>
            </a:r>
            <a:br/>
            <a:br/>
            <a:r>
              <a:t>[R48] Hoellmer, Philipp, Martiniani, Stefano. Open Materials Generation with Inference-Time Reinforcement Learning. ICML 2026. https://arxiv.org/html/2602.00424v2</a:t>
            </a:r>
            <a:br/>
            <a:br/>
            <a:r>
              <a:t>[R49] Kiyoung Seong, Sungsoo Ahn, Sehui Han, Changyoung Park. Multimodal Crystal Flow: Any-to-Any Modality Generation for Unified Crystal Modeling. ICML2026, PMLR306:109105–109131. https://proceedings.mlr.press/v306/seong26a.html</a:t>
            </a:r>
            <a:br/>
            <a:br/>
            <a:r>
              <a:t>[R50] Qin, Yifang, Shi, Yu, Tan, Junfu, Liu, Chang, Zhang, Ming, Lu, Ziheng. Generative structure search for efficient and diverse discovery of molecular and crystal structures. arXiv 预印本 2026. https://arxiv.org/html/2604.27636v2</a:t>
            </a:r>
            <a:br/>
            <a:br/>
            <a:r>
              <a:t>[R51] Nian Liu, Yuwei Zeng, Ryoji Kubo, Nikita Kazeev, Stephen Gregory Dale, Artem Maevskiy, Pengru Huang, Thomas Laurent, Kostya S. Novoselov, Xavier Bresson. Composable Crystals: Controllable Materials Discovery via Concept Learning. arXiv 预印本 2026. https://arxiv.org/html/2605.14769v2</a:t>
            </a:r>
            <a:br/>
            <a:br/>
            <a:r>
              <a:t>[R52] Negishi, Masahiro, Walsh, Aron. Substitution-Based Analysis of Structural Novelty for Generative Models of Materials. arXiv 预印本 2026. https://arxiv.org/html/2606.23166v1</a:t>
            </a:r>
            <a:br/>
            <a:br/>
            <a:r>
              <a:t>[R53] Wentao Li. Text-guided flow matching enables sample-efficient crystal structure generation. arXiv 预印本 2026. https://arxiv.org/html/2609.01076v2</a:t>
            </a:r>
            <a:br/>
            <a:br/>
            <a:r>
              <a:t>[R54] Egg, Thomas, Sullivan, Harry Winston, Tadmor, Ellad B., Martiniani, Stefano. OMatG-flash: An All-Atom Flow Map with Reinforce Adjoint Matching for Scalable Materials Discovery. arXiv 预印本 2026. https://arxiv.org/html/2609.26402v1</a:t>
            </a:r>
            <a:br/>
            <a:br/>
            <a:r>
              <a:t>[R55] Jingyi Zhou, Oyshee Chowdhury, Noah Oyeniran, Chongze Hu. Topology-Stratified Materials Discovery with A Flow-Based Generative Model. arXiv 预印本 2026. https://arxiv.org/html/2609.26547v1</a:t>
            </a:r>
            <a:br/>
            <a:br/>
            <a:r>
              <a:t>[R56] Hovmand, Emma Lei, Elsborg, Jonas, Kandemir, Melih, Bhowmik, Arghya. Let CSP Be Your ANCHOR: Adaptive Crystal Search over Frozen Structure Priors. arXiv 预印本 2026. https://arxiv.org/html/2609.33407v2</a:t>
            </a:r>
            <a:br/>
            <a:br/>
            <a:r>
              <a:t>[R57] Tang, Haocheng, Wang, Junmei, Jin, Wengong. Where Should Physics Enter a Molecular Crystal Generator?. arXiv 预印本 2026. https://arxiv.org/html/2609.36398v1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18a275712d24fa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4918da5d9de49b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5a9df9176314a2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d6c11c61d2a49c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800eebaa31d46d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21b5cfce8d1425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B90A2CE-1D36-41FD-B6AC-95DCB02635DE}"/>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30A6EFD-5439-4853-9EFF-0B0376777C5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EED7FAD-5113-448A-9EA2-6C649DE2F03E}"/>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7D87DCD-8888-44B9-B8DB-77E24FD41C5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DDECCDB-F7D3-4442-91DC-7D41ED65C21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D44012F-0012-44AA-B2EA-2FFCD4C22B6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0DF22FC-1B42-46B9-9176-32645C7B188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2E7AF1A-F6D3-4DF4-9C59-F74508DE27A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EC9CB3F-26E5-4C6F-ACF7-2BF6681BE73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25E7FE6-FDAA-4452-837A-A3F2B943FE5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248c0be54ec4400" /><Relationship Type="http://schemas.openxmlformats.org/officeDocument/2006/relationships/slideLayout" Target="/ppt/slideLayouts/slideLayout1.xml" Id="R79d9628acda94cde" /><Relationship Type="http://schemas.openxmlformats.org/officeDocument/2006/relationships/slideLayout" Target="/ppt/slideLayouts/slideLayout2.xml" Id="Rbc5b3e8cee914590" /><Relationship Type="http://schemas.openxmlformats.org/officeDocument/2006/relationships/slideLayout" Target="/ppt/slideLayouts/slideLayout3.xml" Id="R50c453f42cb2400e" /><Relationship Type="http://schemas.openxmlformats.org/officeDocument/2006/relationships/slideLayout" Target="/ppt/slideLayouts/slideLayout4.xml" Id="R970e295d4d0e423f" /><Relationship Type="http://schemas.openxmlformats.org/officeDocument/2006/relationships/slideLayout" Target="/ppt/slideLayouts/slideLayout5.xml" Id="R60eafe8478ed48c7" /><Relationship Type="http://schemas.openxmlformats.org/officeDocument/2006/relationships/slideLayout" Target="/ppt/slideLayouts/slideLayout6.xml" Id="R06aa339f8f1742a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9d9628acda94cde"/>
    <p:sldLayoutId xmlns:r="http://schemas.openxmlformats.org/officeDocument/2006/relationships" id="2147483650" r:id="Rbc5b3e8cee914590"/>
    <p:sldLayoutId xmlns:r="http://schemas.openxmlformats.org/officeDocument/2006/relationships" id="2147483651" r:id="R50c453f42cb2400e"/>
    <p:sldLayoutId xmlns:r="http://schemas.openxmlformats.org/officeDocument/2006/relationships" id="2147483652" r:id="R970e295d4d0e423f"/>
    <p:sldLayoutId xmlns:r="http://schemas.openxmlformats.org/officeDocument/2006/relationships" id="2147483653" r:id="R60eafe8478ed48c7"/>
    <p:sldLayoutId xmlns:r="http://schemas.openxmlformats.org/officeDocument/2006/relationships" id="2147483654" r:id="R06aa339f8f1742a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6ba5860c6244022" /><Relationship Type="http://schemas.openxmlformats.org/officeDocument/2006/relationships/notesSlide" Target="/ppt/notesSlides/notesSlide1.xml" Id="R1d5548272dda4f0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8fada3af238464a" /><Relationship Type="http://schemas.openxmlformats.org/officeDocument/2006/relationships/notesSlide" Target="/ppt/notesSlides/notesSlide2.xml" Id="Rdbacaa339d9b43b2"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fdc079fed00642bb" /><Relationship Type="http://schemas.openxmlformats.org/officeDocument/2006/relationships/notesSlide" Target="/ppt/notesSlides/notesSlide3.xml" Id="R9e223e70bede401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0e6d8480588e43b8" /><Relationship Type="http://schemas.openxmlformats.org/officeDocument/2006/relationships/notesSlide" Target="/ppt/notesSlides/notesSlide4.xml" Id="R090f0c3c5fef446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453e0c79b8e4733" /><Relationship Type="http://schemas.openxmlformats.org/officeDocument/2006/relationships/notesSlide" Target="/ppt/notesSlides/notesSlide5.xml" Id="Rf572e663362447b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753c2e96cb2046af" /><Relationship Type="http://schemas.openxmlformats.org/officeDocument/2006/relationships/notesSlide" Target="/ppt/notesSlides/notesSlide6.xml" Id="R8d036d2c28f34215"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13f2cf0faf54bbf" /><Relationship Type="http://schemas.openxmlformats.org/officeDocument/2006/relationships/notesSlide" Target="/ppt/notesSlides/notesSlide7.xml" Id="Re8ae1f9200584a1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b3f5c947dde04ea0" /><Relationship Type="http://schemas.openxmlformats.org/officeDocument/2006/relationships/notesSlide" Target="/ppt/notesSlides/notesSlide8.xml" Id="R3b1df2b53b384d33"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4699c175d614481" /><Relationship Type="http://schemas.openxmlformats.org/officeDocument/2006/relationships/chart" Target="/ppt/slides/charts/chart1.xml" Id="R54ec9978fcec4a03" /><Relationship Type="http://schemas.openxmlformats.org/officeDocument/2006/relationships/notesSlide" Target="/ppt/notesSlides/notesSlide9.xml" Id="R9aff9f19f3d54f1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d2360e8d8bd42a3" /><Relationship Type="http://schemas.openxmlformats.org/officeDocument/2006/relationships/notesSlide" Target="/ppt/notesSlides/notesSlide10.xml" Id="Reb88c70194b2434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261a8cda83f843a7" /><Relationship Type="http://schemas.openxmlformats.org/officeDocument/2006/relationships/chart" Target="/ppt/slides/charts/chart2.xml" Id="R1d1915d528f24536" /><Relationship Type="http://schemas.openxmlformats.org/officeDocument/2006/relationships/notesSlide" Target="/ppt/notesSlides/notesSlide11.xml" Id="R2386d2d76a804e4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0502a53292d64964" /><Relationship Type="http://schemas.openxmlformats.org/officeDocument/2006/relationships/notesSlide" Target="/ppt/notesSlides/notesSlide12.xml" Id="R2d169ca0e62f449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16c42058939b4492" /><Relationship Type="http://schemas.openxmlformats.org/officeDocument/2006/relationships/chart" Target="/ppt/slides/charts/chart3.xml" Id="Reee1e6b05867428d" /><Relationship Type="http://schemas.openxmlformats.org/officeDocument/2006/relationships/notesSlide" Target="/ppt/notesSlides/notesSlide13.xml" Id="R46b753e86392484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150ca57450be4ae6" /><Relationship Type="http://schemas.openxmlformats.org/officeDocument/2006/relationships/notesSlide" Target="/ppt/notesSlides/notesSlide14.xml" Id="R6a46e83bda0a436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85535a1e427f46e0" /><Relationship Type="http://schemas.openxmlformats.org/officeDocument/2006/relationships/notesSlide" Target="/ppt/notesSlides/notesSlide15.xml" Id="R79ac9d6640c140b5"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398cba73c883447b" /><Relationship Type="http://schemas.openxmlformats.org/officeDocument/2006/relationships/notesSlide" Target="/ppt/notesSlides/notesSlide16.xml" Id="Rfb917eea5fc343d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fa16d315b46e4a8f" /><Relationship Type="http://schemas.openxmlformats.org/officeDocument/2006/relationships/notesSlide" Target="/ppt/notesSlides/notesSlide17.xml" Id="R38f65a2568884cb8"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30118eac76b14326" /><Relationship Type="http://schemas.openxmlformats.org/officeDocument/2006/relationships/notesSlide" Target="/ppt/notesSlides/notesSlide18.xml" Id="R2006f0a20e214f06"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1cb335508381412d" /><Relationship Type="http://schemas.openxmlformats.org/officeDocument/2006/relationships/notesSlide" Target="/ppt/notesSlides/notesSlide19.xml" Id="R82e2320ff4644a4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8c27ff3d2fdf4d46" /><Relationship Type="http://schemas.openxmlformats.org/officeDocument/2006/relationships/notesSlide" Target="/ppt/notesSlides/notesSlide20.xml" Id="Ra25872fa1bff4dbf"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eb50d4f13c354872" /><Relationship Type="http://schemas.openxmlformats.org/officeDocument/2006/relationships/notesSlide" Target="/ppt/notesSlides/notesSlide21.xml" Id="Rb9e20ddd605844da"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e8078af393694a81" /><Relationship Type="http://schemas.openxmlformats.org/officeDocument/2006/relationships/notesSlide" Target="/ppt/notesSlides/notesSlide22.xml" Id="R54e4a7ad45744346"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4d74f174e36b4771" /><Relationship Type="http://schemas.openxmlformats.org/officeDocument/2006/relationships/notesSlide" Target="/ppt/notesSlides/notesSlide23.xml" Id="R68bedfdc16544627"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e9b22ebec5a9450e" /><Relationship Type="http://schemas.openxmlformats.org/officeDocument/2006/relationships/notesSlide" Target="/ppt/notesSlides/notesSlide24.xml" Id="R42e08a291a254d8c"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6a5390a8c73e415d" /><Relationship Type="http://schemas.openxmlformats.org/officeDocument/2006/relationships/notesSlide" Target="/ppt/notesSlides/notesSlide25.xml" Id="R50a758d7bfa94709"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cad3a8d12dc8456b" /><Relationship Type="http://schemas.openxmlformats.org/officeDocument/2006/relationships/notesSlide" Target="/ppt/notesSlides/notesSlide26.xml" Id="R153da13caebb43e8"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8daf20dc54e54a20" /><Relationship Type="http://schemas.openxmlformats.org/officeDocument/2006/relationships/notesSlide" Target="/ppt/notesSlides/notesSlide27.xml" Id="Rec487c14ccc4402b"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6bfa28d60f864803" /><Relationship Type="http://schemas.openxmlformats.org/officeDocument/2006/relationships/notesSlide" Target="/ppt/notesSlides/notesSlide28.xml" Id="R540217d7b58c437c"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高模量合格候选数</c:v>
          </c:tx>
          <c:spPr>
            <a:solidFill xmlns:a="http://schemas.openxmlformats.org/drawingml/2006/main">
              <a:srgbClr val="173E67"/>
            </a:solidFill>
          </c:spPr>
          <c:dPt>
            <c:idx val="0"/>
            <c:invertIfNegative val="0"/>
            <c:spPr>
              <a:solidFill xmlns:a="http://schemas.openxmlformats.org/drawingml/2006/main">
                <a:srgbClr val="A8B5C2"/>
              </a:solidFill>
            </c:spPr>
          </c:dPt>
          <c:dPt>
            <c:idx val="1"/>
            <c:invertIfNegative val="0"/>
            <c:spPr>
              <a:solidFill xmlns:a="http://schemas.openxmlformats.org/drawingml/2006/main">
                <a:srgbClr val="173E67"/>
              </a:solidFill>
            </c:spPr>
          </c:dPt>
          <c:cat>
            <c:strRef>
              <c:f>'Chart Data'!$A$2:$A$3</c:f>
              <c:strCache>
                <c:ptCount val="2"/>
                <c:pt idx="0">
                  <c:v>筛选参照</c:v>
                </c:pt>
                <c:pt idx="1">
                  <c:v>MatterGen</c:v>
                </c:pt>
              </c:strCache>
            </c:strRef>
          </c:cat>
          <c:val>
            <c:numRef>
              <c:f>'Chart Data'!$B$2:$B$3</c:f>
              <c:numCache>
                <c:formatCode>0</c:formatCode>
                <c:ptCount val="2"/>
                <c:pt idx="0">
                  <c:v>40</c:v>
                </c:pt>
                <c:pt idx="1">
                  <c:v>106</c:v>
                </c:pt>
              </c:numCache>
            </c:numRef>
          </c:val>
        </c:ser>
        <c:dLbls>
          <c:numFmt formatCode="0" sourceLinked="0"/>
          <c:txPr>
            <a:bodyPr xmlns:a="http://schemas.openxmlformats.org/drawingml/2006/main" anchorCtr="1"/>
            <a:lstStyle xmlns:a="http://schemas.openxmlformats.org/drawingml/2006/main"/>
            <a:p xmlns:a="http://schemas.openxmlformats.org/drawingml/2006/main">
              <a:pPr>
                <a:defRPr sz="1500" b="1">
                  <a:solidFill>
                    <a:srgbClr val="1B2533"/>
                  </a:solidFill>
                  <a:latin typeface="Microsoft YaHei"/>
                  <a:ea typeface="Microsoft YaHei"/>
                  <a:cs typeface="Microsoft YaHei"/>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526170"/>
            </a:solidFill>
          </a:ln>
        </c:spPr>
        <c:txPr>
          <a:bodyPr xmlns:a="http://schemas.openxmlformats.org/drawingml/2006/main" anchorCtr="1"/>
          <a:lstStyle xmlns:a="http://schemas.openxmlformats.org/drawingml/2006/main"/>
          <a:p xmlns:a="http://schemas.openxmlformats.org/drawingml/2006/main">
            <a:pPr>
              <a:defRPr sz="1500">
                <a:solidFill>
                  <a:srgbClr val="1B2533"/>
                </a:solidFill>
                <a:latin typeface="Microsoft YaHei"/>
                <a:ea typeface="Microsoft YaHei"/>
                <a:cs typeface="Microsoft YaHei"/>
              </a:defRPr>
            </a:pPr>
          </a:p>
        </c:txPr>
        <c:crossAx val="48672768"/>
      </c:catAx>
      <c:valAx>
        <c:axId val="48672768"/>
        <c:scaling>
          <c:orientation val="minMax"/>
          <c:max val="120"/>
          <c:min val="0"/>
        </c:scaling>
        <c:delete val="0"/>
        <c:axPos val="l"/>
        <c:majorGridlines>
          <c:spPr>
            <a:ln xmlns:a="http://schemas.openxmlformats.org/drawingml/2006/main" w="9525">
              <a:solidFill>
                <a:srgbClr val="E2E7EC"/>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1B2533"/>
                </a:solidFill>
                <a:latin typeface="Microsoft YaHei"/>
                <a:ea typeface="Microsoft YaHei"/>
                <a:cs typeface="Microsoft YaHei"/>
              </a:defRPr>
            </a:pPr>
          </a:p>
        </c:txPr>
        <c:crossAx val="48650112"/>
        <c:crossBetween val="between"/>
        <c:majorUnit val="20"/>
      </c:valAx>
      <c:spPr>
        <a:solidFill xmlns:a="http://schemas.openxmlformats.org/drawingml/2006/main">
          <a:srgbClr val="FFFFFF"/>
        </a:solidFill>
        <a:ln xmlns:a="http://schemas.openxmlformats.org/drawingml/2006/main" w="0">
          <a:noFill/>
        </a:ln>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MP-20 CSP匹配率（%）</c:v>
          </c:tx>
          <c:spPr>
            <a:solidFill xmlns:a="http://schemas.openxmlformats.org/drawingml/2006/main">
              <a:srgbClr val="173E67"/>
            </a:solidFill>
          </c:spPr>
          <c:dPt>
            <c:idx val="0"/>
            <c:invertIfNegative val="0"/>
            <c:spPr>
              <a:solidFill xmlns:a="http://schemas.openxmlformats.org/drawingml/2006/main">
                <a:srgbClr val="A8B5C2"/>
              </a:solidFill>
            </c:spPr>
          </c:dPt>
          <c:dPt>
            <c:idx val="1"/>
            <c:invertIfNegative val="0"/>
            <c:spPr>
              <a:solidFill xmlns:a="http://schemas.openxmlformats.org/drawingml/2006/main">
                <a:srgbClr val="173E67"/>
              </a:solidFill>
            </c:spPr>
          </c:dPt>
          <c:cat>
            <c:strRef>
              <c:f>'Chart Data'!$A$2:$A$3</c:f>
              <c:strCache>
                <c:ptCount val="2"/>
                <c:pt idx="0">
                  <c:v>耦合时间</c:v>
                </c:pt>
                <c:pt idx="1">
                  <c:v>独立时间</c:v>
                </c:pt>
              </c:strCache>
            </c:strRef>
          </c:cat>
          <c:val>
            <c:numRef>
              <c:f>'Chart Data'!$B$2:$B$3</c:f>
              <c:numCache>
                <c:formatCode>0</c:formatCode>
                <c:ptCount val="2"/>
                <c:pt idx="0">
                  <c:v>45.58</c:v>
                </c:pt>
                <c:pt idx="1">
                  <c:v>63.14</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500" b="1">
                  <a:solidFill>
                    <a:srgbClr val="1B2533"/>
                  </a:solidFill>
                  <a:latin typeface="Microsoft YaHei"/>
                  <a:ea typeface="Microsoft YaHei"/>
                  <a:cs typeface="Microsoft YaHei"/>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526170"/>
            </a:solidFill>
          </a:ln>
        </c:spPr>
        <c:txPr>
          <a:bodyPr xmlns:a="http://schemas.openxmlformats.org/drawingml/2006/main" anchorCtr="1"/>
          <a:lstStyle xmlns:a="http://schemas.openxmlformats.org/drawingml/2006/main"/>
          <a:p xmlns:a="http://schemas.openxmlformats.org/drawingml/2006/main">
            <a:pPr>
              <a:defRPr sz="1500">
                <a:solidFill>
                  <a:srgbClr val="1B2533"/>
                </a:solidFill>
                <a:latin typeface="Microsoft YaHei"/>
                <a:ea typeface="Microsoft YaHei"/>
                <a:cs typeface="Microsoft YaHei"/>
              </a:defRPr>
            </a:pPr>
          </a:p>
        </c:txPr>
        <c:crossAx val="48672768"/>
      </c:catAx>
      <c:valAx>
        <c:axId val="48672768"/>
        <c:scaling>
          <c:orientation val="minMax"/>
          <c:max val="70"/>
          <c:min val="0"/>
        </c:scaling>
        <c:delete val="0"/>
        <c:axPos val="l"/>
        <c:majorGridlines>
          <c:spPr>
            <a:ln xmlns:a="http://schemas.openxmlformats.org/drawingml/2006/main" w="9525">
              <a:solidFill>
                <a:srgbClr val="E2E7EC"/>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1B2533"/>
                </a:solidFill>
                <a:latin typeface="Microsoft YaHei"/>
                <a:ea typeface="Microsoft YaHei"/>
                <a:cs typeface="Microsoft YaHei"/>
              </a:defRPr>
            </a:pPr>
          </a:p>
        </c:txPr>
        <c:crossAx val="48650112"/>
        <c:crossBetween val="between"/>
        <c:majorUnit val="10"/>
      </c:valAx>
      <c:spPr>
        <a:solidFill xmlns:a="http://schemas.openxmlformats.org/drawingml/2006/main">
          <a:srgbClr val="FFFFFF"/>
        </a:solidFill>
        <a:ln xmlns:a="http://schemas.openxmlformats.org/drawingml/2006/main" w="0">
          <a:noFill/>
        </a:ln>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lineChart>
        <c:grouping val="standard"/>
        <c:varyColors val="0"/>
        <c:ser>
          <c:idx val="0"/>
          <c:order val="0"/>
          <c:tx>
            <c:v>稳定率 S</c:v>
          </c:tx>
          <c:spPr>
            <a:ln xmlns:a="http://schemas.openxmlformats.org/drawingml/2006/main" w="28575">
              <a:solidFill>
                <a:srgbClr val="173E67"/>
              </a:solidFill>
            </a:ln>
          </c:spPr>
          <c:marker>
            <c:symbol val="circle"/>
            <c:size val="8"/>
            <c:spPr>
              <a:solidFill xmlns:a="http://schemas.openxmlformats.org/drawingml/2006/main">
                <a:srgbClr val="173E67"/>
              </a:solidFill>
            </c:spPr>
          </c:marker>
          <c:cat>
            <c:strRef>
              <c:f>'Chart Data'!$A$2:$A$4</c:f>
              <c:strCache>
                <c:ptCount val="3"/>
                <c:pt idx="0">
                  <c:v>第1轮</c:v>
                </c:pt>
                <c:pt idx="1">
                  <c:v>第2轮</c:v>
                </c:pt>
                <c:pt idx="2">
                  <c:v>第3轮</c:v>
                </c:pt>
              </c:strCache>
            </c:strRef>
          </c:cat>
          <c:val>
            <c:numRef>
              <c:f>'Chart Data'!$B$2:$B$4</c:f>
              <c:numCache>
                <c:formatCode>0</c:formatCode>
                <c:ptCount val="3"/>
                <c:pt idx="0">
                  <c:v>10.35</c:v>
                </c:pt>
                <c:pt idx="1">
                  <c:v>13.47</c:v>
                </c:pt>
                <c:pt idx="2">
                  <c:v>15.94</c:v>
                </c:pt>
              </c:numCache>
            </c:numRef>
          </c:val>
          <c:smooth val="0"/>
        </c:ser>
        <c:ser>
          <c:idx val="1"/>
          <c:order val="1"/>
          <c:tx>
            <c:v>SUN</c:v>
          </c:tx>
          <c:spPr>
            <a:ln xmlns:a="http://schemas.openxmlformats.org/drawingml/2006/main" w="28575">
              <a:solidFill>
                <a:srgbClr val="8C564B"/>
              </a:solidFill>
            </a:ln>
          </c:spPr>
          <c:marker>
            <c:symbol val="square"/>
            <c:size val="8"/>
            <c:spPr>
              <a:solidFill xmlns:a="http://schemas.openxmlformats.org/drawingml/2006/main">
                <a:srgbClr val="8C564B"/>
              </a:solidFill>
            </c:spPr>
          </c:marker>
          <c:cat>
            <c:strRef>
              <c:f>'Chart Data'!$C$2:$C$4</c:f>
              <c:strCache>
                <c:ptCount val="3"/>
                <c:pt idx="0">
                  <c:v>第1轮</c:v>
                </c:pt>
                <c:pt idx="1">
                  <c:v>第2轮</c:v>
                </c:pt>
                <c:pt idx="2">
                  <c:v>第3轮</c:v>
                </c:pt>
              </c:strCache>
            </c:strRef>
          </c:cat>
          <c:val>
            <c:numRef>
              <c:f>'Chart Data'!$D$2:$D$4</c:f>
              <c:numCache>
                <c:formatCode>0</c:formatCode>
                <c:ptCount val="3"/>
                <c:pt idx="0">
                  <c:v>2.93</c:v>
                </c:pt>
                <c:pt idx="1">
                  <c:v>2.23</c:v>
                </c:pt>
                <c:pt idx="2">
                  <c:v>1.69</c:v>
                </c:pt>
              </c:numCache>
            </c:numRef>
          </c:val>
          <c:smooth val="0"/>
        </c:ser>
        <c:dLbls>
          <c:numFmt formatCode="0.00" sourceLinked="0"/>
          <c:txPr>
            <a:bodyPr xmlns:a="http://schemas.openxmlformats.org/drawingml/2006/main" anchorCtr="1"/>
            <a:lstStyle xmlns:a="http://schemas.openxmlformats.org/drawingml/2006/main"/>
            <a:p xmlns:a="http://schemas.openxmlformats.org/drawingml/2006/main">
              <a:pPr>
                <a:defRPr sz="1500" b="1">
                  <a:solidFill>
                    <a:srgbClr val="1B2533"/>
                  </a:solidFill>
                  <a:latin typeface="Microsoft YaHei"/>
                  <a:ea typeface="Microsoft YaHei"/>
                  <a:cs typeface="Microsoft YaHei"/>
                </a:defRPr>
              </a:pPr>
            </a:p>
          </c:txPr>
          <c:showLegendKey val="0"/>
          <c:showVal val="1"/>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526170"/>
            </a:solidFill>
          </a:ln>
        </c:spPr>
        <c:txPr>
          <a:bodyPr xmlns:a="http://schemas.openxmlformats.org/drawingml/2006/main" anchorCtr="1"/>
          <a:lstStyle xmlns:a="http://schemas.openxmlformats.org/drawingml/2006/main"/>
          <a:p xmlns:a="http://schemas.openxmlformats.org/drawingml/2006/main">
            <a:pPr>
              <a:defRPr sz="1500">
                <a:solidFill>
                  <a:srgbClr val="1B2533"/>
                </a:solidFill>
                <a:latin typeface="Microsoft YaHei"/>
                <a:ea typeface="Microsoft YaHei"/>
                <a:cs typeface="Microsoft YaHei"/>
              </a:defRPr>
            </a:pPr>
          </a:p>
        </c:txPr>
        <c:crossAx val="48672768"/>
      </c:catAx>
      <c:valAx>
        <c:axId val="48672768"/>
        <c:scaling>
          <c:orientation val="minMax"/>
          <c:max val="18"/>
          <c:min val="0"/>
        </c:scaling>
        <c:delete val="0"/>
        <c:axPos val="l"/>
        <c:majorGridlines>
          <c:spPr>
            <a:ln xmlns:a="http://schemas.openxmlformats.org/drawingml/2006/main" w="9525">
              <a:solidFill>
                <a:srgbClr val="E2E7EC"/>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1B2533"/>
                </a:solidFill>
                <a:latin typeface="Microsoft YaHei"/>
                <a:ea typeface="Microsoft YaHei"/>
                <a:cs typeface="Microsoft YaHei"/>
              </a:defRPr>
            </a:pPr>
          </a:p>
        </c:txPr>
        <c:crossAx val="48650112"/>
        <c:crossBetween val="between"/>
        <c:majorUnit val="3"/>
      </c:valAx>
      <c:spPr>
        <a:solidFill xmlns:a="http://schemas.openxmlformats.org/drawingml/2006/main">
          <a:srgbClr val="FFFFFF"/>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500">
              <a:solidFill>
                <a:srgbClr val="1B2533"/>
              </a:solidFill>
              <a:latin typeface="Microsoft YaHei"/>
              <a:ea typeface="Microsoft YaHei"/>
              <a:cs typeface="Microsoft YaHei"/>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cover-title">
            <a:extLst xmlns:a="http://schemas.openxmlformats.org/drawingml/2006/main">
              <a:ext uri="{FF2B5EF4-FFF2-40B4-BE49-F238E27FC236}">
                <a16:creationId xmlns:a16="http://schemas.microsoft.com/office/drawing/2014/main" id="{E370B452-E325-4CD2-983C-A4B0CFFC8E82}"/>
              </a:ext>
            </a:extLst>
          </p:cNvPr>
          <p:cNvSpPr>
            <a:spLocks xmlns:a="http://schemas.openxmlformats.org/drawingml/2006/main" noGrp="1"/>
          </p:cNvSpPr>
          <p:nvPr/>
        </p:nvSpPr>
        <p:spPr>
          <a:xfrm xmlns:a="http://schemas.openxmlformats.org/drawingml/2006/main">
            <a:off x="609600" y="17049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650" b="1">
                <a:solidFill>
                  <a:srgbClr val="173E67"/>
                </a:solidFill>
                <a:latin typeface="Microsoft YaHei"/>
                <a:ea typeface="Microsoft YaHei"/>
                <a:cs typeface="Microsoft YaHei"/>
              </a:defRPr>
            </a:defPPr>
          </a:lstStyle>
          <a:p xmlns:a="http://schemas.openxmlformats.org/drawingml/2006/main">
            <a:pPr algn="l">
              <a:lnSpc>
                <a:spcPct val="118000"/>
              </a:lnSpc>
              <a:buNone/>
              <a:defRPr sz="4650" b="1">
                <a:solidFill>
                  <a:srgbClr val="173E67"/>
                </a:solidFill>
                <a:latin typeface="Microsoft YaHei"/>
                <a:ea typeface="Microsoft YaHei"/>
                <a:cs typeface="Microsoft YaHei"/>
              </a:defRPr>
            </a:pPr>
            <a:r>
              <a:rPr sz="4650" b="1">
                <a:solidFill>
                  <a:srgbClr val="173E67"/>
                </a:solidFill>
                <a:latin typeface="Microsoft YaHei"/>
                <a:ea typeface="Microsoft YaHei"/>
                <a:cs typeface="Microsoft YaHei"/>
              </a:rPr>
              <a:t>晶体生成的研究演化</a:t>
            </a:r>
          </a:p>
        </p:txBody>
      </p:sp>
      <p:sp>
        <p:nvSpPr>
          <p:cNvPr id="2" name="text">
            <a:extLst xmlns:a="http://schemas.openxmlformats.org/drawingml/2006/main">
              <a:ext uri="{FF2B5EF4-FFF2-40B4-BE49-F238E27FC236}">
                <a16:creationId xmlns:a16="http://schemas.microsoft.com/office/drawing/2014/main" id="{A97E4B59-CE46-43C9-B1F3-3FFE97D394B9}"/>
              </a:ext>
            </a:extLst>
          </p:cNvPr>
          <p:cNvSpPr>
            <a:spLocks xmlns:a="http://schemas.openxmlformats.org/drawingml/2006/main" noGrp="1"/>
          </p:cNvSpPr>
          <p:nvPr/>
        </p:nvSpPr>
        <p:spPr>
          <a:xfrm xmlns:a="http://schemas.openxmlformats.org/drawingml/2006/main">
            <a:off x="609600" y="28003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0">
                <a:solidFill>
                  <a:srgbClr val="1B2533"/>
                </a:solidFill>
                <a:latin typeface="Microsoft YaHei"/>
                <a:ea typeface="Microsoft YaHei"/>
                <a:cs typeface="Microsoft YaHei"/>
              </a:defRPr>
            </a:defPPr>
          </a:lstStyle>
          <a:p xmlns:a="http://schemas.openxmlformats.org/drawingml/2006/main">
            <a:pPr algn="l">
              <a:lnSpc>
                <a:spcPct val="118000"/>
              </a:lnSpc>
              <a:buNone/>
              <a:defRPr sz="2550" b="0">
                <a:solidFill>
                  <a:srgbClr val="1B2533"/>
                </a:solidFill>
                <a:latin typeface="Microsoft YaHei"/>
                <a:ea typeface="Microsoft YaHei"/>
                <a:cs typeface="Microsoft YaHei"/>
              </a:defRPr>
            </a:pPr>
            <a:r>
              <a:rPr sz="2550" b="0">
                <a:solidFill>
                  <a:srgbClr val="1B2533"/>
                </a:solidFill>
                <a:latin typeface="Microsoft YaHei"/>
                <a:ea typeface="Microsoft YaHei"/>
                <a:cs typeface="Microsoft YaHei"/>
              </a:rPr>
              <a:t>已有进展、六个挑战与四个研究方向</a:t>
            </a:r>
          </a:p>
        </p:txBody>
      </p:sp>
      <p:sp>
        <p:nvSpPr>
          <p:cNvPr id="3" name="text">
            <a:extLst xmlns:a="http://schemas.openxmlformats.org/drawingml/2006/main">
              <a:ext uri="{FF2B5EF4-FFF2-40B4-BE49-F238E27FC236}">
                <a16:creationId xmlns:a16="http://schemas.microsoft.com/office/drawing/2014/main" id="{BBDAA52F-8A9B-474B-9F92-FD3493467FFB}"/>
              </a:ext>
            </a:extLst>
          </p:cNvPr>
          <p:cNvSpPr>
            <a:spLocks xmlns:a="http://schemas.openxmlformats.org/drawingml/2006/main" noGrp="1"/>
          </p:cNvSpPr>
          <p:nvPr/>
        </p:nvSpPr>
        <p:spPr>
          <a:xfrm xmlns:a="http://schemas.openxmlformats.org/drawingml/2006/main">
            <a:off x="609600" y="38766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526170"/>
                </a:solidFill>
                <a:latin typeface="Microsoft YaHei"/>
                <a:ea typeface="Microsoft YaHei"/>
                <a:cs typeface="Microsoft YaHei"/>
              </a:defRPr>
            </a:defPPr>
          </a:lstStyle>
          <a:p xmlns:a="http://schemas.openxmlformats.org/drawingml/2006/main">
            <a:pPr algn="l">
              <a:lnSpc>
                <a:spcPct val="118000"/>
              </a:lnSpc>
              <a:buNone/>
              <a:defRPr sz="2025" b="0">
                <a:solidFill>
                  <a:srgbClr val="526170"/>
                </a:solidFill>
                <a:latin typeface="Microsoft YaHei"/>
                <a:ea typeface="Microsoft YaHei"/>
                <a:cs typeface="Microsoft YaHei"/>
              </a:defRPr>
            </a:pPr>
            <a:r>
              <a:rPr sz="2025" b="0">
                <a:solidFill>
                  <a:srgbClr val="526170"/>
                </a:solidFill>
                <a:latin typeface="Microsoft YaHei"/>
                <a:ea typeface="Microsoft YaHei"/>
                <a:cs typeface="Microsoft YaHei"/>
              </a:rPr>
              <a:t>目标：生成更多低 Eₕᵤₗₗ、独特且新颖的晶体</a:t>
            </a:r>
          </a:p>
        </p:txBody>
      </p:sp>
      <p:sp>
        <p:nvSpPr>
          <p:cNvPr id="4" name="text">
            <a:extLst xmlns:a="http://schemas.openxmlformats.org/drawingml/2006/main">
              <a:ext uri="{FF2B5EF4-FFF2-40B4-BE49-F238E27FC236}">
                <a16:creationId xmlns:a16="http://schemas.microsoft.com/office/drawing/2014/main" id="{AC03FF8B-75C8-458B-BC76-F3E69989F060}"/>
              </a:ext>
            </a:extLst>
          </p:cNvPr>
          <p:cNvSpPr>
            <a:spLocks xmlns:a="http://schemas.openxmlformats.org/drawingml/2006/main" noGrp="1"/>
          </p:cNvSpPr>
          <p:nvPr/>
        </p:nvSpPr>
        <p:spPr>
          <a:xfrm xmlns:a="http://schemas.openxmlformats.org/drawingml/2006/main">
            <a:off x="609600" y="563880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526170"/>
                </a:solidFill>
                <a:latin typeface="Microsoft YaHei"/>
                <a:ea typeface="Microsoft YaHei"/>
                <a:cs typeface="Microsoft YaHei"/>
              </a:defRPr>
            </a:defPPr>
          </a:lstStyle>
          <a:p xmlns:a="http://schemas.openxmlformats.org/drawingml/2006/main">
            <a:pPr algn="l">
              <a:lnSpc>
                <a:spcPct val="118000"/>
              </a:lnSpc>
              <a:buNone/>
              <a:defRPr sz="1575" b="0">
                <a:solidFill>
                  <a:srgbClr val="526170"/>
                </a:solidFill>
                <a:latin typeface="Microsoft YaHei"/>
                <a:ea typeface="Microsoft YaHei"/>
                <a:cs typeface="Microsoft YaHei"/>
              </a:defRPr>
            </a:pPr>
            <a:r>
              <a:rPr sz="1575" b="0">
                <a:solidFill>
                  <a:srgbClr val="526170"/>
                </a:solidFill>
                <a:latin typeface="Microsoft YaHei"/>
                <a:ea typeface="Microsoft YaHei"/>
                <a:cs typeface="Microsoft YaHei"/>
              </a:rPr>
              <a:t>文献截至 2026 年 10 月 10 日</a:t>
            </a:r>
          </a:p>
        </p:txBody>
      </p:sp>
    </p:spTree>
    <p:extLst>
      <p:ext uri="{BB962C8B-B14F-4D97-AF65-F5344CB8AC3E}">
        <p14:creationId xmlns:p14="http://schemas.microsoft.com/office/powerpoint/2010/main" val="162169951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slide-title">
            <a:extLst xmlns:a="http://schemas.openxmlformats.org/drawingml/2006/main">
              <a:ext uri="{FF2B5EF4-FFF2-40B4-BE49-F238E27FC236}">
                <a16:creationId xmlns:a16="http://schemas.microsoft.com/office/drawing/2014/main" id="{869D365F-76CD-4B5B-8FB0-FFE2DFB108A2}"/>
              </a:ext>
            </a:extLst>
          </p:cNvPr>
          <p:cNvSpPr>
            <a:spLocks xmlns:a="http://schemas.openxmlformats.org/drawingml/2006/main" noGrp="1"/>
          </p:cNvSpPr>
          <p:nvPr/>
        </p:nvSpPr>
        <p:spPr>
          <a:xfrm xmlns:a="http://schemas.openxmlformats.org/drawingml/2006/main">
            <a:off x="609600" y="36195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73E67"/>
                </a:solidFill>
                <a:latin typeface="Microsoft YaHei"/>
                <a:ea typeface="Microsoft YaHei"/>
                <a:cs typeface="Microsoft YaHei"/>
              </a:defRPr>
            </a:defPPr>
          </a:lstStyle>
          <a:p xmlns:a="http://schemas.openxmlformats.org/drawingml/2006/main">
            <a:pPr algn="l">
              <a:lnSpc>
                <a:spcPct val="118000"/>
              </a:lnSpc>
              <a:buNone/>
              <a:defRPr sz="3150" b="1">
                <a:solidFill>
                  <a:srgbClr val="173E67"/>
                </a:solidFill>
                <a:latin typeface="Microsoft YaHei"/>
                <a:ea typeface="Microsoft YaHei"/>
                <a:cs typeface="Microsoft YaHei"/>
              </a:defRPr>
            </a:pPr>
            <a:r>
              <a:rPr sz="3150" b="1">
                <a:solidFill>
                  <a:srgbClr val="173E67"/>
                </a:solidFill>
                <a:latin typeface="Microsoft YaHei"/>
                <a:ea typeface="Microsoft YaHei"/>
                <a:cs typeface="Microsoft YaHei"/>
              </a:rPr>
              <a:t>研究目标与科学价值</a:t>
            </a:r>
          </a:p>
        </p:txBody>
      </p:sp>
      <p:sp>
        <p:nvSpPr>
          <p:cNvPr id="2" name="lead">
            <a:extLst xmlns:a="http://schemas.openxmlformats.org/drawingml/2006/main">
              <a:ext uri="{FF2B5EF4-FFF2-40B4-BE49-F238E27FC236}">
                <a16:creationId xmlns:a16="http://schemas.microsoft.com/office/drawing/2014/main" id="{8A56F6D3-3411-4242-895F-905350B39A72}"/>
              </a:ext>
            </a:extLst>
          </p:cNvPr>
          <p:cNvSpPr>
            <a:spLocks xmlns:a="http://schemas.openxmlformats.org/drawingml/2006/main" noGrp="1"/>
          </p:cNvSpPr>
          <p:nvPr/>
        </p:nvSpPr>
        <p:spPr>
          <a:xfrm xmlns:a="http://schemas.openxmlformats.org/drawingml/2006/main">
            <a:off x="609600" y="11049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B2533"/>
                </a:solidFill>
                <a:latin typeface="Microsoft YaHei"/>
                <a:ea typeface="Microsoft YaHei"/>
                <a:cs typeface="Microsoft YaHei"/>
              </a:defRPr>
            </a:defPPr>
          </a:lstStyle>
          <a:p xmlns:a="http://schemas.openxmlformats.org/drawingml/2006/main">
            <a:pPr algn="l">
              <a:lnSpc>
                <a:spcPct val="118000"/>
              </a:lnSpc>
              <a:buNone/>
              <a:defRPr sz="2025" b="0">
                <a:solidFill>
                  <a:srgbClr val="1B2533"/>
                </a:solidFill>
                <a:latin typeface="Microsoft YaHei"/>
                <a:ea typeface="Microsoft YaHei"/>
                <a:cs typeface="Microsoft YaHei"/>
              </a:defRPr>
            </a:pPr>
            <a:r>
              <a:rPr sz="2025" b="0">
                <a:solidFill>
                  <a:srgbClr val="1B2533"/>
                </a:solidFill>
                <a:latin typeface="Microsoft YaHei"/>
                <a:ea typeface="Microsoft YaHei"/>
                <a:cs typeface="Microsoft YaHei"/>
              </a:rPr>
              <a:t>在相同计算投入下，获得更多稳定、独特且新颖的材料。</a:t>
            </a:r>
          </a:p>
        </p:txBody>
      </p:sp>
      <p:sp>
        <p:nvSpPr>
          <p:cNvPr id="3" name="text">
            <a:extLst xmlns:a="http://schemas.openxmlformats.org/drawingml/2006/main">
              <a:ext uri="{FF2B5EF4-FFF2-40B4-BE49-F238E27FC236}">
                <a16:creationId xmlns:a16="http://schemas.microsoft.com/office/drawing/2014/main" id="{F9D8C318-79B1-4DB7-AF4E-6C92B5280056}"/>
              </a:ext>
            </a:extLst>
          </p:cNvPr>
          <p:cNvSpPr>
            <a:spLocks xmlns:a="http://schemas.openxmlformats.org/drawingml/2006/main" noGrp="1"/>
          </p:cNvSpPr>
          <p:nvPr/>
        </p:nvSpPr>
        <p:spPr>
          <a:xfrm xmlns:a="http://schemas.openxmlformats.org/drawingml/2006/main">
            <a:off x="609600" y="2095500"/>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73E67"/>
                </a:solidFill>
                <a:latin typeface="Microsoft YaHei"/>
                <a:ea typeface="Microsoft YaHei"/>
                <a:cs typeface="Microsoft YaHei"/>
              </a:defRPr>
            </a:defPPr>
          </a:lstStyle>
          <a:p xmlns:a="http://schemas.openxmlformats.org/drawingml/2006/main">
            <a:pPr algn="l">
              <a:lnSpc>
                <a:spcPct val="118000"/>
              </a:lnSpc>
              <a:buNone/>
              <a:defRPr sz="1950" b="1">
                <a:solidFill>
                  <a:srgbClr val="173E67"/>
                </a:solidFill>
                <a:latin typeface="Microsoft YaHei"/>
                <a:ea typeface="Microsoft YaHei"/>
                <a:cs typeface="Microsoft YaHei"/>
              </a:defRPr>
            </a:pPr>
            <a:r>
              <a:rPr sz="1950" b="1">
                <a:solidFill>
                  <a:srgbClr val="173E67"/>
                </a:solidFill>
                <a:latin typeface="Microsoft YaHei"/>
                <a:ea typeface="Microsoft YaHei"/>
                <a:cs typeface="Microsoft YaHei"/>
              </a:rPr>
              <a:t>稳定性 S</a:t>
            </a:r>
          </a:p>
        </p:txBody>
      </p:sp>
      <p:sp>
        <p:nvSpPr>
          <p:cNvPr id="4" name="text">
            <a:extLst xmlns:a="http://schemas.openxmlformats.org/drawingml/2006/main">
              <a:ext uri="{FF2B5EF4-FFF2-40B4-BE49-F238E27FC236}">
                <a16:creationId xmlns:a16="http://schemas.microsoft.com/office/drawing/2014/main" id="{4EAFC00E-1CD9-443B-ACBE-7981B5B2AB55}"/>
              </a:ext>
            </a:extLst>
          </p:cNvPr>
          <p:cNvSpPr>
            <a:spLocks xmlns:a="http://schemas.openxmlformats.org/drawingml/2006/main" noGrp="1"/>
          </p:cNvSpPr>
          <p:nvPr/>
        </p:nvSpPr>
        <p:spPr>
          <a:xfrm xmlns:a="http://schemas.openxmlformats.org/drawingml/2006/main">
            <a:off x="2514600" y="2095500"/>
            <a:ext cx="90678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1B2533"/>
                </a:solidFill>
                <a:latin typeface="Microsoft YaHei"/>
                <a:ea typeface="Microsoft YaHei"/>
                <a:cs typeface="Microsoft YaHei"/>
              </a:defRPr>
            </a:defPPr>
          </a:lstStyle>
          <a:p xmlns:a="http://schemas.openxmlformats.org/drawingml/2006/main">
            <a:pPr algn="l">
              <a:lnSpc>
                <a:spcPct val="118000"/>
              </a:lnSpc>
              <a:buNone/>
              <a:defRPr sz="1950" b="0">
                <a:solidFill>
                  <a:srgbClr val="1B2533"/>
                </a:solidFill>
                <a:latin typeface="Microsoft YaHei"/>
                <a:ea typeface="Microsoft YaHei"/>
                <a:cs typeface="Microsoft YaHei"/>
              </a:defRPr>
            </a:pPr>
            <a:r>
              <a:rPr sz="1950" b="0">
                <a:solidFill>
                  <a:srgbClr val="1B2533"/>
                </a:solidFill>
                <a:latin typeface="Microsoft YaHei"/>
                <a:ea typeface="Microsoft YaHei"/>
                <a:cs typeface="Microsoft YaHei"/>
              </a:rPr>
              <a:t>相对声明的竞争相集合计算能量，严格稳定阈值为 Eₕᵤₗₗ ≤ 0。</a:t>
            </a:r>
          </a:p>
        </p:txBody>
      </p:sp>
      <p:sp>
        <p:nvSpPr>
          <p:cNvPr id="5" name="text">
            <a:extLst xmlns:a="http://schemas.openxmlformats.org/drawingml/2006/main">
              <a:ext uri="{FF2B5EF4-FFF2-40B4-BE49-F238E27FC236}">
                <a16:creationId xmlns:a16="http://schemas.microsoft.com/office/drawing/2014/main" id="{E22B239C-CB37-419E-9BEF-9ED94E251171}"/>
              </a:ext>
            </a:extLst>
          </p:cNvPr>
          <p:cNvSpPr>
            <a:spLocks xmlns:a="http://schemas.openxmlformats.org/drawingml/2006/main" noGrp="1"/>
          </p:cNvSpPr>
          <p:nvPr/>
        </p:nvSpPr>
        <p:spPr>
          <a:xfrm xmlns:a="http://schemas.openxmlformats.org/drawingml/2006/main">
            <a:off x="609600" y="3038475"/>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73E67"/>
                </a:solidFill>
                <a:latin typeface="Microsoft YaHei"/>
                <a:ea typeface="Microsoft YaHei"/>
                <a:cs typeface="Microsoft YaHei"/>
              </a:defRPr>
            </a:defPPr>
          </a:lstStyle>
          <a:p xmlns:a="http://schemas.openxmlformats.org/drawingml/2006/main">
            <a:pPr algn="l">
              <a:lnSpc>
                <a:spcPct val="118000"/>
              </a:lnSpc>
              <a:buNone/>
              <a:defRPr sz="1950" b="1">
                <a:solidFill>
                  <a:srgbClr val="173E67"/>
                </a:solidFill>
                <a:latin typeface="Microsoft YaHei"/>
                <a:ea typeface="Microsoft YaHei"/>
                <a:cs typeface="Microsoft YaHei"/>
              </a:defRPr>
            </a:pPr>
            <a:r>
              <a:rPr sz="1950" b="1">
                <a:solidFill>
                  <a:srgbClr val="173E67"/>
                </a:solidFill>
                <a:latin typeface="Microsoft YaHei"/>
                <a:ea typeface="Microsoft YaHei"/>
                <a:cs typeface="Microsoft YaHei"/>
              </a:rPr>
              <a:t>独特与新颖</a:t>
            </a:r>
          </a:p>
        </p:txBody>
      </p:sp>
      <p:sp>
        <p:nvSpPr>
          <p:cNvPr id="6" name="text">
            <a:extLst xmlns:a="http://schemas.openxmlformats.org/drawingml/2006/main">
              <a:ext uri="{FF2B5EF4-FFF2-40B4-BE49-F238E27FC236}">
                <a16:creationId xmlns:a16="http://schemas.microsoft.com/office/drawing/2014/main" id="{9F640366-7612-4847-9C02-5DC96729761E}"/>
              </a:ext>
            </a:extLst>
          </p:cNvPr>
          <p:cNvSpPr>
            <a:spLocks xmlns:a="http://schemas.openxmlformats.org/drawingml/2006/main" noGrp="1"/>
          </p:cNvSpPr>
          <p:nvPr/>
        </p:nvSpPr>
        <p:spPr>
          <a:xfrm xmlns:a="http://schemas.openxmlformats.org/drawingml/2006/main">
            <a:off x="2514600" y="3038475"/>
            <a:ext cx="90678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1B2533"/>
                </a:solidFill>
                <a:latin typeface="Microsoft YaHei"/>
                <a:ea typeface="Microsoft YaHei"/>
                <a:cs typeface="Microsoft YaHei"/>
              </a:defRPr>
            </a:defPPr>
          </a:lstStyle>
          <a:p xmlns:a="http://schemas.openxmlformats.org/drawingml/2006/main">
            <a:pPr algn="l">
              <a:lnSpc>
                <a:spcPct val="118000"/>
              </a:lnSpc>
              <a:buNone/>
              <a:defRPr sz="1950" b="0">
                <a:solidFill>
                  <a:srgbClr val="1B2533"/>
                </a:solidFill>
                <a:latin typeface="Microsoft YaHei"/>
                <a:ea typeface="Microsoft YaHei"/>
                <a:cs typeface="Microsoft YaHei"/>
              </a:defRPr>
            </a:pPr>
            <a:r>
              <a:rPr sz="1950" b="0">
                <a:solidFill>
                  <a:srgbClr val="1B2533"/>
                </a:solidFill>
                <a:latin typeface="Microsoft YaHei"/>
                <a:ea typeface="Microsoft YaHei"/>
                <a:cs typeface="Microsoft YaHei"/>
              </a:rPr>
              <a:t>U衡量集合内去重，N衡量相对参考库的新颖性。SUN同时满足S、U和N。</a:t>
            </a:r>
          </a:p>
        </p:txBody>
      </p:sp>
      <p:sp>
        <p:nvSpPr>
          <p:cNvPr id="7" name="text">
            <a:extLst xmlns:a="http://schemas.openxmlformats.org/drawingml/2006/main">
              <a:ext uri="{FF2B5EF4-FFF2-40B4-BE49-F238E27FC236}">
                <a16:creationId xmlns:a16="http://schemas.microsoft.com/office/drawing/2014/main" id="{FF356FA7-4693-41D6-8CEC-93BC423B456F}"/>
              </a:ext>
            </a:extLst>
          </p:cNvPr>
          <p:cNvSpPr>
            <a:spLocks xmlns:a="http://schemas.openxmlformats.org/drawingml/2006/main" noGrp="1"/>
          </p:cNvSpPr>
          <p:nvPr/>
        </p:nvSpPr>
        <p:spPr>
          <a:xfrm xmlns:a="http://schemas.openxmlformats.org/drawingml/2006/main">
            <a:off x="609600" y="3981450"/>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73E67"/>
                </a:solidFill>
                <a:latin typeface="Microsoft YaHei"/>
                <a:ea typeface="Microsoft YaHei"/>
                <a:cs typeface="Microsoft YaHei"/>
              </a:defRPr>
            </a:defPPr>
          </a:lstStyle>
          <a:p xmlns:a="http://schemas.openxmlformats.org/drawingml/2006/main">
            <a:pPr algn="l">
              <a:lnSpc>
                <a:spcPct val="118000"/>
              </a:lnSpc>
              <a:buNone/>
              <a:defRPr sz="1950" b="1">
                <a:solidFill>
                  <a:srgbClr val="173E67"/>
                </a:solidFill>
                <a:latin typeface="Microsoft YaHei"/>
                <a:ea typeface="Microsoft YaHei"/>
                <a:cs typeface="Microsoft YaHei"/>
              </a:defRPr>
            </a:pPr>
            <a:r>
              <a:rPr sz="1950" b="1">
                <a:solidFill>
                  <a:srgbClr val="173E67"/>
                </a:solidFill>
                <a:latin typeface="Microsoft YaHei"/>
                <a:ea typeface="Microsoft YaHei"/>
                <a:cs typeface="Microsoft YaHei"/>
              </a:rPr>
              <a:t>条件生成</a:t>
            </a:r>
          </a:p>
        </p:txBody>
      </p:sp>
      <p:sp>
        <p:nvSpPr>
          <p:cNvPr id="8" name="text">
            <a:extLst xmlns:a="http://schemas.openxmlformats.org/drawingml/2006/main">
              <a:ext uri="{FF2B5EF4-FFF2-40B4-BE49-F238E27FC236}">
                <a16:creationId xmlns:a16="http://schemas.microsoft.com/office/drawing/2014/main" id="{6DCA6DAE-D13C-4ECB-B431-6B674810C40D}"/>
              </a:ext>
            </a:extLst>
          </p:cNvPr>
          <p:cNvSpPr>
            <a:spLocks xmlns:a="http://schemas.openxmlformats.org/drawingml/2006/main" noGrp="1"/>
          </p:cNvSpPr>
          <p:nvPr/>
        </p:nvSpPr>
        <p:spPr>
          <a:xfrm xmlns:a="http://schemas.openxmlformats.org/drawingml/2006/main">
            <a:off x="2514600" y="3981450"/>
            <a:ext cx="90678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1B2533"/>
                </a:solidFill>
                <a:latin typeface="Microsoft YaHei"/>
                <a:ea typeface="Microsoft YaHei"/>
                <a:cs typeface="Microsoft YaHei"/>
              </a:defRPr>
            </a:defPPr>
          </a:lstStyle>
          <a:p xmlns:a="http://schemas.openxmlformats.org/drawingml/2006/main">
            <a:pPr algn="l">
              <a:lnSpc>
                <a:spcPct val="118000"/>
              </a:lnSpc>
              <a:buNone/>
              <a:defRPr sz="1950" b="0">
                <a:solidFill>
                  <a:srgbClr val="1B2533"/>
                </a:solidFill>
                <a:latin typeface="Microsoft YaHei"/>
                <a:ea typeface="Microsoft YaHei"/>
                <a:cs typeface="Microsoft YaHei"/>
              </a:defRPr>
            </a:pPr>
            <a:r>
              <a:rPr sz="1950" b="0">
                <a:solidFill>
                  <a:srgbClr val="1B2533"/>
                </a:solidFill>
                <a:latin typeface="Microsoft YaHei"/>
                <a:ea typeface="Microsoft YaHei"/>
                <a:cs typeface="Microsoft YaHei"/>
              </a:rPr>
              <a:t>在稳定发现的基础上，控制组成、结构关系或目标性质。</a:t>
            </a:r>
          </a:p>
        </p:txBody>
      </p:sp>
      <p:sp>
        <p:nvSpPr>
          <p:cNvPr id="9" name="text">
            <a:extLst xmlns:a="http://schemas.openxmlformats.org/drawingml/2006/main">
              <a:ext uri="{FF2B5EF4-FFF2-40B4-BE49-F238E27FC236}">
                <a16:creationId xmlns:a16="http://schemas.microsoft.com/office/drawing/2014/main" id="{623C29DC-6C55-4953-B9CD-63C3DD70536C}"/>
              </a:ext>
            </a:extLst>
          </p:cNvPr>
          <p:cNvSpPr>
            <a:spLocks xmlns:a="http://schemas.openxmlformats.org/drawingml/2006/main" noGrp="1"/>
          </p:cNvSpPr>
          <p:nvPr/>
        </p:nvSpPr>
        <p:spPr>
          <a:xfrm xmlns:a="http://schemas.openxmlformats.org/drawingml/2006/main">
            <a:off x="609600" y="4924425"/>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73E67"/>
                </a:solidFill>
                <a:latin typeface="Microsoft YaHei"/>
                <a:ea typeface="Microsoft YaHei"/>
                <a:cs typeface="Microsoft YaHei"/>
              </a:defRPr>
            </a:defPPr>
          </a:lstStyle>
          <a:p xmlns:a="http://schemas.openxmlformats.org/drawingml/2006/main">
            <a:pPr algn="l">
              <a:lnSpc>
                <a:spcPct val="118000"/>
              </a:lnSpc>
              <a:buNone/>
              <a:defRPr sz="1950" b="1">
                <a:solidFill>
                  <a:srgbClr val="173E67"/>
                </a:solidFill>
                <a:latin typeface="Microsoft YaHei"/>
                <a:ea typeface="Microsoft YaHei"/>
                <a:cs typeface="Microsoft YaHei"/>
              </a:defRPr>
            </a:pPr>
            <a:r>
              <a:rPr sz="1950" b="1">
                <a:solidFill>
                  <a:srgbClr val="173E67"/>
                </a:solidFill>
                <a:latin typeface="Microsoft YaHei"/>
                <a:ea typeface="Microsoft YaHei"/>
                <a:cs typeface="Microsoft YaHei"/>
              </a:rPr>
              <a:t>科学价值</a:t>
            </a:r>
          </a:p>
        </p:txBody>
      </p:sp>
      <p:sp>
        <p:nvSpPr>
          <p:cNvPr id="10" name="text">
            <a:extLst xmlns:a="http://schemas.openxmlformats.org/drawingml/2006/main">
              <a:ext uri="{FF2B5EF4-FFF2-40B4-BE49-F238E27FC236}">
                <a16:creationId xmlns:a16="http://schemas.microsoft.com/office/drawing/2014/main" id="{2A2EFF01-C8E8-4635-85CE-4CAB555C9402}"/>
              </a:ext>
            </a:extLst>
          </p:cNvPr>
          <p:cNvSpPr>
            <a:spLocks xmlns:a="http://schemas.openxmlformats.org/drawingml/2006/main" noGrp="1"/>
          </p:cNvSpPr>
          <p:nvPr/>
        </p:nvSpPr>
        <p:spPr>
          <a:xfrm xmlns:a="http://schemas.openxmlformats.org/drawingml/2006/main">
            <a:off x="2514600" y="4924425"/>
            <a:ext cx="90678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1B2533"/>
                </a:solidFill>
                <a:latin typeface="Microsoft YaHei"/>
                <a:ea typeface="Microsoft YaHei"/>
                <a:cs typeface="Microsoft YaHei"/>
              </a:defRPr>
            </a:defPPr>
          </a:lstStyle>
          <a:p xmlns:a="http://schemas.openxmlformats.org/drawingml/2006/main">
            <a:pPr algn="l">
              <a:lnSpc>
                <a:spcPct val="118000"/>
              </a:lnSpc>
              <a:buNone/>
              <a:defRPr sz="1950" b="0">
                <a:solidFill>
                  <a:srgbClr val="1B2533"/>
                </a:solidFill>
                <a:latin typeface="Microsoft YaHei"/>
                <a:ea typeface="Microsoft YaHei"/>
                <a:cs typeface="Microsoft YaHei"/>
              </a:defRPr>
            </a:pPr>
            <a:r>
              <a:rPr sz="1950" b="0">
                <a:solidFill>
                  <a:srgbClr val="1B2533"/>
                </a:solidFill>
                <a:latin typeface="Microsoft YaHei"/>
                <a:ea typeface="Microsoft YaHei"/>
                <a:cs typeface="Microsoft YaHei"/>
              </a:rPr>
              <a:t>材料空间远大于数据库。生成模型需要把已有知识用于尚未记录的材料。</a:t>
            </a:r>
          </a:p>
        </p:txBody>
      </p:sp>
      <p:sp>
        <p:nvSpPr>
          <p:cNvPr id="11" name="separator">
            <a:extLst xmlns:a="http://schemas.openxmlformats.org/drawingml/2006/main">
              <a:ext uri="{FF2B5EF4-FFF2-40B4-BE49-F238E27FC236}">
                <a16:creationId xmlns:a16="http://schemas.microsoft.com/office/drawing/2014/main" id="{4BC4E3E8-DD88-464B-9D7F-C1594B2859CA}"/>
              </a:ext>
            </a:extLst>
          </p:cNvPr>
          <p:cNvSpPr>
            <a:spLocks xmlns:a="http://schemas.openxmlformats.org/drawingml/2006/main" noGrp="1"/>
          </p:cNvSpPr>
          <p:nvPr/>
        </p:nvSpPr>
        <p:spPr>
          <a:xfrm xmlns:a="http://schemas.openxmlformats.org/drawingml/2006/main">
            <a:off x="609600" y="6200775"/>
            <a:ext cx="10972800" cy="0"/>
          </a:xfrm>
          <a:prstGeom xmlns:a="http://schemas.openxmlformats.org/drawingml/2006/main" prst="line">
            <a:avLst/>
          </a:prstGeom>
          <a:ln xmlns:a="http://schemas.openxmlformats.org/drawingml/2006/main" w="9525">
            <a:solidFill>
              <a:srgbClr val="D5DCE3"/>
            </a:solidFill>
          </a:ln>
        </p:spPr>
      </p:sp>
      <p:sp>
        <p:nvSpPr>
          <p:cNvPr id="12" name="sources">
            <a:extLst xmlns:a="http://schemas.openxmlformats.org/drawingml/2006/main">
              <a:ext uri="{FF2B5EF4-FFF2-40B4-BE49-F238E27FC236}">
                <a16:creationId xmlns:a16="http://schemas.microsoft.com/office/drawing/2014/main" id="{32ED166A-2F04-4386-B306-A6EC69D81B8F}"/>
              </a:ext>
            </a:extLst>
          </p:cNvPr>
          <p:cNvSpPr>
            <a:spLocks xmlns:a="http://schemas.openxmlformats.org/drawingml/2006/main" noGrp="1"/>
          </p:cNvSpPr>
          <p:nvPr/>
        </p:nvSpPr>
        <p:spPr>
          <a:xfrm xmlns:a="http://schemas.openxmlformats.org/drawingml/2006/main">
            <a:off x="609600" y="6353175"/>
            <a:ext cx="10363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13" b="0">
                <a:solidFill>
                  <a:srgbClr val="526170"/>
                </a:solidFill>
                <a:latin typeface="Microsoft YaHei"/>
                <a:ea typeface="Microsoft YaHei"/>
                <a:cs typeface="Microsoft YaHei"/>
              </a:defRPr>
            </a:defPPr>
          </a:lstStyle>
          <a:p xmlns:a="http://schemas.openxmlformats.org/drawingml/2006/main">
            <a:pPr algn="l">
              <a:lnSpc>
                <a:spcPct val="118000"/>
              </a:lnSpc>
              <a:buNone/>
              <a:defRPr sz="1013" b="0">
                <a:solidFill>
                  <a:srgbClr val="526170"/>
                </a:solidFill>
                <a:latin typeface="Microsoft YaHei"/>
                <a:ea typeface="Microsoft YaHei"/>
                <a:cs typeface="Microsoft YaHei"/>
              </a:defRPr>
            </a:pPr>
            <a:r>
              <a:rPr sz="1013" b="0">
                <a:solidFill>
                  <a:srgbClr val="526170"/>
                </a:solidFill>
                <a:latin typeface="Microsoft YaHei"/>
                <a:ea typeface="Microsoft YaHei"/>
                <a:cs typeface="Microsoft YaHei"/>
              </a:rPr>
              <a:t>Materials Project (2013)；GNoME (Nature 2023)；MatterGen (Nature 2025)；强基线研究 (2025)</a:t>
            </a:r>
          </a:p>
        </p:txBody>
      </p:sp>
      <p:sp>
        <p:nvSpPr>
          <p:cNvPr id="13" name="page-number">
            <a:extLst xmlns:a="http://schemas.openxmlformats.org/drawingml/2006/main">
              <a:ext uri="{FF2B5EF4-FFF2-40B4-BE49-F238E27FC236}">
                <a16:creationId xmlns:a16="http://schemas.microsoft.com/office/drawing/2014/main" id="{BC1504A5-9E12-43D4-AFE1-183B91BB54D6}"/>
              </a:ext>
            </a:extLst>
          </p:cNvPr>
          <p:cNvSpPr>
            <a:spLocks xmlns:a="http://schemas.openxmlformats.org/drawingml/2006/main" noGrp="1"/>
          </p:cNvSpPr>
          <p:nvPr/>
        </p:nvSpPr>
        <p:spPr>
          <a:xfrm xmlns:a="http://schemas.openxmlformats.org/drawingml/2006/main">
            <a:off x="11334750" y="6334125"/>
            <a:ext cx="266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26170"/>
                </a:solidFill>
                <a:latin typeface="Microsoft YaHei"/>
                <a:ea typeface="Microsoft YaHei"/>
                <a:cs typeface="Microsoft YaHei"/>
              </a:defRPr>
            </a:defPPr>
          </a:lstStyle>
          <a:p xmlns:a="http://schemas.openxmlformats.org/drawingml/2006/main">
            <a:pPr algn="r">
              <a:lnSpc>
                <a:spcPct val="118000"/>
              </a:lnSpc>
              <a:buNone/>
              <a:defRPr sz="1275" b="0">
                <a:solidFill>
                  <a:srgbClr val="526170"/>
                </a:solidFill>
                <a:latin typeface="Microsoft YaHei"/>
                <a:ea typeface="Microsoft YaHei"/>
                <a:cs typeface="Microsoft YaHei"/>
              </a:defRPr>
            </a:pPr>
            <a:r>
              <a:rPr sz="1275" b="0">
                <a:solidFill>
                  <a:srgbClr val="526170"/>
                </a:solidFill>
                <a:latin typeface="Microsoft YaHei"/>
                <a:ea typeface="Microsoft YaHei"/>
                <a:cs typeface="Microsoft YaHei"/>
              </a:rPr>
              <a:t>02</a:t>
            </a:r>
          </a:p>
        </p:txBody>
      </p:sp>
    </p:spTree>
    <p:extLst>
      <p:ext uri="{BB962C8B-B14F-4D97-AF65-F5344CB8AC3E}">
        <p14:creationId xmlns:p14="http://schemas.microsoft.com/office/powerpoint/2010/main" val="41361779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0B4ED357-75A9-48E8-8074-C63B3DFF9F53}"/>
              </a:ext>
            </a:extLst>
          </p:cNvPr>
          <p:cNvSpPr>
            <a:spLocks xmlns:a="http://schemas.openxmlformats.org/drawingml/2006/main" noGrp="1"/>
          </p:cNvSpPr>
          <p:nvPr/>
        </p:nvSpPr>
        <p:spPr>
          <a:xfrm xmlns:a="http://schemas.openxmlformats.org/drawingml/2006/main">
            <a:off x="609600" y="36195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73E67"/>
                </a:solidFill>
                <a:latin typeface="Microsoft YaHei"/>
                <a:ea typeface="Microsoft YaHei"/>
                <a:cs typeface="Microsoft YaHei"/>
              </a:defRPr>
            </a:defPPr>
          </a:lstStyle>
          <a:p xmlns:a="http://schemas.openxmlformats.org/drawingml/2006/main">
            <a:pPr algn="l">
              <a:lnSpc>
                <a:spcPct val="118000"/>
              </a:lnSpc>
              <a:buNone/>
              <a:defRPr sz="3150" b="1">
                <a:solidFill>
                  <a:srgbClr val="173E67"/>
                </a:solidFill>
                <a:latin typeface="Microsoft YaHei"/>
                <a:ea typeface="Microsoft YaHei"/>
                <a:cs typeface="Microsoft YaHei"/>
              </a:defRPr>
            </a:pPr>
            <a:r>
              <a:rPr sz="3150" b="1">
                <a:solidFill>
                  <a:srgbClr val="173E67"/>
                </a:solidFill>
                <a:latin typeface="Microsoft YaHei"/>
                <a:ea typeface="Microsoft YaHei"/>
                <a:cs typeface="Microsoft YaHei"/>
              </a:rPr>
              <a:t>不同任务回答不同的问题</a:t>
            </a:r>
          </a:p>
        </p:txBody>
      </p:sp>
      <p:sp>
        <p:nvSpPr>
          <p:cNvPr id="2" name="lead">
            <a:extLst xmlns:a="http://schemas.openxmlformats.org/drawingml/2006/main">
              <a:ext uri="{FF2B5EF4-FFF2-40B4-BE49-F238E27FC236}">
                <a16:creationId xmlns:a16="http://schemas.microsoft.com/office/drawing/2014/main" id="{6BAD3D85-1371-4250-9023-D3E378352376}"/>
              </a:ext>
            </a:extLst>
          </p:cNvPr>
          <p:cNvSpPr>
            <a:spLocks xmlns:a="http://schemas.openxmlformats.org/drawingml/2006/main" noGrp="1"/>
          </p:cNvSpPr>
          <p:nvPr/>
        </p:nvSpPr>
        <p:spPr>
          <a:xfrm xmlns:a="http://schemas.openxmlformats.org/drawingml/2006/main">
            <a:off x="609600" y="11049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B2533"/>
                </a:solidFill>
                <a:latin typeface="Microsoft YaHei"/>
                <a:ea typeface="Microsoft YaHei"/>
                <a:cs typeface="Microsoft YaHei"/>
              </a:defRPr>
            </a:defPPr>
          </a:lstStyle>
          <a:p xmlns:a="http://schemas.openxmlformats.org/drawingml/2006/main">
            <a:pPr algn="l">
              <a:lnSpc>
                <a:spcPct val="118000"/>
              </a:lnSpc>
              <a:buNone/>
              <a:defRPr sz="2025" b="0">
                <a:solidFill>
                  <a:srgbClr val="1B2533"/>
                </a:solidFill>
                <a:latin typeface="Microsoft YaHei"/>
                <a:ea typeface="Microsoft YaHei"/>
                <a:cs typeface="Microsoft YaHei"/>
              </a:defRPr>
            </a:pPr>
            <a:r>
              <a:rPr sz="2025" b="0">
                <a:solidFill>
                  <a:srgbClr val="1B2533"/>
                </a:solidFill>
                <a:latin typeface="Microsoft YaHei"/>
                <a:ea typeface="Microsoft YaHei"/>
                <a:cs typeface="Microsoft YaHei"/>
              </a:rPr>
              <a:t>化学组成、原子占位和周期几何相互依赖，使晶体生成具有特殊难度。</a:t>
            </a:r>
          </a:p>
        </p:txBody>
      </p:sp>
      <p:graphicFrame>
        <p:nvGraphicFramePr>
          <p:cNvPr id="3" name="">
            <a:extLst xmlns:a="http://schemas.openxmlformats.org/drawingml/2006/main">
              <a:ext uri="{FF2B5EF4-FFF2-40B4-BE49-F238E27FC236}">
                <a16:creationId xmlns:a16="http://schemas.microsoft.com/office/drawing/2014/main" id="{23EEEA6E-1AC4-4F64-8725-8D315DAF5518}"/>
              </a:ext>
            </a:extLst>
          </p:cNvPr>
          <p:cNvGraphicFramePr/>
          <p:nvPr/>
        </p:nvGraphicFramePr>
        <p:xfrm>
          <a:off xmlns:a="http://schemas.openxmlformats.org/drawingml/2006/main" x="609600" y="1990725"/>
          <a:ext xmlns:a="http://schemas.openxmlformats.org/drawingml/2006/main" cx="10972800" cy="3419475"/>
        </p:xfrm>
        <a:graphic xmlns:a="http://schemas.openxmlformats.org/drawingml/2006/main">
          <a:graphicData uri="http://schemas.openxmlformats.org/drawingml/2006/table">
            <a:tbl>
              <a:tblPr firstRow="0" bandRow="0"/>
              <a:tblGrid>
                <a:gridCol w="2238375"/>
                <a:gridCol w="2714625"/>
                <a:gridCol w="2952750"/>
                <a:gridCol w="3067050"/>
              </a:tblGrid>
              <a:tr h="533400">
                <a:tc>
                  <a:txBody>
                    <a:bodyPr wrap="square" lIns="114300" tIns="85725" rIns="95250" bIns="85725">
                      <a:noAutofit/>
                    </a:bodyPr>
                    <a:lstStyle/>
                    <a:p>
                      <a:pPr algn="l">
                        <a:lnSpc>
                          <a:spcPct val="118000"/>
                        </a:lnSpc>
                        <a:buNone/>
                      </a:pPr>
                      <a:r>
                        <a:rPr sz="1800" b="1">
                          <a:solidFill>
                            <a:srgbClr val="173E67"/>
                          </a:solidFill>
                          <a:latin typeface="Microsoft YaHei"/>
                          <a:ea typeface="Microsoft YaHei"/>
                          <a:cs typeface="Microsoft YaHei"/>
                        </a:rPr>
                        <a:t>任务</a:t>
                      </a:r>
                    </a:p>
                  </a:txBody>
                  <a:tcPr marL="91440" marR="91440" marT="45720" marB="45720" anchor="ctr">
                    <a:solidFill>
                      <a:srgbClr val="EDF2F6"/>
                    </a:solidFill>
                  </a:tcPr>
                </a:tc>
                <a:tc>
                  <a:txBody>
                    <a:bodyPr wrap="square" lIns="114300" tIns="85725" rIns="95250" bIns="85725">
                      <a:noAutofit/>
                    </a:bodyPr>
                    <a:lstStyle/>
                    <a:p>
                      <a:pPr algn="l">
                        <a:lnSpc>
                          <a:spcPct val="118000"/>
                        </a:lnSpc>
                        <a:buNone/>
                      </a:pPr>
                      <a:r>
                        <a:rPr sz="1800" b="1">
                          <a:solidFill>
                            <a:srgbClr val="173E67"/>
                          </a:solidFill>
                          <a:latin typeface="Microsoft YaHei"/>
                          <a:ea typeface="Microsoft YaHei"/>
                          <a:cs typeface="Microsoft YaHei"/>
                        </a:rPr>
                        <a:t>已知输入</a:t>
                      </a:r>
                    </a:p>
                  </a:txBody>
                  <a:tcPr marL="91440" marR="91440" marT="45720" marB="45720" anchor="ctr">
                    <a:solidFill>
                      <a:srgbClr val="EDF2F6"/>
                    </a:solidFill>
                  </a:tcPr>
                </a:tc>
                <a:tc>
                  <a:txBody>
                    <a:bodyPr wrap="square" lIns="114300" tIns="85725" rIns="95250" bIns="85725">
                      <a:noAutofit/>
                    </a:bodyPr>
                    <a:lstStyle/>
                    <a:p>
                      <a:pPr algn="l">
                        <a:lnSpc>
                          <a:spcPct val="118000"/>
                        </a:lnSpc>
                        <a:buNone/>
                      </a:pPr>
                      <a:r>
                        <a:rPr sz="1800" b="1">
                          <a:solidFill>
                            <a:srgbClr val="173E67"/>
                          </a:solidFill>
                          <a:latin typeface="Microsoft YaHei"/>
                          <a:ea typeface="Microsoft YaHei"/>
                          <a:cs typeface="Microsoft YaHei"/>
                        </a:rPr>
                        <a:t>需要生成</a:t>
                      </a:r>
                    </a:p>
                  </a:txBody>
                  <a:tcPr marL="91440" marR="91440" marT="45720" marB="45720" anchor="ctr">
                    <a:solidFill>
                      <a:srgbClr val="EDF2F6"/>
                    </a:solidFill>
                  </a:tcPr>
                </a:tc>
                <a:tc>
                  <a:txBody>
                    <a:bodyPr wrap="square" lIns="114300" tIns="85725" rIns="95250" bIns="85725">
                      <a:noAutofit/>
                    </a:bodyPr>
                    <a:lstStyle/>
                    <a:p>
                      <a:pPr algn="l">
                        <a:lnSpc>
                          <a:spcPct val="118000"/>
                        </a:lnSpc>
                        <a:buNone/>
                      </a:pPr>
                      <a:r>
                        <a:rPr sz="1800" b="1">
                          <a:solidFill>
                            <a:srgbClr val="173E67"/>
                          </a:solidFill>
                          <a:latin typeface="Microsoft YaHei"/>
                          <a:ea typeface="Microsoft YaHei"/>
                          <a:cs typeface="Microsoft YaHei"/>
                        </a:rPr>
                        <a:t>主要评价</a:t>
                      </a:r>
                    </a:p>
                  </a:txBody>
                  <a:tcPr marL="91440" marR="91440" marT="45720" marB="45720" anchor="ctr">
                    <a:solidFill>
                      <a:srgbClr val="EDF2F6"/>
                    </a:solidFill>
                  </a:tcPr>
                </a:tc>
              </a:tr>
              <a:tr h="962025">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结构预测 CSP</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组成，有时含压力等条件</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晶胞与原子位置</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参考结构命中、低能结构</a:t>
                      </a:r>
                    </a:p>
                  </a:txBody>
                  <a:tcPr marL="91440" marR="91440" marT="45720" marB="45720" anchor="ctr">
                    <a:solidFill>
                      <a:srgbClr val="FFFFFF"/>
                    </a:solidFill>
                  </a:tcPr>
                </a:tc>
              </a:tr>
              <a:tr h="962025">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自主生成 DNG</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训练数据与采样规则</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组成及完整周期结构</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S、U、N及SUN数量</a:t>
                      </a:r>
                    </a:p>
                  </a:txBody>
                  <a:tcPr marL="91440" marR="91440" marT="45720" marB="45720" anchor="ctr">
                    <a:solidFill>
                      <a:srgbClr val="FFFFFF"/>
                    </a:solidFill>
                  </a:tcPr>
                </a:tc>
              </a:tr>
              <a:tr h="962025">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条件生成</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性质、对称或局部关系</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满足条件的完整结构</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条件命中及物理资格</a:t>
                      </a:r>
                    </a:p>
                  </a:txBody>
                  <a:tcPr marL="91440" marR="91440" marT="45720" marB="45720" anchor="ctr">
                    <a:solidFill>
                      <a:srgbClr val="FFFFFF"/>
                    </a:solidFill>
                  </a:tcPr>
                </a:tc>
              </a:tr>
            </a:tbl>
          </a:graphicData>
        </a:graphic>
      </p:graphicFrame>
      <p:sp>
        <p:nvSpPr>
          <p:cNvPr id="4" name="conclusion">
            <a:extLst xmlns:a="http://schemas.openxmlformats.org/drawingml/2006/main">
              <a:ext uri="{FF2B5EF4-FFF2-40B4-BE49-F238E27FC236}">
                <a16:creationId xmlns:a16="http://schemas.microsoft.com/office/drawing/2014/main" id="{CC737E24-1A1C-49FD-B09B-5DAA1D8D32F6}"/>
              </a:ext>
            </a:extLst>
          </p:cNvPr>
          <p:cNvSpPr>
            <a:spLocks xmlns:a="http://schemas.openxmlformats.org/drawingml/2006/main" noGrp="1"/>
          </p:cNvSpPr>
          <p:nvPr/>
        </p:nvSpPr>
        <p:spPr>
          <a:xfrm xmlns:a="http://schemas.openxmlformats.org/drawingml/2006/main">
            <a:off x="609600" y="5619750"/>
            <a:ext cx="109728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73E67"/>
                </a:solidFill>
                <a:latin typeface="Microsoft YaHei"/>
                <a:ea typeface="Microsoft YaHei"/>
                <a:cs typeface="Microsoft YaHei"/>
              </a:defRPr>
            </a:defPPr>
          </a:lstStyle>
          <a:p xmlns:a="http://schemas.openxmlformats.org/drawingml/2006/main">
            <a:pPr algn="l">
              <a:lnSpc>
                <a:spcPct val="118000"/>
              </a:lnSpc>
              <a:buNone/>
              <a:defRPr sz="1725" b="0">
                <a:solidFill>
                  <a:srgbClr val="173E67"/>
                </a:solidFill>
                <a:latin typeface="Microsoft YaHei"/>
                <a:ea typeface="Microsoft YaHei"/>
                <a:cs typeface="Microsoft YaHei"/>
              </a:defRPr>
            </a:pPr>
            <a:r>
              <a:rPr sz="1725" b="0">
                <a:solidFill>
                  <a:srgbClr val="173E67"/>
                </a:solidFill>
                <a:latin typeface="Microsoft YaHei"/>
                <a:ea typeface="Microsoft YaHei"/>
                <a:cs typeface="Microsoft YaHei"/>
              </a:rPr>
              <a:t>同一组成可能对应多个晶型。几何合理之后，还需要判断相对竞争相的稳定性。</a:t>
            </a:r>
          </a:p>
        </p:txBody>
      </p:sp>
      <p:sp>
        <p:nvSpPr>
          <p:cNvPr id="5" name="separator">
            <a:extLst xmlns:a="http://schemas.openxmlformats.org/drawingml/2006/main">
              <a:ext uri="{FF2B5EF4-FFF2-40B4-BE49-F238E27FC236}">
                <a16:creationId xmlns:a16="http://schemas.microsoft.com/office/drawing/2014/main" id="{1D47742B-E8F7-46C0-830D-F6219C4BA15F}"/>
              </a:ext>
            </a:extLst>
          </p:cNvPr>
          <p:cNvSpPr>
            <a:spLocks xmlns:a="http://schemas.openxmlformats.org/drawingml/2006/main" noGrp="1"/>
          </p:cNvSpPr>
          <p:nvPr/>
        </p:nvSpPr>
        <p:spPr>
          <a:xfrm xmlns:a="http://schemas.openxmlformats.org/drawingml/2006/main">
            <a:off x="609600" y="6200775"/>
            <a:ext cx="10972800" cy="0"/>
          </a:xfrm>
          <a:prstGeom xmlns:a="http://schemas.openxmlformats.org/drawingml/2006/main" prst="line">
            <a:avLst/>
          </a:prstGeom>
          <a:ln xmlns:a="http://schemas.openxmlformats.org/drawingml/2006/main" w="9525">
            <a:solidFill>
              <a:srgbClr val="D5DCE3"/>
            </a:solidFill>
          </a:ln>
        </p:spPr>
      </p:sp>
      <p:sp>
        <p:nvSpPr>
          <p:cNvPr id="6" name="sources">
            <a:extLst xmlns:a="http://schemas.openxmlformats.org/drawingml/2006/main">
              <a:ext uri="{FF2B5EF4-FFF2-40B4-BE49-F238E27FC236}">
                <a16:creationId xmlns:a16="http://schemas.microsoft.com/office/drawing/2014/main" id="{6A0144F8-F0CF-4972-BFF2-DE810C4EA4AF}"/>
              </a:ext>
            </a:extLst>
          </p:cNvPr>
          <p:cNvSpPr>
            <a:spLocks xmlns:a="http://schemas.openxmlformats.org/drawingml/2006/main" noGrp="1"/>
          </p:cNvSpPr>
          <p:nvPr/>
        </p:nvSpPr>
        <p:spPr>
          <a:xfrm xmlns:a="http://schemas.openxmlformats.org/drawingml/2006/main">
            <a:off x="609600" y="6353175"/>
            <a:ext cx="10363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13" b="0">
                <a:solidFill>
                  <a:srgbClr val="526170"/>
                </a:solidFill>
                <a:latin typeface="Microsoft YaHei"/>
                <a:ea typeface="Microsoft YaHei"/>
                <a:cs typeface="Microsoft YaHei"/>
              </a:defRPr>
            </a:defPPr>
          </a:lstStyle>
          <a:p xmlns:a="http://schemas.openxmlformats.org/drawingml/2006/main">
            <a:pPr algn="l">
              <a:lnSpc>
                <a:spcPct val="118000"/>
              </a:lnSpc>
              <a:buNone/>
              <a:defRPr sz="1013" b="0">
                <a:solidFill>
                  <a:srgbClr val="526170"/>
                </a:solidFill>
                <a:latin typeface="Microsoft YaHei"/>
                <a:ea typeface="Microsoft YaHei"/>
                <a:cs typeface="Microsoft YaHei"/>
              </a:defRPr>
            </a:pPr>
            <a:r>
              <a:rPr sz="1013" b="0">
                <a:solidFill>
                  <a:srgbClr val="526170"/>
                </a:solidFill>
                <a:latin typeface="Microsoft YaHei"/>
                <a:ea typeface="Microsoft YaHei"/>
                <a:cs typeface="Microsoft YaHei"/>
              </a:rPr>
              <a:t>CDVAE (ICLR 2022)；DiffCSP (NeurIPS 2023)；MatterGen (2025)；Structure Matches (NeurIPS 2025)</a:t>
            </a:r>
          </a:p>
        </p:txBody>
      </p:sp>
      <p:sp>
        <p:nvSpPr>
          <p:cNvPr id="7" name="page-number">
            <a:extLst xmlns:a="http://schemas.openxmlformats.org/drawingml/2006/main">
              <a:ext uri="{FF2B5EF4-FFF2-40B4-BE49-F238E27FC236}">
                <a16:creationId xmlns:a16="http://schemas.microsoft.com/office/drawing/2014/main" id="{D791E0D4-9750-42C7-B4EF-DD9B37EF649D}"/>
              </a:ext>
            </a:extLst>
          </p:cNvPr>
          <p:cNvSpPr>
            <a:spLocks xmlns:a="http://schemas.openxmlformats.org/drawingml/2006/main" noGrp="1"/>
          </p:cNvSpPr>
          <p:nvPr/>
        </p:nvSpPr>
        <p:spPr>
          <a:xfrm xmlns:a="http://schemas.openxmlformats.org/drawingml/2006/main">
            <a:off x="11334750" y="6334125"/>
            <a:ext cx="266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26170"/>
                </a:solidFill>
                <a:latin typeface="Microsoft YaHei"/>
                <a:ea typeface="Microsoft YaHei"/>
                <a:cs typeface="Microsoft YaHei"/>
              </a:defRPr>
            </a:defPPr>
          </a:lstStyle>
          <a:p xmlns:a="http://schemas.openxmlformats.org/drawingml/2006/main">
            <a:pPr algn="r">
              <a:lnSpc>
                <a:spcPct val="118000"/>
              </a:lnSpc>
              <a:buNone/>
              <a:defRPr sz="1275" b="0">
                <a:solidFill>
                  <a:srgbClr val="526170"/>
                </a:solidFill>
                <a:latin typeface="Microsoft YaHei"/>
                <a:ea typeface="Microsoft YaHei"/>
                <a:cs typeface="Microsoft YaHei"/>
              </a:defRPr>
            </a:pPr>
            <a:r>
              <a:rPr sz="1275" b="0">
                <a:solidFill>
                  <a:srgbClr val="526170"/>
                </a:solidFill>
                <a:latin typeface="Microsoft YaHei"/>
                <a:ea typeface="Microsoft YaHei"/>
                <a:cs typeface="Microsoft YaHei"/>
              </a:rPr>
              <a:t>03</a:t>
            </a:r>
          </a:p>
        </p:txBody>
      </p:sp>
    </p:spTree>
    <p:extLst>
      <p:ext uri="{BB962C8B-B14F-4D97-AF65-F5344CB8AC3E}">
        <p14:creationId xmlns:p14="http://schemas.microsoft.com/office/powerpoint/2010/main" val="14845411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1E9DEEF8-B72B-489F-A4BA-76F4F7599E75}"/>
              </a:ext>
            </a:extLst>
          </p:cNvPr>
          <p:cNvSpPr>
            <a:spLocks xmlns:a="http://schemas.openxmlformats.org/drawingml/2006/main" noGrp="1"/>
          </p:cNvSpPr>
          <p:nvPr/>
        </p:nvSpPr>
        <p:spPr>
          <a:xfrm xmlns:a="http://schemas.openxmlformats.org/drawingml/2006/main">
            <a:off x="609600" y="36195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73E67"/>
                </a:solidFill>
                <a:latin typeface="Microsoft YaHei"/>
                <a:ea typeface="Microsoft YaHei"/>
                <a:cs typeface="Microsoft YaHei"/>
              </a:defRPr>
            </a:defPPr>
          </a:lstStyle>
          <a:p xmlns:a="http://schemas.openxmlformats.org/drawingml/2006/main">
            <a:pPr algn="l">
              <a:lnSpc>
                <a:spcPct val="118000"/>
              </a:lnSpc>
              <a:buNone/>
              <a:defRPr sz="3150" b="1">
                <a:solidFill>
                  <a:srgbClr val="173E67"/>
                </a:solidFill>
                <a:latin typeface="Microsoft YaHei"/>
                <a:ea typeface="Microsoft YaHei"/>
                <a:cs typeface="Microsoft YaHei"/>
              </a:defRPr>
            </a:pPr>
            <a:r>
              <a:rPr sz="3150" b="1">
                <a:solidFill>
                  <a:srgbClr val="173E67"/>
                </a:solidFill>
                <a:latin typeface="Microsoft YaHei"/>
                <a:ea typeface="Microsoft YaHei"/>
                <a:cs typeface="Microsoft YaHei"/>
              </a:rPr>
              <a:t>领域沿三条研究线并行发展</a:t>
            </a:r>
          </a:p>
        </p:txBody>
      </p:sp>
      <p:sp>
        <p:nvSpPr>
          <p:cNvPr id="2" name="lead">
            <a:extLst xmlns:a="http://schemas.openxmlformats.org/drawingml/2006/main">
              <a:ext uri="{FF2B5EF4-FFF2-40B4-BE49-F238E27FC236}">
                <a16:creationId xmlns:a16="http://schemas.microsoft.com/office/drawing/2014/main" id="{2A2248F9-4D79-45FE-B3F4-5DBE3715D47A}"/>
              </a:ext>
            </a:extLst>
          </p:cNvPr>
          <p:cNvSpPr>
            <a:spLocks xmlns:a="http://schemas.openxmlformats.org/drawingml/2006/main" noGrp="1"/>
          </p:cNvSpPr>
          <p:nvPr/>
        </p:nvSpPr>
        <p:spPr>
          <a:xfrm xmlns:a="http://schemas.openxmlformats.org/drawingml/2006/main">
            <a:off x="609600" y="11049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B2533"/>
                </a:solidFill>
                <a:latin typeface="Microsoft YaHei"/>
                <a:ea typeface="Microsoft YaHei"/>
                <a:cs typeface="Microsoft YaHei"/>
              </a:defRPr>
            </a:defPPr>
          </a:lstStyle>
          <a:p xmlns:a="http://schemas.openxmlformats.org/drawingml/2006/main">
            <a:pPr algn="l">
              <a:lnSpc>
                <a:spcPct val="118000"/>
              </a:lnSpc>
              <a:buNone/>
              <a:defRPr sz="2025" b="0">
                <a:solidFill>
                  <a:srgbClr val="1B2533"/>
                </a:solidFill>
                <a:latin typeface="Microsoft YaHei"/>
                <a:ea typeface="Microsoft YaHei"/>
                <a:cs typeface="Microsoft YaHei"/>
              </a:defRPr>
            </a:pPr>
            <a:r>
              <a:rPr sz="2025" b="0">
                <a:solidFill>
                  <a:srgbClr val="1B2533"/>
                </a:solidFill>
                <a:latin typeface="Microsoft YaHei"/>
                <a:ea typeface="Microsoft YaHei"/>
                <a:cs typeface="Microsoft YaHei"/>
              </a:rPr>
              <a:t>新方法不断扩展可表达的结构、可接受的条件和可利用的物理信息。</a:t>
            </a:r>
          </a:p>
        </p:txBody>
      </p:sp>
      <p:graphicFrame>
        <p:nvGraphicFramePr>
          <p:cNvPr id="3" name="">
            <a:extLst xmlns:a="http://schemas.openxmlformats.org/drawingml/2006/main">
              <a:ext uri="{FF2B5EF4-FFF2-40B4-BE49-F238E27FC236}">
                <a16:creationId xmlns:a16="http://schemas.microsoft.com/office/drawing/2014/main" id="{ED51BC90-D46E-4446-88B0-3673C1F6D60C}"/>
              </a:ext>
            </a:extLst>
          </p:cNvPr>
          <p:cNvGraphicFramePr/>
          <p:nvPr/>
        </p:nvGraphicFramePr>
        <p:xfrm>
          <a:off xmlns:a="http://schemas.openxmlformats.org/drawingml/2006/main" x="609600" y="1990725"/>
          <a:ext xmlns:a="http://schemas.openxmlformats.org/drawingml/2006/main" cx="10972800" cy="3419475"/>
        </p:xfrm>
        <a:graphic xmlns:a="http://schemas.openxmlformats.org/drawingml/2006/main">
          <a:graphicData uri="http://schemas.openxmlformats.org/drawingml/2006/table">
            <a:tbl>
              <a:tblPr firstRow="0" bandRow="0"/>
              <a:tblGrid>
                <a:gridCol w="1857375"/>
                <a:gridCol w="2571750"/>
                <a:gridCol w="2714625"/>
                <a:gridCol w="3829050"/>
              </a:tblGrid>
              <a:tr h="533400">
                <a:tc>
                  <a:txBody>
                    <a:bodyPr wrap="square" lIns="114300" tIns="85725" rIns="95250" bIns="85725">
                      <a:noAutofit/>
                    </a:bodyPr>
                    <a:lstStyle/>
                    <a:p>
                      <a:pPr algn="l">
                        <a:lnSpc>
                          <a:spcPct val="118000"/>
                        </a:lnSpc>
                        <a:buNone/>
                      </a:pPr>
                      <a:r>
                        <a:rPr sz="1800" b="1">
                          <a:solidFill>
                            <a:srgbClr val="173E67"/>
                          </a:solidFill>
                          <a:latin typeface="Microsoft YaHei"/>
                          <a:ea typeface="Microsoft YaHei"/>
                          <a:cs typeface="Microsoft YaHei"/>
                        </a:rPr>
                        <a:t>研究线</a:t>
                      </a:r>
                    </a:p>
                  </a:txBody>
                  <a:tcPr marL="91440" marR="91440" marT="45720" marB="45720" anchor="ctr">
                    <a:solidFill>
                      <a:srgbClr val="EDF2F6"/>
                    </a:solidFill>
                  </a:tcPr>
                </a:tc>
                <a:tc>
                  <a:txBody>
                    <a:bodyPr wrap="square" lIns="114300" tIns="85725" rIns="95250" bIns="85725">
                      <a:noAutofit/>
                    </a:bodyPr>
                    <a:lstStyle/>
                    <a:p>
                      <a:pPr algn="l">
                        <a:lnSpc>
                          <a:spcPct val="118000"/>
                        </a:lnSpc>
                        <a:buNone/>
                      </a:pPr>
                      <a:r>
                        <a:rPr sz="1800" b="1">
                          <a:solidFill>
                            <a:srgbClr val="173E67"/>
                          </a:solidFill>
                          <a:latin typeface="Microsoft YaHei"/>
                          <a:ea typeface="Microsoft YaHei"/>
                          <a:cs typeface="Microsoft YaHei"/>
                        </a:rPr>
                        <a:t>早期基础</a:t>
                      </a:r>
                    </a:p>
                  </a:txBody>
                  <a:tcPr marL="91440" marR="91440" marT="45720" marB="45720" anchor="ctr">
                    <a:solidFill>
                      <a:srgbClr val="EDF2F6"/>
                    </a:solidFill>
                  </a:tcPr>
                </a:tc>
                <a:tc>
                  <a:txBody>
                    <a:bodyPr wrap="square" lIns="114300" tIns="85725" rIns="95250" bIns="85725">
                      <a:noAutofit/>
                    </a:bodyPr>
                    <a:lstStyle/>
                    <a:p>
                      <a:pPr algn="l">
                        <a:lnSpc>
                          <a:spcPct val="118000"/>
                        </a:lnSpc>
                        <a:buNone/>
                      </a:pPr>
                      <a:r>
                        <a:rPr sz="1800" b="1">
                          <a:solidFill>
                            <a:srgbClr val="173E67"/>
                          </a:solidFill>
                          <a:latin typeface="Microsoft YaHei"/>
                          <a:ea typeface="Microsoft YaHei"/>
                          <a:cs typeface="Microsoft YaHei"/>
                        </a:rPr>
                        <a:t>2023—2024</a:t>
                      </a:r>
                    </a:p>
                  </a:txBody>
                  <a:tcPr marL="91440" marR="91440" marT="45720" marB="45720" anchor="ctr">
                    <a:solidFill>
                      <a:srgbClr val="EDF2F6"/>
                    </a:solidFill>
                  </a:tcPr>
                </a:tc>
                <a:tc>
                  <a:txBody>
                    <a:bodyPr wrap="square" lIns="114300" tIns="85725" rIns="95250" bIns="85725">
                      <a:noAutofit/>
                    </a:bodyPr>
                    <a:lstStyle/>
                    <a:p>
                      <a:pPr algn="l">
                        <a:lnSpc>
                          <a:spcPct val="118000"/>
                        </a:lnSpc>
                        <a:buNone/>
                      </a:pPr>
                      <a:r>
                        <a:rPr sz="1800" b="1">
                          <a:solidFill>
                            <a:srgbClr val="173E67"/>
                          </a:solidFill>
                          <a:latin typeface="Microsoft YaHei"/>
                          <a:ea typeface="Microsoft YaHei"/>
                          <a:cs typeface="Microsoft YaHei"/>
                        </a:rPr>
                        <a:t>2025—2026</a:t>
                      </a:r>
                    </a:p>
                  </a:txBody>
                  <a:tcPr marL="91440" marR="91440" marT="45720" marB="45720" anchor="ctr">
                    <a:solidFill>
                      <a:srgbClr val="EDF2F6"/>
                    </a:solidFill>
                  </a:tcPr>
                </a:tc>
              </a:tr>
              <a:tr h="962025">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结构表示与生成</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iMatGen、FTCP</a:t>
                      </a:r>
                    </a:p>
                    <a:p>
                      <a:pPr algn="l">
                        <a:lnSpc>
                          <a:spcPct val="118000"/>
                        </a:lnSpc>
                        <a:buNone/>
                      </a:pPr>
                      <a:r>
                        <a:rPr sz="1725" b="0">
                          <a:solidFill>
                            <a:srgbClr val="1B2533"/>
                          </a:solidFill>
                          <a:latin typeface="Microsoft YaHei"/>
                          <a:ea typeface="Microsoft YaHei"/>
                          <a:cs typeface="Microsoft YaHei"/>
                        </a:rPr>
                        <a:t>CDVAE</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DiffCSP、FlowMM</a:t>
                      </a:r>
                    </a:p>
                    <a:p>
                      <a:pPr algn="l">
                        <a:lnSpc>
                          <a:spcPct val="118000"/>
                        </a:lnSpc>
                        <a:buNone/>
                      </a:pPr>
                      <a:r>
                        <a:rPr sz="1725" b="0">
                          <a:solidFill>
                            <a:srgbClr val="1B2533"/>
                          </a:solidFill>
                          <a:latin typeface="Microsoft YaHei"/>
                          <a:ea typeface="Microsoft YaHei"/>
                          <a:cs typeface="Microsoft YaHei"/>
                        </a:rPr>
                        <a:t>晶体语言模型</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OMatG、SymmCD</a:t>
                      </a:r>
                    </a:p>
                    <a:p>
                      <a:pPr algn="l">
                        <a:lnSpc>
                          <a:spcPct val="118000"/>
                        </a:lnSpc>
                        <a:buNone/>
                      </a:pPr>
                      <a:r>
                        <a:rPr sz="1725" b="0">
                          <a:solidFill>
                            <a:srgbClr val="1B2533"/>
                          </a:solidFill>
                          <a:latin typeface="Microsoft YaHei"/>
                          <a:ea typeface="Microsoft YaHei"/>
                          <a:cs typeface="Microsoft YaHei"/>
                        </a:rPr>
                        <a:t>CrysLLMGen、MCFlow</a:t>
                      </a:r>
                    </a:p>
                  </a:txBody>
                  <a:tcPr marL="91440" marR="91440" marT="45720" marB="45720" anchor="ctr">
                    <a:solidFill>
                      <a:srgbClr val="FFFFFF"/>
                    </a:solidFill>
                  </a:tcPr>
                </a:tc>
              </a:tr>
              <a:tr h="962025">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条件与科学知识</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性质潜空间</a:t>
                      </a:r>
                    </a:p>
                    <a:p>
                      <a:pPr algn="l">
                        <a:lnSpc>
                          <a:spcPct val="118000"/>
                        </a:lnSpc>
                        <a:buNone/>
                      </a:pPr>
                      <a:r>
                        <a:rPr sz="1725" b="0">
                          <a:solidFill>
                            <a:srgbClr val="1B2533"/>
                          </a:solidFill>
                          <a:latin typeface="Microsoft YaHei"/>
                          <a:ea typeface="Microsoft YaHei"/>
                          <a:cs typeface="Microsoft YaHei"/>
                        </a:rPr>
                        <a:t>给定组成</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对称约束</a:t>
                      </a:r>
                    </a:p>
                    <a:p>
                      <a:pPr algn="l">
                        <a:lnSpc>
                          <a:spcPct val="118000"/>
                        </a:lnSpc>
                        <a:buNone/>
                      </a:pPr>
                      <a:r>
                        <a:rPr sz="1725" b="0">
                          <a:solidFill>
                            <a:srgbClr val="1B2533"/>
                          </a:solidFill>
                          <a:latin typeface="Microsoft YaHei"/>
                          <a:ea typeface="Microsoft YaHei"/>
                          <a:cs typeface="Microsoft YaHei"/>
                        </a:rPr>
                        <a:t>语言条件与连续精修</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MatterGen、SCIGEN</a:t>
                      </a:r>
                    </a:p>
                    <a:p>
                      <a:pPr algn="l">
                        <a:lnSpc>
                          <a:spcPct val="118000"/>
                        </a:lnSpc>
                        <a:buNone/>
                      </a:pPr>
                      <a:r>
                        <a:rPr sz="1725" b="0">
                          <a:solidFill>
                            <a:srgbClr val="1B2533"/>
                          </a:solidFill>
                          <a:latin typeface="Microsoft YaHei"/>
                          <a:ea typeface="Microsoft YaHei"/>
                          <a:cs typeface="Microsoft YaHei"/>
                        </a:rPr>
                        <a:t>PLaID++、组合条件</a:t>
                      </a:r>
                    </a:p>
                  </a:txBody>
                  <a:tcPr marL="91440" marR="91440" marT="45720" marB="45720" anchor="ctr">
                    <a:solidFill>
                      <a:srgbClr val="FFFFFF"/>
                    </a:solidFill>
                  </a:tcPr>
                </a:tc>
              </a:tr>
              <a:tr h="962025">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物理与多解发现</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AIRSS、USPEX</a:t>
                      </a:r>
                    </a:p>
                    <a:p>
                      <a:pPr algn="l">
                        <a:lnSpc>
                          <a:spcPct val="118000"/>
                        </a:lnSpc>
                        <a:buNone/>
                      </a:pPr>
                      <a:r>
                        <a:rPr sz="1725" b="0">
                          <a:solidFill>
                            <a:srgbClr val="1B2533"/>
                          </a:solidFill>
                          <a:latin typeface="Microsoft YaHei"/>
                          <a:ea typeface="Microsoft YaHei"/>
                          <a:cs typeface="Microsoft YaHei"/>
                        </a:rPr>
                        <a:t>材料数据库</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通用势、GNoME</a:t>
                      </a:r>
                    </a:p>
                    <a:p>
                      <a:pPr algn="l">
                        <a:lnSpc>
                          <a:spcPct val="118000"/>
                        </a:lnSpc>
                        <a:buNone/>
                      </a:pPr>
                      <a:r>
                        <a:rPr sz="1725" b="0">
                          <a:solidFill>
                            <a:srgbClr val="1B2533"/>
                          </a:solidFill>
                          <a:latin typeface="Microsoft YaHei"/>
                          <a:ea typeface="Microsoft YaHei"/>
                          <a:cs typeface="Microsoft YaHei"/>
                        </a:rPr>
                        <a:t>RL搜索与晶体QD</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物理后训练</a:t>
                      </a:r>
                    </a:p>
                    <a:p>
                      <a:pPr algn="l">
                        <a:lnSpc>
                          <a:spcPct val="118000"/>
                        </a:lnSpc>
                        <a:buNone/>
                      </a:pPr>
                      <a:r>
                        <a:rPr sz="1725" b="0">
                          <a:solidFill>
                            <a:srgbClr val="1B2533"/>
                          </a:solidFill>
                          <a:latin typeface="Microsoft YaHei"/>
                          <a:ea typeface="Microsoft YaHei"/>
                          <a:cs typeface="Microsoft YaHei"/>
                        </a:rPr>
                        <a:t>层级探索与数据回流</a:t>
                      </a:r>
                    </a:p>
                  </a:txBody>
                  <a:tcPr marL="91440" marR="91440" marT="45720" marB="45720" anchor="ctr">
                    <a:solidFill>
                      <a:srgbClr val="FFFFFF"/>
                    </a:solidFill>
                  </a:tcPr>
                </a:tc>
              </a:tr>
            </a:tbl>
          </a:graphicData>
        </a:graphic>
      </p:graphicFrame>
      <p:sp>
        <p:nvSpPr>
          <p:cNvPr id="4" name="conclusion">
            <a:extLst xmlns:a="http://schemas.openxmlformats.org/drawingml/2006/main">
              <a:ext uri="{FF2B5EF4-FFF2-40B4-BE49-F238E27FC236}">
                <a16:creationId xmlns:a16="http://schemas.microsoft.com/office/drawing/2014/main" id="{10E2EA6B-83E3-4D10-8399-F70C573A38F9}"/>
              </a:ext>
            </a:extLst>
          </p:cNvPr>
          <p:cNvSpPr>
            <a:spLocks xmlns:a="http://schemas.openxmlformats.org/drawingml/2006/main" noGrp="1"/>
          </p:cNvSpPr>
          <p:nvPr/>
        </p:nvSpPr>
        <p:spPr>
          <a:xfrm xmlns:a="http://schemas.openxmlformats.org/drawingml/2006/main">
            <a:off x="609600" y="5619750"/>
            <a:ext cx="109728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73E67"/>
                </a:solidFill>
                <a:latin typeface="Microsoft YaHei"/>
                <a:ea typeface="Microsoft YaHei"/>
                <a:cs typeface="Microsoft YaHei"/>
              </a:defRPr>
            </a:defPPr>
          </a:lstStyle>
          <a:p xmlns:a="http://schemas.openxmlformats.org/drawingml/2006/main">
            <a:pPr algn="l">
              <a:lnSpc>
                <a:spcPct val="118000"/>
              </a:lnSpc>
              <a:buNone/>
              <a:defRPr sz="1725" b="0">
                <a:solidFill>
                  <a:srgbClr val="173E67"/>
                </a:solidFill>
                <a:latin typeface="Microsoft YaHei"/>
                <a:ea typeface="Microsoft YaHei"/>
                <a:cs typeface="Microsoft YaHei"/>
              </a:defRPr>
            </a:pPr>
            <a:r>
              <a:rPr sz="1725" b="0">
                <a:solidFill>
                  <a:srgbClr val="173E67"/>
                </a:solidFill>
                <a:latin typeface="Microsoft YaHei"/>
                <a:ea typeface="Microsoft YaHei"/>
                <a:cs typeface="Microsoft YaHei"/>
              </a:rPr>
              <a:t>时间按代表工作首次公开或正式发表概括。三条线之间不断交换方法。</a:t>
            </a:r>
          </a:p>
        </p:txBody>
      </p:sp>
      <p:sp>
        <p:nvSpPr>
          <p:cNvPr id="5" name="separator">
            <a:extLst xmlns:a="http://schemas.openxmlformats.org/drawingml/2006/main">
              <a:ext uri="{FF2B5EF4-FFF2-40B4-BE49-F238E27FC236}">
                <a16:creationId xmlns:a16="http://schemas.microsoft.com/office/drawing/2014/main" id="{42846CE3-2BBF-49B0-AD66-ADC2C1C16C1A}"/>
              </a:ext>
            </a:extLst>
          </p:cNvPr>
          <p:cNvSpPr>
            <a:spLocks xmlns:a="http://schemas.openxmlformats.org/drawingml/2006/main" noGrp="1"/>
          </p:cNvSpPr>
          <p:nvPr/>
        </p:nvSpPr>
        <p:spPr>
          <a:xfrm xmlns:a="http://schemas.openxmlformats.org/drawingml/2006/main">
            <a:off x="609600" y="6200775"/>
            <a:ext cx="10972800" cy="0"/>
          </a:xfrm>
          <a:prstGeom xmlns:a="http://schemas.openxmlformats.org/drawingml/2006/main" prst="line">
            <a:avLst/>
          </a:prstGeom>
          <a:ln xmlns:a="http://schemas.openxmlformats.org/drawingml/2006/main" w="9525">
            <a:solidFill>
              <a:srgbClr val="D5DCE3"/>
            </a:solidFill>
          </a:ln>
        </p:spPr>
      </p:sp>
      <p:sp>
        <p:nvSpPr>
          <p:cNvPr id="6" name="sources">
            <a:extLst xmlns:a="http://schemas.openxmlformats.org/drawingml/2006/main">
              <a:ext uri="{FF2B5EF4-FFF2-40B4-BE49-F238E27FC236}">
                <a16:creationId xmlns:a16="http://schemas.microsoft.com/office/drawing/2014/main" id="{6983F1E2-7437-40B7-97AF-3CF4C8606819}"/>
              </a:ext>
            </a:extLst>
          </p:cNvPr>
          <p:cNvSpPr>
            <a:spLocks xmlns:a="http://schemas.openxmlformats.org/drawingml/2006/main" noGrp="1"/>
          </p:cNvSpPr>
          <p:nvPr/>
        </p:nvSpPr>
        <p:spPr>
          <a:xfrm xmlns:a="http://schemas.openxmlformats.org/drawingml/2006/main">
            <a:off x="609600" y="6353175"/>
            <a:ext cx="10363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13" b="0">
                <a:solidFill>
                  <a:srgbClr val="526170"/>
                </a:solidFill>
                <a:latin typeface="Microsoft YaHei"/>
                <a:ea typeface="Microsoft YaHei"/>
                <a:cs typeface="Microsoft YaHei"/>
              </a:defRPr>
            </a:defPPr>
          </a:lstStyle>
          <a:p xmlns:a="http://schemas.openxmlformats.org/drawingml/2006/main">
            <a:pPr algn="l">
              <a:lnSpc>
                <a:spcPct val="118000"/>
              </a:lnSpc>
              <a:buNone/>
              <a:defRPr sz="1013" b="0">
                <a:solidFill>
                  <a:srgbClr val="526170"/>
                </a:solidFill>
                <a:latin typeface="Microsoft YaHei"/>
                <a:ea typeface="Microsoft YaHei"/>
                <a:cs typeface="Microsoft YaHei"/>
              </a:defRPr>
            </a:pPr>
            <a:r>
              <a:rPr sz="1013" b="0">
                <a:solidFill>
                  <a:srgbClr val="526170"/>
                </a:solidFill>
                <a:latin typeface="Microsoft YaHei"/>
                <a:ea typeface="Microsoft YaHei"/>
                <a:cs typeface="Microsoft YaHei"/>
              </a:rPr>
              <a:t>代表文献见本报告备注及文献年表。并行关系为综述归纳。</a:t>
            </a:r>
          </a:p>
        </p:txBody>
      </p:sp>
      <p:sp>
        <p:nvSpPr>
          <p:cNvPr id="7" name="page-number">
            <a:extLst xmlns:a="http://schemas.openxmlformats.org/drawingml/2006/main">
              <a:ext uri="{FF2B5EF4-FFF2-40B4-BE49-F238E27FC236}">
                <a16:creationId xmlns:a16="http://schemas.microsoft.com/office/drawing/2014/main" id="{26715672-A8C5-4438-A7E8-CFF8D4619A7B}"/>
              </a:ext>
            </a:extLst>
          </p:cNvPr>
          <p:cNvSpPr>
            <a:spLocks xmlns:a="http://schemas.openxmlformats.org/drawingml/2006/main" noGrp="1"/>
          </p:cNvSpPr>
          <p:nvPr/>
        </p:nvSpPr>
        <p:spPr>
          <a:xfrm xmlns:a="http://schemas.openxmlformats.org/drawingml/2006/main">
            <a:off x="11334750" y="6334125"/>
            <a:ext cx="266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26170"/>
                </a:solidFill>
                <a:latin typeface="Microsoft YaHei"/>
                <a:ea typeface="Microsoft YaHei"/>
                <a:cs typeface="Microsoft YaHei"/>
              </a:defRPr>
            </a:defPPr>
          </a:lstStyle>
          <a:p xmlns:a="http://schemas.openxmlformats.org/drawingml/2006/main">
            <a:pPr algn="r">
              <a:lnSpc>
                <a:spcPct val="118000"/>
              </a:lnSpc>
              <a:buNone/>
              <a:defRPr sz="1275" b="0">
                <a:solidFill>
                  <a:srgbClr val="526170"/>
                </a:solidFill>
                <a:latin typeface="Microsoft YaHei"/>
                <a:ea typeface="Microsoft YaHei"/>
                <a:cs typeface="Microsoft YaHei"/>
              </a:defRPr>
            </a:pPr>
            <a:r>
              <a:rPr sz="1275" b="0">
                <a:solidFill>
                  <a:srgbClr val="526170"/>
                </a:solidFill>
                <a:latin typeface="Microsoft YaHei"/>
                <a:ea typeface="Microsoft YaHei"/>
                <a:cs typeface="Microsoft YaHei"/>
              </a:rPr>
              <a:t>04</a:t>
            </a:r>
          </a:p>
        </p:txBody>
      </p:sp>
    </p:spTree>
    <p:extLst>
      <p:ext uri="{BB962C8B-B14F-4D97-AF65-F5344CB8AC3E}">
        <p14:creationId xmlns:p14="http://schemas.microsoft.com/office/powerpoint/2010/main" val="142245901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F35ECF8A-4AA6-4933-9915-499961493C57}"/>
              </a:ext>
            </a:extLst>
          </p:cNvPr>
          <p:cNvSpPr>
            <a:spLocks xmlns:a="http://schemas.openxmlformats.org/drawingml/2006/main" noGrp="1"/>
          </p:cNvSpPr>
          <p:nvPr/>
        </p:nvSpPr>
        <p:spPr>
          <a:xfrm xmlns:a="http://schemas.openxmlformats.org/drawingml/2006/main">
            <a:off x="609600" y="36195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73E67"/>
                </a:solidFill>
                <a:latin typeface="Microsoft YaHei"/>
                <a:ea typeface="Microsoft YaHei"/>
                <a:cs typeface="Microsoft YaHei"/>
              </a:defRPr>
            </a:defPPr>
          </a:lstStyle>
          <a:p xmlns:a="http://schemas.openxmlformats.org/drawingml/2006/main">
            <a:pPr algn="l">
              <a:lnSpc>
                <a:spcPct val="118000"/>
              </a:lnSpc>
              <a:buNone/>
              <a:defRPr sz="3150" b="1">
                <a:solidFill>
                  <a:srgbClr val="173E67"/>
                </a:solidFill>
                <a:latin typeface="Microsoft YaHei"/>
                <a:ea typeface="Microsoft YaHei"/>
                <a:cs typeface="Microsoft YaHei"/>
              </a:defRPr>
            </a:pPr>
            <a:r>
              <a:rPr sz="3150" b="1">
                <a:solidFill>
                  <a:srgbClr val="173E67"/>
                </a:solidFill>
                <a:latin typeface="Microsoft YaHei"/>
                <a:ea typeface="Microsoft YaHei"/>
                <a:cs typeface="Microsoft YaHei"/>
              </a:rPr>
              <a:t>周期生成开始直接建模晶体几何</a:t>
            </a:r>
          </a:p>
        </p:txBody>
      </p:sp>
      <p:graphicFrame>
        <p:nvGraphicFramePr>
          <p:cNvPr id="2" name="">
            <a:extLst xmlns:a="http://schemas.openxmlformats.org/drawingml/2006/main">
              <a:ext uri="{FF2B5EF4-FFF2-40B4-BE49-F238E27FC236}">
                <a16:creationId xmlns:a16="http://schemas.microsoft.com/office/drawing/2014/main" id="{65A8F346-9CBE-4576-9FA1-04144E04BD06}"/>
              </a:ext>
            </a:extLst>
          </p:cNvPr>
          <p:cNvGraphicFramePr/>
          <p:nvPr/>
        </p:nvGraphicFramePr>
        <p:xfrm>
          <a:off xmlns:a="http://schemas.openxmlformats.org/drawingml/2006/main" x="609600" y="1400175"/>
          <a:ext xmlns:a="http://schemas.openxmlformats.org/drawingml/2006/main" cx="10972800" cy="4010025"/>
        </p:xfrm>
        <a:graphic xmlns:a="http://schemas.openxmlformats.org/drawingml/2006/main">
          <a:graphicData uri="http://schemas.openxmlformats.org/drawingml/2006/table">
            <a:tbl>
              <a:tblPr firstRow="0" bandRow="0"/>
              <a:tblGrid>
                <a:gridCol w="2714625"/>
                <a:gridCol w="3476625"/>
                <a:gridCol w="4781550"/>
              </a:tblGrid>
              <a:tr h="533400">
                <a:tc>
                  <a:txBody>
                    <a:bodyPr wrap="square" lIns="114300" tIns="85725" rIns="95250" bIns="85725">
                      <a:noAutofit/>
                    </a:bodyPr>
                    <a:lstStyle/>
                    <a:p>
                      <a:pPr algn="l">
                        <a:lnSpc>
                          <a:spcPct val="118000"/>
                        </a:lnSpc>
                        <a:buNone/>
                      </a:pPr>
                      <a:r>
                        <a:rPr sz="1800" b="1">
                          <a:solidFill>
                            <a:srgbClr val="173E67"/>
                          </a:solidFill>
                          <a:latin typeface="Microsoft YaHei"/>
                          <a:ea typeface="Microsoft YaHei"/>
                          <a:cs typeface="Microsoft YaHei"/>
                        </a:rPr>
                        <a:t>工作</a:t>
                      </a:r>
                    </a:p>
                  </a:txBody>
                  <a:tcPr marL="91440" marR="91440" marT="45720" marB="45720" anchor="ctr">
                    <a:solidFill>
                      <a:srgbClr val="EDF2F6"/>
                    </a:solidFill>
                  </a:tcPr>
                </a:tc>
                <a:tc>
                  <a:txBody>
                    <a:bodyPr wrap="square" lIns="114300" tIns="85725" rIns="95250" bIns="85725">
                      <a:noAutofit/>
                    </a:bodyPr>
                    <a:lstStyle/>
                    <a:p>
                      <a:pPr algn="l">
                        <a:lnSpc>
                          <a:spcPct val="118000"/>
                        </a:lnSpc>
                        <a:buNone/>
                      </a:pPr>
                      <a:r>
                        <a:rPr sz="1800" b="1">
                          <a:solidFill>
                            <a:srgbClr val="173E67"/>
                          </a:solidFill>
                          <a:latin typeface="Microsoft YaHei"/>
                          <a:ea typeface="Microsoft YaHei"/>
                          <a:cs typeface="Microsoft YaHei"/>
                        </a:rPr>
                        <a:t>解决的主要困难</a:t>
                      </a:r>
                    </a:p>
                  </a:txBody>
                  <a:tcPr marL="91440" marR="91440" marT="45720" marB="45720" anchor="ctr">
                    <a:solidFill>
                      <a:srgbClr val="EDF2F6"/>
                    </a:solidFill>
                  </a:tcPr>
                </a:tc>
                <a:tc>
                  <a:txBody>
                    <a:bodyPr wrap="square" lIns="114300" tIns="85725" rIns="95250" bIns="85725">
                      <a:noAutofit/>
                    </a:bodyPr>
                    <a:lstStyle/>
                    <a:p>
                      <a:pPr algn="l">
                        <a:lnSpc>
                          <a:spcPct val="118000"/>
                        </a:lnSpc>
                        <a:buNone/>
                      </a:pPr>
                      <a:r>
                        <a:rPr sz="1800" b="1">
                          <a:solidFill>
                            <a:srgbClr val="173E67"/>
                          </a:solidFill>
                          <a:latin typeface="Microsoft YaHei"/>
                          <a:ea typeface="Microsoft YaHei"/>
                          <a:cs typeface="Microsoft YaHei"/>
                        </a:rPr>
                        <a:t>方法与已建立的能力</a:t>
                      </a:r>
                    </a:p>
                  </a:txBody>
                  <a:tcPr marL="91440" marR="91440" marT="45720" marB="45720" anchor="ctr">
                    <a:solidFill>
                      <a:srgbClr val="EDF2F6"/>
                    </a:solidFill>
                  </a:tcPr>
                </a:tc>
              </a:tr>
              <a:tr h="869156">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CDVAE</a:t>
                      </a:r>
                    </a:p>
                    <a:p>
                      <a:pPr algn="l">
                        <a:lnSpc>
                          <a:spcPct val="118000"/>
                        </a:lnSpc>
                        <a:buNone/>
                      </a:pPr>
                      <a:r>
                        <a:rPr sz="1725" b="0">
                          <a:solidFill>
                            <a:srgbClr val="1B2533"/>
                          </a:solidFill>
                          <a:latin typeface="Microsoft YaHei"/>
                          <a:ea typeface="Microsoft YaHei"/>
                          <a:cs typeface="Microsoft YaHei"/>
                        </a:rPr>
                        <a:t>ICLR 2022</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周期结构的可学习生成</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潜变量组织结构属性，周期去噪生成坐标。</a:t>
                      </a:r>
                    </a:p>
                  </a:txBody>
                  <a:tcPr marL="91440" marR="91440" marT="45720" marB="45720" anchor="ctr">
                    <a:solidFill>
                      <a:srgbClr val="FFFFFF"/>
                    </a:solidFill>
                  </a:tcPr>
                </a:tc>
              </a:tr>
              <a:tr h="869156">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DiffCSP</a:t>
                      </a:r>
                    </a:p>
                    <a:p>
                      <a:pPr algn="l">
                        <a:lnSpc>
                          <a:spcPct val="118000"/>
                        </a:lnSpc>
                        <a:buNone/>
                      </a:pPr>
                      <a:r>
                        <a:rPr sz="1725" b="0">
                          <a:solidFill>
                            <a:srgbClr val="1B2533"/>
                          </a:solidFill>
                          <a:latin typeface="Microsoft YaHei"/>
                          <a:ea typeface="Microsoft YaHei"/>
                          <a:cs typeface="Microsoft YaHei"/>
                        </a:rPr>
                        <a:t>NeurIPS 2023</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给定组成下晶胞与坐标耦合</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联合等变扩散，提高参考结构预测能力。</a:t>
                      </a:r>
                    </a:p>
                  </a:txBody>
                  <a:tcPr marL="91440" marR="91440" marT="45720" marB="45720" anchor="ctr">
                    <a:solidFill>
                      <a:srgbClr val="FFFFFF"/>
                    </a:solidFill>
                  </a:tcPr>
                </a:tc>
              </a:tr>
              <a:tr h="869156">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FlowMM</a:t>
                      </a:r>
                    </a:p>
                    <a:p>
                      <a:pPr algn="l">
                        <a:lnSpc>
                          <a:spcPct val="118000"/>
                        </a:lnSpc>
                        <a:buNone/>
                      </a:pPr>
                      <a:r>
                        <a:rPr sz="1725" b="0">
                          <a:solidFill>
                            <a:srgbClr val="1B2533"/>
                          </a:solidFill>
                          <a:latin typeface="Microsoft YaHei"/>
                          <a:ea typeface="Microsoft YaHei"/>
                          <a:cs typeface="Microsoft YaHei"/>
                        </a:rPr>
                        <a:t>ICML 2024</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周期变量的连续生成路径</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在晶体流形上进行 flow matching。</a:t>
                      </a:r>
                    </a:p>
                  </a:txBody>
                  <a:tcPr marL="91440" marR="91440" marT="45720" marB="45720" anchor="ctr">
                    <a:solidFill>
                      <a:srgbClr val="FFFFFF"/>
                    </a:solidFill>
                  </a:tcPr>
                </a:tc>
              </a:tr>
              <a:tr h="869156">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OMatG</a:t>
                      </a:r>
                    </a:p>
                    <a:p>
                      <a:pPr algn="l">
                        <a:lnSpc>
                          <a:spcPct val="118000"/>
                        </a:lnSpc>
                        <a:buNone/>
                      </a:pPr>
                      <a:r>
                        <a:rPr sz="1725" b="0">
                          <a:solidFill>
                            <a:srgbClr val="1B2533"/>
                          </a:solidFill>
                          <a:latin typeface="Microsoft YaHei"/>
                          <a:ea typeface="Microsoft YaHei"/>
                          <a:cs typeface="Microsoft YaHei"/>
                        </a:rPr>
                        <a:t>ICML 2025</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离散元素与连续几何联合生成</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随机插值（SI）结合连续几何与离散元素过程。</a:t>
                      </a:r>
                    </a:p>
                  </a:txBody>
                  <a:tcPr marL="91440" marR="91440" marT="45720" marB="45720" anchor="ctr">
                    <a:solidFill>
                      <a:srgbClr val="FFFFFF"/>
                    </a:solidFill>
                  </a:tcPr>
                </a:tc>
              </a:tr>
            </a:tbl>
          </a:graphicData>
        </a:graphic>
      </p:graphicFrame>
      <p:sp>
        <p:nvSpPr>
          <p:cNvPr id="3" name="conclusion">
            <a:extLst xmlns:a="http://schemas.openxmlformats.org/drawingml/2006/main">
              <a:ext uri="{FF2B5EF4-FFF2-40B4-BE49-F238E27FC236}">
                <a16:creationId xmlns:a16="http://schemas.microsoft.com/office/drawing/2014/main" id="{B7EE4A85-113D-4019-A378-77CF3F4B8F90}"/>
              </a:ext>
            </a:extLst>
          </p:cNvPr>
          <p:cNvSpPr>
            <a:spLocks xmlns:a="http://schemas.openxmlformats.org/drawingml/2006/main" noGrp="1"/>
          </p:cNvSpPr>
          <p:nvPr/>
        </p:nvSpPr>
        <p:spPr>
          <a:xfrm xmlns:a="http://schemas.openxmlformats.org/drawingml/2006/main">
            <a:off x="609600" y="5619750"/>
            <a:ext cx="109728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73E67"/>
                </a:solidFill>
                <a:latin typeface="Microsoft YaHei"/>
                <a:ea typeface="Microsoft YaHei"/>
                <a:cs typeface="Microsoft YaHei"/>
              </a:defRPr>
            </a:defPPr>
          </a:lstStyle>
          <a:p xmlns:a="http://schemas.openxmlformats.org/drawingml/2006/main">
            <a:pPr algn="l">
              <a:lnSpc>
                <a:spcPct val="118000"/>
              </a:lnSpc>
              <a:buNone/>
              <a:defRPr sz="1725" b="0">
                <a:solidFill>
                  <a:srgbClr val="173E67"/>
                </a:solidFill>
                <a:latin typeface="Microsoft YaHei"/>
                <a:ea typeface="Microsoft YaHei"/>
                <a:cs typeface="Microsoft YaHei"/>
              </a:defRPr>
            </a:pPr>
            <a:r>
              <a:rPr sz="1725" b="0">
                <a:solidFill>
                  <a:srgbClr val="173E67"/>
                </a:solidFill>
                <a:latin typeface="Microsoft YaHei"/>
                <a:ea typeface="Microsoft YaHei"/>
                <a:cs typeface="Microsoft YaHei"/>
              </a:rPr>
              <a:t>这些方法提供了联合生成工具。新的问题是它们如何学到未见化学与几何的正确配对。</a:t>
            </a:r>
          </a:p>
        </p:txBody>
      </p:sp>
      <p:sp>
        <p:nvSpPr>
          <p:cNvPr id="4" name="separator">
            <a:extLst xmlns:a="http://schemas.openxmlformats.org/drawingml/2006/main">
              <a:ext uri="{FF2B5EF4-FFF2-40B4-BE49-F238E27FC236}">
                <a16:creationId xmlns:a16="http://schemas.microsoft.com/office/drawing/2014/main" id="{121114F1-4561-40A1-9601-9461957161B2}"/>
              </a:ext>
            </a:extLst>
          </p:cNvPr>
          <p:cNvSpPr>
            <a:spLocks xmlns:a="http://schemas.openxmlformats.org/drawingml/2006/main" noGrp="1"/>
          </p:cNvSpPr>
          <p:nvPr/>
        </p:nvSpPr>
        <p:spPr>
          <a:xfrm xmlns:a="http://schemas.openxmlformats.org/drawingml/2006/main">
            <a:off x="609600" y="6200775"/>
            <a:ext cx="10972800" cy="0"/>
          </a:xfrm>
          <a:prstGeom xmlns:a="http://schemas.openxmlformats.org/drawingml/2006/main" prst="line">
            <a:avLst/>
          </a:prstGeom>
          <a:ln xmlns:a="http://schemas.openxmlformats.org/drawingml/2006/main" w="9525">
            <a:solidFill>
              <a:srgbClr val="D5DCE3"/>
            </a:solidFill>
          </a:ln>
        </p:spPr>
      </p:sp>
      <p:sp>
        <p:nvSpPr>
          <p:cNvPr id="5" name="sources">
            <a:extLst xmlns:a="http://schemas.openxmlformats.org/drawingml/2006/main">
              <a:ext uri="{FF2B5EF4-FFF2-40B4-BE49-F238E27FC236}">
                <a16:creationId xmlns:a16="http://schemas.microsoft.com/office/drawing/2014/main" id="{C7555996-25FD-4318-9A88-F1E0DF44FF08}"/>
              </a:ext>
            </a:extLst>
          </p:cNvPr>
          <p:cNvSpPr>
            <a:spLocks xmlns:a="http://schemas.openxmlformats.org/drawingml/2006/main" noGrp="1"/>
          </p:cNvSpPr>
          <p:nvPr/>
        </p:nvSpPr>
        <p:spPr>
          <a:xfrm xmlns:a="http://schemas.openxmlformats.org/drawingml/2006/main">
            <a:off x="609600" y="6353175"/>
            <a:ext cx="10363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13" b="0">
                <a:solidFill>
                  <a:srgbClr val="526170"/>
                </a:solidFill>
                <a:latin typeface="Microsoft YaHei"/>
                <a:ea typeface="Microsoft YaHei"/>
                <a:cs typeface="Microsoft YaHei"/>
              </a:defRPr>
            </a:defPPr>
          </a:lstStyle>
          <a:p xmlns:a="http://schemas.openxmlformats.org/drawingml/2006/main">
            <a:pPr algn="l">
              <a:lnSpc>
                <a:spcPct val="118000"/>
              </a:lnSpc>
              <a:buNone/>
              <a:defRPr sz="1013" b="0">
                <a:solidFill>
                  <a:srgbClr val="526170"/>
                </a:solidFill>
                <a:latin typeface="Microsoft YaHei"/>
                <a:ea typeface="Microsoft YaHei"/>
                <a:cs typeface="Microsoft YaHei"/>
              </a:defRPr>
            </a:pPr>
            <a:r>
              <a:rPr sz="1013" b="0">
                <a:solidFill>
                  <a:srgbClr val="526170"/>
                </a:solidFill>
                <a:latin typeface="Microsoft YaHei"/>
                <a:ea typeface="Microsoft YaHei"/>
                <a:cs typeface="Microsoft YaHei"/>
              </a:rPr>
              <a:t>CDVAE [R08]；DiffCSP [R13]；FlowMM [R26]；OMatG [R34]</a:t>
            </a:r>
          </a:p>
        </p:txBody>
      </p:sp>
      <p:sp>
        <p:nvSpPr>
          <p:cNvPr id="6" name="page-number">
            <a:extLst xmlns:a="http://schemas.openxmlformats.org/drawingml/2006/main">
              <a:ext uri="{FF2B5EF4-FFF2-40B4-BE49-F238E27FC236}">
                <a16:creationId xmlns:a16="http://schemas.microsoft.com/office/drawing/2014/main" id="{2E03411C-BD84-4B44-8150-676BAB2261CA}"/>
              </a:ext>
            </a:extLst>
          </p:cNvPr>
          <p:cNvSpPr>
            <a:spLocks xmlns:a="http://schemas.openxmlformats.org/drawingml/2006/main" noGrp="1"/>
          </p:cNvSpPr>
          <p:nvPr/>
        </p:nvSpPr>
        <p:spPr>
          <a:xfrm xmlns:a="http://schemas.openxmlformats.org/drawingml/2006/main">
            <a:off x="11334750" y="6334125"/>
            <a:ext cx="266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26170"/>
                </a:solidFill>
                <a:latin typeface="Microsoft YaHei"/>
                <a:ea typeface="Microsoft YaHei"/>
                <a:cs typeface="Microsoft YaHei"/>
              </a:defRPr>
            </a:defPPr>
          </a:lstStyle>
          <a:p xmlns:a="http://schemas.openxmlformats.org/drawingml/2006/main">
            <a:pPr algn="r">
              <a:lnSpc>
                <a:spcPct val="118000"/>
              </a:lnSpc>
              <a:buNone/>
              <a:defRPr sz="1275" b="0">
                <a:solidFill>
                  <a:srgbClr val="526170"/>
                </a:solidFill>
                <a:latin typeface="Microsoft YaHei"/>
                <a:ea typeface="Microsoft YaHei"/>
                <a:cs typeface="Microsoft YaHei"/>
              </a:defRPr>
            </a:pPr>
            <a:r>
              <a:rPr sz="1275" b="0">
                <a:solidFill>
                  <a:srgbClr val="526170"/>
                </a:solidFill>
                <a:latin typeface="Microsoft YaHei"/>
                <a:ea typeface="Microsoft YaHei"/>
                <a:cs typeface="Microsoft YaHei"/>
              </a:rPr>
              <a:t>05</a:t>
            </a:r>
          </a:p>
        </p:txBody>
      </p:sp>
    </p:spTree>
    <p:extLst>
      <p:ext uri="{BB962C8B-B14F-4D97-AF65-F5344CB8AC3E}">
        <p14:creationId xmlns:p14="http://schemas.microsoft.com/office/powerpoint/2010/main" val="143291752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slide-title">
            <a:extLst xmlns:a="http://schemas.openxmlformats.org/drawingml/2006/main">
              <a:ext uri="{FF2B5EF4-FFF2-40B4-BE49-F238E27FC236}">
                <a16:creationId xmlns:a16="http://schemas.microsoft.com/office/drawing/2014/main" id="{D4E659D5-4F28-4AB0-9D68-68C6F2D454EA}"/>
              </a:ext>
            </a:extLst>
          </p:cNvPr>
          <p:cNvSpPr>
            <a:spLocks xmlns:a="http://schemas.openxmlformats.org/drawingml/2006/main" noGrp="1"/>
          </p:cNvSpPr>
          <p:nvPr/>
        </p:nvSpPr>
        <p:spPr>
          <a:xfrm xmlns:a="http://schemas.openxmlformats.org/drawingml/2006/main">
            <a:off x="609600" y="36195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73E67"/>
                </a:solidFill>
                <a:latin typeface="Microsoft YaHei"/>
                <a:ea typeface="Microsoft YaHei"/>
                <a:cs typeface="Microsoft YaHei"/>
              </a:defRPr>
            </a:defPPr>
          </a:lstStyle>
          <a:p xmlns:a="http://schemas.openxmlformats.org/drawingml/2006/main">
            <a:pPr algn="l">
              <a:lnSpc>
                <a:spcPct val="118000"/>
              </a:lnSpc>
              <a:buNone/>
              <a:defRPr sz="3150" b="1">
                <a:solidFill>
                  <a:srgbClr val="173E67"/>
                </a:solidFill>
                <a:latin typeface="Microsoft YaHei"/>
                <a:ea typeface="Microsoft YaHei"/>
                <a:cs typeface="Microsoft YaHei"/>
              </a:defRPr>
            </a:pPr>
            <a:r>
              <a:rPr sz="3150" b="1">
                <a:solidFill>
                  <a:srgbClr val="173E67"/>
                </a:solidFill>
                <a:latin typeface="Microsoft YaHei"/>
                <a:ea typeface="Microsoft YaHei"/>
                <a:cs typeface="Microsoft YaHei"/>
              </a:rPr>
              <a:t>对称性改变了模型能作出的结构选择</a:t>
            </a:r>
          </a:p>
        </p:txBody>
      </p:sp>
      <p:sp>
        <p:nvSpPr>
          <p:cNvPr id="2" name="lead">
            <a:extLst xmlns:a="http://schemas.openxmlformats.org/drawingml/2006/main">
              <a:ext uri="{FF2B5EF4-FFF2-40B4-BE49-F238E27FC236}">
                <a16:creationId xmlns:a16="http://schemas.microsoft.com/office/drawing/2014/main" id="{7D864410-0CAD-47AE-941E-5746E9F59311}"/>
              </a:ext>
            </a:extLst>
          </p:cNvPr>
          <p:cNvSpPr>
            <a:spLocks xmlns:a="http://schemas.openxmlformats.org/drawingml/2006/main" noGrp="1"/>
          </p:cNvSpPr>
          <p:nvPr/>
        </p:nvSpPr>
        <p:spPr>
          <a:xfrm xmlns:a="http://schemas.openxmlformats.org/drawingml/2006/main">
            <a:off x="609600" y="11049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B2533"/>
                </a:solidFill>
                <a:latin typeface="Microsoft YaHei"/>
                <a:ea typeface="Microsoft YaHei"/>
                <a:cs typeface="Microsoft YaHei"/>
              </a:defRPr>
            </a:defPPr>
          </a:lstStyle>
          <a:p xmlns:a="http://schemas.openxmlformats.org/drawingml/2006/main">
            <a:pPr algn="l">
              <a:lnSpc>
                <a:spcPct val="118000"/>
              </a:lnSpc>
              <a:buNone/>
              <a:defRPr sz="2025" b="0">
                <a:solidFill>
                  <a:srgbClr val="1B2533"/>
                </a:solidFill>
                <a:latin typeface="Microsoft YaHei"/>
                <a:ea typeface="Microsoft YaHei"/>
                <a:cs typeface="Microsoft YaHei"/>
              </a:defRPr>
            </a:pPr>
            <a:r>
              <a:rPr sz="2025" b="0">
                <a:solidFill>
                  <a:srgbClr val="1B2533"/>
                </a:solidFill>
                <a:latin typeface="Microsoft YaHei"/>
                <a:ea typeface="Microsoft YaHei"/>
                <a:cs typeface="Microsoft YaHei"/>
              </a:rPr>
              <a:t>空间群和非等价位点减少自由度，也让生成器直接控制结构关系。</a:t>
            </a:r>
          </a:p>
        </p:txBody>
      </p:sp>
      <p:sp>
        <p:nvSpPr>
          <p:cNvPr id="3" name="text">
            <a:extLst xmlns:a="http://schemas.openxmlformats.org/drawingml/2006/main">
              <a:ext uri="{FF2B5EF4-FFF2-40B4-BE49-F238E27FC236}">
                <a16:creationId xmlns:a16="http://schemas.microsoft.com/office/drawing/2014/main" id="{90916E3B-D927-4654-A259-32C602855AC5}"/>
              </a:ext>
            </a:extLst>
          </p:cNvPr>
          <p:cNvSpPr>
            <a:spLocks xmlns:a="http://schemas.openxmlformats.org/drawingml/2006/main" noGrp="1"/>
          </p:cNvSpPr>
          <p:nvPr/>
        </p:nvSpPr>
        <p:spPr>
          <a:xfrm xmlns:a="http://schemas.openxmlformats.org/drawingml/2006/main">
            <a:off x="609600" y="2095500"/>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73E67"/>
                </a:solidFill>
                <a:latin typeface="Microsoft YaHei"/>
                <a:ea typeface="Microsoft YaHei"/>
                <a:cs typeface="Microsoft YaHei"/>
              </a:defRPr>
            </a:defPPr>
          </a:lstStyle>
          <a:p xmlns:a="http://schemas.openxmlformats.org/drawingml/2006/main">
            <a:pPr algn="l">
              <a:lnSpc>
                <a:spcPct val="118000"/>
              </a:lnSpc>
              <a:buNone/>
              <a:defRPr sz="1950" b="1">
                <a:solidFill>
                  <a:srgbClr val="173E67"/>
                </a:solidFill>
                <a:latin typeface="Microsoft YaHei"/>
                <a:ea typeface="Microsoft YaHei"/>
                <a:cs typeface="Microsoft YaHei"/>
              </a:defRPr>
            </a:pPr>
            <a:r>
              <a:rPr sz="1950" b="1">
                <a:solidFill>
                  <a:srgbClr val="173E67"/>
                </a:solidFill>
                <a:latin typeface="Microsoft YaHei"/>
                <a:ea typeface="Microsoft YaHei"/>
                <a:cs typeface="Microsoft YaHei"/>
              </a:rPr>
              <a:t>方法进展</a:t>
            </a:r>
          </a:p>
        </p:txBody>
      </p:sp>
      <p:sp>
        <p:nvSpPr>
          <p:cNvPr id="4" name="text">
            <a:extLst xmlns:a="http://schemas.openxmlformats.org/drawingml/2006/main">
              <a:ext uri="{FF2B5EF4-FFF2-40B4-BE49-F238E27FC236}">
                <a16:creationId xmlns:a16="http://schemas.microsoft.com/office/drawing/2014/main" id="{1C9202F9-7C64-4D05-8CE9-611CFC56C2FA}"/>
              </a:ext>
            </a:extLst>
          </p:cNvPr>
          <p:cNvSpPr>
            <a:spLocks xmlns:a="http://schemas.openxmlformats.org/drawingml/2006/main" noGrp="1"/>
          </p:cNvSpPr>
          <p:nvPr/>
        </p:nvSpPr>
        <p:spPr>
          <a:xfrm xmlns:a="http://schemas.openxmlformats.org/drawingml/2006/main">
            <a:off x="2514600" y="2095500"/>
            <a:ext cx="9067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1B2533"/>
                </a:solidFill>
                <a:latin typeface="Microsoft YaHei"/>
                <a:ea typeface="Microsoft YaHei"/>
                <a:cs typeface="Microsoft YaHei"/>
              </a:defRPr>
            </a:defPPr>
          </a:lstStyle>
          <a:p xmlns:a="http://schemas.openxmlformats.org/drawingml/2006/main">
            <a:pPr algn="l">
              <a:lnSpc>
                <a:spcPct val="118000"/>
              </a:lnSpc>
              <a:buNone/>
              <a:defRPr sz="1950" b="0">
                <a:solidFill>
                  <a:srgbClr val="1B2533"/>
                </a:solidFill>
                <a:latin typeface="Microsoft YaHei"/>
                <a:ea typeface="Microsoft YaHei"/>
                <a:cs typeface="Microsoft YaHei"/>
              </a:defRPr>
            </a:pPr>
            <a:r>
              <a:rPr sz="1950" b="0">
                <a:solidFill>
                  <a:srgbClr val="1B2533"/>
                </a:solidFill>
                <a:latin typeface="Microsoft YaHei"/>
                <a:ea typeface="Microsoft YaHei"/>
                <a:cs typeface="Microsoft YaHei"/>
              </a:rPr>
              <a:t>DiffCSP++施加空间群约束。CrystalFormer、SymmCD和Wyckoff方法显式生成对称配置。</a:t>
            </a:r>
          </a:p>
        </p:txBody>
      </p:sp>
      <p:sp>
        <p:nvSpPr>
          <p:cNvPr id="5" name="text">
            <a:extLst xmlns:a="http://schemas.openxmlformats.org/drawingml/2006/main">
              <a:ext uri="{FF2B5EF4-FFF2-40B4-BE49-F238E27FC236}">
                <a16:creationId xmlns:a16="http://schemas.microsoft.com/office/drawing/2014/main" id="{EE78757C-8BA4-4A0E-94A8-3652EB1D9C3E}"/>
              </a:ext>
            </a:extLst>
          </p:cNvPr>
          <p:cNvSpPr>
            <a:spLocks xmlns:a="http://schemas.openxmlformats.org/drawingml/2006/main" noGrp="1"/>
          </p:cNvSpPr>
          <p:nvPr/>
        </p:nvSpPr>
        <p:spPr>
          <a:xfrm xmlns:a="http://schemas.openxmlformats.org/drawingml/2006/main">
            <a:off x="609600" y="3352800"/>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73E67"/>
                </a:solidFill>
                <a:latin typeface="Microsoft YaHei"/>
                <a:ea typeface="Microsoft YaHei"/>
                <a:cs typeface="Microsoft YaHei"/>
              </a:defRPr>
            </a:defPPr>
          </a:lstStyle>
          <a:p xmlns:a="http://schemas.openxmlformats.org/drawingml/2006/main">
            <a:pPr algn="l">
              <a:lnSpc>
                <a:spcPct val="118000"/>
              </a:lnSpc>
              <a:buNone/>
              <a:defRPr sz="1950" b="1">
                <a:solidFill>
                  <a:srgbClr val="173E67"/>
                </a:solidFill>
                <a:latin typeface="Microsoft YaHei"/>
                <a:ea typeface="Microsoft YaHei"/>
                <a:cs typeface="Microsoft YaHei"/>
              </a:defRPr>
            </a:pPr>
            <a:r>
              <a:rPr sz="1950" b="1">
                <a:solidFill>
                  <a:srgbClr val="173E67"/>
                </a:solidFill>
                <a:latin typeface="Microsoft YaHei"/>
                <a:ea typeface="Microsoft YaHei"/>
                <a:cs typeface="Microsoft YaHei"/>
              </a:rPr>
              <a:t>代表结果</a:t>
            </a:r>
          </a:p>
        </p:txBody>
      </p:sp>
      <p:sp>
        <p:nvSpPr>
          <p:cNvPr id="6" name="text">
            <a:extLst xmlns:a="http://schemas.openxmlformats.org/drawingml/2006/main">
              <a:ext uri="{FF2B5EF4-FFF2-40B4-BE49-F238E27FC236}">
                <a16:creationId xmlns:a16="http://schemas.microsoft.com/office/drawing/2014/main" id="{509C474D-D7AC-41B1-B44A-B02B18D366B4}"/>
              </a:ext>
            </a:extLst>
          </p:cNvPr>
          <p:cNvSpPr>
            <a:spLocks xmlns:a="http://schemas.openxmlformats.org/drawingml/2006/main" noGrp="1"/>
          </p:cNvSpPr>
          <p:nvPr/>
        </p:nvSpPr>
        <p:spPr>
          <a:xfrm xmlns:a="http://schemas.openxmlformats.org/drawingml/2006/main">
            <a:off x="2514600" y="3352800"/>
            <a:ext cx="9067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1B2533"/>
                </a:solidFill>
                <a:latin typeface="Microsoft YaHei"/>
                <a:ea typeface="Microsoft YaHei"/>
                <a:cs typeface="Microsoft YaHei"/>
              </a:defRPr>
            </a:defPPr>
          </a:lstStyle>
          <a:p xmlns:a="http://schemas.openxmlformats.org/drawingml/2006/main">
            <a:pPr algn="l">
              <a:lnSpc>
                <a:spcPct val="118000"/>
              </a:lnSpc>
              <a:buNone/>
              <a:defRPr sz="1950" b="0">
                <a:solidFill>
                  <a:srgbClr val="1B2533"/>
                </a:solidFill>
                <a:latin typeface="Microsoft YaHei"/>
                <a:ea typeface="Microsoft YaHei"/>
                <a:cs typeface="Microsoft YaHei"/>
              </a:defRPr>
            </a:pPr>
            <a:r>
              <a:rPr sz="1950" b="0">
                <a:solidFill>
                  <a:srgbClr val="1B2533"/>
                </a:solidFill>
                <a:latin typeface="Microsoft YaHei"/>
                <a:ea typeface="Microsoft YaHei"/>
                <a:cs typeface="Microsoft YaHei"/>
              </a:rPr>
              <a:t>SymmCD在10,000个候选中得到1,654种新模板，DiffCSP++为110种。</a:t>
            </a:r>
          </a:p>
        </p:txBody>
      </p:sp>
      <p:sp>
        <p:nvSpPr>
          <p:cNvPr id="7" name="text">
            <a:extLst xmlns:a="http://schemas.openxmlformats.org/drawingml/2006/main">
              <a:ext uri="{FF2B5EF4-FFF2-40B4-BE49-F238E27FC236}">
                <a16:creationId xmlns:a16="http://schemas.microsoft.com/office/drawing/2014/main" id="{6CA4C8F2-8CE5-4D8C-AC6C-93808B8A16FB}"/>
              </a:ext>
            </a:extLst>
          </p:cNvPr>
          <p:cNvSpPr>
            <a:spLocks xmlns:a="http://schemas.openxmlformats.org/drawingml/2006/main" noGrp="1"/>
          </p:cNvSpPr>
          <p:nvPr/>
        </p:nvSpPr>
        <p:spPr>
          <a:xfrm xmlns:a="http://schemas.openxmlformats.org/drawingml/2006/main">
            <a:off x="609600" y="4610100"/>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73E67"/>
                </a:solidFill>
                <a:latin typeface="Microsoft YaHei"/>
                <a:ea typeface="Microsoft YaHei"/>
                <a:cs typeface="Microsoft YaHei"/>
              </a:defRPr>
            </a:defPPr>
          </a:lstStyle>
          <a:p xmlns:a="http://schemas.openxmlformats.org/drawingml/2006/main">
            <a:pPr algn="l">
              <a:lnSpc>
                <a:spcPct val="118000"/>
              </a:lnSpc>
              <a:buNone/>
              <a:defRPr sz="1950" b="1">
                <a:solidFill>
                  <a:srgbClr val="173E67"/>
                </a:solidFill>
                <a:latin typeface="Microsoft YaHei"/>
                <a:ea typeface="Microsoft YaHei"/>
                <a:cs typeface="Microsoft YaHei"/>
              </a:defRPr>
            </a:pPr>
            <a:r>
              <a:rPr sz="1950" b="1">
                <a:solidFill>
                  <a:srgbClr val="173E67"/>
                </a:solidFill>
                <a:latin typeface="Microsoft YaHei"/>
                <a:ea typeface="Microsoft YaHei"/>
                <a:cs typeface="Microsoft YaHei"/>
              </a:rPr>
              <a:t>结果含义</a:t>
            </a:r>
          </a:p>
        </p:txBody>
      </p:sp>
      <p:sp>
        <p:nvSpPr>
          <p:cNvPr id="8" name="text">
            <a:extLst xmlns:a="http://schemas.openxmlformats.org/drawingml/2006/main">
              <a:ext uri="{FF2B5EF4-FFF2-40B4-BE49-F238E27FC236}">
                <a16:creationId xmlns:a16="http://schemas.microsoft.com/office/drawing/2014/main" id="{D9548875-D8DC-43EE-B176-1F0F1CEA46D0}"/>
              </a:ext>
            </a:extLst>
          </p:cNvPr>
          <p:cNvSpPr>
            <a:spLocks xmlns:a="http://schemas.openxmlformats.org/drawingml/2006/main" noGrp="1"/>
          </p:cNvSpPr>
          <p:nvPr/>
        </p:nvSpPr>
        <p:spPr>
          <a:xfrm xmlns:a="http://schemas.openxmlformats.org/drawingml/2006/main">
            <a:off x="2514600" y="4610100"/>
            <a:ext cx="9067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1B2533"/>
                </a:solidFill>
                <a:latin typeface="Microsoft YaHei"/>
                <a:ea typeface="Microsoft YaHei"/>
                <a:cs typeface="Microsoft YaHei"/>
              </a:defRPr>
            </a:defPPr>
          </a:lstStyle>
          <a:p xmlns:a="http://schemas.openxmlformats.org/drawingml/2006/main">
            <a:pPr algn="l">
              <a:lnSpc>
                <a:spcPct val="118000"/>
              </a:lnSpc>
              <a:buNone/>
              <a:defRPr sz="1950" b="0">
                <a:solidFill>
                  <a:srgbClr val="1B2533"/>
                </a:solidFill>
                <a:latin typeface="Microsoft YaHei"/>
                <a:ea typeface="Microsoft YaHei"/>
                <a:cs typeface="Microsoft YaHei"/>
              </a:defRPr>
            </a:pPr>
            <a:r>
              <a:rPr sz="1950" b="0">
                <a:solidFill>
                  <a:srgbClr val="1B2533"/>
                </a:solidFill>
                <a:latin typeface="Microsoft YaHei"/>
                <a:ea typeface="Microsoft YaHei"/>
                <a:cs typeface="Microsoft YaHei"/>
              </a:rPr>
              <a:t>该结果支持结构模板扩展。元素占位与相稳定性仍需通过学习和物理评价确定。</a:t>
            </a:r>
          </a:p>
        </p:txBody>
      </p:sp>
      <p:sp>
        <p:nvSpPr>
          <p:cNvPr id="9" name="separator">
            <a:extLst xmlns:a="http://schemas.openxmlformats.org/drawingml/2006/main">
              <a:ext uri="{FF2B5EF4-FFF2-40B4-BE49-F238E27FC236}">
                <a16:creationId xmlns:a16="http://schemas.microsoft.com/office/drawing/2014/main" id="{57348687-4F45-43D4-97EA-B2B9D2E824E5}"/>
              </a:ext>
            </a:extLst>
          </p:cNvPr>
          <p:cNvSpPr>
            <a:spLocks xmlns:a="http://schemas.openxmlformats.org/drawingml/2006/main" noGrp="1"/>
          </p:cNvSpPr>
          <p:nvPr/>
        </p:nvSpPr>
        <p:spPr>
          <a:xfrm xmlns:a="http://schemas.openxmlformats.org/drawingml/2006/main">
            <a:off x="609600" y="6200775"/>
            <a:ext cx="10972800" cy="0"/>
          </a:xfrm>
          <a:prstGeom xmlns:a="http://schemas.openxmlformats.org/drawingml/2006/main" prst="line">
            <a:avLst/>
          </a:prstGeom>
          <a:ln xmlns:a="http://schemas.openxmlformats.org/drawingml/2006/main" w="9525">
            <a:solidFill>
              <a:srgbClr val="D5DCE3"/>
            </a:solidFill>
          </a:ln>
        </p:spPr>
      </p:sp>
      <p:sp>
        <p:nvSpPr>
          <p:cNvPr id="10" name="sources">
            <a:extLst xmlns:a="http://schemas.openxmlformats.org/drawingml/2006/main">
              <a:ext uri="{FF2B5EF4-FFF2-40B4-BE49-F238E27FC236}">
                <a16:creationId xmlns:a16="http://schemas.microsoft.com/office/drawing/2014/main" id="{FA0C130A-0191-4A57-8110-E808572F74F5}"/>
              </a:ext>
            </a:extLst>
          </p:cNvPr>
          <p:cNvSpPr>
            <a:spLocks xmlns:a="http://schemas.openxmlformats.org/drawingml/2006/main" noGrp="1"/>
          </p:cNvSpPr>
          <p:nvPr/>
        </p:nvSpPr>
        <p:spPr>
          <a:xfrm xmlns:a="http://schemas.openxmlformats.org/drawingml/2006/main">
            <a:off x="609600" y="6353175"/>
            <a:ext cx="10363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13" b="0">
                <a:solidFill>
                  <a:srgbClr val="526170"/>
                </a:solidFill>
                <a:latin typeface="Microsoft YaHei"/>
                <a:ea typeface="Microsoft YaHei"/>
                <a:cs typeface="Microsoft YaHei"/>
              </a:defRPr>
            </a:defPPr>
          </a:lstStyle>
          <a:p xmlns:a="http://schemas.openxmlformats.org/drawingml/2006/main">
            <a:pPr algn="l">
              <a:lnSpc>
                <a:spcPct val="118000"/>
              </a:lnSpc>
              <a:buNone/>
              <a:defRPr sz="1013" b="0">
                <a:solidFill>
                  <a:srgbClr val="526170"/>
                </a:solidFill>
                <a:latin typeface="Microsoft YaHei"/>
                <a:ea typeface="Microsoft YaHei"/>
                <a:cs typeface="Microsoft YaHei"/>
              </a:defRPr>
            </a:pPr>
            <a:r>
              <a:rPr sz="1013" b="0">
                <a:solidFill>
                  <a:srgbClr val="526170"/>
                </a:solidFill>
                <a:latin typeface="Microsoft YaHei"/>
                <a:ea typeface="Microsoft YaHei"/>
                <a:cs typeface="Microsoft YaHei"/>
              </a:rPr>
              <a:t>DiffCSP++ (ICLR 2024)；SymmCD (ICLR 2025)；WyckoffDiff / Wyckoff Transformer (ICML 2025)</a:t>
            </a:r>
          </a:p>
        </p:txBody>
      </p:sp>
      <p:sp>
        <p:nvSpPr>
          <p:cNvPr id="11" name="page-number">
            <a:extLst xmlns:a="http://schemas.openxmlformats.org/drawingml/2006/main">
              <a:ext uri="{FF2B5EF4-FFF2-40B4-BE49-F238E27FC236}">
                <a16:creationId xmlns:a16="http://schemas.microsoft.com/office/drawing/2014/main" id="{F3E1A486-98ED-456E-AB7D-8726BC8F358B}"/>
              </a:ext>
            </a:extLst>
          </p:cNvPr>
          <p:cNvSpPr>
            <a:spLocks xmlns:a="http://schemas.openxmlformats.org/drawingml/2006/main" noGrp="1"/>
          </p:cNvSpPr>
          <p:nvPr/>
        </p:nvSpPr>
        <p:spPr>
          <a:xfrm xmlns:a="http://schemas.openxmlformats.org/drawingml/2006/main">
            <a:off x="11334750" y="6334125"/>
            <a:ext cx="266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26170"/>
                </a:solidFill>
                <a:latin typeface="Microsoft YaHei"/>
                <a:ea typeface="Microsoft YaHei"/>
                <a:cs typeface="Microsoft YaHei"/>
              </a:defRPr>
            </a:defPPr>
          </a:lstStyle>
          <a:p xmlns:a="http://schemas.openxmlformats.org/drawingml/2006/main">
            <a:pPr algn="r">
              <a:lnSpc>
                <a:spcPct val="118000"/>
              </a:lnSpc>
              <a:buNone/>
              <a:defRPr sz="1275" b="0">
                <a:solidFill>
                  <a:srgbClr val="526170"/>
                </a:solidFill>
                <a:latin typeface="Microsoft YaHei"/>
                <a:ea typeface="Microsoft YaHei"/>
                <a:cs typeface="Microsoft YaHei"/>
              </a:defRPr>
            </a:pPr>
            <a:r>
              <a:rPr sz="1275" b="0">
                <a:solidFill>
                  <a:srgbClr val="526170"/>
                </a:solidFill>
                <a:latin typeface="Microsoft YaHei"/>
                <a:ea typeface="Microsoft YaHei"/>
                <a:cs typeface="Microsoft YaHei"/>
              </a:rPr>
              <a:t>06</a:t>
            </a:r>
          </a:p>
        </p:txBody>
      </p:sp>
    </p:spTree>
    <p:extLst>
      <p:ext uri="{BB962C8B-B14F-4D97-AF65-F5344CB8AC3E}">
        <p14:creationId xmlns:p14="http://schemas.microsoft.com/office/powerpoint/2010/main" val="144779204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81DCDCAC-390B-4EEE-919F-70EEC684F97E}"/>
              </a:ext>
            </a:extLst>
          </p:cNvPr>
          <p:cNvSpPr>
            <a:spLocks xmlns:a="http://schemas.openxmlformats.org/drawingml/2006/main" noGrp="1"/>
          </p:cNvSpPr>
          <p:nvPr/>
        </p:nvSpPr>
        <p:spPr>
          <a:xfrm xmlns:a="http://schemas.openxmlformats.org/drawingml/2006/main">
            <a:off x="609600" y="36195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73E67"/>
                </a:solidFill>
                <a:latin typeface="Microsoft YaHei"/>
                <a:ea typeface="Microsoft YaHei"/>
                <a:cs typeface="Microsoft YaHei"/>
              </a:defRPr>
            </a:defPPr>
          </a:lstStyle>
          <a:p xmlns:a="http://schemas.openxmlformats.org/drawingml/2006/main">
            <a:pPr algn="l">
              <a:lnSpc>
                <a:spcPct val="118000"/>
              </a:lnSpc>
              <a:buNone/>
              <a:defRPr sz="3150" b="1">
                <a:solidFill>
                  <a:srgbClr val="173E67"/>
                </a:solidFill>
                <a:latin typeface="Microsoft YaHei"/>
                <a:ea typeface="Microsoft YaHei"/>
                <a:cs typeface="Microsoft YaHei"/>
              </a:defRPr>
            </a:pPr>
            <a:r>
              <a:rPr sz="3150" b="1">
                <a:solidFill>
                  <a:srgbClr val="173E67"/>
                </a:solidFill>
                <a:latin typeface="Microsoft YaHei"/>
                <a:ea typeface="Microsoft YaHei"/>
                <a:cs typeface="Microsoft YaHei"/>
              </a:rPr>
              <a:t>语言模型与连续生成开始分工合作</a:t>
            </a:r>
          </a:p>
        </p:txBody>
      </p:sp>
      <p:sp>
        <p:nvSpPr>
          <p:cNvPr id="2" name="lead">
            <a:extLst xmlns:a="http://schemas.openxmlformats.org/drawingml/2006/main">
              <a:ext uri="{FF2B5EF4-FFF2-40B4-BE49-F238E27FC236}">
                <a16:creationId xmlns:a16="http://schemas.microsoft.com/office/drawing/2014/main" id="{4D191519-457E-4593-8881-4E7E04C3633B}"/>
              </a:ext>
            </a:extLst>
          </p:cNvPr>
          <p:cNvSpPr>
            <a:spLocks xmlns:a="http://schemas.openxmlformats.org/drawingml/2006/main" noGrp="1"/>
          </p:cNvSpPr>
          <p:nvPr/>
        </p:nvSpPr>
        <p:spPr>
          <a:xfrm xmlns:a="http://schemas.openxmlformats.org/drawingml/2006/main">
            <a:off x="609600" y="11049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B2533"/>
                </a:solidFill>
                <a:latin typeface="Microsoft YaHei"/>
                <a:ea typeface="Microsoft YaHei"/>
                <a:cs typeface="Microsoft YaHei"/>
              </a:defRPr>
            </a:defPPr>
          </a:lstStyle>
          <a:p xmlns:a="http://schemas.openxmlformats.org/drawingml/2006/main">
            <a:pPr algn="l">
              <a:lnSpc>
                <a:spcPct val="118000"/>
              </a:lnSpc>
              <a:buNone/>
              <a:defRPr sz="2025" b="0">
                <a:solidFill>
                  <a:srgbClr val="1B2533"/>
                </a:solidFill>
                <a:latin typeface="Microsoft YaHei"/>
                <a:ea typeface="Microsoft YaHei"/>
                <a:cs typeface="Microsoft YaHei"/>
              </a:defRPr>
            </a:pPr>
            <a:r>
              <a:rPr sz="2025" b="0">
                <a:solidFill>
                  <a:srgbClr val="1B2533"/>
                </a:solidFill>
                <a:latin typeface="Microsoft YaHei"/>
                <a:ea typeface="Microsoft YaHei"/>
                <a:cs typeface="Microsoft YaHei"/>
              </a:rPr>
              <a:t>语言模型提出化学和结构方案，连续模型改善坐标与晶胞。</a:t>
            </a:r>
          </a:p>
        </p:txBody>
      </p:sp>
      <p:graphicFrame>
        <p:nvGraphicFramePr>
          <p:cNvPr id="3" name="">
            <a:extLst xmlns:a="http://schemas.openxmlformats.org/drawingml/2006/main">
              <a:ext uri="{FF2B5EF4-FFF2-40B4-BE49-F238E27FC236}">
                <a16:creationId xmlns:a16="http://schemas.microsoft.com/office/drawing/2014/main" id="{93BC1643-0003-4AA6-ADAF-37B53BE8B10C}"/>
              </a:ext>
            </a:extLst>
          </p:cNvPr>
          <p:cNvGraphicFramePr/>
          <p:nvPr/>
        </p:nvGraphicFramePr>
        <p:xfrm>
          <a:off xmlns:a="http://schemas.openxmlformats.org/drawingml/2006/main" x="609600" y="1990725"/>
          <a:ext xmlns:a="http://schemas.openxmlformats.org/drawingml/2006/main" cx="10972800" cy="3419475"/>
        </p:xfrm>
        <a:graphic xmlns:a="http://schemas.openxmlformats.org/drawingml/2006/main">
          <a:graphicData uri="http://schemas.openxmlformats.org/drawingml/2006/table">
            <a:tbl>
              <a:tblPr firstRow="0" bandRow="0"/>
              <a:tblGrid>
                <a:gridCol w="2857500"/>
                <a:gridCol w="4333875"/>
                <a:gridCol w="3781425"/>
              </a:tblGrid>
              <a:tr h="533400">
                <a:tc>
                  <a:txBody>
                    <a:bodyPr wrap="square" lIns="114300" tIns="85725" rIns="95250" bIns="85725">
                      <a:noAutofit/>
                    </a:bodyPr>
                    <a:lstStyle/>
                    <a:p>
                      <a:pPr algn="l">
                        <a:lnSpc>
                          <a:spcPct val="118000"/>
                        </a:lnSpc>
                        <a:buNone/>
                      </a:pPr>
                      <a:r>
                        <a:rPr sz="1800" b="1">
                          <a:solidFill>
                            <a:srgbClr val="173E67"/>
                          </a:solidFill>
                          <a:latin typeface="Microsoft YaHei"/>
                          <a:ea typeface="Microsoft YaHei"/>
                          <a:cs typeface="Microsoft YaHei"/>
                        </a:rPr>
                        <a:t>代表工作</a:t>
                      </a:r>
                    </a:p>
                  </a:txBody>
                  <a:tcPr marL="91440" marR="91440" marT="45720" marB="45720" anchor="ctr">
                    <a:solidFill>
                      <a:srgbClr val="EDF2F6"/>
                    </a:solidFill>
                  </a:tcPr>
                </a:tc>
                <a:tc>
                  <a:txBody>
                    <a:bodyPr wrap="square" lIns="114300" tIns="85725" rIns="95250" bIns="85725">
                      <a:noAutofit/>
                    </a:bodyPr>
                    <a:lstStyle/>
                    <a:p>
                      <a:pPr algn="l">
                        <a:lnSpc>
                          <a:spcPct val="118000"/>
                        </a:lnSpc>
                        <a:buNone/>
                      </a:pPr>
                      <a:r>
                        <a:rPr sz="1800" b="1">
                          <a:solidFill>
                            <a:srgbClr val="173E67"/>
                          </a:solidFill>
                          <a:latin typeface="Microsoft YaHei"/>
                          <a:ea typeface="Microsoft YaHei"/>
                          <a:cs typeface="Microsoft YaHei"/>
                        </a:rPr>
                        <a:t>技术分工</a:t>
                      </a:r>
                    </a:p>
                  </a:txBody>
                  <a:tcPr marL="91440" marR="91440" marT="45720" marB="45720" anchor="ctr">
                    <a:solidFill>
                      <a:srgbClr val="EDF2F6"/>
                    </a:solidFill>
                  </a:tcPr>
                </a:tc>
                <a:tc>
                  <a:txBody>
                    <a:bodyPr wrap="square" lIns="114300" tIns="85725" rIns="95250" bIns="85725">
                      <a:noAutofit/>
                    </a:bodyPr>
                    <a:lstStyle/>
                    <a:p>
                      <a:pPr algn="l">
                        <a:lnSpc>
                          <a:spcPct val="118000"/>
                        </a:lnSpc>
                        <a:buNone/>
                      </a:pPr>
                      <a:r>
                        <a:rPr sz="1800" b="1">
                          <a:solidFill>
                            <a:srgbClr val="173E67"/>
                          </a:solidFill>
                          <a:latin typeface="Microsoft YaHei"/>
                          <a:ea typeface="Microsoft YaHei"/>
                          <a:cs typeface="Microsoft YaHei"/>
                        </a:rPr>
                        <a:t>留下的研究问题</a:t>
                      </a:r>
                    </a:p>
                  </a:txBody>
                  <a:tcPr marL="91440" marR="91440" marT="45720" marB="45720" anchor="ctr">
                    <a:solidFill>
                      <a:srgbClr val="EDF2F6"/>
                    </a:solidFill>
                  </a:tcPr>
                </a:tc>
              </a:tr>
              <a:tr h="962025">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CrystaLLM / Crystal-LLM</a:t>
                      </a:r>
                    </a:p>
                    <a:p>
                      <a:pPr algn="l">
                        <a:lnSpc>
                          <a:spcPct val="118000"/>
                        </a:lnSpc>
                        <a:buNone/>
                      </a:pPr>
                      <a:r>
                        <a:rPr sz="1725" b="0">
                          <a:solidFill>
                            <a:srgbClr val="1B2533"/>
                          </a:solidFill>
                          <a:latin typeface="Microsoft YaHei"/>
                          <a:ea typeface="Microsoft YaHei"/>
                          <a:cs typeface="Microsoft YaHei"/>
                        </a:rPr>
                        <a:t>2024</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从晶体文本学习结构与化学统计</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文本怎样保留物理关系？</a:t>
                      </a:r>
                    </a:p>
                  </a:txBody>
                  <a:tcPr marL="91440" marR="91440" marT="45720" marB="45720" anchor="ctr">
                    <a:solidFill>
                      <a:srgbClr val="FFFFFF"/>
                    </a:solidFill>
                  </a:tcPr>
                </a:tc>
              </a:tr>
              <a:tr h="962025">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FlowLLM</a:t>
                      </a:r>
                    </a:p>
                    <a:p>
                      <a:pPr algn="l">
                        <a:lnSpc>
                          <a:spcPct val="118000"/>
                        </a:lnSpc>
                        <a:buNone/>
                      </a:pPr>
                      <a:r>
                        <a:rPr sz="1725" b="0">
                          <a:solidFill>
                            <a:srgbClr val="1B2533"/>
                          </a:solidFill>
                          <a:latin typeface="Microsoft YaHei"/>
                          <a:ea typeface="Microsoft YaHei"/>
                          <a:cs typeface="Microsoft YaHei"/>
                        </a:rPr>
                        <a:t>NeurIPS 2024</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LLM提供初始分布，flow连续运输</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怎样利用更好的初始结构？</a:t>
                      </a:r>
                    </a:p>
                  </a:txBody>
                  <a:tcPr marL="91440" marR="91440" marT="45720" marB="45720" anchor="ctr">
                    <a:solidFill>
                      <a:srgbClr val="FFFFFF"/>
                    </a:solidFill>
                  </a:tcPr>
                </a:tc>
              </a:tr>
              <a:tr h="962025">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CrysLLMGen</a:t>
                      </a:r>
                    </a:p>
                    <a:p>
                      <a:pPr algn="l">
                        <a:lnSpc>
                          <a:spcPct val="118000"/>
                        </a:lnSpc>
                        <a:buNone/>
                      </a:pPr>
                      <a:r>
                        <a:rPr sz="1725" b="0">
                          <a:solidFill>
                            <a:srgbClr val="1B2533"/>
                          </a:solidFill>
                          <a:latin typeface="Microsoft YaHei"/>
                          <a:ea typeface="Microsoft YaHei"/>
                          <a:cs typeface="Microsoft YaHei"/>
                        </a:rPr>
                        <a:t>NeurIPS 2025</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独立LLM提案，再用diffusion精修</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几何证据何时应修改元素？</a:t>
                      </a:r>
                    </a:p>
                  </a:txBody>
                  <a:tcPr marL="91440" marR="91440" marT="45720" marB="45720" anchor="ctr">
                    <a:solidFill>
                      <a:srgbClr val="FFFFFF"/>
                    </a:solidFill>
                  </a:tcPr>
                </a:tc>
              </a:tr>
            </a:tbl>
          </a:graphicData>
        </a:graphic>
      </p:graphicFrame>
      <p:sp>
        <p:nvSpPr>
          <p:cNvPr id="4" name="conclusion">
            <a:extLst xmlns:a="http://schemas.openxmlformats.org/drawingml/2006/main">
              <a:ext uri="{FF2B5EF4-FFF2-40B4-BE49-F238E27FC236}">
                <a16:creationId xmlns:a16="http://schemas.microsoft.com/office/drawing/2014/main" id="{FFA68732-A646-4DD3-A602-CA80445F25FE}"/>
              </a:ext>
            </a:extLst>
          </p:cNvPr>
          <p:cNvSpPr>
            <a:spLocks xmlns:a="http://schemas.openxmlformats.org/drawingml/2006/main" noGrp="1"/>
          </p:cNvSpPr>
          <p:nvPr/>
        </p:nvSpPr>
        <p:spPr>
          <a:xfrm xmlns:a="http://schemas.openxmlformats.org/drawingml/2006/main">
            <a:off x="609600" y="5619750"/>
            <a:ext cx="109728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73E67"/>
                </a:solidFill>
                <a:latin typeface="Microsoft YaHei"/>
                <a:ea typeface="Microsoft YaHei"/>
                <a:cs typeface="Microsoft YaHei"/>
              </a:defRPr>
            </a:defPPr>
          </a:lstStyle>
          <a:p xmlns:a="http://schemas.openxmlformats.org/drawingml/2006/main">
            <a:pPr algn="l">
              <a:lnSpc>
                <a:spcPct val="118000"/>
              </a:lnSpc>
              <a:buNone/>
              <a:defRPr sz="1725" b="0">
                <a:solidFill>
                  <a:srgbClr val="173E67"/>
                </a:solidFill>
                <a:latin typeface="Microsoft YaHei"/>
                <a:ea typeface="Microsoft YaHei"/>
                <a:cs typeface="Microsoft YaHei"/>
              </a:defRPr>
            </a:pPr>
            <a:r>
              <a:rPr sz="1725" b="0">
                <a:solidFill>
                  <a:srgbClr val="173E67"/>
                </a:solidFill>
                <a:latin typeface="Microsoft YaHei"/>
                <a:ea typeface="Microsoft YaHei"/>
                <a:cs typeface="Microsoft YaHei"/>
              </a:rPr>
              <a:t>FlowLLM与CrysLLMGen的连续阶段固定元素。双向修订具有明确的已有工作参照。</a:t>
            </a:r>
          </a:p>
        </p:txBody>
      </p:sp>
      <p:sp>
        <p:nvSpPr>
          <p:cNvPr id="5" name="separator">
            <a:extLst xmlns:a="http://schemas.openxmlformats.org/drawingml/2006/main">
              <a:ext uri="{FF2B5EF4-FFF2-40B4-BE49-F238E27FC236}">
                <a16:creationId xmlns:a16="http://schemas.microsoft.com/office/drawing/2014/main" id="{7338C32C-AB29-453A-99FB-BDDAA1825632}"/>
              </a:ext>
            </a:extLst>
          </p:cNvPr>
          <p:cNvSpPr>
            <a:spLocks xmlns:a="http://schemas.openxmlformats.org/drawingml/2006/main" noGrp="1"/>
          </p:cNvSpPr>
          <p:nvPr/>
        </p:nvSpPr>
        <p:spPr>
          <a:xfrm xmlns:a="http://schemas.openxmlformats.org/drawingml/2006/main">
            <a:off x="609600" y="6200775"/>
            <a:ext cx="10972800" cy="0"/>
          </a:xfrm>
          <a:prstGeom xmlns:a="http://schemas.openxmlformats.org/drawingml/2006/main" prst="line">
            <a:avLst/>
          </a:prstGeom>
          <a:ln xmlns:a="http://schemas.openxmlformats.org/drawingml/2006/main" w="9525">
            <a:solidFill>
              <a:srgbClr val="D5DCE3"/>
            </a:solidFill>
          </a:ln>
        </p:spPr>
      </p:sp>
      <p:sp>
        <p:nvSpPr>
          <p:cNvPr id="6" name="sources">
            <a:extLst xmlns:a="http://schemas.openxmlformats.org/drawingml/2006/main">
              <a:ext uri="{FF2B5EF4-FFF2-40B4-BE49-F238E27FC236}">
                <a16:creationId xmlns:a16="http://schemas.microsoft.com/office/drawing/2014/main" id="{BCFEADC0-5D08-42FF-AB0C-A3B261F744DB}"/>
              </a:ext>
            </a:extLst>
          </p:cNvPr>
          <p:cNvSpPr>
            <a:spLocks xmlns:a="http://schemas.openxmlformats.org/drawingml/2006/main" noGrp="1"/>
          </p:cNvSpPr>
          <p:nvPr/>
        </p:nvSpPr>
        <p:spPr>
          <a:xfrm xmlns:a="http://schemas.openxmlformats.org/drawingml/2006/main">
            <a:off x="609600" y="6353175"/>
            <a:ext cx="10363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13" b="0">
                <a:solidFill>
                  <a:srgbClr val="526170"/>
                </a:solidFill>
                <a:latin typeface="Microsoft YaHei"/>
                <a:ea typeface="Microsoft YaHei"/>
                <a:cs typeface="Microsoft YaHei"/>
              </a:defRPr>
            </a:defPPr>
          </a:lstStyle>
          <a:p xmlns:a="http://schemas.openxmlformats.org/drawingml/2006/main">
            <a:pPr algn="l">
              <a:lnSpc>
                <a:spcPct val="118000"/>
              </a:lnSpc>
              <a:buNone/>
              <a:defRPr sz="1013" b="0">
                <a:solidFill>
                  <a:srgbClr val="526170"/>
                </a:solidFill>
                <a:latin typeface="Microsoft YaHei"/>
                <a:ea typeface="Microsoft YaHei"/>
                <a:cs typeface="Microsoft YaHei"/>
              </a:defRPr>
            </a:pPr>
            <a:r>
              <a:rPr sz="1013" b="0">
                <a:solidFill>
                  <a:srgbClr val="526170"/>
                </a:solidFill>
                <a:latin typeface="Microsoft YaHei"/>
                <a:ea typeface="Microsoft YaHei"/>
                <a:cs typeface="Microsoft YaHei"/>
              </a:rPr>
              <a:t>CrystaLLM [R12]；Crystal-LLM [R21]；FlowLLM [R29]；CrysLLMGen [R43]</a:t>
            </a:r>
          </a:p>
        </p:txBody>
      </p:sp>
      <p:sp>
        <p:nvSpPr>
          <p:cNvPr id="7" name="page-number">
            <a:extLst xmlns:a="http://schemas.openxmlformats.org/drawingml/2006/main">
              <a:ext uri="{FF2B5EF4-FFF2-40B4-BE49-F238E27FC236}">
                <a16:creationId xmlns:a16="http://schemas.microsoft.com/office/drawing/2014/main" id="{B24E89DB-3E06-4DC8-9E68-E3391C3142D5}"/>
              </a:ext>
            </a:extLst>
          </p:cNvPr>
          <p:cNvSpPr>
            <a:spLocks xmlns:a="http://schemas.openxmlformats.org/drawingml/2006/main" noGrp="1"/>
          </p:cNvSpPr>
          <p:nvPr/>
        </p:nvSpPr>
        <p:spPr>
          <a:xfrm xmlns:a="http://schemas.openxmlformats.org/drawingml/2006/main">
            <a:off x="11334750" y="6334125"/>
            <a:ext cx="266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26170"/>
                </a:solidFill>
                <a:latin typeface="Microsoft YaHei"/>
                <a:ea typeface="Microsoft YaHei"/>
                <a:cs typeface="Microsoft YaHei"/>
              </a:defRPr>
            </a:defPPr>
          </a:lstStyle>
          <a:p xmlns:a="http://schemas.openxmlformats.org/drawingml/2006/main">
            <a:pPr algn="r">
              <a:lnSpc>
                <a:spcPct val="118000"/>
              </a:lnSpc>
              <a:buNone/>
              <a:defRPr sz="1275" b="0">
                <a:solidFill>
                  <a:srgbClr val="526170"/>
                </a:solidFill>
                <a:latin typeface="Microsoft YaHei"/>
                <a:ea typeface="Microsoft YaHei"/>
                <a:cs typeface="Microsoft YaHei"/>
              </a:defRPr>
            </a:pPr>
            <a:r>
              <a:rPr sz="1275" b="0">
                <a:solidFill>
                  <a:srgbClr val="526170"/>
                </a:solidFill>
                <a:latin typeface="Microsoft YaHei"/>
                <a:ea typeface="Microsoft YaHei"/>
                <a:cs typeface="Microsoft YaHei"/>
              </a:rPr>
              <a:t>07</a:t>
            </a:r>
          </a:p>
        </p:txBody>
      </p:sp>
    </p:spTree>
    <p:extLst>
      <p:ext uri="{BB962C8B-B14F-4D97-AF65-F5344CB8AC3E}">
        <p14:creationId xmlns:p14="http://schemas.microsoft.com/office/powerpoint/2010/main" val="69543432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4FF41FE1-9E21-49EC-95F0-28044CFC0629}"/>
              </a:ext>
            </a:extLst>
          </p:cNvPr>
          <p:cNvSpPr>
            <a:spLocks xmlns:a="http://schemas.openxmlformats.org/drawingml/2006/main" noGrp="1"/>
          </p:cNvSpPr>
          <p:nvPr/>
        </p:nvSpPr>
        <p:spPr>
          <a:xfrm xmlns:a="http://schemas.openxmlformats.org/drawingml/2006/main">
            <a:off x="609600" y="36195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73E67"/>
                </a:solidFill>
                <a:latin typeface="Microsoft YaHei"/>
                <a:ea typeface="Microsoft YaHei"/>
                <a:cs typeface="Microsoft YaHei"/>
              </a:defRPr>
            </a:defPPr>
          </a:lstStyle>
          <a:p xmlns:a="http://schemas.openxmlformats.org/drawingml/2006/main">
            <a:pPr algn="l">
              <a:lnSpc>
                <a:spcPct val="118000"/>
              </a:lnSpc>
              <a:buNone/>
              <a:defRPr sz="3150" b="1">
                <a:solidFill>
                  <a:srgbClr val="173E67"/>
                </a:solidFill>
                <a:latin typeface="Microsoft YaHei"/>
                <a:ea typeface="Microsoft YaHei"/>
                <a:cs typeface="Microsoft YaHei"/>
              </a:defRPr>
            </a:pPr>
            <a:r>
              <a:rPr sz="3150" b="1">
                <a:solidFill>
                  <a:srgbClr val="173E67"/>
                </a:solidFill>
                <a:latin typeface="Microsoft YaHei"/>
                <a:ea typeface="Microsoft YaHei"/>
                <a:cs typeface="Microsoft YaHei"/>
              </a:rPr>
              <a:t>条件生成已经覆盖多种科学要求</a:t>
            </a:r>
          </a:p>
        </p:txBody>
      </p:sp>
      <p:graphicFrame>
        <p:nvGraphicFramePr>
          <p:cNvPr id="2" name="">
            <a:extLst xmlns:a="http://schemas.openxmlformats.org/drawingml/2006/main">
              <a:ext uri="{FF2B5EF4-FFF2-40B4-BE49-F238E27FC236}">
                <a16:creationId xmlns:a16="http://schemas.microsoft.com/office/drawing/2014/main" id="{3C7B9CC1-AB0B-4A5E-851B-FA5AA657730C}"/>
              </a:ext>
            </a:extLst>
          </p:cNvPr>
          <p:cNvGraphicFramePr/>
          <p:nvPr/>
        </p:nvGraphicFramePr>
        <p:xfrm>
          <a:off xmlns:a="http://schemas.openxmlformats.org/drawingml/2006/main" x="609600" y="1400175"/>
          <a:ext xmlns:a="http://schemas.openxmlformats.org/drawingml/2006/main" cx="10972800" cy="4010025"/>
        </p:xfrm>
        <a:graphic xmlns:a="http://schemas.openxmlformats.org/drawingml/2006/main">
          <a:graphicData uri="http://schemas.openxmlformats.org/drawingml/2006/table">
            <a:tbl>
              <a:tblPr firstRow="0" bandRow="0"/>
              <a:tblGrid>
                <a:gridCol w="2000250"/>
                <a:gridCol w="2857500"/>
                <a:gridCol w="3162300"/>
                <a:gridCol w="2952750"/>
              </a:tblGrid>
              <a:tr h="533400">
                <a:tc>
                  <a:txBody>
                    <a:bodyPr wrap="square" lIns="114300" tIns="85725" rIns="95250" bIns="85725">
                      <a:noAutofit/>
                    </a:bodyPr>
                    <a:lstStyle/>
                    <a:p>
                      <a:pPr algn="l">
                        <a:lnSpc>
                          <a:spcPct val="118000"/>
                        </a:lnSpc>
                        <a:buNone/>
                      </a:pPr>
                      <a:r>
                        <a:rPr sz="1800" b="1">
                          <a:solidFill>
                            <a:srgbClr val="173E67"/>
                          </a:solidFill>
                          <a:latin typeface="Microsoft YaHei"/>
                          <a:ea typeface="Microsoft YaHei"/>
                          <a:cs typeface="Microsoft YaHei"/>
                        </a:rPr>
                        <a:t>条件</a:t>
                      </a:r>
                    </a:p>
                  </a:txBody>
                  <a:tcPr marL="91440" marR="91440" marT="45720" marB="45720" anchor="ctr">
                    <a:solidFill>
                      <a:srgbClr val="EDF2F6"/>
                    </a:solidFill>
                  </a:tcPr>
                </a:tc>
                <a:tc>
                  <a:txBody>
                    <a:bodyPr wrap="square" lIns="114300" tIns="85725" rIns="95250" bIns="85725">
                      <a:noAutofit/>
                    </a:bodyPr>
                    <a:lstStyle/>
                    <a:p>
                      <a:pPr algn="l">
                        <a:lnSpc>
                          <a:spcPct val="118000"/>
                        </a:lnSpc>
                        <a:buNone/>
                      </a:pPr>
                      <a:r>
                        <a:rPr sz="1800" b="1">
                          <a:solidFill>
                            <a:srgbClr val="173E67"/>
                          </a:solidFill>
                          <a:latin typeface="Microsoft YaHei"/>
                          <a:ea typeface="Microsoft YaHei"/>
                          <a:cs typeface="Microsoft YaHei"/>
                        </a:rPr>
                        <a:t>代表工作</a:t>
                      </a:r>
                    </a:p>
                  </a:txBody>
                  <a:tcPr marL="91440" marR="91440" marT="45720" marB="45720" anchor="ctr">
                    <a:solidFill>
                      <a:srgbClr val="EDF2F6"/>
                    </a:solidFill>
                  </a:tcPr>
                </a:tc>
                <a:tc>
                  <a:txBody>
                    <a:bodyPr wrap="square" lIns="114300" tIns="85725" rIns="95250" bIns="85725">
                      <a:noAutofit/>
                    </a:bodyPr>
                    <a:lstStyle/>
                    <a:p>
                      <a:pPr algn="l">
                        <a:lnSpc>
                          <a:spcPct val="118000"/>
                        </a:lnSpc>
                        <a:buNone/>
                      </a:pPr>
                      <a:r>
                        <a:rPr sz="1800" b="1">
                          <a:solidFill>
                            <a:srgbClr val="173E67"/>
                          </a:solidFill>
                          <a:latin typeface="Microsoft YaHei"/>
                          <a:ea typeface="Microsoft YaHei"/>
                          <a:cs typeface="Microsoft YaHei"/>
                        </a:rPr>
                        <a:t>已实现的能力</a:t>
                      </a:r>
                    </a:p>
                  </a:txBody>
                  <a:tcPr marL="91440" marR="91440" marT="45720" marB="45720" anchor="ctr">
                    <a:solidFill>
                      <a:srgbClr val="EDF2F6"/>
                    </a:solidFill>
                  </a:tcPr>
                </a:tc>
                <a:tc>
                  <a:txBody>
                    <a:bodyPr wrap="square" lIns="114300" tIns="85725" rIns="95250" bIns="85725">
                      <a:noAutofit/>
                    </a:bodyPr>
                    <a:lstStyle/>
                    <a:p>
                      <a:pPr algn="l">
                        <a:lnSpc>
                          <a:spcPct val="118000"/>
                        </a:lnSpc>
                        <a:buNone/>
                      </a:pPr>
                      <a:r>
                        <a:rPr sz="1800" b="1">
                          <a:solidFill>
                            <a:srgbClr val="173E67"/>
                          </a:solidFill>
                          <a:latin typeface="Microsoft YaHei"/>
                          <a:ea typeface="Microsoft YaHei"/>
                          <a:cs typeface="Microsoft YaHei"/>
                        </a:rPr>
                        <a:t>当前困难</a:t>
                      </a:r>
                    </a:p>
                  </a:txBody>
                  <a:tcPr marL="91440" marR="91440" marT="45720" marB="45720" anchor="ctr">
                    <a:solidFill>
                      <a:srgbClr val="EDF2F6"/>
                    </a:solidFill>
                  </a:tcPr>
                </a:tc>
              </a:tr>
              <a:tr h="869156">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组成与性质</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Con-CDVAE、MatterGen</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给定性质或化学条件生成</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稀疏目标与多目标兼容</a:t>
                      </a:r>
                    </a:p>
                  </a:txBody>
                  <a:tcPr marL="91440" marR="91440" marT="45720" marB="45720" anchor="ctr">
                    <a:solidFill>
                      <a:srgbClr val="FFFFFF"/>
                    </a:solidFill>
                  </a:tcPr>
                </a:tc>
              </a:tr>
              <a:tr h="869156">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对称性与结构图案</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DiffCSP++、SCIGEN</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固定部分结构关系</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局部要求与整体稳定性</a:t>
                      </a:r>
                    </a:p>
                  </a:txBody>
                  <a:tcPr marL="91440" marR="91440" marT="45720" marB="45720" anchor="ctr">
                    <a:solidFill>
                      <a:srgbClr val="FFFFFF"/>
                    </a:solidFill>
                  </a:tcPr>
                </a:tc>
              </a:tr>
              <a:tr h="869156">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文本与知识</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Chemeleon、PLaID++</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用描述或结构语言控制</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信息是否正确进入几何</a:t>
                      </a:r>
                    </a:p>
                  </a:txBody>
                  <a:tcPr marL="91440" marR="91440" marT="45720" marB="45720" anchor="ctr">
                    <a:solidFill>
                      <a:srgbClr val="FFFFFF"/>
                    </a:solidFill>
                  </a:tcPr>
                </a:tc>
              </a:tr>
              <a:tr h="869156">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多模态与组合</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MCFlow、Composable Crystals</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互条件生成与概念控制</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未见条件组合的泛化</a:t>
                      </a:r>
                    </a:p>
                  </a:txBody>
                  <a:tcPr marL="91440" marR="91440" marT="45720" marB="45720" anchor="ctr">
                    <a:solidFill>
                      <a:srgbClr val="FFFFFF"/>
                    </a:solidFill>
                  </a:tcPr>
                </a:tc>
              </a:tr>
            </a:tbl>
          </a:graphicData>
        </a:graphic>
      </p:graphicFrame>
      <p:sp>
        <p:nvSpPr>
          <p:cNvPr id="3" name="conclusion">
            <a:extLst xmlns:a="http://schemas.openxmlformats.org/drawingml/2006/main">
              <a:ext uri="{FF2B5EF4-FFF2-40B4-BE49-F238E27FC236}">
                <a16:creationId xmlns:a16="http://schemas.microsoft.com/office/drawing/2014/main" id="{0E6DC9B4-6BF8-41B7-A430-68BFA7E4FEAA}"/>
              </a:ext>
            </a:extLst>
          </p:cNvPr>
          <p:cNvSpPr>
            <a:spLocks xmlns:a="http://schemas.openxmlformats.org/drawingml/2006/main" noGrp="1"/>
          </p:cNvSpPr>
          <p:nvPr/>
        </p:nvSpPr>
        <p:spPr>
          <a:xfrm xmlns:a="http://schemas.openxmlformats.org/drawingml/2006/main">
            <a:off x="609600" y="5619750"/>
            <a:ext cx="109728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73E67"/>
                </a:solidFill>
                <a:latin typeface="Microsoft YaHei"/>
                <a:ea typeface="Microsoft YaHei"/>
                <a:cs typeface="Microsoft YaHei"/>
              </a:defRPr>
            </a:defPPr>
          </a:lstStyle>
          <a:p xmlns:a="http://schemas.openxmlformats.org/drawingml/2006/main">
            <a:pPr algn="l">
              <a:lnSpc>
                <a:spcPct val="118000"/>
              </a:lnSpc>
              <a:buNone/>
              <a:defRPr sz="1725" b="0">
                <a:solidFill>
                  <a:srgbClr val="173E67"/>
                </a:solidFill>
                <a:latin typeface="Microsoft YaHei"/>
                <a:ea typeface="Microsoft YaHei"/>
                <a:cs typeface="Microsoft YaHei"/>
              </a:defRPr>
            </a:pPr>
            <a:r>
              <a:rPr sz="1725" b="0">
                <a:solidFill>
                  <a:srgbClr val="173E67"/>
                </a:solidFill>
                <a:latin typeface="Microsoft YaHei"/>
                <a:ea typeface="Microsoft YaHei"/>
                <a:cs typeface="Microsoft YaHei"/>
              </a:rPr>
              <a:t>条件命中与稳定发现共同构成条件生成的评价目标。</a:t>
            </a:r>
          </a:p>
        </p:txBody>
      </p:sp>
      <p:sp>
        <p:nvSpPr>
          <p:cNvPr id="4" name="separator">
            <a:extLst xmlns:a="http://schemas.openxmlformats.org/drawingml/2006/main">
              <a:ext uri="{FF2B5EF4-FFF2-40B4-BE49-F238E27FC236}">
                <a16:creationId xmlns:a16="http://schemas.microsoft.com/office/drawing/2014/main" id="{6B873BD0-D71B-4942-8D32-DF94DBF1F751}"/>
              </a:ext>
            </a:extLst>
          </p:cNvPr>
          <p:cNvSpPr>
            <a:spLocks xmlns:a="http://schemas.openxmlformats.org/drawingml/2006/main" noGrp="1"/>
          </p:cNvSpPr>
          <p:nvPr/>
        </p:nvSpPr>
        <p:spPr>
          <a:xfrm xmlns:a="http://schemas.openxmlformats.org/drawingml/2006/main">
            <a:off x="609600" y="6200775"/>
            <a:ext cx="10972800" cy="0"/>
          </a:xfrm>
          <a:prstGeom xmlns:a="http://schemas.openxmlformats.org/drawingml/2006/main" prst="line">
            <a:avLst/>
          </a:prstGeom>
          <a:ln xmlns:a="http://schemas.openxmlformats.org/drawingml/2006/main" w="9525">
            <a:solidFill>
              <a:srgbClr val="D5DCE3"/>
            </a:solidFill>
          </a:ln>
        </p:spPr>
      </p:sp>
      <p:sp>
        <p:nvSpPr>
          <p:cNvPr id="5" name="sources">
            <a:extLst xmlns:a="http://schemas.openxmlformats.org/drawingml/2006/main">
              <a:ext uri="{FF2B5EF4-FFF2-40B4-BE49-F238E27FC236}">
                <a16:creationId xmlns:a16="http://schemas.microsoft.com/office/drawing/2014/main" id="{2401BFB7-C5AA-4AFC-A7F5-9A4E06A7948F}"/>
              </a:ext>
            </a:extLst>
          </p:cNvPr>
          <p:cNvSpPr>
            <a:spLocks xmlns:a="http://schemas.openxmlformats.org/drawingml/2006/main" noGrp="1"/>
          </p:cNvSpPr>
          <p:nvPr/>
        </p:nvSpPr>
        <p:spPr>
          <a:xfrm xmlns:a="http://schemas.openxmlformats.org/drawingml/2006/main">
            <a:off x="609600" y="6353175"/>
            <a:ext cx="10363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13" b="0">
                <a:solidFill>
                  <a:srgbClr val="526170"/>
                </a:solidFill>
                <a:latin typeface="Microsoft YaHei"/>
                <a:ea typeface="Microsoft YaHei"/>
                <a:cs typeface="Microsoft YaHei"/>
              </a:defRPr>
            </a:defPPr>
          </a:lstStyle>
          <a:p xmlns:a="http://schemas.openxmlformats.org/drawingml/2006/main">
            <a:pPr algn="l">
              <a:lnSpc>
                <a:spcPct val="118000"/>
              </a:lnSpc>
              <a:buNone/>
              <a:defRPr sz="1013" b="0">
                <a:solidFill>
                  <a:srgbClr val="526170"/>
                </a:solidFill>
                <a:latin typeface="Microsoft YaHei"/>
                <a:ea typeface="Microsoft YaHei"/>
                <a:cs typeface="Microsoft YaHei"/>
              </a:defRPr>
            </a:pPr>
            <a:r>
              <a:rPr sz="1013" b="0">
                <a:solidFill>
                  <a:srgbClr val="526170"/>
                </a:solidFill>
                <a:latin typeface="Microsoft YaHei"/>
                <a:ea typeface="Microsoft YaHei"/>
                <a:cs typeface="Microsoft YaHei"/>
              </a:rPr>
              <a:t>MatterGen (2025)；SCIGEN (2025在线)；PLaID++ / MCFlow (ICML 2026)；Composable Crystals (预印本)</a:t>
            </a:r>
          </a:p>
        </p:txBody>
      </p:sp>
      <p:sp>
        <p:nvSpPr>
          <p:cNvPr id="6" name="page-number">
            <a:extLst xmlns:a="http://schemas.openxmlformats.org/drawingml/2006/main">
              <a:ext uri="{FF2B5EF4-FFF2-40B4-BE49-F238E27FC236}">
                <a16:creationId xmlns:a16="http://schemas.microsoft.com/office/drawing/2014/main" id="{A60E13D9-7AA3-47BD-A22A-69E60753A8E3}"/>
              </a:ext>
            </a:extLst>
          </p:cNvPr>
          <p:cNvSpPr>
            <a:spLocks xmlns:a="http://schemas.openxmlformats.org/drawingml/2006/main" noGrp="1"/>
          </p:cNvSpPr>
          <p:nvPr/>
        </p:nvSpPr>
        <p:spPr>
          <a:xfrm xmlns:a="http://schemas.openxmlformats.org/drawingml/2006/main">
            <a:off x="11334750" y="6334125"/>
            <a:ext cx="266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26170"/>
                </a:solidFill>
                <a:latin typeface="Microsoft YaHei"/>
                <a:ea typeface="Microsoft YaHei"/>
                <a:cs typeface="Microsoft YaHei"/>
              </a:defRPr>
            </a:defPPr>
          </a:lstStyle>
          <a:p xmlns:a="http://schemas.openxmlformats.org/drawingml/2006/main">
            <a:pPr algn="r">
              <a:lnSpc>
                <a:spcPct val="118000"/>
              </a:lnSpc>
              <a:buNone/>
              <a:defRPr sz="1275" b="0">
                <a:solidFill>
                  <a:srgbClr val="526170"/>
                </a:solidFill>
                <a:latin typeface="Microsoft YaHei"/>
                <a:ea typeface="Microsoft YaHei"/>
                <a:cs typeface="Microsoft YaHei"/>
              </a:defRPr>
            </a:pPr>
            <a:r>
              <a:rPr sz="1275" b="0">
                <a:solidFill>
                  <a:srgbClr val="526170"/>
                </a:solidFill>
                <a:latin typeface="Microsoft YaHei"/>
                <a:ea typeface="Microsoft YaHei"/>
                <a:cs typeface="Microsoft YaHei"/>
              </a:rPr>
              <a:t>08</a:t>
            </a:r>
          </a:p>
        </p:txBody>
      </p:sp>
    </p:spTree>
    <p:extLst>
      <p:ext uri="{BB962C8B-B14F-4D97-AF65-F5344CB8AC3E}">
        <p14:creationId xmlns:p14="http://schemas.microsoft.com/office/powerpoint/2010/main" val="179669584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slide-title">
            <a:extLst xmlns:a="http://schemas.openxmlformats.org/drawingml/2006/main">
              <a:ext uri="{FF2B5EF4-FFF2-40B4-BE49-F238E27FC236}">
                <a16:creationId xmlns:a16="http://schemas.microsoft.com/office/drawing/2014/main" id="{19627BCD-3A93-4795-A19B-44C31400AE1C}"/>
              </a:ext>
            </a:extLst>
          </p:cNvPr>
          <p:cNvSpPr>
            <a:spLocks xmlns:a="http://schemas.openxmlformats.org/drawingml/2006/main" noGrp="1"/>
          </p:cNvSpPr>
          <p:nvPr/>
        </p:nvSpPr>
        <p:spPr>
          <a:xfrm xmlns:a="http://schemas.openxmlformats.org/drawingml/2006/main">
            <a:off x="609600" y="36195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73E67"/>
                </a:solidFill>
                <a:latin typeface="Microsoft YaHei"/>
                <a:ea typeface="Microsoft YaHei"/>
                <a:cs typeface="Microsoft YaHei"/>
              </a:defRPr>
            </a:defPPr>
          </a:lstStyle>
          <a:p xmlns:a="http://schemas.openxmlformats.org/drawingml/2006/main">
            <a:pPr algn="l">
              <a:lnSpc>
                <a:spcPct val="118000"/>
              </a:lnSpc>
              <a:buNone/>
              <a:defRPr sz="3150" b="1">
                <a:solidFill>
                  <a:srgbClr val="173E67"/>
                </a:solidFill>
                <a:latin typeface="Microsoft YaHei"/>
                <a:ea typeface="Microsoft YaHei"/>
                <a:cs typeface="Microsoft YaHei"/>
              </a:defRPr>
            </a:pPr>
            <a:r>
              <a:rPr sz="3150" b="1">
                <a:solidFill>
                  <a:srgbClr val="173E67"/>
                </a:solidFill>
                <a:latin typeface="Microsoft YaHei"/>
                <a:ea typeface="Microsoft YaHei"/>
                <a:cs typeface="Microsoft YaHei"/>
              </a:rPr>
              <a:t>MatterGen展示了性质条件生成的价值</a:t>
            </a:r>
          </a:p>
        </p:txBody>
      </p:sp>
      <p:sp>
        <p:nvSpPr>
          <p:cNvPr id="2" name="lead">
            <a:extLst xmlns:a="http://schemas.openxmlformats.org/drawingml/2006/main">
              <a:ext uri="{FF2B5EF4-FFF2-40B4-BE49-F238E27FC236}">
                <a16:creationId xmlns:a16="http://schemas.microsoft.com/office/drawing/2014/main" id="{C50D094A-694D-4E0B-B3A2-EDA35E079A85}"/>
              </a:ext>
            </a:extLst>
          </p:cNvPr>
          <p:cNvSpPr>
            <a:spLocks xmlns:a="http://schemas.openxmlformats.org/drawingml/2006/main" noGrp="1"/>
          </p:cNvSpPr>
          <p:nvPr/>
        </p:nvSpPr>
        <p:spPr>
          <a:xfrm xmlns:a="http://schemas.openxmlformats.org/drawingml/2006/main">
            <a:off x="609600" y="11049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B2533"/>
                </a:solidFill>
                <a:latin typeface="Microsoft YaHei"/>
                <a:ea typeface="Microsoft YaHei"/>
                <a:cs typeface="Microsoft YaHei"/>
              </a:defRPr>
            </a:defPPr>
          </a:lstStyle>
          <a:p xmlns:a="http://schemas.openxmlformats.org/drawingml/2006/main">
            <a:pPr algn="l">
              <a:lnSpc>
                <a:spcPct val="118000"/>
              </a:lnSpc>
              <a:buNone/>
              <a:defRPr sz="2025" b="0">
                <a:solidFill>
                  <a:srgbClr val="1B2533"/>
                </a:solidFill>
                <a:latin typeface="Microsoft YaHei"/>
                <a:ea typeface="Microsoft YaHei"/>
                <a:cs typeface="Microsoft YaHei"/>
              </a:defRPr>
            </a:pPr>
            <a:r>
              <a:rPr sz="2025" b="0">
                <a:solidFill>
                  <a:srgbClr val="1B2533"/>
                </a:solidFill>
                <a:latin typeface="Microsoft YaHei"/>
                <a:ea typeface="Microsoft YaHei"/>
                <a:cs typeface="Microsoft YaHei"/>
              </a:rPr>
              <a:t>在180次DFT性质调用下，条件生成得到更多高模量合格候选。</a:t>
            </a:r>
          </a:p>
        </p:txBody>
      </p:sp>
      <p:graphicFrame>
        <p:nvGraphicFramePr>
          <p:cNvPr id="3" name="Chart">
            <a:extLst xmlns:a="http://schemas.openxmlformats.org/drawingml/2006/main">
              <a:ext uri="{FF2B5EF4-FFF2-40B4-BE49-F238E27FC236}">
                <a16:creationId xmlns:a16="http://schemas.microsoft.com/office/drawing/2014/main" id="{F22B9260-55F9-4DFD-9E38-1D599F596D4C}"/>
              </a:ext>
            </a:extLst>
          </p:cNvPr>
          <p:cNvGraphicFramePr/>
          <p:nvPr/>
        </p:nvGraphicFramePr>
        <p:xfrm>
          <a:off xmlns:a="http://schemas.openxmlformats.org/drawingml/2006/main" x="609600" y="1943100"/>
          <a:ext xmlns:a="http://schemas.openxmlformats.org/drawingml/2006/main" cx="6334125" cy="3667125"/>
        </p:xfrm>
        <a:graphic xmlns:a="http://schemas.openxmlformats.org/drawingml/2006/main">
          <a:graphicData uri="http://schemas.openxmlformats.org/drawingml/2006/chart">
            <c:chart xmlns:r="http://schemas.openxmlformats.org/officeDocument/2006/relationships" xmlns:c="http://schemas.openxmlformats.org/drawingml/2006/chart" r:id="R54ec9978fcec4a03"/>
          </a:graphicData>
        </a:graphic>
      </p:graphicFrame>
      <p:sp>
        <p:nvSpPr>
          <p:cNvPr id="4" name="text">
            <a:extLst xmlns:a="http://schemas.openxmlformats.org/drawingml/2006/main">
              <a:ext uri="{FF2B5EF4-FFF2-40B4-BE49-F238E27FC236}">
                <a16:creationId xmlns:a16="http://schemas.microsoft.com/office/drawing/2014/main" id="{6612A706-8454-429C-80D3-5504F018F2E4}"/>
              </a:ext>
            </a:extLst>
          </p:cNvPr>
          <p:cNvSpPr>
            <a:spLocks xmlns:a="http://schemas.openxmlformats.org/drawingml/2006/main" noGrp="1"/>
          </p:cNvSpPr>
          <p:nvPr/>
        </p:nvSpPr>
        <p:spPr>
          <a:xfrm xmlns:a="http://schemas.openxmlformats.org/drawingml/2006/main">
            <a:off x="952500" y="5657850"/>
            <a:ext cx="5572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575" b="0">
                <a:solidFill>
                  <a:srgbClr val="526170"/>
                </a:solidFill>
                <a:latin typeface="Microsoft YaHei"/>
                <a:ea typeface="Microsoft YaHei"/>
                <a:cs typeface="Microsoft YaHei"/>
              </a:defRPr>
            </a:defPPr>
          </a:lstStyle>
          <a:p xmlns:a="http://schemas.openxmlformats.org/drawingml/2006/main">
            <a:pPr algn="ctr">
              <a:lnSpc>
                <a:spcPct val="118000"/>
              </a:lnSpc>
              <a:buNone/>
              <a:defRPr sz="1575" b="0">
                <a:solidFill>
                  <a:srgbClr val="526170"/>
                </a:solidFill>
                <a:latin typeface="Microsoft YaHei"/>
                <a:ea typeface="Microsoft YaHei"/>
                <a:cs typeface="Microsoft YaHei"/>
              </a:defRPr>
            </a:pPr>
            <a:r>
              <a:rPr sz="1575" b="0">
                <a:solidFill>
                  <a:srgbClr val="526170"/>
                </a:solidFill>
                <a:latin typeface="Microsoft YaHei"/>
                <a:ea typeface="Microsoft YaHei"/>
                <a:cs typeface="Microsoft YaHei"/>
              </a:rPr>
              <a:t>高模量合格候选数</a:t>
            </a:r>
          </a:p>
        </p:txBody>
      </p:sp>
      <p:sp>
        <p:nvSpPr>
          <p:cNvPr id="5" name="text">
            <a:extLst xmlns:a="http://schemas.openxmlformats.org/drawingml/2006/main">
              <a:ext uri="{FF2B5EF4-FFF2-40B4-BE49-F238E27FC236}">
                <a16:creationId xmlns:a16="http://schemas.microsoft.com/office/drawing/2014/main" id="{B88DEAA7-5008-43B5-B104-85E9C77BC608}"/>
              </a:ext>
            </a:extLst>
          </p:cNvPr>
          <p:cNvSpPr>
            <a:spLocks xmlns:a="http://schemas.openxmlformats.org/drawingml/2006/main" noGrp="1"/>
          </p:cNvSpPr>
          <p:nvPr/>
        </p:nvSpPr>
        <p:spPr>
          <a:xfrm xmlns:a="http://schemas.openxmlformats.org/drawingml/2006/main">
            <a:off x="7391400" y="2038350"/>
            <a:ext cx="4191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173E67"/>
                </a:solidFill>
                <a:latin typeface="Microsoft YaHei"/>
                <a:ea typeface="Microsoft YaHei"/>
                <a:cs typeface="Microsoft YaHei"/>
              </a:defRPr>
            </a:defPPr>
          </a:lstStyle>
          <a:p xmlns:a="http://schemas.openxmlformats.org/drawingml/2006/main">
            <a:pPr algn="l">
              <a:lnSpc>
                <a:spcPct val="118000"/>
              </a:lnSpc>
              <a:buNone/>
              <a:defRPr sz="1875" b="1">
                <a:solidFill>
                  <a:srgbClr val="173E67"/>
                </a:solidFill>
                <a:latin typeface="Microsoft YaHei"/>
                <a:ea typeface="Microsoft YaHei"/>
                <a:cs typeface="Microsoft YaHei"/>
              </a:defRPr>
            </a:pPr>
            <a:r>
              <a:rPr sz="1875" b="1">
                <a:solidFill>
                  <a:srgbClr val="173E67"/>
                </a:solidFill>
                <a:latin typeface="Microsoft YaHei"/>
                <a:ea typeface="Microsoft YaHei"/>
                <a:cs typeface="Microsoft YaHei"/>
              </a:rPr>
              <a:t>方法</a:t>
            </a:r>
          </a:p>
        </p:txBody>
      </p:sp>
      <p:sp>
        <p:nvSpPr>
          <p:cNvPr id="6" name="text">
            <a:extLst xmlns:a="http://schemas.openxmlformats.org/drawingml/2006/main">
              <a:ext uri="{FF2B5EF4-FFF2-40B4-BE49-F238E27FC236}">
                <a16:creationId xmlns:a16="http://schemas.microsoft.com/office/drawing/2014/main" id="{A339CFF5-7A6F-461E-9AD2-9F9D67EC9111}"/>
              </a:ext>
            </a:extLst>
          </p:cNvPr>
          <p:cNvSpPr>
            <a:spLocks xmlns:a="http://schemas.openxmlformats.org/drawingml/2006/main" noGrp="1"/>
          </p:cNvSpPr>
          <p:nvPr/>
        </p:nvSpPr>
        <p:spPr>
          <a:xfrm xmlns:a="http://schemas.openxmlformats.org/drawingml/2006/main">
            <a:off x="7391400" y="2419350"/>
            <a:ext cx="4191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1B2533"/>
                </a:solidFill>
                <a:latin typeface="Microsoft YaHei"/>
                <a:ea typeface="Microsoft YaHei"/>
                <a:cs typeface="Microsoft YaHei"/>
              </a:defRPr>
            </a:defPPr>
          </a:lstStyle>
          <a:p xmlns:a="http://schemas.openxmlformats.org/drawingml/2006/main">
            <a:pPr algn="l">
              <a:lnSpc>
                <a:spcPct val="118000"/>
              </a:lnSpc>
              <a:buNone/>
              <a:defRPr sz="1875" b="0">
                <a:solidFill>
                  <a:srgbClr val="1B2533"/>
                </a:solidFill>
                <a:latin typeface="Microsoft YaHei"/>
                <a:ea typeface="Microsoft YaHei"/>
                <a:cs typeface="Microsoft YaHei"/>
              </a:defRPr>
            </a:pPr>
            <a:r>
              <a:rPr sz="1875" b="0">
                <a:solidFill>
                  <a:srgbClr val="1B2533"/>
                </a:solidFill>
                <a:latin typeface="Microsoft YaHei"/>
                <a:ea typeface="Microsoft YaHei"/>
                <a:cs typeface="Microsoft YaHei"/>
              </a:rPr>
              <a:t>联合扩散模型通过适配训练接受目标性质。</a:t>
            </a:r>
          </a:p>
        </p:txBody>
      </p:sp>
      <p:sp>
        <p:nvSpPr>
          <p:cNvPr id="7" name="text">
            <a:extLst xmlns:a="http://schemas.openxmlformats.org/drawingml/2006/main">
              <a:ext uri="{FF2B5EF4-FFF2-40B4-BE49-F238E27FC236}">
                <a16:creationId xmlns:a16="http://schemas.microsoft.com/office/drawing/2014/main" id="{389A217A-B0BD-4E36-A889-BC930F9D3379}"/>
              </a:ext>
            </a:extLst>
          </p:cNvPr>
          <p:cNvSpPr>
            <a:spLocks xmlns:a="http://schemas.openxmlformats.org/drawingml/2006/main" noGrp="1"/>
          </p:cNvSpPr>
          <p:nvPr/>
        </p:nvSpPr>
        <p:spPr>
          <a:xfrm xmlns:a="http://schemas.openxmlformats.org/drawingml/2006/main">
            <a:off x="7391400" y="3267075"/>
            <a:ext cx="4191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173E67"/>
                </a:solidFill>
                <a:latin typeface="Microsoft YaHei"/>
                <a:ea typeface="Microsoft YaHei"/>
                <a:cs typeface="Microsoft YaHei"/>
              </a:defRPr>
            </a:defPPr>
          </a:lstStyle>
          <a:p xmlns:a="http://schemas.openxmlformats.org/drawingml/2006/main">
            <a:pPr algn="l">
              <a:lnSpc>
                <a:spcPct val="118000"/>
              </a:lnSpc>
              <a:buNone/>
              <a:defRPr sz="1875" b="1">
                <a:solidFill>
                  <a:srgbClr val="173E67"/>
                </a:solidFill>
                <a:latin typeface="Microsoft YaHei"/>
                <a:ea typeface="Microsoft YaHei"/>
                <a:cs typeface="Microsoft YaHei"/>
              </a:defRPr>
            </a:pPr>
            <a:r>
              <a:rPr sz="1875" b="1">
                <a:solidFill>
                  <a:srgbClr val="173E67"/>
                </a:solidFill>
                <a:latin typeface="Microsoft YaHei"/>
                <a:ea typeface="Microsoft YaHei"/>
                <a:cs typeface="Microsoft YaHei"/>
              </a:rPr>
              <a:t>结果</a:t>
            </a:r>
          </a:p>
        </p:txBody>
      </p:sp>
      <p:sp>
        <p:nvSpPr>
          <p:cNvPr id="8" name="text">
            <a:extLst xmlns:a="http://schemas.openxmlformats.org/drawingml/2006/main">
              <a:ext uri="{FF2B5EF4-FFF2-40B4-BE49-F238E27FC236}">
                <a16:creationId xmlns:a16="http://schemas.microsoft.com/office/drawing/2014/main" id="{BF2229B5-AB76-4DC9-B1B1-E78B82C65AAB}"/>
              </a:ext>
            </a:extLst>
          </p:cNvPr>
          <p:cNvSpPr>
            <a:spLocks xmlns:a="http://schemas.openxmlformats.org/drawingml/2006/main" noGrp="1"/>
          </p:cNvSpPr>
          <p:nvPr/>
        </p:nvSpPr>
        <p:spPr>
          <a:xfrm xmlns:a="http://schemas.openxmlformats.org/drawingml/2006/main">
            <a:off x="7391400" y="3648075"/>
            <a:ext cx="4191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1B2533"/>
                </a:solidFill>
                <a:latin typeface="Microsoft YaHei"/>
                <a:ea typeface="Microsoft YaHei"/>
                <a:cs typeface="Microsoft YaHei"/>
              </a:defRPr>
            </a:defPPr>
          </a:lstStyle>
          <a:p xmlns:a="http://schemas.openxmlformats.org/drawingml/2006/main">
            <a:pPr algn="l">
              <a:lnSpc>
                <a:spcPct val="118000"/>
              </a:lnSpc>
              <a:buNone/>
              <a:defRPr sz="1875" b="0">
                <a:solidFill>
                  <a:srgbClr val="1B2533"/>
                </a:solidFill>
                <a:latin typeface="Microsoft YaHei"/>
                <a:ea typeface="Microsoft YaHei"/>
                <a:cs typeface="Microsoft YaHei"/>
              </a:defRPr>
            </a:pPr>
            <a:r>
              <a:rPr sz="1875" b="0">
                <a:solidFill>
                  <a:srgbClr val="1B2533"/>
                </a:solidFill>
                <a:latin typeface="Microsoft YaHei"/>
                <a:ea typeface="Microsoft YaHei"/>
                <a:cs typeface="Microsoft YaHei"/>
              </a:rPr>
              <a:t>论文报告106个高模量SUN候选，筛选参照为40个。</a:t>
            </a:r>
          </a:p>
        </p:txBody>
      </p:sp>
      <p:sp>
        <p:nvSpPr>
          <p:cNvPr id="9" name="text">
            <a:extLst xmlns:a="http://schemas.openxmlformats.org/drawingml/2006/main">
              <a:ext uri="{FF2B5EF4-FFF2-40B4-BE49-F238E27FC236}">
                <a16:creationId xmlns:a16="http://schemas.microsoft.com/office/drawing/2014/main" id="{4FBE0E16-39F3-4857-B2A4-40ED99894365}"/>
              </a:ext>
            </a:extLst>
          </p:cNvPr>
          <p:cNvSpPr>
            <a:spLocks xmlns:a="http://schemas.openxmlformats.org/drawingml/2006/main" noGrp="1"/>
          </p:cNvSpPr>
          <p:nvPr/>
        </p:nvSpPr>
        <p:spPr>
          <a:xfrm xmlns:a="http://schemas.openxmlformats.org/drawingml/2006/main">
            <a:off x="7391400" y="4495800"/>
            <a:ext cx="4191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173E67"/>
                </a:solidFill>
                <a:latin typeface="Microsoft YaHei"/>
                <a:ea typeface="Microsoft YaHei"/>
                <a:cs typeface="Microsoft YaHei"/>
              </a:defRPr>
            </a:defPPr>
          </a:lstStyle>
          <a:p xmlns:a="http://schemas.openxmlformats.org/drawingml/2006/main">
            <a:pPr algn="l">
              <a:lnSpc>
                <a:spcPct val="118000"/>
              </a:lnSpc>
              <a:buNone/>
              <a:defRPr sz="1875" b="1">
                <a:solidFill>
                  <a:srgbClr val="173E67"/>
                </a:solidFill>
                <a:latin typeface="Microsoft YaHei"/>
                <a:ea typeface="Microsoft YaHei"/>
                <a:cs typeface="Microsoft YaHei"/>
              </a:defRPr>
            </a:pPr>
            <a:r>
              <a:rPr sz="1875" b="1">
                <a:solidFill>
                  <a:srgbClr val="173E67"/>
                </a:solidFill>
                <a:latin typeface="Microsoft YaHei"/>
                <a:ea typeface="Microsoft YaHei"/>
                <a:cs typeface="Microsoft YaHei"/>
              </a:rPr>
              <a:t>口径</a:t>
            </a:r>
          </a:p>
        </p:txBody>
      </p:sp>
      <p:sp>
        <p:nvSpPr>
          <p:cNvPr id="10" name="text">
            <a:extLst xmlns:a="http://schemas.openxmlformats.org/drawingml/2006/main">
              <a:ext uri="{FF2B5EF4-FFF2-40B4-BE49-F238E27FC236}">
                <a16:creationId xmlns:a16="http://schemas.microsoft.com/office/drawing/2014/main" id="{6C3D04C0-9BF9-41EC-ABCA-A20451F8C51D}"/>
              </a:ext>
            </a:extLst>
          </p:cNvPr>
          <p:cNvSpPr>
            <a:spLocks xmlns:a="http://schemas.openxmlformats.org/drawingml/2006/main" noGrp="1"/>
          </p:cNvSpPr>
          <p:nvPr/>
        </p:nvSpPr>
        <p:spPr>
          <a:xfrm xmlns:a="http://schemas.openxmlformats.org/drawingml/2006/main">
            <a:off x="7391400" y="4876800"/>
            <a:ext cx="4191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1B2533"/>
                </a:solidFill>
                <a:latin typeface="Microsoft YaHei"/>
                <a:ea typeface="Microsoft YaHei"/>
                <a:cs typeface="Microsoft YaHei"/>
              </a:defRPr>
            </a:defPPr>
          </a:lstStyle>
          <a:p xmlns:a="http://schemas.openxmlformats.org/drawingml/2006/main">
            <a:pPr algn="l">
              <a:lnSpc>
                <a:spcPct val="118000"/>
              </a:lnSpc>
              <a:buNone/>
              <a:defRPr sz="1875" b="0">
                <a:solidFill>
                  <a:srgbClr val="1B2533"/>
                </a:solidFill>
                <a:latin typeface="Microsoft YaHei"/>
                <a:ea typeface="Microsoft YaHei"/>
                <a:cs typeface="Microsoft YaHei"/>
              </a:defRPr>
            </a:pPr>
            <a:r>
              <a:rPr sz="1875" b="0">
                <a:solidFill>
                  <a:srgbClr val="1B2533"/>
                </a:solidFill>
                <a:latin typeface="Microsoft YaHei"/>
                <a:ea typeface="Microsoft YaHei"/>
                <a:cs typeface="Microsoft YaHei"/>
              </a:rPr>
              <a:t>该文SUN允许 Eₕᵤₗₗ ≤ 0.1 eV/atom。180次计入性质DFT调用。</a:t>
            </a:r>
          </a:p>
        </p:txBody>
      </p:sp>
      <p:sp>
        <p:nvSpPr>
          <p:cNvPr id="11" name="separator">
            <a:extLst xmlns:a="http://schemas.openxmlformats.org/drawingml/2006/main">
              <a:ext uri="{FF2B5EF4-FFF2-40B4-BE49-F238E27FC236}">
                <a16:creationId xmlns:a16="http://schemas.microsoft.com/office/drawing/2014/main" id="{F3F817F3-5D0B-4B21-950F-0A59CFC3E902}"/>
              </a:ext>
            </a:extLst>
          </p:cNvPr>
          <p:cNvSpPr>
            <a:spLocks xmlns:a="http://schemas.openxmlformats.org/drawingml/2006/main" noGrp="1"/>
          </p:cNvSpPr>
          <p:nvPr/>
        </p:nvSpPr>
        <p:spPr>
          <a:xfrm xmlns:a="http://schemas.openxmlformats.org/drawingml/2006/main">
            <a:off x="609600" y="6200775"/>
            <a:ext cx="10972800" cy="0"/>
          </a:xfrm>
          <a:prstGeom xmlns:a="http://schemas.openxmlformats.org/drawingml/2006/main" prst="line">
            <a:avLst/>
          </a:prstGeom>
          <a:ln xmlns:a="http://schemas.openxmlformats.org/drawingml/2006/main" w="9525">
            <a:solidFill>
              <a:srgbClr val="D5DCE3"/>
            </a:solidFill>
          </a:ln>
        </p:spPr>
      </p:sp>
      <p:sp>
        <p:nvSpPr>
          <p:cNvPr id="12" name="sources">
            <a:extLst xmlns:a="http://schemas.openxmlformats.org/drawingml/2006/main">
              <a:ext uri="{FF2B5EF4-FFF2-40B4-BE49-F238E27FC236}">
                <a16:creationId xmlns:a16="http://schemas.microsoft.com/office/drawing/2014/main" id="{34CDB306-9BA8-4D6C-92B5-A44512A833FC}"/>
              </a:ext>
            </a:extLst>
          </p:cNvPr>
          <p:cNvSpPr>
            <a:spLocks xmlns:a="http://schemas.openxmlformats.org/drawingml/2006/main" noGrp="1"/>
          </p:cNvSpPr>
          <p:nvPr/>
        </p:nvSpPr>
        <p:spPr>
          <a:xfrm xmlns:a="http://schemas.openxmlformats.org/drawingml/2006/main">
            <a:off x="609600" y="6353175"/>
            <a:ext cx="10363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13" b="0">
                <a:solidFill>
                  <a:srgbClr val="526170"/>
                </a:solidFill>
                <a:latin typeface="Microsoft YaHei"/>
                <a:ea typeface="Microsoft YaHei"/>
                <a:cs typeface="Microsoft YaHei"/>
              </a:defRPr>
            </a:defPPr>
          </a:lstStyle>
          <a:p xmlns:a="http://schemas.openxmlformats.org/drawingml/2006/main">
            <a:pPr algn="l">
              <a:lnSpc>
                <a:spcPct val="118000"/>
              </a:lnSpc>
              <a:buNone/>
              <a:defRPr sz="1013" b="0">
                <a:solidFill>
                  <a:srgbClr val="526170"/>
                </a:solidFill>
                <a:latin typeface="Microsoft YaHei"/>
                <a:ea typeface="Microsoft YaHei"/>
                <a:cs typeface="Microsoft YaHei"/>
              </a:defRPr>
            </a:pPr>
            <a:r>
              <a:rPr sz="1013" b="0">
                <a:solidFill>
                  <a:srgbClr val="526170"/>
                </a:solidFill>
                <a:latin typeface="Microsoft YaHei"/>
                <a:ea typeface="Microsoft YaHei"/>
                <a:cs typeface="Microsoft YaHei"/>
              </a:rPr>
              <a:t>MatterGen, Nature 639, 624–632 (2025)。数据按论文条件实验重绘。</a:t>
            </a:r>
          </a:p>
        </p:txBody>
      </p:sp>
      <p:sp>
        <p:nvSpPr>
          <p:cNvPr id="13" name="page-number">
            <a:extLst xmlns:a="http://schemas.openxmlformats.org/drawingml/2006/main">
              <a:ext uri="{FF2B5EF4-FFF2-40B4-BE49-F238E27FC236}">
                <a16:creationId xmlns:a16="http://schemas.microsoft.com/office/drawing/2014/main" id="{64D56290-CC32-413B-83E5-2E330E977D48}"/>
              </a:ext>
            </a:extLst>
          </p:cNvPr>
          <p:cNvSpPr>
            <a:spLocks xmlns:a="http://schemas.openxmlformats.org/drawingml/2006/main" noGrp="1"/>
          </p:cNvSpPr>
          <p:nvPr/>
        </p:nvSpPr>
        <p:spPr>
          <a:xfrm xmlns:a="http://schemas.openxmlformats.org/drawingml/2006/main">
            <a:off x="11334750" y="6334125"/>
            <a:ext cx="266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26170"/>
                </a:solidFill>
                <a:latin typeface="Microsoft YaHei"/>
                <a:ea typeface="Microsoft YaHei"/>
                <a:cs typeface="Microsoft YaHei"/>
              </a:defRPr>
            </a:defPPr>
          </a:lstStyle>
          <a:p xmlns:a="http://schemas.openxmlformats.org/drawingml/2006/main">
            <a:pPr algn="r">
              <a:lnSpc>
                <a:spcPct val="118000"/>
              </a:lnSpc>
              <a:buNone/>
              <a:defRPr sz="1275" b="0">
                <a:solidFill>
                  <a:srgbClr val="526170"/>
                </a:solidFill>
                <a:latin typeface="Microsoft YaHei"/>
                <a:ea typeface="Microsoft YaHei"/>
                <a:cs typeface="Microsoft YaHei"/>
              </a:defRPr>
            </a:pPr>
            <a:r>
              <a:rPr sz="1275" b="0">
                <a:solidFill>
                  <a:srgbClr val="526170"/>
                </a:solidFill>
                <a:latin typeface="Microsoft YaHei"/>
                <a:ea typeface="Microsoft YaHei"/>
                <a:cs typeface="Microsoft YaHei"/>
              </a:rPr>
              <a:t>09</a:t>
            </a:r>
          </a:p>
        </p:txBody>
      </p:sp>
    </p:spTree>
    <p:extLst>
      <p:ext uri="{BB962C8B-B14F-4D97-AF65-F5344CB8AC3E}">
        <p14:creationId xmlns:p14="http://schemas.microsoft.com/office/powerpoint/2010/main" val="17373096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DCD4E659-A2EF-4BF2-B618-9EA60BC17E22}"/>
              </a:ext>
            </a:extLst>
          </p:cNvPr>
          <p:cNvSpPr>
            <a:spLocks xmlns:a="http://schemas.openxmlformats.org/drawingml/2006/main" noGrp="1"/>
          </p:cNvSpPr>
          <p:nvPr/>
        </p:nvSpPr>
        <p:spPr>
          <a:xfrm xmlns:a="http://schemas.openxmlformats.org/drawingml/2006/main">
            <a:off x="609600" y="36195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73E67"/>
                </a:solidFill>
                <a:latin typeface="Microsoft YaHei"/>
                <a:ea typeface="Microsoft YaHei"/>
                <a:cs typeface="Microsoft YaHei"/>
              </a:defRPr>
            </a:defPPr>
          </a:lstStyle>
          <a:p xmlns:a="http://schemas.openxmlformats.org/drawingml/2006/main">
            <a:pPr algn="l">
              <a:lnSpc>
                <a:spcPct val="118000"/>
              </a:lnSpc>
              <a:buNone/>
              <a:defRPr sz="3150" b="1">
                <a:solidFill>
                  <a:srgbClr val="173E67"/>
                </a:solidFill>
                <a:latin typeface="Microsoft YaHei"/>
                <a:ea typeface="Microsoft YaHei"/>
                <a:cs typeface="Microsoft YaHei"/>
              </a:defRPr>
            </a:pPr>
            <a:r>
              <a:rPr sz="3150" b="1">
                <a:solidFill>
                  <a:srgbClr val="173E67"/>
                </a:solidFill>
                <a:latin typeface="Microsoft YaHei"/>
                <a:ea typeface="Microsoft YaHei"/>
                <a:cs typeface="Microsoft YaHei"/>
              </a:rPr>
              <a:t>SCIGEN把结构图案约束用于材料发现</a:t>
            </a:r>
          </a:p>
        </p:txBody>
      </p:sp>
      <p:sp>
        <p:nvSpPr>
          <p:cNvPr id="2" name="lead">
            <a:extLst xmlns:a="http://schemas.openxmlformats.org/drawingml/2006/main">
              <a:ext uri="{FF2B5EF4-FFF2-40B4-BE49-F238E27FC236}">
                <a16:creationId xmlns:a16="http://schemas.microsoft.com/office/drawing/2014/main" id="{484C90C8-322A-47D3-8747-77C8F0FF35DA}"/>
              </a:ext>
            </a:extLst>
          </p:cNvPr>
          <p:cNvSpPr>
            <a:spLocks xmlns:a="http://schemas.openxmlformats.org/drawingml/2006/main" noGrp="1"/>
          </p:cNvSpPr>
          <p:nvPr/>
        </p:nvSpPr>
        <p:spPr>
          <a:xfrm xmlns:a="http://schemas.openxmlformats.org/drawingml/2006/main">
            <a:off x="609600" y="11049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B2533"/>
                </a:solidFill>
                <a:latin typeface="Microsoft YaHei"/>
                <a:ea typeface="Microsoft YaHei"/>
                <a:cs typeface="Microsoft YaHei"/>
              </a:defRPr>
            </a:defPPr>
          </a:lstStyle>
          <a:p xmlns:a="http://schemas.openxmlformats.org/drawingml/2006/main">
            <a:pPr algn="l">
              <a:lnSpc>
                <a:spcPct val="118000"/>
              </a:lnSpc>
              <a:buNone/>
              <a:defRPr sz="2025" b="0">
                <a:solidFill>
                  <a:srgbClr val="1B2533"/>
                </a:solidFill>
                <a:latin typeface="Microsoft YaHei"/>
                <a:ea typeface="Microsoft YaHei"/>
                <a:cs typeface="Microsoft YaHei"/>
              </a:defRPr>
            </a:pPr>
            <a:r>
              <a:rPr sz="2025" b="0">
                <a:solidFill>
                  <a:srgbClr val="1B2533"/>
                </a:solidFill>
                <a:latin typeface="Microsoft YaHei"/>
                <a:ea typeface="Microsoft YaHei"/>
                <a:cs typeface="Microsoft YaHei"/>
              </a:rPr>
              <a:t>指定功能相关结构后，模型生成周围的周期环境，再接受物理和实验检验。</a:t>
            </a:r>
          </a:p>
        </p:txBody>
      </p:sp>
      <p:graphicFrame>
        <p:nvGraphicFramePr>
          <p:cNvPr id="3" name="">
            <a:extLst xmlns:a="http://schemas.openxmlformats.org/drawingml/2006/main">
              <a:ext uri="{FF2B5EF4-FFF2-40B4-BE49-F238E27FC236}">
                <a16:creationId xmlns:a16="http://schemas.microsoft.com/office/drawing/2014/main" id="{064955E3-AA60-409D-BF75-E18F059FC307}"/>
              </a:ext>
            </a:extLst>
          </p:cNvPr>
          <p:cNvGraphicFramePr/>
          <p:nvPr/>
        </p:nvGraphicFramePr>
        <p:xfrm>
          <a:off xmlns:a="http://schemas.openxmlformats.org/drawingml/2006/main" x="609600" y="1990725"/>
          <a:ext xmlns:a="http://schemas.openxmlformats.org/drawingml/2006/main" cx="10972800" cy="3419475"/>
        </p:xfrm>
        <a:graphic xmlns:a="http://schemas.openxmlformats.org/drawingml/2006/main">
          <a:graphicData uri="http://schemas.openxmlformats.org/drawingml/2006/table">
            <a:tbl>
              <a:tblPr firstRow="0" bandRow="0"/>
              <a:tblGrid>
                <a:gridCol w="2857500"/>
                <a:gridCol w="3238500"/>
                <a:gridCol w="4876800"/>
              </a:tblGrid>
              <a:tr h="533400">
                <a:tc>
                  <a:txBody>
                    <a:bodyPr wrap="square" lIns="114300" tIns="85725" rIns="95250" bIns="85725">
                      <a:noAutofit/>
                    </a:bodyPr>
                    <a:lstStyle/>
                    <a:p>
                      <a:pPr algn="l">
                        <a:lnSpc>
                          <a:spcPct val="118000"/>
                        </a:lnSpc>
                        <a:buNone/>
                      </a:pPr>
                      <a:r>
                        <a:rPr sz="1800" b="1">
                          <a:solidFill>
                            <a:srgbClr val="173E67"/>
                          </a:solidFill>
                          <a:latin typeface="Microsoft YaHei"/>
                          <a:ea typeface="Microsoft YaHei"/>
                          <a:cs typeface="Microsoft YaHei"/>
                        </a:rPr>
                        <a:t>结果阶段</a:t>
                      </a:r>
                    </a:p>
                  </a:txBody>
                  <a:tcPr marL="91440" marR="91440" marT="45720" marB="45720" anchor="ctr">
                    <a:solidFill>
                      <a:srgbClr val="EDF2F6"/>
                    </a:solidFill>
                  </a:tcPr>
                </a:tc>
                <a:tc>
                  <a:txBody>
                    <a:bodyPr wrap="square" lIns="114300" tIns="85725" rIns="95250" bIns="85725">
                      <a:noAutofit/>
                    </a:bodyPr>
                    <a:lstStyle/>
                    <a:p>
                      <a:pPr algn="l">
                        <a:lnSpc>
                          <a:spcPct val="118000"/>
                        </a:lnSpc>
                        <a:buNone/>
                      </a:pPr>
                      <a:r>
                        <a:rPr sz="1800" b="1">
                          <a:solidFill>
                            <a:srgbClr val="173E67"/>
                          </a:solidFill>
                          <a:latin typeface="Microsoft YaHei"/>
                          <a:ea typeface="Microsoft YaHei"/>
                          <a:cs typeface="Microsoft YaHei"/>
                        </a:rPr>
                        <a:t>数量或实例</a:t>
                      </a:r>
                    </a:p>
                  </a:txBody>
                  <a:tcPr marL="91440" marR="91440" marT="45720" marB="45720" anchor="ctr">
                    <a:solidFill>
                      <a:srgbClr val="EDF2F6"/>
                    </a:solidFill>
                  </a:tcPr>
                </a:tc>
                <a:tc>
                  <a:txBody>
                    <a:bodyPr wrap="square" lIns="114300" tIns="85725" rIns="95250" bIns="85725">
                      <a:noAutofit/>
                    </a:bodyPr>
                    <a:lstStyle/>
                    <a:p>
                      <a:pPr algn="l">
                        <a:lnSpc>
                          <a:spcPct val="118000"/>
                        </a:lnSpc>
                        <a:buNone/>
                      </a:pPr>
                      <a:r>
                        <a:rPr sz="1800" b="1">
                          <a:solidFill>
                            <a:srgbClr val="173E67"/>
                          </a:solidFill>
                          <a:latin typeface="Microsoft YaHei"/>
                          <a:ea typeface="Microsoft YaHei"/>
                          <a:cs typeface="Microsoft YaHei"/>
                        </a:rPr>
                        <a:t>解释</a:t>
                      </a:r>
                    </a:p>
                  </a:txBody>
                  <a:tcPr marL="91440" marR="91440" marT="45720" marB="45720" anchor="ctr">
                    <a:solidFill>
                      <a:srgbClr val="EDF2F6"/>
                    </a:solidFill>
                  </a:tcPr>
                </a:tc>
              </a:tr>
              <a:tr h="721519">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DFT弛豫</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26,000次尝试</a:t>
                      </a:r>
                    </a:p>
                    <a:p>
                      <a:pPr algn="l">
                        <a:lnSpc>
                          <a:spcPct val="118000"/>
                        </a:lnSpc>
                        <a:buNone/>
                      </a:pPr>
                      <a:r>
                        <a:rPr sz="1725" b="0">
                          <a:solidFill>
                            <a:srgbClr val="1B2533"/>
                          </a:solidFill>
                          <a:latin typeface="Microsoft YaHei"/>
                          <a:ea typeface="Microsoft YaHei"/>
                          <a:cs typeface="Microsoft YaHei"/>
                        </a:rPr>
                        <a:t>24,743个输出</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说明计算流程得到弛豫结构的比例。</a:t>
                      </a:r>
                    </a:p>
                  </a:txBody>
                  <a:tcPr marL="91440" marR="91440" marT="45720" marB="45720" anchor="ctr">
                    <a:solidFill>
                      <a:srgbClr val="FFFFFF"/>
                    </a:solidFill>
                  </a:tcPr>
                </a:tc>
              </a:tr>
              <a:tr h="721519">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残余力要求</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13,880个</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最大力 &lt; 0.01 eV/Å，属于力收敛要求。</a:t>
                      </a:r>
                    </a:p>
                  </a:txBody>
                  <a:tcPr marL="91440" marR="91440" marT="45720" marB="45720" anchor="ctr">
                    <a:solidFill>
                      <a:srgbClr val="FFFFFF"/>
                    </a:solidFill>
                  </a:tcPr>
                </a:tc>
              </a:tr>
              <a:tr h="721519">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结构保持与新颖去重</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5,931个小畸变结构</a:t>
                      </a:r>
                    </a:p>
                    <a:p>
                      <a:pPr algn="l">
                        <a:lnSpc>
                          <a:spcPct val="118000"/>
                        </a:lnSpc>
                        <a:buNone/>
                      </a:pPr>
                      <a:r>
                        <a:rPr sz="1725" b="0">
                          <a:solidFill>
                            <a:srgbClr val="1B2533"/>
                          </a:solidFill>
                          <a:latin typeface="Microsoft YaHei"/>
                          <a:ea typeface="Microsoft YaHei"/>
                          <a:cs typeface="Microsoft YaHei"/>
                        </a:rPr>
                        <a:t>3,018个新颖去重结果</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进一步加入结构保持及身份判断。</a:t>
                      </a:r>
                    </a:p>
                  </a:txBody>
                  <a:tcPr marL="91440" marR="91440" marT="45720" marB="45720" anchor="ctr">
                    <a:solidFill>
                      <a:srgbClr val="FFFFFF"/>
                    </a:solidFill>
                  </a:tcPr>
                </a:tc>
              </a:tr>
              <a:tr h="721519">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指导合成</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TiPd₀.₂₂Bi₀.₈₈</a:t>
                      </a:r>
                    </a:p>
                    <a:p>
                      <a:pPr algn="l">
                        <a:lnSpc>
                          <a:spcPct val="118000"/>
                        </a:lnSpc>
                        <a:buNone/>
                      </a:pPr>
                      <a:r>
                        <a:rPr sz="1725" b="0">
                          <a:solidFill>
                            <a:srgbClr val="1B2533"/>
                          </a:solidFill>
                          <a:latin typeface="Microsoft YaHei"/>
                          <a:ea typeface="Microsoft YaHei"/>
                          <a:cs typeface="Microsoft YaHei"/>
                        </a:rPr>
                        <a:t>Ti₀.₅Pd₁.₅Sb</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提案帮助合成，实验计量和空间群有所改变。</a:t>
                      </a:r>
                    </a:p>
                  </a:txBody>
                  <a:tcPr marL="91440" marR="91440" marT="45720" marB="45720" anchor="ctr">
                    <a:solidFill>
                      <a:srgbClr val="FFFFFF"/>
                    </a:solidFill>
                  </a:tcPr>
                </a:tc>
              </a:tr>
            </a:tbl>
          </a:graphicData>
        </a:graphic>
      </p:graphicFrame>
      <p:sp>
        <p:nvSpPr>
          <p:cNvPr id="4" name="conclusion">
            <a:extLst xmlns:a="http://schemas.openxmlformats.org/drawingml/2006/main">
              <a:ext uri="{FF2B5EF4-FFF2-40B4-BE49-F238E27FC236}">
                <a16:creationId xmlns:a16="http://schemas.microsoft.com/office/drawing/2014/main" id="{2F700B31-463D-422C-B8CF-9ED13A3BBBDE}"/>
              </a:ext>
            </a:extLst>
          </p:cNvPr>
          <p:cNvSpPr>
            <a:spLocks xmlns:a="http://schemas.openxmlformats.org/drawingml/2006/main" noGrp="1"/>
          </p:cNvSpPr>
          <p:nvPr/>
        </p:nvSpPr>
        <p:spPr>
          <a:xfrm xmlns:a="http://schemas.openxmlformats.org/drawingml/2006/main">
            <a:off x="609600" y="5619750"/>
            <a:ext cx="109728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73E67"/>
                </a:solidFill>
                <a:latin typeface="Microsoft YaHei"/>
                <a:ea typeface="Microsoft YaHei"/>
                <a:cs typeface="Microsoft YaHei"/>
              </a:defRPr>
            </a:defPPr>
          </a:lstStyle>
          <a:p xmlns:a="http://schemas.openxmlformats.org/drawingml/2006/main">
            <a:pPr algn="l">
              <a:lnSpc>
                <a:spcPct val="118000"/>
              </a:lnSpc>
              <a:buNone/>
              <a:defRPr sz="1725" b="0">
                <a:solidFill>
                  <a:srgbClr val="173E67"/>
                </a:solidFill>
                <a:latin typeface="Microsoft YaHei"/>
                <a:ea typeface="Microsoft YaHei"/>
                <a:cs typeface="Microsoft YaHei"/>
              </a:defRPr>
            </a:pPr>
            <a:r>
              <a:rPr sz="1725" b="0">
                <a:solidFill>
                  <a:srgbClr val="173E67"/>
                </a:solidFill>
                <a:latin typeface="Microsoft YaHei"/>
                <a:ea typeface="Microsoft YaHei"/>
                <a:cs typeface="Microsoft YaHei"/>
              </a:rPr>
              <a:t>残余力、结构保持、新颖性和凸包稳定性各自回答不同问题。</a:t>
            </a:r>
          </a:p>
        </p:txBody>
      </p:sp>
      <p:sp>
        <p:nvSpPr>
          <p:cNvPr id="5" name="separator">
            <a:extLst xmlns:a="http://schemas.openxmlformats.org/drawingml/2006/main">
              <a:ext uri="{FF2B5EF4-FFF2-40B4-BE49-F238E27FC236}">
                <a16:creationId xmlns:a16="http://schemas.microsoft.com/office/drawing/2014/main" id="{9AE67512-DCEC-44E8-922D-3AE36E38AF67}"/>
              </a:ext>
            </a:extLst>
          </p:cNvPr>
          <p:cNvSpPr>
            <a:spLocks xmlns:a="http://schemas.openxmlformats.org/drawingml/2006/main" noGrp="1"/>
          </p:cNvSpPr>
          <p:nvPr/>
        </p:nvSpPr>
        <p:spPr>
          <a:xfrm xmlns:a="http://schemas.openxmlformats.org/drawingml/2006/main">
            <a:off x="609600" y="6200775"/>
            <a:ext cx="10972800" cy="0"/>
          </a:xfrm>
          <a:prstGeom xmlns:a="http://schemas.openxmlformats.org/drawingml/2006/main" prst="line">
            <a:avLst/>
          </a:prstGeom>
          <a:ln xmlns:a="http://schemas.openxmlformats.org/drawingml/2006/main" w="9525">
            <a:solidFill>
              <a:srgbClr val="D5DCE3"/>
            </a:solidFill>
          </a:ln>
        </p:spPr>
      </p:sp>
      <p:sp>
        <p:nvSpPr>
          <p:cNvPr id="6" name="sources">
            <a:extLst xmlns:a="http://schemas.openxmlformats.org/drawingml/2006/main">
              <a:ext uri="{FF2B5EF4-FFF2-40B4-BE49-F238E27FC236}">
                <a16:creationId xmlns:a16="http://schemas.microsoft.com/office/drawing/2014/main" id="{3AC6314B-90C9-4615-BAC1-1EA588079EBF}"/>
              </a:ext>
            </a:extLst>
          </p:cNvPr>
          <p:cNvSpPr>
            <a:spLocks xmlns:a="http://schemas.openxmlformats.org/drawingml/2006/main" noGrp="1"/>
          </p:cNvSpPr>
          <p:nvPr/>
        </p:nvSpPr>
        <p:spPr>
          <a:xfrm xmlns:a="http://schemas.openxmlformats.org/drawingml/2006/main">
            <a:off x="609600" y="6353175"/>
            <a:ext cx="10363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13" b="0">
                <a:solidFill>
                  <a:srgbClr val="526170"/>
                </a:solidFill>
                <a:latin typeface="Microsoft YaHei"/>
                <a:ea typeface="Microsoft YaHei"/>
                <a:cs typeface="Microsoft YaHei"/>
              </a:defRPr>
            </a:defPPr>
          </a:lstStyle>
          <a:p xmlns:a="http://schemas.openxmlformats.org/drawingml/2006/main">
            <a:pPr algn="l">
              <a:lnSpc>
                <a:spcPct val="118000"/>
              </a:lnSpc>
              <a:buNone/>
              <a:defRPr sz="1013" b="0">
                <a:solidFill>
                  <a:srgbClr val="526170"/>
                </a:solidFill>
                <a:latin typeface="Microsoft YaHei"/>
                <a:ea typeface="Microsoft YaHei"/>
                <a:cs typeface="Microsoft YaHei"/>
              </a:defRPr>
            </a:pPr>
            <a:r>
              <a:rPr sz="1013" b="0">
                <a:solidFill>
                  <a:srgbClr val="526170"/>
                </a:solidFill>
                <a:latin typeface="Microsoft YaHei"/>
                <a:ea typeface="Microsoft YaHei"/>
                <a:cs typeface="Microsoft YaHei"/>
              </a:rPr>
              <a:t>SCIGEN, Nature Materials (2025在线 / 2026卷期)，补充§10.1、§12、Table 3。</a:t>
            </a:r>
          </a:p>
        </p:txBody>
      </p:sp>
      <p:sp>
        <p:nvSpPr>
          <p:cNvPr id="7" name="page-number">
            <a:extLst xmlns:a="http://schemas.openxmlformats.org/drawingml/2006/main">
              <a:ext uri="{FF2B5EF4-FFF2-40B4-BE49-F238E27FC236}">
                <a16:creationId xmlns:a16="http://schemas.microsoft.com/office/drawing/2014/main" id="{88D8EDDB-C213-4A30-9503-994967AFFAC5}"/>
              </a:ext>
            </a:extLst>
          </p:cNvPr>
          <p:cNvSpPr>
            <a:spLocks xmlns:a="http://schemas.openxmlformats.org/drawingml/2006/main" noGrp="1"/>
          </p:cNvSpPr>
          <p:nvPr/>
        </p:nvSpPr>
        <p:spPr>
          <a:xfrm xmlns:a="http://schemas.openxmlformats.org/drawingml/2006/main">
            <a:off x="11334750" y="6334125"/>
            <a:ext cx="266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26170"/>
                </a:solidFill>
                <a:latin typeface="Microsoft YaHei"/>
                <a:ea typeface="Microsoft YaHei"/>
                <a:cs typeface="Microsoft YaHei"/>
              </a:defRPr>
            </a:defPPr>
          </a:lstStyle>
          <a:p xmlns:a="http://schemas.openxmlformats.org/drawingml/2006/main">
            <a:pPr algn="r">
              <a:lnSpc>
                <a:spcPct val="118000"/>
              </a:lnSpc>
              <a:buNone/>
              <a:defRPr sz="1275" b="0">
                <a:solidFill>
                  <a:srgbClr val="526170"/>
                </a:solidFill>
                <a:latin typeface="Microsoft YaHei"/>
                <a:ea typeface="Microsoft YaHei"/>
                <a:cs typeface="Microsoft YaHei"/>
              </a:defRPr>
            </a:pPr>
            <a:r>
              <a:rPr sz="1275" b="0">
                <a:solidFill>
                  <a:srgbClr val="526170"/>
                </a:solidFill>
                <a:latin typeface="Microsoft YaHei"/>
                <a:ea typeface="Microsoft YaHei"/>
                <a:cs typeface="Microsoft YaHei"/>
              </a:rPr>
              <a:t>10</a:t>
            </a:r>
          </a:p>
        </p:txBody>
      </p:sp>
    </p:spTree>
    <p:extLst>
      <p:ext uri="{BB962C8B-B14F-4D97-AF65-F5344CB8AC3E}">
        <p14:creationId xmlns:p14="http://schemas.microsoft.com/office/powerpoint/2010/main" val="181001371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slide-title">
            <a:extLst xmlns:a="http://schemas.openxmlformats.org/drawingml/2006/main">
              <a:ext uri="{FF2B5EF4-FFF2-40B4-BE49-F238E27FC236}">
                <a16:creationId xmlns:a16="http://schemas.microsoft.com/office/drawing/2014/main" id="{A1AF733D-FA03-4C44-96BD-28546D7920CB}"/>
              </a:ext>
            </a:extLst>
          </p:cNvPr>
          <p:cNvSpPr>
            <a:spLocks xmlns:a="http://schemas.openxmlformats.org/drawingml/2006/main" noGrp="1"/>
          </p:cNvSpPr>
          <p:nvPr/>
        </p:nvSpPr>
        <p:spPr>
          <a:xfrm xmlns:a="http://schemas.openxmlformats.org/drawingml/2006/main">
            <a:off x="609600" y="36195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73E67"/>
                </a:solidFill>
                <a:latin typeface="Microsoft YaHei"/>
                <a:ea typeface="Microsoft YaHei"/>
                <a:cs typeface="Microsoft YaHei"/>
              </a:defRPr>
            </a:defPPr>
          </a:lstStyle>
          <a:p xmlns:a="http://schemas.openxmlformats.org/drawingml/2006/main">
            <a:pPr algn="l">
              <a:lnSpc>
                <a:spcPct val="118000"/>
              </a:lnSpc>
              <a:buNone/>
              <a:defRPr sz="3150" b="1">
                <a:solidFill>
                  <a:srgbClr val="173E67"/>
                </a:solidFill>
                <a:latin typeface="Microsoft YaHei"/>
                <a:ea typeface="Microsoft YaHei"/>
                <a:cs typeface="Microsoft YaHei"/>
              </a:defRPr>
            </a:pPr>
            <a:r>
              <a:rPr sz="3150" b="1">
                <a:solidFill>
                  <a:srgbClr val="173E67"/>
                </a:solidFill>
                <a:latin typeface="Microsoft YaHei"/>
                <a:ea typeface="Microsoft YaHei"/>
                <a:cs typeface="Microsoft YaHei"/>
              </a:rPr>
              <a:t>MCFlow研究化学与几何的信息进度</a:t>
            </a:r>
          </a:p>
        </p:txBody>
      </p:sp>
      <p:sp>
        <p:nvSpPr>
          <p:cNvPr id="2" name="lead">
            <a:extLst xmlns:a="http://schemas.openxmlformats.org/drawingml/2006/main">
              <a:ext uri="{FF2B5EF4-FFF2-40B4-BE49-F238E27FC236}">
                <a16:creationId xmlns:a16="http://schemas.microsoft.com/office/drawing/2014/main" id="{788807F7-E5F9-4A99-869C-D6B8B53BC29B}"/>
              </a:ext>
            </a:extLst>
          </p:cNvPr>
          <p:cNvSpPr>
            <a:spLocks xmlns:a="http://schemas.openxmlformats.org/drawingml/2006/main" noGrp="1"/>
          </p:cNvSpPr>
          <p:nvPr/>
        </p:nvSpPr>
        <p:spPr>
          <a:xfrm xmlns:a="http://schemas.openxmlformats.org/drawingml/2006/main">
            <a:off x="609600" y="11049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B2533"/>
                </a:solidFill>
                <a:latin typeface="Microsoft YaHei"/>
                <a:ea typeface="Microsoft YaHei"/>
                <a:cs typeface="Microsoft YaHei"/>
              </a:defRPr>
            </a:defPPr>
          </a:lstStyle>
          <a:p xmlns:a="http://schemas.openxmlformats.org/drawingml/2006/main">
            <a:pPr algn="l">
              <a:lnSpc>
                <a:spcPct val="118000"/>
              </a:lnSpc>
              <a:buNone/>
              <a:defRPr sz="2025" b="0">
                <a:solidFill>
                  <a:srgbClr val="1B2533"/>
                </a:solidFill>
                <a:latin typeface="Microsoft YaHei"/>
                <a:ea typeface="Microsoft YaHei"/>
                <a:cs typeface="Microsoft YaHei"/>
              </a:defRPr>
            </a:pPr>
            <a:r>
              <a:rPr sz="2025" b="0">
                <a:solidFill>
                  <a:srgbClr val="1B2533"/>
                </a:solidFill>
                <a:latin typeface="Microsoft YaHei"/>
                <a:ea typeface="Microsoft YaHei"/>
                <a:cs typeface="Microsoft YaHei"/>
              </a:rPr>
              <a:t>同一模型需要适应“哪些变量已知、哪些变量仍要生成”。</a:t>
            </a:r>
          </a:p>
        </p:txBody>
      </p:sp>
      <p:graphicFrame>
        <p:nvGraphicFramePr>
          <p:cNvPr id="3" name="Chart">
            <a:extLst xmlns:a="http://schemas.openxmlformats.org/drawingml/2006/main">
              <a:ext uri="{FF2B5EF4-FFF2-40B4-BE49-F238E27FC236}">
                <a16:creationId xmlns:a16="http://schemas.microsoft.com/office/drawing/2014/main" id="{4D6989F4-CEF0-4FDD-A615-5FDAAB800481}"/>
              </a:ext>
            </a:extLst>
          </p:cNvPr>
          <p:cNvGraphicFramePr/>
          <p:nvPr/>
        </p:nvGraphicFramePr>
        <p:xfrm>
          <a:off xmlns:a="http://schemas.openxmlformats.org/drawingml/2006/main" x="609600" y="1943100"/>
          <a:ext xmlns:a="http://schemas.openxmlformats.org/drawingml/2006/main" cx="6334125" cy="3667125"/>
        </p:xfrm>
        <a:graphic xmlns:a="http://schemas.openxmlformats.org/drawingml/2006/main">
          <a:graphicData uri="http://schemas.openxmlformats.org/drawingml/2006/chart">
            <c:chart xmlns:r="http://schemas.openxmlformats.org/officeDocument/2006/relationships" xmlns:c="http://schemas.openxmlformats.org/drawingml/2006/chart" r:id="R1d1915d528f24536"/>
          </a:graphicData>
        </a:graphic>
      </p:graphicFrame>
      <p:sp>
        <p:nvSpPr>
          <p:cNvPr id="4" name="text">
            <a:extLst xmlns:a="http://schemas.openxmlformats.org/drawingml/2006/main">
              <a:ext uri="{FF2B5EF4-FFF2-40B4-BE49-F238E27FC236}">
                <a16:creationId xmlns:a16="http://schemas.microsoft.com/office/drawing/2014/main" id="{A5A8B135-74A8-4DBF-A27E-786E4C6BEBB8}"/>
              </a:ext>
            </a:extLst>
          </p:cNvPr>
          <p:cNvSpPr>
            <a:spLocks xmlns:a="http://schemas.openxmlformats.org/drawingml/2006/main" noGrp="1"/>
          </p:cNvSpPr>
          <p:nvPr/>
        </p:nvSpPr>
        <p:spPr>
          <a:xfrm xmlns:a="http://schemas.openxmlformats.org/drawingml/2006/main">
            <a:off x="952500" y="5657850"/>
            <a:ext cx="5572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575" b="0">
                <a:solidFill>
                  <a:srgbClr val="526170"/>
                </a:solidFill>
                <a:latin typeface="Microsoft YaHei"/>
                <a:ea typeface="Microsoft YaHei"/>
                <a:cs typeface="Microsoft YaHei"/>
              </a:defRPr>
            </a:defPPr>
          </a:lstStyle>
          <a:p xmlns:a="http://schemas.openxmlformats.org/drawingml/2006/main">
            <a:pPr algn="ctr">
              <a:lnSpc>
                <a:spcPct val="118000"/>
              </a:lnSpc>
              <a:buNone/>
              <a:defRPr sz="1575" b="0">
                <a:solidFill>
                  <a:srgbClr val="526170"/>
                </a:solidFill>
                <a:latin typeface="Microsoft YaHei"/>
                <a:ea typeface="Microsoft YaHei"/>
                <a:cs typeface="Microsoft YaHei"/>
              </a:defRPr>
            </a:pPr>
            <a:r>
              <a:rPr sz="1575" b="0">
                <a:solidFill>
                  <a:srgbClr val="526170"/>
                </a:solidFill>
                <a:latin typeface="Microsoft YaHei"/>
                <a:ea typeface="Microsoft YaHei"/>
                <a:cs typeface="Microsoft YaHei"/>
              </a:rPr>
              <a:t>MP-20 CSP匹配率（%）</a:t>
            </a:r>
          </a:p>
        </p:txBody>
      </p:sp>
      <p:sp>
        <p:nvSpPr>
          <p:cNvPr id="5" name="text">
            <a:extLst xmlns:a="http://schemas.openxmlformats.org/drawingml/2006/main">
              <a:ext uri="{FF2B5EF4-FFF2-40B4-BE49-F238E27FC236}">
                <a16:creationId xmlns:a16="http://schemas.microsoft.com/office/drawing/2014/main" id="{C19F7151-E4E2-492C-86C2-EF5CCEB19A26}"/>
              </a:ext>
            </a:extLst>
          </p:cNvPr>
          <p:cNvSpPr>
            <a:spLocks xmlns:a="http://schemas.openxmlformats.org/drawingml/2006/main" noGrp="1"/>
          </p:cNvSpPr>
          <p:nvPr/>
        </p:nvSpPr>
        <p:spPr>
          <a:xfrm xmlns:a="http://schemas.openxmlformats.org/drawingml/2006/main">
            <a:off x="7391400" y="2038350"/>
            <a:ext cx="4191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173E67"/>
                </a:solidFill>
                <a:latin typeface="Microsoft YaHei"/>
                <a:ea typeface="Microsoft YaHei"/>
                <a:cs typeface="Microsoft YaHei"/>
              </a:defRPr>
            </a:defPPr>
          </a:lstStyle>
          <a:p xmlns:a="http://schemas.openxmlformats.org/drawingml/2006/main">
            <a:pPr algn="l">
              <a:lnSpc>
                <a:spcPct val="118000"/>
              </a:lnSpc>
              <a:buNone/>
              <a:defRPr sz="1875" b="1">
                <a:solidFill>
                  <a:srgbClr val="173E67"/>
                </a:solidFill>
                <a:latin typeface="Microsoft YaHei"/>
                <a:ea typeface="Microsoft YaHei"/>
                <a:cs typeface="Microsoft YaHei"/>
              </a:defRPr>
            </a:pPr>
            <a:r>
              <a:rPr sz="1875" b="1">
                <a:solidFill>
                  <a:srgbClr val="173E67"/>
                </a:solidFill>
                <a:latin typeface="Microsoft YaHei"/>
                <a:ea typeface="Microsoft YaHei"/>
                <a:cs typeface="Microsoft YaHei"/>
              </a:rPr>
              <a:t>方法</a:t>
            </a:r>
          </a:p>
        </p:txBody>
      </p:sp>
      <p:sp>
        <p:nvSpPr>
          <p:cNvPr id="6" name="text">
            <a:extLst xmlns:a="http://schemas.openxmlformats.org/drawingml/2006/main">
              <a:ext uri="{FF2B5EF4-FFF2-40B4-BE49-F238E27FC236}">
                <a16:creationId xmlns:a16="http://schemas.microsoft.com/office/drawing/2014/main" id="{8C6A0EEF-196A-48CB-B14D-D935B94C686E}"/>
              </a:ext>
            </a:extLst>
          </p:cNvPr>
          <p:cNvSpPr>
            <a:spLocks xmlns:a="http://schemas.openxmlformats.org/drawingml/2006/main" noGrp="1"/>
          </p:cNvSpPr>
          <p:nvPr/>
        </p:nvSpPr>
        <p:spPr>
          <a:xfrm xmlns:a="http://schemas.openxmlformats.org/drawingml/2006/main">
            <a:off x="7391400" y="2419350"/>
            <a:ext cx="4191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1B2533"/>
                </a:solidFill>
                <a:latin typeface="Microsoft YaHei"/>
                <a:ea typeface="Microsoft YaHei"/>
                <a:cs typeface="Microsoft YaHei"/>
              </a:defRPr>
            </a:defPPr>
          </a:lstStyle>
          <a:p xmlns:a="http://schemas.openxmlformats.org/drawingml/2006/main">
            <a:pPr algn="l">
              <a:lnSpc>
                <a:spcPct val="118000"/>
              </a:lnSpc>
              <a:buNone/>
              <a:defRPr sz="1875" b="0">
                <a:solidFill>
                  <a:srgbClr val="1B2533"/>
                </a:solidFill>
                <a:latin typeface="Microsoft YaHei"/>
                <a:ea typeface="Microsoft YaHei"/>
                <a:cs typeface="Microsoft YaHei"/>
              </a:defRPr>
            </a:pPr>
            <a:r>
              <a:rPr sz="1875" b="0">
                <a:solidFill>
                  <a:srgbClr val="1B2533"/>
                </a:solidFill>
                <a:latin typeface="Microsoft YaHei"/>
                <a:ea typeface="Microsoft YaHei"/>
                <a:cs typeface="Microsoft YaHei"/>
              </a:rPr>
              <a:t>不同模态分别控制信息进度，支持多种条件任务。</a:t>
            </a:r>
          </a:p>
        </p:txBody>
      </p:sp>
      <p:sp>
        <p:nvSpPr>
          <p:cNvPr id="7" name="text">
            <a:extLst xmlns:a="http://schemas.openxmlformats.org/drawingml/2006/main">
              <a:ext uri="{FF2B5EF4-FFF2-40B4-BE49-F238E27FC236}">
                <a16:creationId xmlns:a16="http://schemas.microsoft.com/office/drawing/2014/main" id="{EF2F62F6-009B-4DE6-8D74-CF400BA01065}"/>
              </a:ext>
            </a:extLst>
          </p:cNvPr>
          <p:cNvSpPr>
            <a:spLocks xmlns:a="http://schemas.openxmlformats.org/drawingml/2006/main" noGrp="1"/>
          </p:cNvSpPr>
          <p:nvPr/>
        </p:nvSpPr>
        <p:spPr>
          <a:xfrm xmlns:a="http://schemas.openxmlformats.org/drawingml/2006/main">
            <a:off x="7391400" y="3267075"/>
            <a:ext cx="4191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173E67"/>
                </a:solidFill>
                <a:latin typeface="Microsoft YaHei"/>
                <a:ea typeface="Microsoft YaHei"/>
                <a:cs typeface="Microsoft YaHei"/>
              </a:defRPr>
            </a:defPPr>
          </a:lstStyle>
          <a:p xmlns:a="http://schemas.openxmlformats.org/drawingml/2006/main">
            <a:pPr algn="l">
              <a:lnSpc>
                <a:spcPct val="118000"/>
              </a:lnSpc>
              <a:buNone/>
              <a:defRPr sz="1875" b="1">
                <a:solidFill>
                  <a:srgbClr val="173E67"/>
                </a:solidFill>
                <a:latin typeface="Microsoft YaHei"/>
                <a:ea typeface="Microsoft YaHei"/>
                <a:cs typeface="Microsoft YaHei"/>
              </a:defRPr>
            </a:pPr>
            <a:r>
              <a:rPr sz="1875" b="1">
                <a:solidFill>
                  <a:srgbClr val="173E67"/>
                </a:solidFill>
                <a:latin typeface="Microsoft YaHei"/>
                <a:ea typeface="Microsoft YaHei"/>
                <a:cs typeface="Microsoft YaHei"/>
              </a:rPr>
              <a:t>结果</a:t>
            </a:r>
          </a:p>
        </p:txBody>
      </p:sp>
      <p:sp>
        <p:nvSpPr>
          <p:cNvPr id="8" name="text">
            <a:extLst xmlns:a="http://schemas.openxmlformats.org/drawingml/2006/main">
              <a:ext uri="{FF2B5EF4-FFF2-40B4-BE49-F238E27FC236}">
                <a16:creationId xmlns:a16="http://schemas.microsoft.com/office/drawing/2014/main" id="{C88F2484-CF2D-45E9-A0F6-D0B222C78DEC}"/>
              </a:ext>
            </a:extLst>
          </p:cNvPr>
          <p:cNvSpPr>
            <a:spLocks xmlns:a="http://schemas.openxmlformats.org/drawingml/2006/main" noGrp="1"/>
          </p:cNvSpPr>
          <p:nvPr/>
        </p:nvSpPr>
        <p:spPr>
          <a:xfrm xmlns:a="http://schemas.openxmlformats.org/drawingml/2006/main">
            <a:off x="7391400" y="3648075"/>
            <a:ext cx="4191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1B2533"/>
                </a:solidFill>
                <a:latin typeface="Microsoft YaHei"/>
                <a:ea typeface="Microsoft YaHei"/>
                <a:cs typeface="Microsoft YaHei"/>
              </a:defRPr>
            </a:defPPr>
          </a:lstStyle>
          <a:p xmlns:a="http://schemas.openxmlformats.org/drawingml/2006/main">
            <a:pPr algn="l">
              <a:lnSpc>
                <a:spcPct val="118000"/>
              </a:lnSpc>
              <a:buNone/>
              <a:defRPr sz="1875" b="0">
                <a:solidFill>
                  <a:srgbClr val="1B2533"/>
                </a:solidFill>
                <a:latin typeface="Microsoft YaHei"/>
                <a:ea typeface="Microsoft YaHei"/>
                <a:cs typeface="Microsoft YaHei"/>
              </a:defRPr>
            </a:pPr>
            <a:r>
              <a:rPr sz="1875" b="0">
                <a:solidFill>
                  <a:srgbClr val="1B2533"/>
                </a:solidFill>
                <a:latin typeface="Microsoft YaHei"/>
                <a:ea typeface="Microsoft YaHei"/>
                <a:cs typeface="Microsoft YaHei"/>
              </a:rPr>
              <a:t>附录H.8中，独立时间版本的CSP匹配率更高。</a:t>
            </a:r>
          </a:p>
        </p:txBody>
      </p:sp>
      <p:sp>
        <p:nvSpPr>
          <p:cNvPr id="9" name="text">
            <a:extLst xmlns:a="http://schemas.openxmlformats.org/drawingml/2006/main">
              <a:ext uri="{FF2B5EF4-FFF2-40B4-BE49-F238E27FC236}">
                <a16:creationId xmlns:a16="http://schemas.microsoft.com/office/drawing/2014/main" id="{3D27B215-E620-4EF3-B317-2A37D995D2B1}"/>
              </a:ext>
            </a:extLst>
          </p:cNvPr>
          <p:cNvSpPr>
            <a:spLocks xmlns:a="http://schemas.openxmlformats.org/drawingml/2006/main" noGrp="1"/>
          </p:cNvSpPr>
          <p:nvPr/>
        </p:nvSpPr>
        <p:spPr>
          <a:xfrm xmlns:a="http://schemas.openxmlformats.org/drawingml/2006/main">
            <a:off x="7391400" y="4495800"/>
            <a:ext cx="4191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173E67"/>
                </a:solidFill>
                <a:latin typeface="Microsoft YaHei"/>
                <a:ea typeface="Microsoft YaHei"/>
                <a:cs typeface="Microsoft YaHei"/>
              </a:defRPr>
            </a:defPPr>
          </a:lstStyle>
          <a:p xmlns:a="http://schemas.openxmlformats.org/drawingml/2006/main">
            <a:pPr algn="l">
              <a:lnSpc>
                <a:spcPct val="118000"/>
              </a:lnSpc>
              <a:buNone/>
              <a:defRPr sz="1875" b="1">
                <a:solidFill>
                  <a:srgbClr val="173E67"/>
                </a:solidFill>
                <a:latin typeface="Microsoft YaHei"/>
                <a:ea typeface="Microsoft YaHei"/>
                <a:cs typeface="Microsoft YaHei"/>
              </a:defRPr>
            </a:pPr>
            <a:r>
              <a:rPr sz="1875" b="1">
                <a:solidFill>
                  <a:srgbClr val="173E67"/>
                </a:solidFill>
                <a:latin typeface="Microsoft YaHei"/>
                <a:ea typeface="Microsoft YaHei"/>
                <a:cs typeface="Microsoft YaHei"/>
              </a:rPr>
              <a:t>引出的疑问</a:t>
            </a:r>
          </a:p>
        </p:txBody>
      </p:sp>
      <p:sp>
        <p:nvSpPr>
          <p:cNvPr id="10" name="text">
            <a:extLst xmlns:a="http://schemas.openxmlformats.org/drawingml/2006/main">
              <a:ext uri="{FF2B5EF4-FFF2-40B4-BE49-F238E27FC236}">
                <a16:creationId xmlns:a16="http://schemas.microsoft.com/office/drawing/2014/main" id="{731E682C-2EEE-42D8-805C-D7283D007E7D}"/>
              </a:ext>
            </a:extLst>
          </p:cNvPr>
          <p:cNvSpPr>
            <a:spLocks xmlns:a="http://schemas.openxmlformats.org/drawingml/2006/main" noGrp="1"/>
          </p:cNvSpPr>
          <p:nvPr/>
        </p:nvSpPr>
        <p:spPr>
          <a:xfrm xmlns:a="http://schemas.openxmlformats.org/drawingml/2006/main">
            <a:off x="7391400" y="4876800"/>
            <a:ext cx="4191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1B2533"/>
                </a:solidFill>
                <a:latin typeface="Microsoft YaHei"/>
                <a:ea typeface="Microsoft YaHei"/>
                <a:cs typeface="Microsoft YaHei"/>
              </a:defRPr>
            </a:defPPr>
          </a:lstStyle>
          <a:p xmlns:a="http://schemas.openxmlformats.org/drawingml/2006/main">
            <a:pPr algn="l">
              <a:lnSpc>
                <a:spcPct val="118000"/>
              </a:lnSpc>
              <a:buNone/>
              <a:defRPr sz="1875" b="0">
                <a:solidFill>
                  <a:srgbClr val="1B2533"/>
                </a:solidFill>
                <a:latin typeface="Microsoft YaHei"/>
                <a:ea typeface="Microsoft YaHei"/>
                <a:cs typeface="Microsoft YaHei"/>
              </a:defRPr>
            </a:pPr>
            <a:r>
              <a:rPr sz="1875" b="0">
                <a:solidFill>
                  <a:srgbClr val="1B2533"/>
                </a:solidFill>
                <a:latin typeface="Microsoft YaHei"/>
                <a:ea typeface="Microsoft YaHei"/>
                <a:cs typeface="Microsoft YaHei"/>
              </a:rPr>
              <a:t>哪些决定可以先确定，哪些需要后续信息帮助修订？</a:t>
            </a:r>
          </a:p>
        </p:txBody>
      </p:sp>
      <p:sp>
        <p:nvSpPr>
          <p:cNvPr id="11" name="separator">
            <a:extLst xmlns:a="http://schemas.openxmlformats.org/drawingml/2006/main">
              <a:ext uri="{FF2B5EF4-FFF2-40B4-BE49-F238E27FC236}">
                <a16:creationId xmlns:a16="http://schemas.microsoft.com/office/drawing/2014/main" id="{03FDDBF3-7911-4E31-B72A-1004A869B2A1}"/>
              </a:ext>
            </a:extLst>
          </p:cNvPr>
          <p:cNvSpPr>
            <a:spLocks xmlns:a="http://schemas.openxmlformats.org/drawingml/2006/main" noGrp="1"/>
          </p:cNvSpPr>
          <p:nvPr/>
        </p:nvSpPr>
        <p:spPr>
          <a:xfrm xmlns:a="http://schemas.openxmlformats.org/drawingml/2006/main">
            <a:off x="609600" y="6200775"/>
            <a:ext cx="10972800" cy="0"/>
          </a:xfrm>
          <a:prstGeom xmlns:a="http://schemas.openxmlformats.org/drawingml/2006/main" prst="line">
            <a:avLst/>
          </a:prstGeom>
          <a:ln xmlns:a="http://schemas.openxmlformats.org/drawingml/2006/main" w="9525">
            <a:solidFill>
              <a:srgbClr val="D5DCE3"/>
            </a:solidFill>
          </a:ln>
        </p:spPr>
      </p:sp>
      <p:sp>
        <p:nvSpPr>
          <p:cNvPr id="12" name="sources">
            <a:extLst xmlns:a="http://schemas.openxmlformats.org/drawingml/2006/main">
              <a:ext uri="{FF2B5EF4-FFF2-40B4-BE49-F238E27FC236}">
                <a16:creationId xmlns:a16="http://schemas.microsoft.com/office/drawing/2014/main" id="{ED21794D-492A-489F-962C-DC3889AFB260}"/>
              </a:ext>
            </a:extLst>
          </p:cNvPr>
          <p:cNvSpPr>
            <a:spLocks xmlns:a="http://schemas.openxmlformats.org/drawingml/2006/main" noGrp="1"/>
          </p:cNvSpPr>
          <p:nvPr/>
        </p:nvSpPr>
        <p:spPr>
          <a:xfrm xmlns:a="http://schemas.openxmlformats.org/drawingml/2006/main">
            <a:off x="609600" y="6353175"/>
            <a:ext cx="10363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13" b="0">
                <a:solidFill>
                  <a:srgbClr val="526170"/>
                </a:solidFill>
                <a:latin typeface="Microsoft YaHei"/>
                <a:ea typeface="Microsoft YaHei"/>
                <a:cs typeface="Microsoft YaHei"/>
              </a:defRPr>
            </a:defPPr>
          </a:lstStyle>
          <a:p xmlns:a="http://schemas.openxmlformats.org/drawingml/2006/main">
            <a:pPr algn="l">
              <a:lnSpc>
                <a:spcPct val="118000"/>
              </a:lnSpc>
              <a:buNone/>
              <a:defRPr sz="1013" b="0">
                <a:solidFill>
                  <a:srgbClr val="526170"/>
                </a:solidFill>
                <a:latin typeface="Microsoft YaHei"/>
                <a:ea typeface="Microsoft YaHei"/>
                <a:cs typeface="Microsoft YaHei"/>
              </a:defRPr>
            </a:pPr>
            <a:r>
              <a:rPr sz="1013" b="0">
                <a:solidFill>
                  <a:srgbClr val="526170"/>
                </a:solidFill>
                <a:latin typeface="Microsoft YaHei"/>
                <a:ea typeface="Microsoft YaHei"/>
                <a:cs typeface="Microsoft YaHei"/>
              </a:rPr>
              <a:t>MCFlow, ICML 2026，arXiv v3，附录H.8。此处为CSP匹配率。</a:t>
            </a:r>
          </a:p>
        </p:txBody>
      </p:sp>
      <p:sp>
        <p:nvSpPr>
          <p:cNvPr id="13" name="page-number">
            <a:extLst xmlns:a="http://schemas.openxmlformats.org/drawingml/2006/main">
              <a:ext uri="{FF2B5EF4-FFF2-40B4-BE49-F238E27FC236}">
                <a16:creationId xmlns:a16="http://schemas.microsoft.com/office/drawing/2014/main" id="{B29EC2AB-E522-4E55-922A-2DCCE6F75C1B}"/>
              </a:ext>
            </a:extLst>
          </p:cNvPr>
          <p:cNvSpPr>
            <a:spLocks xmlns:a="http://schemas.openxmlformats.org/drawingml/2006/main" noGrp="1"/>
          </p:cNvSpPr>
          <p:nvPr/>
        </p:nvSpPr>
        <p:spPr>
          <a:xfrm xmlns:a="http://schemas.openxmlformats.org/drawingml/2006/main">
            <a:off x="11334750" y="6334125"/>
            <a:ext cx="266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26170"/>
                </a:solidFill>
                <a:latin typeface="Microsoft YaHei"/>
                <a:ea typeface="Microsoft YaHei"/>
                <a:cs typeface="Microsoft YaHei"/>
              </a:defRPr>
            </a:defPPr>
          </a:lstStyle>
          <a:p xmlns:a="http://schemas.openxmlformats.org/drawingml/2006/main">
            <a:pPr algn="r">
              <a:lnSpc>
                <a:spcPct val="118000"/>
              </a:lnSpc>
              <a:buNone/>
              <a:defRPr sz="1275" b="0">
                <a:solidFill>
                  <a:srgbClr val="526170"/>
                </a:solidFill>
                <a:latin typeface="Microsoft YaHei"/>
                <a:ea typeface="Microsoft YaHei"/>
                <a:cs typeface="Microsoft YaHei"/>
              </a:defRPr>
            </a:pPr>
            <a:r>
              <a:rPr sz="1275" b="0">
                <a:solidFill>
                  <a:srgbClr val="526170"/>
                </a:solidFill>
                <a:latin typeface="Microsoft YaHei"/>
                <a:ea typeface="Microsoft YaHei"/>
                <a:cs typeface="Microsoft YaHei"/>
              </a:rPr>
              <a:t>11</a:t>
            </a:r>
          </a:p>
        </p:txBody>
      </p:sp>
    </p:spTree>
    <p:extLst>
      <p:ext uri="{BB962C8B-B14F-4D97-AF65-F5344CB8AC3E}">
        <p14:creationId xmlns:p14="http://schemas.microsoft.com/office/powerpoint/2010/main" val="95486430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EA7F57C4-246C-4ECC-90CE-F402BFF17E1B}"/>
              </a:ext>
            </a:extLst>
          </p:cNvPr>
          <p:cNvSpPr>
            <a:spLocks xmlns:a="http://schemas.openxmlformats.org/drawingml/2006/main" noGrp="1"/>
          </p:cNvSpPr>
          <p:nvPr/>
        </p:nvSpPr>
        <p:spPr>
          <a:xfrm xmlns:a="http://schemas.openxmlformats.org/drawingml/2006/main">
            <a:off x="609600" y="36195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73E67"/>
                </a:solidFill>
                <a:latin typeface="Microsoft YaHei"/>
                <a:ea typeface="Microsoft YaHei"/>
                <a:cs typeface="Microsoft YaHei"/>
              </a:defRPr>
            </a:defPPr>
          </a:lstStyle>
          <a:p xmlns:a="http://schemas.openxmlformats.org/drawingml/2006/main">
            <a:pPr algn="l">
              <a:lnSpc>
                <a:spcPct val="118000"/>
              </a:lnSpc>
              <a:buNone/>
              <a:defRPr sz="3150" b="1">
                <a:solidFill>
                  <a:srgbClr val="173E67"/>
                </a:solidFill>
                <a:latin typeface="Microsoft YaHei"/>
                <a:ea typeface="Microsoft YaHei"/>
                <a:cs typeface="Microsoft YaHei"/>
              </a:defRPr>
            </a:pPr>
            <a:r>
              <a:rPr sz="3150" b="1">
                <a:solidFill>
                  <a:srgbClr val="173E67"/>
                </a:solidFill>
                <a:latin typeface="Microsoft YaHei"/>
                <a:ea typeface="Microsoft YaHei"/>
                <a:cs typeface="Microsoft YaHei"/>
              </a:rPr>
              <a:t>物理反馈已从评价进入模型学习</a:t>
            </a:r>
          </a:p>
        </p:txBody>
      </p:sp>
      <p:graphicFrame>
        <p:nvGraphicFramePr>
          <p:cNvPr id="2" name="">
            <a:extLst xmlns:a="http://schemas.openxmlformats.org/drawingml/2006/main">
              <a:ext uri="{FF2B5EF4-FFF2-40B4-BE49-F238E27FC236}">
                <a16:creationId xmlns:a16="http://schemas.microsoft.com/office/drawing/2014/main" id="{FA851066-32AD-45E6-9E47-920949162B3C}"/>
              </a:ext>
            </a:extLst>
          </p:cNvPr>
          <p:cNvGraphicFramePr/>
          <p:nvPr/>
        </p:nvGraphicFramePr>
        <p:xfrm>
          <a:off xmlns:a="http://schemas.openxmlformats.org/drawingml/2006/main" x="609600" y="1400175"/>
          <a:ext xmlns:a="http://schemas.openxmlformats.org/drawingml/2006/main" cx="10972800" cy="4010025"/>
        </p:xfrm>
        <a:graphic xmlns:a="http://schemas.openxmlformats.org/drawingml/2006/main">
          <a:graphicData uri="http://schemas.openxmlformats.org/drawingml/2006/table">
            <a:tbl>
              <a:tblPr firstRow="0" bandRow="0"/>
              <a:tblGrid>
                <a:gridCol w="2667000"/>
                <a:gridCol w="3381375"/>
                <a:gridCol w="4924425"/>
              </a:tblGrid>
              <a:tr h="533400">
                <a:tc>
                  <a:txBody>
                    <a:bodyPr wrap="square" lIns="114300" tIns="85725" rIns="95250" bIns="85725">
                      <a:noAutofit/>
                    </a:bodyPr>
                    <a:lstStyle/>
                    <a:p>
                      <a:pPr algn="l">
                        <a:lnSpc>
                          <a:spcPct val="118000"/>
                        </a:lnSpc>
                        <a:buNone/>
                      </a:pPr>
                      <a:r>
                        <a:rPr sz="1800" b="1">
                          <a:solidFill>
                            <a:srgbClr val="173E67"/>
                          </a:solidFill>
                          <a:latin typeface="Microsoft YaHei"/>
                          <a:ea typeface="Microsoft YaHei"/>
                          <a:cs typeface="Microsoft YaHei"/>
                        </a:rPr>
                        <a:t>研究阶段</a:t>
                      </a:r>
                    </a:p>
                  </a:txBody>
                  <a:tcPr marL="91440" marR="91440" marT="45720" marB="45720" anchor="ctr">
                    <a:solidFill>
                      <a:srgbClr val="EDF2F6"/>
                    </a:solidFill>
                  </a:tcPr>
                </a:tc>
                <a:tc>
                  <a:txBody>
                    <a:bodyPr wrap="square" lIns="114300" tIns="85725" rIns="95250" bIns="85725">
                      <a:noAutofit/>
                    </a:bodyPr>
                    <a:lstStyle/>
                    <a:p>
                      <a:pPr algn="l">
                        <a:lnSpc>
                          <a:spcPct val="118000"/>
                        </a:lnSpc>
                        <a:buNone/>
                      </a:pPr>
                      <a:r>
                        <a:rPr sz="1800" b="1">
                          <a:solidFill>
                            <a:srgbClr val="173E67"/>
                          </a:solidFill>
                          <a:latin typeface="Microsoft YaHei"/>
                          <a:ea typeface="Microsoft YaHei"/>
                          <a:cs typeface="Microsoft YaHei"/>
                        </a:rPr>
                        <a:t>代表工作</a:t>
                      </a:r>
                    </a:p>
                  </a:txBody>
                  <a:tcPr marL="91440" marR="91440" marT="45720" marB="45720" anchor="ctr">
                    <a:solidFill>
                      <a:srgbClr val="EDF2F6"/>
                    </a:solidFill>
                  </a:tcPr>
                </a:tc>
                <a:tc>
                  <a:txBody>
                    <a:bodyPr wrap="square" lIns="114300" tIns="85725" rIns="95250" bIns="85725">
                      <a:noAutofit/>
                    </a:bodyPr>
                    <a:lstStyle/>
                    <a:p>
                      <a:pPr algn="l">
                        <a:lnSpc>
                          <a:spcPct val="118000"/>
                        </a:lnSpc>
                        <a:buNone/>
                      </a:pPr>
                      <a:r>
                        <a:rPr sz="1800" b="1">
                          <a:solidFill>
                            <a:srgbClr val="173E67"/>
                          </a:solidFill>
                          <a:latin typeface="Microsoft YaHei"/>
                          <a:ea typeface="Microsoft YaHei"/>
                          <a:cs typeface="Microsoft YaHei"/>
                        </a:rPr>
                        <a:t>物理信息如何发挥作用</a:t>
                      </a:r>
                    </a:p>
                  </a:txBody>
                  <a:tcPr marL="91440" marR="91440" marT="45720" marB="45720" anchor="ctr">
                    <a:solidFill>
                      <a:srgbClr val="EDF2F6"/>
                    </a:solidFill>
                  </a:tcPr>
                </a:tc>
              </a:tr>
              <a:tr h="869156">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结构搜索</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AIRSS、USPEX、RL-CSP</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评价候选，选择下一次结构变化。</a:t>
                      </a:r>
                    </a:p>
                  </a:txBody>
                  <a:tcPr marL="91440" marR="91440" marT="45720" marB="45720" anchor="ctr">
                    <a:solidFill>
                      <a:srgbClr val="FFFFFF"/>
                    </a:solidFill>
                  </a:tcPr>
                </a:tc>
              </a:tr>
              <a:tr h="869156">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数据积累</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M3GNet、CHGNet、GNoME</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扩大可计算范围，将新计算用于预测模型。</a:t>
                      </a:r>
                    </a:p>
                  </a:txBody>
                  <a:tcPr marL="91440" marR="91440" marT="45720" marB="45720" anchor="ctr">
                    <a:solidFill>
                      <a:srgbClr val="FFFFFF"/>
                    </a:solidFill>
                  </a:tcPr>
                </a:tc>
              </a:tr>
              <a:tr h="869156">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生成器后训练</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MatInvent、PLaID++</a:t>
                      </a:r>
                    </a:p>
                    <a:p>
                      <a:pPr algn="l">
                        <a:lnSpc>
                          <a:spcPct val="118000"/>
                        </a:lnSpc>
                        <a:buNone/>
                      </a:pPr>
                      <a:r>
                        <a:rPr sz="1725" b="0">
                          <a:solidFill>
                            <a:srgbClr val="1B2533"/>
                          </a:solidFill>
                          <a:latin typeface="Microsoft YaHei"/>
                          <a:ea typeface="Microsoft YaHei"/>
                          <a:cs typeface="Microsoft YaHei"/>
                        </a:rPr>
                        <a:t>Chemeleon2</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用性质、偏好或物理资格改变生成分布。</a:t>
                      </a:r>
                    </a:p>
                  </a:txBody>
                  <a:tcPr marL="91440" marR="91440" marT="45720" marB="45720" anchor="ctr">
                    <a:solidFill>
                      <a:srgbClr val="FFFFFF"/>
                    </a:solidFill>
                  </a:tcPr>
                </a:tc>
              </a:tr>
              <a:tr h="869156">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连续生成过程学习</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OMatG-IRL、OMatG-flash</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把物理奖励用于生成场或少步生成映射。</a:t>
                      </a:r>
                    </a:p>
                  </a:txBody>
                  <a:tcPr marL="91440" marR="91440" marT="45720" marB="45720" anchor="ctr">
                    <a:solidFill>
                      <a:srgbClr val="FFFFFF"/>
                    </a:solidFill>
                  </a:tcPr>
                </a:tc>
              </a:tr>
            </a:tbl>
          </a:graphicData>
        </a:graphic>
      </p:graphicFrame>
      <p:sp>
        <p:nvSpPr>
          <p:cNvPr id="3" name="conclusion">
            <a:extLst xmlns:a="http://schemas.openxmlformats.org/drawingml/2006/main">
              <a:ext uri="{FF2B5EF4-FFF2-40B4-BE49-F238E27FC236}">
                <a16:creationId xmlns:a16="http://schemas.microsoft.com/office/drawing/2014/main" id="{CEAFCFBE-44B4-4A3C-A0F7-B8F2F5D6EF4D}"/>
              </a:ext>
            </a:extLst>
          </p:cNvPr>
          <p:cNvSpPr>
            <a:spLocks xmlns:a="http://schemas.openxmlformats.org/drawingml/2006/main" noGrp="1"/>
          </p:cNvSpPr>
          <p:nvPr/>
        </p:nvSpPr>
        <p:spPr>
          <a:xfrm xmlns:a="http://schemas.openxmlformats.org/drawingml/2006/main">
            <a:off x="609600" y="5619750"/>
            <a:ext cx="109728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73E67"/>
                </a:solidFill>
                <a:latin typeface="Microsoft YaHei"/>
                <a:ea typeface="Microsoft YaHei"/>
                <a:cs typeface="Microsoft YaHei"/>
              </a:defRPr>
            </a:defPPr>
          </a:lstStyle>
          <a:p xmlns:a="http://schemas.openxmlformats.org/drawingml/2006/main">
            <a:pPr algn="l">
              <a:lnSpc>
                <a:spcPct val="118000"/>
              </a:lnSpc>
              <a:buNone/>
              <a:defRPr sz="1725" b="0">
                <a:solidFill>
                  <a:srgbClr val="173E67"/>
                </a:solidFill>
                <a:latin typeface="Microsoft YaHei"/>
                <a:ea typeface="Microsoft YaHei"/>
                <a:cs typeface="Microsoft YaHei"/>
              </a:defRPr>
            </a:pPr>
            <a:r>
              <a:rPr sz="1725" b="0">
                <a:solidFill>
                  <a:srgbClr val="173E67"/>
                </a:solidFill>
                <a:latin typeface="Microsoft YaHei"/>
                <a:ea typeface="Microsoft YaHei"/>
                <a:cs typeface="Microsoft YaHei"/>
              </a:rPr>
              <a:t>下一步需要解释：模型学到的哪些物理关系能帮助新的材料和新的条件？</a:t>
            </a:r>
          </a:p>
        </p:txBody>
      </p:sp>
      <p:sp>
        <p:nvSpPr>
          <p:cNvPr id="4" name="separator">
            <a:extLst xmlns:a="http://schemas.openxmlformats.org/drawingml/2006/main">
              <a:ext uri="{FF2B5EF4-FFF2-40B4-BE49-F238E27FC236}">
                <a16:creationId xmlns:a16="http://schemas.microsoft.com/office/drawing/2014/main" id="{AC0CA334-D295-41EB-AE6C-35219AB071D9}"/>
              </a:ext>
            </a:extLst>
          </p:cNvPr>
          <p:cNvSpPr>
            <a:spLocks xmlns:a="http://schemas.openxmlformats.org/drawingml/2006/main" noGrp="1"/>
          </p:cNvSpPr>
          <p:nvPr/>
        </p:nvSpPr>
        <p:spPr>
          <a:xfrm xmlns:a="http://schemas.openxmlformats.org/drawingml/2006/main">
            <a:off x="609600" y="6200775"/>
            <a:ext cx="10972800" cy="0"/>
          </a:xfrm>
          <a:prstGeom xmlns:a="http://schemas.openxmlformats.org/drawingml/2006/main" prst="line">
            <a:avLst/>
          </a:prstGeom>
          <a:ln xmlns:a="http://schemas.openxmlformats.org/drawingml/2006/main" w="9525">
            <a:solidFill>
              <a:srgbClr val="D5DCE3"/>
            </a:solidFill>
          </a:ln>
        </p:spPr>
      </p:sp>
      <p:sp>
        <p:nvSpPr>
          <p:cNvPr id="5" name="sources">
            <a:extLst xmlns:a="http://schemas.openxmlformats.org/drawingml/2006/main">
              <a:ext uri="{FF2B5EF4-FFF2-40B4-BE49-F238E27FC236}">
                <a16:creationId xmlns:a16="http://schemas.microsoft.com/office/drawing/2014/main" id="{F8791380-8017-4545-90E6-AA0ED03058A4}"/>
              </a:ext>
            </a:extLst>
          </p:cNvPr>
          <p:cNvSpPr>
            <a:spLocks xmlns:a="http://schemas.openxmlformats.org/drawingml/2006/main" noGrp="1"/>
          </p:cNvSpPr>
          <p:nvPr/>
        </p:nvSpPr>
        <p:spPr>
          <a:xfrm xmlns:a="http://schemas.openxmlformats.org/drawingml/2006/main">
            <a:off x="609600" y="6353175"/>
            <a:ext cx="10363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13" b="0">
                <a:solidFill>
                  <a:srgbClr val="526170"/>
                </a:solidFill>
                <a:latin typeface="Microsoft YaHei"/>
                <a:ea typeface="Microsoft YaHei"/>
                <a:cs typeface="Microsoft YaHei"/>
              </a:defRPr>
            </a:defPPr>
          </a:lstStyle>
          <a:p xmlns:a="http://schemas.openxmlformats.org/drawingml/2006/main">
            <a:pPr algn="l">
              <a:lnSpc>
                <a:spcPct val="118000"/>
              </a:lnSpc>
              <a:buNone/>
              <a:defRPr sz="1013" b="0">
                <a:solidFill>
                  <a:srgbClr val="526170"/>
                </a:solidFill>
                <a:latin typeface="Microsoft YaHei"/>
                <a:ea typeface="Microsoft YaHei"/>
                <a:cs typeface="Microsoft YaHei"/>
              </a:defRPr>
            </a:pPr>
            <a:r>
              <a:rPr sz="1013" b="0">
                <a:solidFill>
                  <a:srgbClr val="526170"/>
                </a:solidFill>
                <a:latin typeface="Microsoft YaHei"/>
                <a:ea typeface="Microsoft YaHei"/>
                <a:cs typeface="Microsoft YaHei"/>
              </a:rPr>
              <a:t>RL-CSP (2023)；PLaID++ / OMatG-IRL (ICML 2026)；Chemeleon2 (2026)；MatInvent / flash为预印本</a:t>
            </a:r>
          </a:p>
        </p:txBody>
      </p:sp>
      <p:sp>
        <p:nvSpPr>
          <p:cNvPr id="6" name="page-number">
            <a:extLst xmlns:a="http://schemas.openxmlformats.org/drawingml/2006/main">
              <a:ext uri="{FF2B5EF4-FFF2-40B4-BE49-F238E27FC236}">
                <a16:creationId xmlns:a16="http://schemas.microsoft.com/office/drawing/2014/main" id="{CFE13139-6641-4940-930C-50F40A11DA74}"/>
              </a:ext>
            </a:extLst>
          </p:cNvPr>
          <p:cNvSpPr>
            <a:spLocks xmlns:a="http://schemas.openxmlformats.org/drawingml/2006/main" noGrp="1"/>
          </p:cNvSpPr>
          <p:nvPr/>
        </p:nvSpPr>
        <p:spPr>
          <a:xfrm xmlns:a="http://schemas.openxmlformats.org/drawingml/2006/main">
            <a:off x="11334750" y="6334125"/>
            <a:ext cx="266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26170"/>
                </a:solidFill>
                <a:latin typeface="Microsoft YaHei"/>
                <a:ea typeface="Microsoft YaHei"/>
                <a:cs typeface="Microsoft YaHei"/>
              </a:defRPr>
            </a:defPPr>
          </a:lstStyle>
          <a:p xmlns:a="http://schemas.openxmlformats.org/drawingml/2006/main">
            <a:pPr algn="r">
              <a:lnSpc>
                <a:spcPct val="118000"/>
              </a:lnSpc>
              <a:buNone/>
              <a:defRPr sz="1275" b="0">
                <a:solidFill>
                  <a:srgbClr val="526170"/>
                </a:solidFill>
                <a:latin typeface="Microsoft YaHei"/>
                <a:ea typeface="Microsoft YaHei"/>
                <a:cs typeface="Microsoft YaHei"/>
              </a:defRPr>
            </a:pPr>
            <a:r>
              <a:rPr sz="1275" b="0">
                <a:solidFill>
                  <a:srgbClr val="526170"/>
                </a:solidFill>
                <a:latin typeface="Microsoft YaHei"/>
                <a:ea typeface="Microsoft YaHei"/>
                <a:cs typeface="Microsoft YaHei"/>
              </a:rPr>
              <a:t>12</a:t>
            </a:r>
          </a:p>
        </p:txBody>
      </p:sp>
    </p:spTree>
    <p:extLst>
      <p:ext uri="{BB962C8B-B14F-4D97-AF65-F5344CB8AC3E}">
        <p14:creationId xmlns:p14="http://schemas.microsoft.com/office/powerpoint/2010/main" val="545266150"/>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slide-title">
            <a:extLst xmlns:a="http://schemas.openxmlformats.org/drawingml/2006/main">
              <a:ext uri="{FF2B5EF4-FFF2-40B4-BE49-F238E27FC236}">
                <a16:creationId xmlns:a16="http://schemas.microsoft.com/office/drawing/2014/main" id="{0D3BE997-359C-4845-8763-AA3A2BF36BD8}"/>
              </a:ext>
            </a:extLst>
          </p:cNvPr>
          <p:cNvSpPr>
            <a:spLocks xmlns:a="http://schemas.openxmlformats.org/drawingml/2006/main" noGrp="1"/>
          </p:cNvSpPr>
          <p:nvPr/>
        </p:nvSpPr>
        <p:spPr>
          <a:xfrm xmlns:a="http://schemas.openxmlformats.org/drawingml/2006/main">
            <a:off x="609600" y="36195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73E67"/>
                </a:solidFill>
                <a:latin typeface="Microsoft YaHei"/>
                <a:ea typeface="Microsoft YaHei"/>
                <a:cs typeface="Microsoft YaHei"/>
              </a:defRPr>
            </a:defPPr>
          </a:lstStyle>
          <a:p xmlns:a="http://schemas.openxmlformats.org/drawingml/2006/main">
            <a:pPr algn="l">
              <a:lnSpc>
                <a:spcPct val="118000"/>
              </a:lnSpc>
              <a:buNone/>
              <a:defRPr sz="3150" b="1">
                <a:solidFill>
                  <a:srgbClr val="173E67"/>
                </a:solidFill>
                <a:latin typeface="Microsoft YaHei"/>
                <a:ea typeface="Microsoft YaHei"/>
                <a:cs typeface="Microsoft YaHei"/>
              </a:defRPr>
            </a:pPr>
            <a:r>
              <a:rPr sz="3150" b="1">
                <a:solidFill>
                  <a:srgbClr val="173E67"/>
                </a:solidFill>
                <a:latin typeface="Microsoft YaHei"/>
                <a:ea typeface="Microsoft YaHei"/>
                <a:cs typeface="Microsoft YaHei"/>
              </a:rPr>
              <a:t>稳定率提高时，SUN仍可能下降</a:t>
            </a:r>
          </a:p>
        </p:txBody>
      </p:sp>
      <p:sp>
        <p:nvSpPr>
          <p:cNvPr id="2" name="lead">
            <a:extLst xmlns:a="http://schemas.openxmlformats.org/drawingml/2006/main">
              <a:ext uri="{FF2B5EF4-FFF2-40B4-BE49-F238E27FC236}">
                <a16:creationId xmlns:a16="http://schemas.microsoft.com/office/drawing/2014/main" id="{5B936C8C-E74F-4BD6-96F1-4E7718CF3442}"/>
              </a:ext>
            </a:extLst>
          </p:cNvPr>
          <p:cNvSpPr>
            <a:spLocks xmlns:a="http://schemas.openxmlformats.org/drawingml/2006/main" noGrp="1"/>
          </p:cNvSpPr>
          <p:nvPr/>
        </p:nvSpPr>
        <p:spPr>
          <a:xfrm xmlns:a="http://schemas.openxmlformats.org/drawingml/2006/main">
            <a:off x="609600" y="11049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B2533"/>
                </a:solidFill>
                <a:latin typeface="Microsoft YaHei"/>
                <a:ea typeface="Microsoft YaHei"/>
                <a:cs typeface="Microsoft YaHei"/>
              </a:defRPr>
            </a:defPPr>
          </a:lstStyle>
          <a:p xmlns:a="http://schemas.openxmlformats.org/drawingml/2006/main">
            <a:pPr algn="l">
              <a:lnSpc>
                <a:spcPct val="118000"/>
              </a:lnSpc>
              <a:buNone/>
              <a:defRPr sz="2025" b="0">
                <a:solidFill>
                  <a:srgbClr val="1B2533"/>
                </a:solidFill>
                <a:latin typeface="Microsoft YaHei"/>
                <a:ea typeface="Microsoft YaHei"/>
                <a:cs typeface="Microsoft YaHei"/>
              </a:defRPr>
            </a:pPr>
            <a:r>
              <a:rPr sz="2025" b="0">
                <a:solidFill>
                  <a:srgbClr val="1B2533"/>
                </a:solidFill>
                <a:latin typeface="Microsoft YaHei"/>
                <a:ea typeface="Microsoft YaHei"/>
                <a:cs typeface="Microsoft YaHei"/>
              </a:rPr>
              <a:t>PLaID++的坐标表示对照说明，稳定性收益可能同时伴随发现数量损失。</a:t>
            </a:r>
          </a:p>
        </p:txBody>
      </p:sp>
      <p:graphicFrame>
        <p:nvGraphicFramePr>
          <p:cNvPr id="3" name="Chart">
            <a:extLst xmlns:a="http://schemas.openxmlformats.org/drawingml/2006/main">
              <a:ext uri="{FF2B5EF4-FFF2-40B4-BE49-F238E27FC236}">
                <a16:creationId xmlns:a16="http://schemas.microsoft.com/office/drawing/2014/main" id="{399282CF-8C4F-4653-B0E9-DD8542472AF6}"/>
              </a:ext>
            </a:extLst>
          </p:cNvPr>
          <p:cNvGraphicFramePr/>
          <p:nvPr/>
        </p:nvGraphicFramePr>
        <p:xfrm>
          <a:off xmlns:a="http://schemas.openxmlformats.org/drawingml/2006/main" x="609600" y="1943100"/>
          <a:ext xmlns:a="http://schemas.openxmlformats.org/drawingml/2006/main" cx="6334125" cy="3667125"/>
        </p:xfrm>
        <a:graphic xmlns:a="http://schemas.openxmlformats.org/drawingml/2006/main">
          <a:graphicData uri="http://schemas.openxmlformats.org/drawingml/2006/chart">
            <c:chart xmlns:r="http://schemas.openxmlformats.org/officeDocument/2006/relationships" xmlns:c="http://schemas.openxmlformats.org/drawingml/2006/chart" r:id="Reee1e6b05867428d"/>
          </a:graphicData>
        </a:graphic>
      </p:graphicFrame>
      <p:sp>
        <p:nvSpPr>
          <p:cNvPr id="4" name="text">
            <a:extLst xmlns:a="http://schemas.openxmlformats.org/drawingml/2006/main">
              <a:ext uri="{FF2B5EF4-FFF2-40B4-BE49-F238E27FC236}">
                <a16:creationId xmlns:a16="http://schemas.microsoft.com/office/drawing/2014/main" id="{A418E250-CC26-44C1-8882-22CE6FCD8FF3}"/>
              </a:ext>
            </a:extLst>
          </p:cNvPr>
          <p:cNvSpPr>
            <a:spLocks xmlns:a="http://schemas.openxmlformats.org/drawingml/2006/main" noGrp="1"/>
          </p:cNvSpPr>
          <p:nvPr/>
        </p:nvSpPr>
        <p:spPr>
          <a:xfrm xmlns:a="http://schemas.openxmlformats.org/drawingml/2006/main">
            <a:off x="685800" y="1743075"/>
            <a:ext cx="190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526170"/>
                </a:solidFill>
                <a:latin typeface="Microsoft YaHei"/>
                <a:ea typeface="Microsoft YaHei"/>
                <a:cs typeface="Microsoft YaHei"/>
              </a:defRPr>
            </a:defPPr>
          </a:lstStyle>
          <a:p xmlns:a="http://schemas.openxmlformats.org/drawingml/2006/main">
            <a:pPr algn="l">
              <a:lnSpc>
                <a:spcPct val="118000"/>
              </a:lnSpc>
              <a:buNone/>
              <a:defRPr sz="1500" b="0">
                <a:solidFill>
                  <a:srgbClr val="526170"/>
                </a:solidFill>
                <a:latin typeface="Microsoft YaHei"/>
                <a:ea typeface="Microsoft YaHei"/>
                <a:cs typeface="Microsoft YaHei"/>
              </a:defRPr>
            </a:pPr>
            <a:r>
              <a:rPr sz="1500" b="0">
                <a:solidFill>
                  <a:srgbClr val="526170"/>
                </a:solidFill>
                <a:latin typeface="Microsoft YaHei"/>
                <a:ea typeface="Microsoft YaHei"/>
                <a:cs typeface="Microsoft YaHei"/>
              </a:rPr>
              <a:t>比例（%）</a:t>
            </a:r>
          </a:p>
        </p:txBody>
      </p:sp>
      <p:sp>
        <p:nvSpPr>
          <p:cNvPr id="5" name="text">
            <a:extLst xmlns:a="http://schemas.openxmlformats.org/drawingml/2006/main">
              <a:ext uri="{FF2B5EF4-FFF2-40B4-BE49-F238E27FC236}">
                <a16:creationId xmlns:a16="http://schemas.microsoft.com/office/drawing/2014/main" id="{A7069026-1F62-4D9D-AEA0-A07C3E4DD7E0}"/>
              </a:ext>
            </a:extLst>
          </p:cNvPr>
          <p:cNvSpPr>
            <a:spLocks xmlns:a="http://schemas.openxmlformats.org/drawingml/2006/main" noGrp="1"/>
          </p:cNvSpPr>
          <p:nvPr/>
        </p:nvSpPr>
        <p:spPr>
          <a:xfrm xmlns:a="http://schemas.openxmlformats.org/drawingml/2006/main">
            <a:off x="7391400" y="2038350"/>
            <a:ext cx="4191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173E67"/>
                </a:solidFill>
                <a:latin typeface="Microsoft YaHei"/>
                <a:ea typeface="Microsoft YaHei"/>
                <a:cs typeface="Microsoft YaHei"/>
              </a:defRPr>
            </a:defPPr>
          </a:lstStyle>
          <a:p xmlns:a="http://schemas.openxmlformats.org/drawingml/2006/main">
            <a:pPr algn="l">
              <a:lnSpc>
                <a:spcPct val="118000"/>
              </a:lnSpc>
              <a:buNone/>
              <a:defRPr sz="1875" b="1">
                <a:solidFill>
                  <a:srgbClr val="173E67"/>
                </a:solidFill>
                <a:latin typeface="Microsoft YaHei"/>
                <a:ea typeface="Microsoft YaHei"/>
                <a:cs typeface="Microsoft YaHei"/>
              </a:defRPr>
            </a:pPr>
            <a:r>
              <a:rPr sz="1875" b="1">
                <a:solidFill>
                  <a:srgbClr val="173E67"/>
                </a:solidFill>
                <a:latin typeface="Microsoft YaHei"/>
                <a:ea typeface="Microsoft YaHei"/>
                <a:cs typeface="Microsoft YaHei"/>
              </a:rPr>
              <a:t>同一对照</a:t>
            </a:r>
          </a:p>
        </p:txBody>
      </p:sp>
      <p:sp>
        <p:nvSpPr>
          <p:cNvPr id="6" name="text">
            <a:extLst xmlns:a="http://schemas.openxmlformats.org/drawingml/2006/main">
              <a:ext uri="{FF2B5EF4-FFF2-40B4-BE49-F238E27FC236}">
                <a16:creationId xmlns:a16="http://schemas.microsoft.com/office/drawing/2014/main" id="{72A05823-FD9B-47F1-AB7A-6BBB1B3E542D}"/>
              </a:ext>
            </a:extLst>
          </p:cNvPr>
          <p:cNvSpPr>
            <a:spLocks xmlns:a="http://schemas.openxmlformats.org/drawingml/2006/main" noGrp="1"/>
          </p:cNvSpPr>
          <p:nvPr/>
        </p:nvSpPr>
        <p:spPr>
          <a:xfrm xmlns:a="http://schemas.openxmlformats.org/drawingml/2006/main">
            <a:off x="7391400" y="2419350"/>
            <a:ext cx="4191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1B2533"/>
                </a:solidFill>
                <a:latin typeface="Microsoft YaHei"/>
                <a:ea typeface="Microsoft YaHei"/>
                <a:cs typeface="Microsoft YaHei"/>
              </a:defRPr>
            </a:defPPr>
          </a:lstStyle>
          <a:p xmlns:a="http://schemas.openxmlformats.org/drawingml/2006/main">
            <a:pPr algn="l">
              <a:lnSpc>
                <a:spcPct val="118000"/>
              </a:lnSpc>
              <a:buNone/>
              <a:defRPr sz="1875" b="0">
                <a:solidFill>
                  <a:srgbClr val="1B2533"/>
                </a:solidFill>
                <a:latin typeface="Microsoft YaHei"/>
                <a:ea typeface="Microsoft YaHei"/>
                <a:cs typeface="Microsoft YaHei"/>
              </a:defRPr>
            </a:pPr>
            <a:r>
              <a:rPr sz="1875" b="0">
                <a:solidFill>
                  <a:srgbClr val="1B2533"/>
                </a:solidFill>
                <a:latin typeface="Microsoft YaHei"/>
                <a:ea typeface="Microsoft YaHei"/>
                <a:cs typeface="Microsoft YaHei"/>
              </a:rPr>
              <a:t>稳定率由10.35%升至15.94%，SUN由2.93%降至1.69%。</a:t>
            </a:r>
          </a:p>
        </p:txBody>
      </p:sp>
      <p:sp>
        <p:nvSpPr>
          <p:cNvPr id="7" name="text">
            <a:extLst xmlns:a="http://schemas.openxmlformats.org/drawingml/2006/main">
              <a:ext uri="{FF2B5EF4-FFF2-40B4-BE49-F238E27FC236}">
                <a16:creationId xmlns:a16="http://schemas.microsoft.com/office/drawing/2014/main" id="{B00E6AC7-000D-4A4A-811B-A72CB350E913}"/>
              </a:ext>
            </a:extLst>
          </p:cNvPr>
          <p:cNvSpPr>
            <a:spLocks xmlns:a="http://schemas.openxmlformats.org/drawingml/2006/main" noGrp="1"/>
          </p:cNvSpPr>
          <p:nvPr/>
        </p:nvSpPr>
        <p:spPr>
          <a:xfrm xmlns:a="http://schemas.openxmlformats.org/drawingml/2006/main">
            <a:off x="7391400" y="3267075"/>
            <a:ext cx="4191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173E67"/>
                </a:solidFill>
                <a:latin typeface="Microsoft YaHei"/>
                <a:ea typeface="Microsoft YaHei"/>
                <a:cs typeface="Microsoft YaHei"/>
              </a:defRPr>
            </a:defPPr>
          </a:lstStyle>
          <a:p xmlns:a="http://schemas.openxmlformats.org/drawingml/2006/main">
            <a:pPr algn="l">
              <a:lnSpc>
                <a:spcPct val="118000"/>
              </a:lnSpc>
              <a:buNone/>
              <a:defRPr sz="1875" b="1">
                <a:solidFill>
                  <a:srgbClr val="173E67"/>
                </a:solidFill>
                <a:latin typeface="Microsoft YaHei"/>
                <a:ea typeface="Microsoft YaHei"/>
                <a:cs typeface="Microsoft YaHei"/>
              </a:defRPr>
            </a:pPr>
            <a:r>
              <a:rPr sz="1875" b="1">
                <a:solidFill>
                  <a:srgbClr val="173E67"/>
                </a:solidFill>
                <a:latin typeface="Microsoft YaHei"/>
                <a:ea typeface="Microsoft YaHei"/>
                <a:cs typeface="Microsoft YaHei"/>
              </a:rPr>
              <a:t>科学问题</a:t>
            </a:r>
          </a:p>
        </p:txBody>
      </p:sp>
      <p:sp>
        <p:nvSpPr>
          <p:cNvPr id="8" name="text">
            <a:extLst xmlns:a="http://schemas.openxmlformats.org/drawingml/2006/main">
              <a:ext uri="{FF2B5EF4-FFF2-40B4-BE49-F238E27FC236}">
                <a16:creationId xmlns:a16="http://schemas.microsoft.com/office/drawing/2014/main" id="{9CD990B4-379A-4E4F-9AE1-F2FB85DB25E9}"/>
              </a:ext>
            </a:extLst>
          </p:cNvPr>
          <p:cNvSpPr>
            <a:spLocks xmlns:a="http://schemas.openxmlformats.org/drawingml/2006/main" noGrp="1"/>
          </p:cNvSpPr>
          <p:nvPr/>
        </p:nvSpPr>
        <p:spPr>
          <a:xfrm xmlns:a="http://schemas.openxmlformats.org/drawingml/2006/main">
            <a:off x="7391400" y="3648075"/>
            <a:ext cx="4191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1B2533"/>
                </a:solidFill>
                <a:latin typeface="Microsoft YaHei"/>
                <a:ea typeface="Microsoft YaHei"/>
                <a:cs typeface="Microsoft YaHei"/>
              </a:defRPr>
            </a:defPPr>
          </a:lstStyle>
          <a:p xmlns:a="http://schemas.openxmlformats.org/drawingml/2006/main">
            <a:pPr algn="l">
              <a:lnSpc>
                <a:spcPct val="118000"/>
              </a:lnSpc>
              <a:buNone/>
              <a:defRPr sz="1875" b="0">
                <a:solidFill>
                  <a:srgbClr val="1B2533"/>
                </a:solidFill>
                <a:latin typeface="Microsoft YaHei"/>
                <a:ea typeface="Microsoft YaHei"/>
                <a:cs typeface="Microsoft YaHei"/>
              </a:defRPr>
            </a:pPr>
            <a:r>
              <a:rPr sz="1875" b="0">
                <a:solidFill>
                  <a:srgbClr val="1B2533"/>
                </a:solidFill>
                <a:latin typeface="Microsoft YaHei"/>
                <a:ea typeface="Microsoft YaHei"/>
                <a:cs typeface="Microsoft YaHei"/>
              </a:rPr>
              <a:t>怎样让稳定性优化增加不同的新结构？</a:t>
            </a:r>
          </a:p>
        </p:txBody>
      </p:sp>
      <p:sp>
        <p:nvSpPr>
          <p:cNvPr id="9" name="text">
            <a:extLst xmlns:a="http://schemas.openxmlformats.org/drawingml/2006/main">
              <a:ext uri="{FF2B5EF4-FFF2-40B4-BE49-F238E27FC236}">
                <a16:creationId xmlns:a16="http://schemas.microsoft.com/office/drawing/2014/main" id="{C70D79E6-651E-42C8-9333-F7E6F9759D18}"/>
              </a:ext>
            </a:extLst>
          </p:cNvPr>
          <p:cNvSpPr>
            <a:spLocks xmlns:a="http://schemas.openxmlformats.org/drawingml/2006/main" noGrp="1"/>
          </p:cNvSpPr>
          <p:nvPr/>
        </p:nvSpPr>
        <p:spPr>
          <a:xfrm xmlns:a="http://schemas.openxmlformats.org/drawingml/2006/main">
            <a:off x="7391400" y="4495800"/>
            <a:ext cx="4191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173E67"/>
                </a:solidFill>
                <a:latin typeface="Microsoft YaHei"/>
                <a:ea typeface="Microsoft YaHei"/>
                <a:cs typeface="Microsoft YaHei"/>
              </a:defRPr>
            </a:defPPr>
          </a:lstStyle>
          <a:p xmlns:a="http://schemas.openxmlformats.org/drawingml/2006/main">
            <a:pPr algn="l">
              <a:lnSpc>
                <a:spcPct val="118000"/>
              </a:lnSpc>
              <a:buNone/>
              <a:defRPr sz="1875" b="1">
                <a:solidFill>
                  <a:srgbClr val="173E67"/>
                </a:solidFill>
                <a:latin typeface="Microsoft YaHei"/>
                <a:ea typeface="Microsoft YaHei"/>
                <a:cs typeface="Microsoft YaHei"/>
              </a:defRPr>
            </a:pPr>
            <a:r>
              <a:rPr sz="1875" b="1">
                <a:solidFill>
                  <a:srgbClr val="173E67"/>
                </a:solidFill>
                <a:latin typeface="Microsoft YaHei"/>
                <a:ea typeface="Microsoft YaHei"/>
                <a:cs typeface="Microsoft YaHei"/>
              </a:rPr>
              <a:t>结果范围</a:t>
            </a:r>
          </a:p>
        </p:txBody>
      </p:sp>
      <p:sp>
        <p:nvSpPr>
          <p:cNvPr id="10" name="text">
            <a:extLst xmlns:a="http://schemas.openxmlformats.org/drawingml/2006/main">
              <a:ext uri="{FF2B5EF4-FFF2-40B4-BE49-F238E27FC236}">
                <a16:creationId xmlns:a16="http://schemas.microsoft.com/office/drawing/2014/main" id="{0AE70D75-6C7E-4B9E-B54C-E055AEE5606A}"/>
              </a:ext>
            </a:extLst>
          </p:cNvPr>
          <p:cNvSpPr>
            <a:spLocks xmlns:a="http://schemas.openxmlformats.org/drawingml/2006/main" noGrp="1"/>
          </p:cNvSpPr>
          <p:nvPr/>
        </p:nvSpPr>
        <p:spPr>
          <a:xfrm xmlns:a="http://schemas.openxmlformats.org/drawingml/2006/main">
            <a:off x="7391400" y="4876800"/>
            <a:ext cx="4191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1B2533"/>
                </a:solidFill>
                <a:latin typeface="Microsoft YaHei"/>
                <a:ea typeface="Microsoft YaHei"/>
                <a:cs typeface="Microsoft YaHei"/>
              </a:defRPr>
            </a:defPPr>
          </a:lstStyle>
          <a:p xmlns:a="http://schemas.openxmlformats.org/drawingml/2006/main">
            <a:pPr algn="l">
              <a:lnSpc>
                <a:spcPct val="118000"/>
              </a:lnSpc>
              <a:buNone/>
              <a:defRPr sz="1875" b="0">
                <a:solidFill>
                  <a:srgbClr val="1B2533"/>
                </a:solidFill>
                <a:latin typeface="Microsoft YaHei"/>
                <a:ea typeface="Microsoft YaHei"/>
                <a:cs typeface="Microsoft YaHei"/>
              </a:defRPr>
            </a:pPr>
            <a:r>
              <a:rPr sz="1875" b="0">
                <a:solidFill>
                  <a:srgbClr val="1B2533"/>
                </a:solidFill>
                <a:latin typeface="Microsoft YaHei"/>
                <a:ea typeface="Microsoft YaHei"/>
                <a:cs typeface="Microsoft YaHei"/>
              </a:rPr>
              <a:t>该现象来自坐标表示消融。论文主方法研究表示与偏好学习。</a:t>
            </a:r>
          </a:p>
        </p:txBody>
      </p:sp>
      <p:sp>
        <p:nvSpPr>
          <p:cNvPr id="11" name="separator">
            <a:extLst xmlns:a="http://schemas.openxmlformats.org/drawingml/2006/main">
              <a:ext uri="{FF2B5EF4-FFF2-40B4-BE49-F238E27FC236}">
                <a16:creationId xmlns:a16="http://schemas.microsoft.com/office/drawing/2014/main" id="{C06A2BD9-3143-447A-AEC2-110D83B26A76}"/>
              </a:ext>
            </a:extLst>
          </p:cNvPr>
          <p:cNvSpPr>
            <a:spLocks xmlns:a="http://schemas.openxmlformats.org/drawingml/2006/main" noGrp="1"/>
          </p:cNvSpPr>
          <p:nvPr/>
        </p:nvSpPr>
        <p:spPr>
          <a:xfrm xmlns:a="http://schemas.openxmlformats.org/drawingml/2006/main">
            <a:off x="609600" y="6200775"/>
            <a:ext cx="10972800" cy="0"/>
          </a:xfrm>
          <a:prstGeom xmlns:a="http://schemas.openxmlformats.org/drawingml/2006/main" prst="line">
            <a:avLst/>
          </a:prstGeom>
          <a:ln xmlns:a="http://schemas.openxmlformats.org/drawingml/2006/main" w="9525">
            <a:solidFill>
              <a:srgbClr val="D5DCE3"/>
            </a:solidFill>
          </a:ln>
        </p:spPr>
      </p:sp>
      <p:sp>
        <p:nvSpPr>
          <p:cNvPr id="12" name="sources">
            <a:extLst xmlns:a="http://schemas.openxmlformats.org/drawingml/2006/main">
              <a:ext uri="{FF2B5EF4-FFF2-40B4-BE49-F238E27FC236}">
                <a16:creationId xmlns:a16="http://schemas.microsoft.com/office/drawing/2014/main" id="{47F3B9D8-0798-40D2-A9DE-929B4DE14814}"/>
              </a:ext>
            </a:extLst>
          </p:cNvPr>
          <p:cNvSpPr>
            <a:spLocks xmlns:a="http://schemas.openxmlformats.org/drawingml/2006/main" noGrp="1"/>
          </p:cNvSpPr>
          <p:nvPr/>
        </p:nvSpPr>
        <p:spPr>
          <a:xfrm xmlns:a="http://schemas.openxmlformats.org/drawingml/2006/main">
            <a:off x="609600" y="6353175"/>
            <a:ext cx="10363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13" b="0">
                <a:solidFill>
                  <a:srgbClr val="526170"/>
                </a:solidFill>
                <a:latin typeface="Microsoft YaHei"/>
                <a:ea typeface="Microsoft YaHei"/>
                <a:cs typeface="Microsoft YaHei"/>
              </a:defRPr>
            </a:defPPr>
          </a:lstStyle>
          <a:p xmlns:a="http://schemas.openxmlformats.org/drawingml/2006/main">
            <a:pPr algn="l">
              <a:lnSpc>
                <a:spcPct val="118000"/>
              </a:lnSpc>
              <a:buNone/>
              <a:defRPr sz="1013" b="0">
                <a:solidFill>
                  <a:srgbClr val="526170"/>
                </a:solidFill>
                <a:latin typeface="Microsoft YaHei"/>
                <a:ea typeface="Microsoft YaHei"/>
                <a:cs typeface="Microsoft YaHei"/>
              </a:defRPr>
            </a:pPr>
            <a:r>
              <a:rPr sz="1013" b="0">
                <a:solidFill>
                  <a:srgbClr val="526170"/>
                </a:solidFill>
                <a:latin typeface="Microsoft YaHei"/>
                <a:ea typeface="Microsoft YaHei"/>
                <a:cs typeface="Microsoft YaHei"/>
              </a:rPr>
              <a:t>PLaID++, ICML 2026，arXiv v4。每轮10,000个可解析CIF，eSEN评价，Eₕᵤₗₗ ≤ 0。</a:t>
            </a:r>
          </a:p>
        </p:txBody>
      </p:sp>
      <p:sp>
        <p:nvSpPr>
          <p:cNvPr id="13" name="page-number">
            <a:extLst xmlns:a="http://schemas.openxmlformats.org/drawingml/2006/main">
              <a:ext uri="{FF2B5EF4-FFF2-40B4-BE49-F238E27FC236}">
                <a16:creationId xmlns:a16="http://schemas.microsoft.com/office/drawing/2014/main" id="{02C71340-07B2-4CC0-8B5D-505A86036BF3}"/>
              </a:ext>
            </a:extLst>
          </p:cNvPr>
          <p:cNvSpPr>
            <a:spLocks xmlns:a="http://schemas.openxmlformats.org/drawingml/2006/main" noGrp="1"/>
          </p:cNvSpPr>
          <p:nvPr/>
        </p:nvSpPr>
        <p:spPr>
          <a:xfrm xmlns:a="http://schemas.openxmlformats.org/drawingml/2006/main">
            <a:off x="11334750" y="6334125"/>
            <a:ext cx="266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26170"/>
                </a:solidFill>
                <a:latin typeface="Microsoft YaHei"/>
                <a:ea typeface="Microsoft YaHei"/>
                <a:cs typeface="Microsoft YaHei"/>
              </a:defRPr>
            </a:defPPr>
          </a:lstStyle>
          <a:p xmlns:a="http://schemas.openxmlformats.org/drawingml/2006/main">
            <a:pPr algn="r">
              <a:lnSpc>
                <a:spcPct val="118000"/>
              </a:lnSpc>
              <a:buNone/>
              <a:defRPr sz="1275" b="0">
                <a:solidFill>
                  <a:srgbClr val="526170"/>
                </a:solidFill>
                <a:latin typeface="Microsoft YaHei"/>
                <a:ea typeface="Microsoft YaHei"/>
                <a:cs typeface="Microsoft YaHei"/>
              </a:defRPr>
            </a:pPr>
            <a:r>
              <a:rPr sz="1275" b="0">
                <a:solidFill>
                  <a:srgbClr val="526170"/>
                </a:solidFill>
                <a:latin typeface="Microsoft YaHei"/>
                <a:ea typeface="Microsoft YaHei"/>
                <a:cs typeface="Microsoft YaHei"/>
              </a:rPr>
              <a:t>13</a:t>
            </a:r>
          </a:p>
        </p:txBody>
      </p:sp>
    </p:spTree>
    <p:extLst>
      <p:ext uri="{BB962C8B-B14F-4D97-AF65-F5344CB8AC3E}">
        <p14:creationId xmlns:p14="http://schemas.microsoft.com/office/powerpoint/2010/main" val="1031000649"/>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slide-title">
            <a:extLst xmlns:a="http://schemas.openxmlformats.org/drawingml/2006/main">
              <a:ext uri="{FF2B5EF4-FFF2-40B4-BE49-F238E27FC236}">
                <a16:creationId xmlns:a16="http://schemas.microsoft.com/office/drawing/2014/main" id="{11479247-4BF4-439F-B6BB-52EA04898B6D}"/>
              </a:ext>
            </a:extLst>
          </p:cNvPr>
          <p:cNvSpPr>
            <a:spLocks xmlns:a="http://schemas.openxmlformats.org/drawingml/2006/main" noGrp="1"/>
          </p:cNvSpPr>
          <p:nvPr/>
        </p:nvSpPr>
        <p:spPr>
          <a:xfrm xmlns:a="http://schemas.openxmlformats.org/drawingml/2006/main">
            <a:off x="609600" y="36195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73E67"/>
                </a:solidFill>
                <a:latin typeface="Microsoft YaHei"/>
                <a:ea typeface="Microsoft YaHei"/>
                <a:cs typeface="Microsoft YaHei"/>
              </a:defRPr>
            </a:defPPr>
          </a:lstStyle>
          <a:p xmlns:a="http://schemas.openxmlformats.org/drawingml/2006/main">
            <a:pPr algn="l">
              <a:lnSpc>
                <a:spcPct val="118000"/>
              </a:lnSpc>
              <a:buNone/>
              <a:defRPr sz="3150" b="1">
                <a:solidFill>
                  <a:srgbClr val="173E67"/>
                </a:solidFill>
                <a:latin typeface="Microsoft YaHei"/>
                <a:ea typeface="Microsoft YaHei"/>
                <a:cs typeface="Microsoft YaHei"/>
              </a:defRPr>
            </a:pPr>
            <a:r>
              <a:rPr sz="3150" b="1">
                <a:solidFill>
                  <a:srgbClr val="173E67"/>
                </a:solidFill>
                <a:latin typeface="Microsoft YaHei"/>
                <a:ea typeface="Microsoft YaHei"/>
                <a:cs typeface="Microsoft YaHei"/>
              </a:rPr>
              <a:t>多解发现关注整个成功集合</a:t>
            </a:r>
          </a:p>
        </p:txBody>
      </p:sp>
      <p:sp>
        <p:nvSpPr>
          <p:cNvPr id="2" name="lead">
            <a:extLst xmlns:a="http://schemas.openxmlformats.org/drawingml/2006/main">
              <a:ext uri="{FF2B5EF4-FFF2-40B4-BE49-F238E27FC236}">
                <a16:creationId xmlns:a16="http://schemas.microsoft.com/office/drawing/2014/main" id="{4F816F9D-D63D-4240-A3A3-6F70C6172642}"/>
              </a:ext>
            </a:extLst>
          </p:cNvPr>
          <p:cNvSpPr>
            <a:spLocks xmlns:a="http://schemas.openxmlformats.org/drawingml/2006/main" noGrp="1"/>
          </p:cNvSpPr>
          <p:nvPr/>
        </p:nvSpPr>
        <p:spPr>
          <a:xfrm xmlns:a="http://schemas.openxmlformats.org/drawingml/2006/main">
            <a:off x="609600" y="11049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B2533"/>
                </a:solidFill>
                <a:latin typeface="Microsoft YaHei"/>
                <a:ea typeface="Microsoft YaHei"/>
                <a:cs typeface="Microsoft YaHei"/>
              </a:defRPr>
            </a:defPPr>
          </a:lstStyle>
          <a:p xmlns:a="http://schemas.openxmlformats.org/drawingml/2006/main">
            <a:pPr algn="l">
              <a:lnSpc>
                <a:spcPct val="118000"/>
              </a:lnSpc>
              <a:buNone/>
              <a:defRPr sz="2025" b="0">
                <a:solidFill>
                  <a:srgbClr val="1B2533"/>
                </a:solidFill>
                <a:latin typeface="Microsoft YaHei"/>
                <a:ea typeface="Microsoft YaHei"/>
                <a:cs typeface="Microsoft YaHei"/>
              </a:defRPr>
            </a:pPr>
            <a:r>
              <a:rPr sz="2025" b="0">
                <a:solidFill>
                  <a:srgbClr val="1B2533"/>
                </a:solidFill>
                <a:latin typeface="Microsoft YaHei"/>
                <a:ea typeface="Microsoft YaHei"/>
                <a:cs typeface="Microsoft YaHei"/>
              </a:rPr>
              <a:t>一个材料设计请求往往需要多个不同答案，成功类别也很难预先列完。</a:t>
            </a:r>
          </a:p>
        </p:txBody>
      </p:sp>
      <p:sp>
        <p:nvSpPr>
          <p:cNvPr id="3" name="text">
            <a:extLst xmlns:a="http://schemas.openxmlformats.org/drawingml/2006/main">
              <a:ext uri="{FF2B5EF4-FFF2-40B4-BE49-F238E27FC236}">
                <a16:creationId xmlns:a16="http://schemas.microsoft.com/office/drawing/2014/main" id="{48D2B648-703E-4183-8766-4EB242608F58}"/>
              </a:ext>
            </a:extLst>
          </p:cNvPr>
          <p:cNvSpPr>
            <a:spLocks xmlns:a="http://schemas.openxmlformats.org/drawingml/2006/main" noGrp="1"/>
          </p:cNvSpPr>
          <p:nvPr/>
        </p:nvSpPr>
        <p:spPr>
          <a:xfrm xmlns:a="http://schemas.openxmlformats.org/drawingml/2006/main">
            <a:off x="609600" y="2095500"/>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73E67"/>
                </a:solidFill>
                <a:latin typeface="Microsoft YaHei"/>
                <a:ea typeface="Microsoft YaHei"/>
                <a:cs typeface="Microsoft YaHei"/>
              </a:defRPr>
            </a:defPPr>
          </a:lstStyle>
          <a:p xmlns:a="http://schemas.openxmlformats.org/drawingml/2006/main">
            <a:pPr algn="l">
              <a:lnSpc>
                <a:spcPct val="118000"/>
              </a:lnSpc>
              <a:buNone/>
              <a:defRPr sz="1950" b="1">
                <a:solidFill>
                  <a:srgbClr val="173E67"/>
                </a:solidFill>
                <a:latin typeface="Microsoft YaHei"/>
                <a:ea typeface="Microsoft YaHei"/>
                <a:cs typeface="Microsoft YaHei"/>
              </a:defRPr>
            </a:pPr>
            <a:r>
              <a:rPr sz="1950" b="1">
                <a:solidFill>
                  <a:srgbClr val="173E67"/>
                </a:solidFill>
                <a:latin typeface="Microsoft YaHei"/>
                <a:ea typeface="Microsoft YaHei"/>
                <a:cs typeface="Microsoft YaHei"/>
              </a:rPr>
              <a:t>已有方法</a:t>
            </a:r>
          </a:p>
        </p:txBody>
      </p:sp>
      <p:sp>
        <p:nvSpPr>
          <p:cNvPr id="4" name="text">
            <a:extLst xmlns:a="http://schemas.openxmlformats.org/drawingml/2006/main">
              <a:ext uri="{FF2B5EF4-FFF2-40B4-BE49-F238E27FC236}">
                <a16:creationId xmlns:a16="http://schemas.microsoft.com/office/drawing/2014/main" id="{A1EFE08E-EE9B-4D4A-B685-714CCF1C7DE9}"/>
              </a:ext>
            </a:extLst>
          </p:cNvPr>
          <p:cNvSpPr>
            <a:spLocks xmlns:a="http://schemas.openxmlformats.org/drawingml/2006/main" noGrp="1"/>
          </p:cNvSpPr>
          <p:nvPr/>
        </p:nvSpPr>
        <p:spPr>
          <a:xfrm xmlns:a="http://schemas.openxmlformats.org/drawingml/2006/main">
            <a:off x="2514600" y="2095500"/>
            <a:ext cx="9067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1B2533"/>
                </a:solidFill>
                <a:latin typeface="Microsoft YaHei"/>
                <a:ea typeface="Microsoft YaHei"/>
                <a:cs typeface="Microsoft YaHei"/>
              </a:defRPr>
            </a:defPPr>
          </a:lstStyle>
          <a:p xmlns:a="http://schemas.openxmlformats.org/drawingml/2006/main">
            <a:pPr algn="l">
              <a:lnSpc>
                <a:spcPct val="118000"/>
              </a:lnSpc>
              <a:buNone/>
              <a:defRPr sz="1950" b="0">
                <a:solidFill>
                  <a:srgbClr val="1B2533"/>
                </a:solidFill>
                <a:latin typeface="Microsoft YaHei"/>
                <a:ea typeface="Microsoft YaHei"/>
                <a:cs typeface="Microsoft YaHei"/>
              </a:defRPr>
            </a:pPr>
            <a:r>
              <a:rPr sz="1950" b="0">
                <a:solidFill>
                  <a:srgbClr val="1B2533"/>
                </a:solidFill>
                <a:latin typeface="Microsoft YaHei"/>
                <a:ea typeface="Microsoft YaHei"/>
                <a:cs typeface="Microsoft YaHei"/>
              </a:rPr>
              <a:t>GFlowNet学习按奖励采样多个结果。晶体QD在性质空间保存不同的低能候选。</a:t>
            </a:r>
          </a:p>
        </p:txBody>
      </p:sp>
      <p:sp>
        <p:nvSpPr>
          <p:cNvPr id="5" name="text">
            <a:extLst xmlns:a="http://schemas.openxmlformats.org/drawingml/2006/main">
              <a:ext uri="{FF2B5EF4-FFF2-40B4-BE49-F238E27FC236}">
                <a16:creationId xmlns:a16="http://schemas.microsoft.com/office/drawing/2014/main" id="{E4FC0489-502E-459A-8C48-645D754788CD}"/>
              </a:ext>
            </a:extLst>
          </p:cNvPr>
          <p:cNvSpPr>
            <a:spLocks xmlns:a="http://schemas.openxmlformats.org/drawingml/2006/main" noGrp="1"/>
          </p:cNvSpPr>
          <p:nvPr/>
        </p:nvSpPr>
        <p:spPr>
          <a:xfrm xmlns:a="http://schemas.openxmlformats.org/drawingml/2006/main">
            <a:off x="609600" y="3352800"/>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73E67"/>
                </a:solidFill>
                <a:latin typeface="Microsoft YaHei"/>
                <a:ea typeface="Microsoft YaHei"/>
                <a:cs typeface="Microsoft YaHei"/>
              </a:defRPr>
            </a:defPPr>
          </a:lstStyle>
          <a:p xmlns:a="http://schemas.openxmlformats.org/drawingml/2006/main">
            <a:pPr algn="l">
              <a:lnSpc>
                <a:spcPct val="118000"/>
              </a:lnSpc>
              <a:buNone/>
              <a:defRPr sz="1950" b="1">
                <a:solidFill>
                  <a:srgbClr val="173E67"/>
                </a:solidFill>
                <a:latin typeface="Microsoft YaHei"/>
                <a:ea typeface="Microsoft YaHei"/>
                <a:cs typeface="Microsoft YaHei"/>
              </a:defRPr>
            </a:pPr>
            <a:r>
              <a:rPr sz="1950" b="1">
                <a:solidFill>
                  <a:srgbClr val="173E67"/>
                </a:solidFill>
                <a:latin typeface="Microsoft YaHei"/>
                <a:ea typeface="Microsoft YaHei"/>
                <a:cs typeface="Microsoft YaHei"/>
              </a:rPr>
              <a:t>结构化探索</a:t>
            </a:r>
          </a:p>
        </p:txBody>
      </p:sp>
      <p:sp>
        <p:nvSpPr>
          <p:cNvPr id="6" name="text">
            <a:extLst xmlns:a="http://schemas.openxmlformats.org/drawingml/2006/main">
              <a:ext uri="{FF2B5EF4-FFF2-40B4-BE49-F238E27FC236}">
                <a16:creationId xmlns:a16="http://schemas.microsoft.com/office/drawing/2014/main" id="{BE2CD476-E3F8-4B1F-BB11-20C38749A970}"/>
              </a:ext>
            </a:extLst>
          </p:cNvPr>
          <p:cNvSpPr>
            <a:spLocks xmlns:a="http://schemas.openxmlformats.org/drawingml/2006/main" noGrp="1"/>
          </p:cNvSpPr>
          <p:nvPr/>
        </p:nvSpPr>
        <p:spPr>
          <a:xfrm xmlns:a="http://schemas.openxmlformats.org/drawingml/2006/main">
            <a:off x="2514600" y="3352800"/>
            <a:ext cx="9067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1B2533"/>
                </a:solidFill>
                <a:latin typeface="Microsoft YaHei"/>
                <a:ea typeface="Microsoft YaHei"/>
                <a:cs typeface="Microsoft YaHei"/>
              </a:defRPr>
            </a:defPPr>
          </a:lstStyle>
          <a:p xmlns:a="http://schemas.openxmlformats.org/drawingml/2006/main">
            <a:pPr algn="l">
              <a:lnSpc>
                <a:spcPct val="118000"/>
              </a:lnSpc>
              <a:buNone/>
              <a:defRPr sz="1950" b="0">
                <a:solidFill>
                  <a:srgbClr val="1B2533"/>
                </a:solidFill>
                <a:latin typeface="Microsoft YaHei"/>
                <a:ea typeface="Microsoft YaHei"/>
                <a:cs typeface="Microsoft YaHei"/>
              </a:defRPr>
            </a:pPr>
            <a:r>
              <a:rPr sz="1950" b="0">
                <a:solidFill>
                  <a:srgbClr val="1B2533"/>
                </a:solidFill>
                <a:latin typeface="Microsoft YaHei"/>
                <a:ea typeface="Microsoft YaHei"/>
                <a:cs typeface="Microsoft YaHei"/>
              </a:rPr>
              <a:t>SHAFT用层级对称选择组织生成。ANCHOR依据搜索历史调整化学组成的探索。</a:t>
            </a:r>
          </a:p>
        </p:txBody>
      </p:sp>
      <p:sp>
        <p:nvSpPr>
          <p:cNvPr id="7" name="text">
            <a:extLst xmlns:a="http://schemas.openxmlformats.org/drawingml/2006/main">
              <a:ext uri="{FF2B5EF4-FFF2-40B4-BE49-F238E27FC236}">
                <a16:creationId xmlns:a16="http://schemas.microsoft.com/office/drawing/2014/main" id="{88545634-C2B9-4911-80D2-277D15346C79}"/>
              </a:ext>
            </a:extLst>
          </p:cNvPr>
          <p:cNvSpPr>
            <a:spLocks xmlns:a="http://schemas.openxmlformats.org/drawingml/2006/main" noGrp="1"/>
          </p:cNvSpPr>
          <p:nvPr/>
        </p:nvSpPr>
        <p:spPr>
          <a:xfrm xmlns:a="http://schemas.openxmlformats.org/drawingml/2006/main">
            <a:off x="609600" y="4610100"/>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73E67"/>
                </a:solidFill>
                <a:latin typeface="Microsoft YaHei"/>
                <a:ea typeface="Microsoft YaHei"/>
                <a:cs typeface="Microsoft YaHei"/>
              </a:defRPr>
            </a:defPPr>
          </a:lstStyle>
          <a:p xmlns:a="http://schemas.openxmlformats.org/drawingml/2006/main">
            <a:pPr algn="l">
              <a:lnSpc>
                <a:spcPct val="118000"/>
              </a:lnSpc>
              <a:buNone/>
              <a:defRPr sz="1950" b="1">
                <a:solidFill>
                  <a:srgbClr val="173E67"/>
                </a:solidFill>
                <a:latin typeface="Microsoft YaHei"/>
                <a:ea typeface="Microsoft YaHei"/>
                <a:cs typeface="Microsoft YaHei"/>
              </a:defRPr>
            </a:pPr>
            <a:r>
              <a:rPr sz="1950" b="1">
                <a:solidFill>
                  <a:srgbClr val="173E67"/>
                </a:solidFill>
                <a:latin typeface="Microsoft YaHei"/>
                <a:ea typeface="Microsoft YaHei"/>
                <a:cs typeface="Microsoft YaHei"/>
              </a:rPr>
              <a:t>剩余困难</a:t>
            </a:r>
          </a:p>
        </p:txBody>
      </p:sp>
      <p:sp>
        <p:nvSpPr>
          <p:cNvPr id="8" name="text">
            <a:extLst xmlns:a="http://schemas.openxmlformats.org/drawingml/2006/main">
              <a:ext uri="{FF2B5EF4-FFF2-40B4-BE49-F238E27FC236}">
                <a16:creationId xmlns:a16="http://schemas.microsoft.com/office/drawing/2014/main" id="{1AA6B00F-285C-42DA-9FA1-4E779C954B7B}"/>
              </a:ext>
            </a:extLst>
          </p:cNvPr>
          <p:cNvSpPr>
            <a:spLocks xmlns:a="http://schemas.openxmlformats.org/drawingml/2006/main" noGrp="1"/>
          </p:cNvSpPr>
          <p:nvPr/>
        </p:nvSpPr>
        <p:spPr>
          <a:xfrm xmlns:a="http://schemas.openxmlformats.org/drawingml/2006/main">
            <a:off x="2514600" y="4610100"/>
            <a:ext cx="9067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1B2533"/>
                </a:solidFill>
                <a:latin typeface="Microsoft YaHei"/>
                <a:ea typeface="Microsoft YaHei"/>
                <a:cs typeface="Microsoft YaHei"/>
              </a:defRPr>
            </a:defPPr>
          </a:lstStyle>
          <a:p xmlns:a="http://schemas.openxmlformats.org/drawingml/2006/main">
            <a:pPr algn="l">
              <a:lnSpc>
                <a:spcPct val="118000"/>
              </a:lnSpc>
              <a:buNone/>
              <a:defRPr sz="1950" b="0">
                <a:solidFill>
                  <a:srgbClr val="1B2533"/>
                </a:solidFill>
                <a:latin typeface="Microsoft YaHei"/>
                <a:ea typeface="Microsoft YaHei"/>
                <a:cs typeface="Microsoft YaHei"/>
              </a:defRPr>
            </a:pPr>
            <a:r>
              <a:rPr sz="1950" b="0">
                <a:solidFill>
                  <a:srgbClr val="1B2533"/>
                </a:solidFill>
                <a:latin typeface="Microsoft YaHei"/>
                <a:ea typeface="Microsoft YaHei"/>
                <a:cs typeface="Microsoft YaHei"/>
              </a:rPr>
              <a:t>弛豫可能合并原始差异。新增成功需要学入模型，已有成功也需要保持可采样。</a:t>
            </a:r>
          </a:p>
        </p:txBody>
      </p:sp>
      <p:sp>
        <p:nvSpPr>
          <p:cNvPr id="9" name="separator">
            <a:extLst xmlns:a="http://schemas.openxmlformats.org/drawingml/2006/main">
              <a:ext uri="{FF2B5EF4-FFF2-40B4-BE49-F238E27FC236}">
                <a16:creationId xmlns:a16="http://schemas.microsoft.com/office/drawing/2014/main" id="{85163159-6015-45C1-8B79-EA0A95FD715D}"/>
              </a:ext>
            </a:extLst>
          </p:cNvPr>
          <p:cNvSpPr>
            <a:spLocks xmlns:a="http://schemas.openxmlformats.org/drawingml/2006/main" noGrp="1"/>
          </p:cNvSpPr>
          <p:nvPr/>
        </p:nvSpPr>
        <p:spPr>
          <a:xfrm xmlns:a="http://schemas.openxmlformats.org/drawingml/2006/main">
            <a:off x="609600" y="6200775"/>
            <a:ext cx="10972800" cy="0"/>
          </a:xfrm>
          <a:prstGeom xmlns:a="http://schemas.openxmlformats.org/drawingml/2006/main" prst="line">
            <a:avLst/>
          </a:prstGeom>
          <a:ln xmlns:a="http://schemas.openxmlformats.org/drawingml/2006/main" w="9525">
            <a:solidFill>
              <a:srgbClr val="D5DCE3"/>
            </a:solidFill>
          </a:ln>
        </p:spPr>
      </p:sp>
      <p:sp>
        <p:nvSpPr>
          <p:cNvPr id="10" name="sources">
            <a:extLst xmlns:a="http://schemas.openxmlformats.org/drawingml/2006/main">
              <a:ext uri="{FF2B5EF4-FFF2-40B4-BE49-F238E27FC236}">
                <a16:creationId xmlns:a16="http://schemas.microsoft.com/office/drawing/2014/main" id="{6069F214-4426-4C82-A580-84A01D386BAA}"/>
              </a:ext>
            </a:extLst>
          </p:cNvPr>
          <p:cNvSpPr>
            <a:spLocks xmlns:a="http://schemas.openxmlformats.org/drawingml/2006/main" noGrp="1"/>
          </p:cNvSpPr>
          <p:nvPr/>
        </p:nvSpPr>
        <p:spPr>
          <a:xfrm xmlns:a="http://schemas.openxmlformats.org/drawingml/2006/main">
            <a:off x="609600" y="6353175"/>
            <a:ext cx="10363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13" b="0">
                <a:solidFill>
                  <a:srgbClr val="526170"/>
                </a:solidFill>
                <a:latin typeface="Microsoft YaHei"/>
                <a:ea typeface="Microsoft YaHei"/>
                <a:cs typeface="Microsoft YaHei"/>
              </a:defRPr>
            </a:defPPr>
          </a:lstStyle>
          <a:p xmlns:a="http://schemas.openxmlformats.org/drawingml/2006/main">
            <a:pPr algn="l">
              <a:lnSpc>
                <a:spcPct val="118000"/>
              </a:lnSpc>
              <a:buNone/>
              <a:defRPr sz="1013" b="0">
                <a:solidFill>
                  <a:srgbClr val="526170"/>
                </a:solidFill>
                <a:latin typeface="Microsoft YaHei"/>
                <a:ea typeface="Microsoft YaHei"/>
                <a:cs typeface="Microsoft YaHei"/>
              </a:defRPr>
            </a:pPr>
            <a:r>
              <a:rPr sz="1013" b="0">
                <a:solidFill>
                  <a:srgbClr val="526170"/>
                </a:solidFill>
                <a:latin typeface="Microsoft YaHei"/>
                <a:ea typeface="Microsoft YaHei"/>
                <a:cs typeface="Microsoft YaHei"/>
              </a:rPr>
              <a:t>GFlowNet Foundations (JMLR 2023)；晶体QD (2024)；SHAFT (2025在线)；ANCHOR v2 (2026预印本)</a:t>
            </a:r>
          </a:p>
        </p:txBody>
      </p:sp>
      <p:sp>
        <p:nvSpPr>
          <p:cNvPr id="11" name="page-number">
            <a:extLst xmlns:a="http://schemas.openxmlformats.org/drawingml/2006/main">
              <a:ext uri="{FF2B5EF4-FFF2-40B4-BE49-F238E27FC236}">
                <a16:creationId xmlns:a16="http://schemas.microsoft.com/office/drawing/2014/main" id="{201769FA-7A5F-44FC-A081-4B81B9BAB66D}"/>
              </a:ext>
            </a:extLst>
          </p:cNvPr>
          <p:cNvSpPr>
            <a:spLocks xmlns:a="http://schemas.openxmlformats.org/drawingml/2006/main" noGrp="1"/>
          </p:cNvSpPr>
          <p:nvPr/>
        </p:nvSpPr>
        <p:spPr>
          <a:xfrm xmlns:a="http://schemas.openxmlformats.org/drawingml/2006/main">
            <a:off x="11334750" y="6334125"/>
            <a:ext cx="266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26170"/>
                </a:solidFill>
                <a:latin typeface="Microsoft YaHei"/>
                <a:ea typeface="Microsoft YaHei"/>
                <a:cs typeface="Microsoft YaHei"/>
              </a:defRPr>
            </a:defPPr>
          </a:lstStyle>
          <a:p xmlns:a="http://schemas.openxmlformats.org/drawingml/2006/main">
            <a:pPr algn="r">
              <a:lnSpc>
                <a:spcPct val="118000"/>
              </a:lnSpc>
              <a:buNone/>
              <a:defRPr sz="1275" b="0">
                <a:solidFill>
                  <a:srgbClr val="526170"/>
                </a:solidFill>
                <a:latin typeface="Microsoft YaHei"/>
                <a:ea typeface="Microsoft YaHei"/>
                <a:cs typeface="Microsoft YaHei"/>
              </a:defRPr>
            </a:pPr>
            <a:r>
              <a:rPr sz="1275" b="0">
                <a:solidFill>
                  <a:srgbClr val="526170"/>
                </a:solidFill>
                <a:latin typeface="Microsoft YaHei"/>
                <a:ea typeface="Microsoft YaHei"/>
                <a:cs typeface="Microsoft YaHei"/>
              </a:rPr>
              <a:t>14</a:t>
            </a:r>
          </a:p>
        </p:txBody>
      </p:sp>
    </p:spTree>
    <p:extLst>
      <p:ext uri="{BB962C8B-B14F-4D97-AF65-F5344CB8AC3E}">
        <p14:creationId xmlns:p14="http://schemas.microsoft.com/office/powerpoint/2010/main" val="320651293"/>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E314A627-73BE-49B8-A052-66F4D1859E84}"/>
              </a:ext>
            </a:extLst>
          </p:cNvPr>
          <p:cNvSpPr>
            <a:spLocks xmlns:a="http://schemas.openxmlformats.org/drawingml/2006/main" noGrp="1"/>
          </p:cNvSpPr>
          <p:nvPr/>
        </p:nvSpPr>
        <p:spPr>
          <a:xfrm xmlns:a="http://schemas.openxmlformats.org/drawingml/2006/main">
            <a:off x="609600" y="36195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73E67"/>
                </a:solidFill>
                <a:latin typeface="Microsoft YaHei"/>
                <a:ea typeface="Microsoft YaHei"/>
                <a:cs typeface="Microsoft YaHei"/>
              </a:defRPr>
            </a:defPPr>
          </a:lstStyle>
          <a:p xmlns:a="http://schemas.openxmlformats.org/drawingml/2006/main">
            <a:pPr algn="l">
              <a:lnSpc>
                <a:spcPct val="118000"/>
              </a:lnSpc>
              <a:buNone/>
              <a:defRPr sz="3150" b="1">
                <a:solidFill>
                  <a:srgbClr val="173E67"/>
                </a:solidFill>
                <a:latin typeface="Microsoft YaHei"/>
                <a:ea typeface="Microsoft YaHei"/>
                <a:cs typeface="Microsoft YaHei"/>
              </a:defRPr>
            </a:pPr>
            <a:r>
              <a:rPr sz="3150" b="1">
                <a:solidFill>
                  <a:srgbClr val="173E67"/>
                </a:solidFill>
                <a:latin typeface="Microsoft YaHei"/>
                <a:ea typeface="Microsoft YaHei"/>
                <a:cs typeface="Microsoft YaHei"/>
              </a:rPr>
              <a:t>稳定发现的评价需要共同口径</a:t>
            </a:r>
          </a:p>
        </p:txBody>
      </p:sp>
      <p:graphicFrame>
        <p:nvGraphicFramePr>
          <p:cNvPr id="2" name="">
            <a:extLst xmlns:a="http://schemas.openxmlformats.org/drawingml/2006/main">
              <a:ext uri="{FF2B5EF4-FFF2-40B4-BE49-F238E27FC236}">
                <a16:creationId xmlns:a16="http://schemas.microsoft.com/office/drawing/2014/main" id="{2C3C9170-EDBB-4E4E-9FA9-3630AA6B34AB}"/>
              </a:ext>
            </a:extLst>
          </p:cNvPr>
          <p:cNvGraphicFramePr/>
          <p:nvPr/>
        </p:nvGraphicFramePr>
        <p:xfrm>
          <a:off xmlns:a="http://schemas.openxmlformats.org/drawingml/2006/main" x="609600" y="1400175"/>
          <a:ext xmlns:a="http://schemas.openxmlformats.org/drawingml/2006/main" cx="10972800" cy="4010025"/>
        </p:xfrm>
        <a:graphic xmlns:a="http://schemas.openxmlformats.org/drawingml/2006/main">
          <a:graphicData uri="http://schemas.openxmlformats.org/drawingml/2006/table">
            <a:tbl>
              <a:tblPr firstRow="0" bandRow="0"/>
              <a:tblGrid>
                <a:gridCol w="3667125"/>
                <a:gridCol w="7305675"/>
              </a:tblGrid>
              <a:tr h="533400">
                <a:tc>
                  <a:txBody>
                    <a:bodyPr wrap="square" lIns="114300" tIns="85725" rIns="95250" bIns="85725">
                      <a:noAutofit/>
                    </a:bodyPr>
                    <a:lstStyle/>
                    <a:p>
                      <a:pPr algn="l">
                        <a:lnSpc>
                          <a:spcPct val="118000"/>
                        </a:lnSpc>
                        <a:buNone/>
                      </a:pPr>
                      <a:r>
                        <a:rPr sz="1800" b="1">
                          <a:solidFill>
                            <a:srgbClr val="173E67"/>
                          </a:solidFill>
                          <a:latin typeface="Microsoft YaHei"/>
                          <a:ea typeface="Microsoft YaHei"/>
                          <a:cs typeface="Microsoft YaHei"/>
                        </a:rPr>
                        <a:t>必须说明的条件</a:t>
                      </a:r>
                    </a:p>
                  </a:txBody>
                  <a:tcPr marL="91440" marR="91440" marT="45720" marB="45720" anchor="ctr">
                    <a:solidFill>
                      <a:srgbClr val="EDF2F6"/>
                    </a:solidFill>
                  </a:tcPr>
                </a:tc>
                <a:tc>
                  <a:txBody>
                    <a:bodyPr wrap="square" lIns="114300" tIns="85725" rIns="95250" bIns="85725">
                      <a:noAutofit/>
                    </a:bodyPr>
                    <a:lstStyle/>
                    <a:p>
                      <a:pPr algn="l">
                        <a:lnSpc>
                          <a:spcPct val="118000"/>
                        </a:lnSpc>
                        <a:buNone/>
                      </a:pPr>
                      <a:r>
                        <a:rPr sz="1800" b="1">
                          <a:solidFill>
                            <a:srgbClr val="173E67"/>
                          </a:solidFill>
                          <a:latin typeface="Microsoft YaHei"/>
                          <a:ea typeface="Microsoft YaHei"/>
                          <a:cs typeface="Microsoft YaHei"/>
                        </a:rPr>
                        <a:t>为什么影响结论</a:t>
                      </a:r>
                    </a:p>
                  </a:txBody>
                  <a:tcPr marL="91440" marR="91440" marT="45720" marB="45720" anchor="ctr">
                    <a:solidFill>
                      <a:srgbClr val="EDF2F6"/>
                    </a:solidFill>
                  </a:tcPr>
                </a:tc>
              </a:tr>
              <a:tr h="869156">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稳定阈值与参考相集合</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Eₕᵤₗₗ ≤ 0 与 ≤ 0.1 eV/atom对应不同的合格范围。</a:t>
                      </a:r>
                    </a:p>
                  </a:txBody>
                  <a:tcPr marL="91440" marR="91440" marT="45720" marB="45720" anchor="ctr">
                    <a:solidFill>
                      <a:srgbClr val="FFFFFF"/>
                    </a:solidFill>
                  </a:tcPr>
                </a:tc>
              </a:tr>
              <a:tr h="869156">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物理层级与弛豫流程</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DFT和MLIP提供不同证据。弛豫可能改变能量和结构身份。</a:t>
                      </a:r>
                    </a:p>
                  </a:txBody>
                  <a:tcPr marL="91440" marR="91440" marT="45720" marB="45720" anchor="ctr">
                    <a:solidFill>
                      <a:srgbClr val="FFFFFF"/>
                    </a:solidFill>
                  </a:tcPr>
                </a:tc>
              </a:tr>
              <a:tr h="869156">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分母与完整费用</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全部请求、可解析结构和完成评价的样本数需要分别保留。</a:t>
                      </a:r>
                    </a:p>
                  </a:txBody>
                  <a:tcPr marL="91440" marR="91440" marT="45720" marB="45720" anchor="ctr">
                    <a:solidFill>
                      <a:srgbClr val="FFFFFF"/>
                    </a:solidFill>
                  </a:tcPr>
                </a:tc>
              </a:tr>
              <a:tr h="869156">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新颖性与独特性</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参照集合和匹配阶段决定N与U，原型新颖性可作为额外分析。</a:t>
                      </a:r>
                    </a:p>
                  </a:txBody>
                  <a:tcPr marL="91440" marR="91440" marT="45720" marB="45720" anchor="ctr">
                    <a:solidFill>
                      <a:srgbClr val="FFFFFF"/>
                    </a:solidFill>
                  </a:tcPr>
                </a:tc>
              </a:tr>
            </a:tbl>
          </a:graphicData>
        </a:graphic>
      </p:graphicFrame>
      <p:sp>
        <p:nvSpPr>
          <p:cNvPr id="3" name="conclusion">
            <a:extLst xmlns:a="http://schemas.openxmlformats.org/drawingml/2006/main">
              <a:ext uri="{FF2B5EF4-FFF2-40B4-BE49-F238E27FC236}">
                <a16:creationId xmlns:a16="http://schemas.microsoft.com/office/drawing/2014/main" id="{F673EF97-E0A1-4D02-9866-F3BCE7C78F63}"/>
              </a:ext>
            </a:extLst>
          </p:cNvPr>
          <p:cNvSpPr>
            <a:spLocks xmlns:a="http://schemas.openxmlformats.org/drawingml/2006/main" noGrp="1"/>
          </p:cNvSpPr>
          <p:nvPr/>
        </p:nvSpPr>
        <p:spPr>
          <a:xfrm xmlns:a="http://schemas.openxmlformats.org/drawingml/2006/main">
            <a:off x="609600" y="5619750"/>
            <a:ext cx="109728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73E67"/>
                </a:solidFill>
                <a:latin typeface="Microsoft YaHei"/>
                <a:ea typeface="Microsoft YaHei"/>
                <a:cs typeface="Microsoft YaHei"/>
              </a:defRPr>
            </a:defPPr>
          </a:lstStyle>
          <a:p xmlns:a="http://schemas.openxmlformats.org/drawingml/2006/main">
            <a:pPr algn="l">
              <a:lnSpc>
                <a:spcPct val="118000"/>
              </a:lnSpc>
              <a:buNone/>
              <a:defRPr sz="1725" b="0">
                <a:solidFill>
                  <a:srgbClr val="173E67"/>
                </a:solidFill>
                <a:latin typeface="Microsoft YaHei"/>
                <a:ea typeface="Microsoft YaHei"/>
                <a:cs typeface="Microsoft YaHei"/>
              </a:defRPr>
            </a:pPr>
            <a:r>
              <a:rPr sz="1725" b="0">
                <a:solidFill>
                  <a:srgbClr val="173E67"/>
                </a:solidFill>
                <a:latin typeface="Microsoft YaHei"/>
                <a:ea typeface="Microsoft YaHei"/>
                <a:cs typeface="Microsoft YaHei"/>
              </a:rPr>
              <a:t>本项目主结果采用严格SUN。熟悉原型中的新稳定化学仍属于有效发现。</a:t>
            </a:r>
          </a:p>
        </p:txBody>
      </p:sp>
      <p:sp>
        <p:nvSpPr>
          <p:cNvPr id="4" name="separator">
            <a:extLst xmlns:a="http://schemas.openxmlformats.org/drawingml/2006/main">
              <a:ext uri="{FF2B5EF4-FFF2-40B4-BE49-F238E27FC236}">
                <a16:creationId xmlns:a16="http://schemas.microsoft.com/office/drawing/2014/main" id="{5445B2B0-0E74-4528-BDC0-A3D9CED32916}"/>
              </a:ext>
            </a:extLst>
          </p:cNvPr>
          <p:cNvSpPr>
            <a:spLocks xmlns:a="http://schemas.openxmlformats.org/drawingml/2006/main" noGrp="1"/>
          </p:cNvSpPr>
          <p:nvPr/>
        </p:nvSpPr>
        <p:spPr>
          <a:xfrm xmlns:a="http://schemas.openxmlformats.org/drawingml/2006/main">
            <a:off x="609600" y="6200775"/>
            <a:ext cx="10972800" cy="0"/>
          </a:xfrm>
          <a:prstGeom xmlns:a="http://schemas.openxmlformats.org/drawingml/2006/main" prst="line">
            <a:avLst/>
          </a:prstGeom>
          <a:ln xmlns:a="http://schemas.openxmlformats.org/drawingml/2006/main" w="9525">
            <a:solidFill>
              <a:srgbClr val="D5DCE3"/>
            </a:solidFill>
          </a:ln>
        </p:spPr>
      </p:sp>
      <p:sp>
        <p:nvSpPr>
          <p:cNvPr id="5" name="sources">
            <a:extLst xmlns:a="http://schemas.openxmlformats.org/drawingml/2006/main">
              <a:ext uri="{FF2B5EF4-FFF2-40B4-BE49-F238E27FC236}">
                <a16:creationId xmlns:a16="http://schemas.microsoft.com/office/drawing/2014/main" id="{AEA15BCC-2A47-4077-887E-6A2A9B3DDBF3}"/>
              </a:ext>
            </a:extLst>
          </p:cNvPr>
          <p:cNvSpPr>
            <a:spLocks xmlns:a="http://schemas.openxmlformats.org/drawingml/2006/main" noGrp="1"/>
          </p:cNvSpPr>
          <p:nvPr/>
        </p:nvSpPr>
        <p:spPr>
          <a:xfrm xmlns:a="http://schemas.openxmlformats.org/drawingml/2006/main">
            <a:off x="609600" y="6353175"/>
            <a:ext cx="10363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13" b="0">
                <a:solidFill>
                  <a:srgbClr val="526170"/>
                </a:solidFill>
                <a:latin typeface="Microsoft YaHei"/>
                <a:ea typeface="Microsoft YaHei"/>
                <a:cs typeface="Microsoft YaHei"/>
              </a:defRPr>
            </a:defPPr>
          </a:lstStyle>
          <a:p xmlns:a="http://schemas.openxmlformats.org/drawingml/2006/main">
            <a:pPr algn="l">
              <a:lnSpc>
                <a:spcPct val="118000"/>
              </a:lnSpc>
              <a:buNone/>
              <a:defRPr sz="1013" b="0">
                <a:solidFill>
                  <a:srgbClr val="526170"/>
                </a:solidFill>
                <a:latin typeface="Microsoft YaHei"/>
                <a:ea typeface="Microsoft YaHei"/>
                <a:cs typeface="Microsoft YaHei"/>
              </a:defRPr>
            </a:pPr>
            <a:r>
              <a:rPr sz="1013" b="0">
                <a:solidFill>
                  <a:srgbClr val="526170"/>
                </a:solidFill>
                <a:latin typeface="Microsoft YaHei"/>
                <a:ea typeface="Microsoft YaHei"/>
                <a:cs typeface="Microsoft YaHei"/>
              </a:rPr>
              <a:t>强基线研究 (2025)；Structure Matches (NeurIPS 2025)；LeMat-GenBench v2；替换新颖性分析 (2026)</a:t>
            </a:r>
          </a:p>
        </p:txBody>
      </p:sp>
      <p:sp>
        <p:nvSpPr>
          <p:cNvPr id="6" name="page-number">
            <a:extLst xmlns:a="http://schemas.openxmlformats.org/drawingml/2006/main">
              <a:ext uri="{FF2B5EF4-FFF2-40B4-BE49-F238E27FC236}">
                <a16:creationId xmlns:a16="http://schemas.microsoft.com/office/drawing/2014/main" id="{1B57EFB2-C856-4AFE-854F-393B005D1FE1}"/>
              </a:ext>
            </a:extLst>
          </p:cNvPr>
          <p:cNvSpPr>
            <a:spLocks xmlns:a="http://schemas.openxmlformats.org/drawingml/2006/main" noGrp="1"/>
          </p:cNvSpPr>
          <p:nvPr/>
        </p:nvSpPr>
        <p:spPr>
          <a:xfrm xmlns:a="http://schemas.openxmlformats.org/drawingml/2006/main">
            <a:off x="11334750" y="6334125"/>
            <a:ext cx="266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26170"/>
                </a:solidFill>
                <a:latin typeface="Microsoft YaHei"/>
                <a:ea typeface="Microsoft YaHei"/>
                <a:cs typeface="Microsoft YaHei"/>
              </a:defRPr>
            </a:defPPr>
          </a:lstStyle>
          <a:p xmlns:a="http://schemas.openxmlformats.org/drawingml/2006/main">
            <a:pPr algn="r">
              <a:lnSpc>
                <a:spcPct val="118000"/>
              </a:lnSpc>
              <a:buNone/>
              <a:defRPr sz="1275" b="0">
                <a:solidFill>
                  <a:srgbClr val="526170"/>
                </a:solidFill>
                <a:latin typeface="Microsoft YaHei"/>
                <a:ea typeface="Microsoft YaHei"/>
                <a:cs typeface="Microsoft YaHei"/>
              </a:defRPr>
            </a:pPr>
            <a:r>
              <a:rPr sz="1275" b="0">
                <a:solidFill>
                  <a:srgbClr val="526170"/>
                </a:solidFill>
                <a:latin typeface="Microsoft YaHei"/>
                <a:ea typeface="Microsoft YaHei"/>
                <a:cs typeface="Microsoft YaHei"/>
              </a:rPr>
              <a:t>15</a:t>
            </a:r>
          </a:p>
        </p:txBody>
      </p:sp>
    </p:spTree>
    <p:extLst>
      <p:ext uri="{BB962C8B-B14F-4D97-AF65-F5344CB8AC3E}">
        <p14:creationId xmlns:p14="http://schemas.microsoft.com/office/powerpoint/2010/main" val="982586409"/>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D2CB6395-FBD5-49D3-BAC7-5AB1D489766B}"/>
              </a:ext>
            </a:extLst>
          </p:cNvPr>
          <p:cNvSpPr>
            <a:spLocks xmlns:a="http://schemas.openxmlformats.org/drawingml/2006/main" noGrp="1"/>
          </p:cNvSpPr>
          <p:nvPr/>
        </p:nvSpPr>
        <p:spPr>
          <a:xfrm xmlns:a="http://schemas.openxmlformats.org/drawingml/2006/main">
            <a:off x="609600" y="36195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73E67"/>
                </a:solidFill>
                <a:latin typeface="Microsoft YaHei"/>
                <a:ea typeface="Microsoft YaHei"/>
                <a:cs typeface="Microsoft YaHei"/>
              </a:defRPr>
            </a:defPPr>
          </a:lstStyle>
          <a:p xmlns:a="http://schemas.openxmlformats.org/drawingml/2006/main">
            <a:pPr algn="l">
              <a:lnSpc>
                <a:spcPct val="118000"/>
              </a:lnSpc>
              <a:buNone/>
              <a:defRPr sz="3150" b="1">
                <a:solidFill>
                  <a:srgbClr val="173E67"/>
                </a:solidFill>
                <a:latin typeface="Microsoft YaHei"/>
                <a:ea typeface="Microsoft YaHei"/>
                <a:cs typeface="Microsoft YaHei"/>
              </a:defRPr>
            </a:pPr>
            <a:r>
              <a:rPr sz="3150" b="1">
                <a:solidFill>
                  <a:srgbClr val="173E67"/>
                </a:solidFill>
                <a:latin typeface="Microsoft YaHei"/>
                <a:ea typeface="Microsoft YaHei"/>
                <a:cs typeface="Microsoft YaHei"/>
              </a:rPr>
              <a:t>项目历史实验为问题提供了哪些线索</a:t>
            </a:r>
          </a:p>
        </p:txBody>
      </p:sp>
      <p:graphicFrame>
        <p:nvGraphicFramePr>
          <p:cNvPr id="2" name="">
            <a:extLst xmlns:a="http://schemas.openxmlformats.org/drawingml/2006/main">
              <a:ext uri="{FF2B5EF4-FFF2-40B4-BE49-F238E27FC236}">
                <a16:creationId xmlns:a16="http://schemas.microsoft.com/office/drawing/2014/main" id="{9ACBA48F-87C7-4F63-AB59-743E00A277CB}"/>
              </a:ext>
            </a:extLst>
          </p:cNvPr>
          <p:cNvGraphicFramePr/>
          <p:nvPr/>
        </p:nvGraphicFramePr>
        <p:xfrm>
          <a:off xmlns:a="http://schemas.openxmlformats.org/drawingml/2006/main" x="609600" y="1400175"/>
          <a:ext xmlns:a="http://schemas.openxmlformats.org/drawingml/2006/main" cx="10972800" cy="4010025"/>
        </p:xfrm>
        <a:graphic xmlns:a="http://schemas.openxmlformats.org/drawingml/2006/main">
          <a:graphicData uri="http://schemas.openxmlformats.org/drawingml/2006/table">
            <a:tbl>
              <a:tblPr firstRow="0" bandRow="0"/>
              <a:tblGrid>
                <a:gridCol w="2428875"/>
                <a:gridCol w="4238625"/>
                <a:gridCol w="4305300"/>
              </a:tblGrid>
              <a:tr h="533400">
                <a:tc>
                  <a:txBody>
                    <a:bodyPr wrap="square" lIns="114300" tIns="85725" rIns="95250" bIns="85725">
                      <a:noAutofit/>
                    </a:bodyPr>
                    <a:lstStyle/>
                    <a:p>
                      <a:pPr algn="l">
                        <a:lnSpc>
                          <a:spcPct val="118000"/>
                        </a:lnSpc>
                        <a:buNone/>
                      </a:pPr>
                      <a:r>
                        <a:rPr sz="1800" b="1">
                          <a:solidFill>
                            <a:srgbClr val="173E67"/>
                          </a:solidFill>
                          <a:latin typeface="Microsoft YaHei"/>
                          <a:ea typeface="Microsoft YaHei"/>
                          <a:cs typeface="Microsoft YaHei"/>
                        </a:rPr>
                        <a:t>观察</a:t>
                      </a:r>
                    </a:p>
                  </a:txBody>
                  <a:tcPr marL="91440" marR="91440" marT="45720" marB="45720" anchor="ctr">
                    <a:solidFill>
                      <a:srgbClr val="EDF2F6"/>
                    </a:solidFill>
                  </a:tcPr>
                </a:tc>
                <a:tc>
                  <a:txBody>
                    <a:bodyPr wrap="square" lIns="114300" tIns="85725" rIns="95250" bIns="85725">
                      <a:noAutofit/>
                    </a:bodyPr>
                    <a:lstStyle/>
                    <a:p>
                      <a:pPr algn="l">
                        <a:lnSpc>
                          <a:spcPct val="118000"/>
                        </a:lnSpc>
                        <a:buNone/>
                      </a:pPr>
                      <a:r>
                        <a:rPr sz="1800" b="1">
                          <a:solidFill>
                            <a:srgbClr val="173E67"/>
                          </a:solidFill>
                          <a:latin typeface="Microsoft YaHei"/>
                          <a:ea typeface="Microsoft YaHei"/>
                          <a:cs typeface="Microsoft YaHei"/>
                        </a:rPr>
                        <a:t>已完成结果</a:t>
                      </a:r>
                    </a:p>
                  </a:txBody>
                  <a:tcPr marL="91440" marR="91440" marT="45720" marB="45720" anchor="ctr">
                    <a:solidFill>
                      <a:srgbClr val="EDF2F6"/>
                    </a:solidFill>
                  </a:tcPr>
                </a:tc>
                <a:tc>
                  <a:txBody>
                    <a:bodyPr wrap="square" lIns="114300" tIns="85725" rIns="95250" bIns="85725">
                      <a:noAutofit/>
                    </a:bodyPr>
                    <a:lstStyle/>
                    <a:p>
                      <a:pPr algn="l">
                        <a:lnSpc>
                          <a:spcPct val="118000"/>
                        </a:lnSpc>
                        <a:buNone/>
                      </a:pPr>
                      <a:r>
                        <a:rPr sz="1800" b="1">
                          <a:solidFill>
                            <a:srgbClr val="173E67"/>
                          </a:solidFill>
                          <a:latin typeface="Microsoft YaHei"/>
                          <a:ea typeface="Microsoft YaHei"/>
                          <a:cs typeface="Microsoft YaHei"/>
                        </a:rPr>
                        <a:t>引出的研究问题</a:t>
                      </a:r>
                    </a:p>
                  </a:txBody>
                  <a:tcPr marL="91440" marR="91440" marT="45720" marB="45720" anchor="ctr">
                    <a:solidFill>
                      <a:srgbClr val="EDF2F6"/>
                    </a:solidFill>
                  </a:tcPr>
                </a:tc>
              </a:tr>
              <a:tr h="1158875">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物理反馈可以改善终点</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同512来源中，plain / restored / detached</a:t>
                      </a:r>
                    </a:p>
                    <a:p>
                      <a:pPr algn="l">
                        <a:lnSpc>
                          <a:spcPct val="118000"/>
                        </a:lnSpc>
                        <a:buNone/>
                      </a:pPr>
                      <a:r>
                        <a:rPr sz="1725" b="0">
                          <a:solidFill>
                            <a:srgbClr val="1B2533"/>
                          </a:solidFill>
                          <a:latin typeface="Microsoft YaHei"/>
                          <a:ea typeface="Microsoft YaHei"/>
                          <a:cs typeface="Microsoft YaHei"/>
                        </a:rPr>
                        <a:t>已知稳定数76 / 85 / 86</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哪些变化促成新增稳定终点？</a:t>
                      </a:r>
                    </a:p>
                  </a:txBody>
                  <a:tcPr marL="91440" marR="91440" marT="45720" marB="45720" anchor="ctr">
                    <a:solidFill>
                      <a:srgbClr val="FFFFFF"/>
                    </a:solidFill>
                  </a:tcPr>
                </a:tc>
              </a:tr>
              <a:tr h="1158875">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动作变化未必增加成功</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PDE18：128个DEV父来源，512配对</a:t>
                      </a:r>
                    </a:p>
                    <a:p>
                      <a:pPr algn="l">
                        <a:lnSpc>
                          <a:spcPct val="118000"/>
                        </a:lnSpc>
                        <a:buNone/>
                      </a:pPr>
                      <a:r>
                        <a:rPr sz="1725" b="0">
                          <a:solidFill>
                            <a:srgbClr val="1B2533"/>
                          </a:solidFill>
                          <a:latin typeface="Microsoft YaHei"/>
                          <a:ea typeface="Microsoft YaHei"/>
                          <a:cs typeface="Microsoft YaHei"/>
                        </a:rPr>
                        <a:t>严格稳定 gain / loss = 0 / 0</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反馈应支持什么有用决定？</a:t>
                      </a:r>
                    </a:p>
                  </a:txBody>
                  <a:tcPr marL="91440" marR="91440" marT="45720" marB="45720" anchor="ctr">
                    <a:solidFill>
                      <a:srgbClr val="FFFFFF"/>
                    </a:solidFill>
                  </a:tcPr>
                </a:tc>
              </a:tr>
              <a:tr h="1158875">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稳定与SUN的差距</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PDE22：86个稳定尝试，58个稳定新颖</a:t>
                      </a:r>
                    </a:p>
                    <a:p>
                      <a:pPr algn="l">
                        <a:lnSpc>
                          <a:spcPct val="118000"/>
                        </a:lnSpc>
                        <a:buNone/>
                      </a:pPr>
                      <a:r>
                        <a:rPr sz="1725" b="0">
                          <a:solidFill>
                            <a:srgbClr val="1B2533"/>
                          </a:solidFill>
                          <a:latin typeface="Microsoft YaHei"/>
                          <a:ea typeface="Microsoft YaHei"/>
                          <a:cs typeface="Microsoft YaHei"/>
                        </a:rPr>
                        <a:t>最终53个独特SUN类别</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稳定性、新颖性、重复各损失多少？</a:t>
                      </a:r>
                    </a:p>
                  </a:txBody>
                  <a:tcPr marL="91440" marR="91440" marT="45720" marB="45720" anchor="ctr">
                    <a:solidFill>
                      <a:srgbClr val="FFFFFF"/>
                    </a:solidFill>
                  </a:tcPr>
                </a:tc>
              </a:tr>
            </a:tbl>
          </a:graphicData>
        </a:graphic>
      </p:graphicFrame>
      <p:sp>
        <p:nvSpPr>
          <p:cNvPr id="3" name="conclusion">
            <a:extLst xmlns:a="http://schemas.openxmlformats.org/drawingml/2006/main">
              <a:ext uri="{FF2B5EF4-FFF2-40B4-BE49-F238E27FC236}">
                <a16:creationId xmlns:a16="http://schemas.microsoft.com/office/drawing/2014/main" id="{04B08CB6-57D0-425E-BEA3-D7E9B670763B}"/>
              </a:ext>
            </a:extLst>
          </p:cNvPr>
          <p:cNvSpPr>
            <a:spLocks xmlns:a="http://schemas.openxmlformats.org/drawingml/2006/main" noGrp="1"/>
          </p:cNvSpPr>
          <p:nvPr/>
        </p:nvSpPr>
        <p:spPr>
          <a:xfrm xmlns:a="http://schemas.openxmlformats.org/drawingml/2006/main">
            <a:off x="609600" y="5619750"/>
            <a:ext cx="109728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73E67"/>
                </a:solidFill>
                <a:latin typeface="Microsoft YaHei"/>
                <a:ea typeface="Microsoft YaHei"/>
                <a:cs typeface="Microsoft YaHei"/>
              </a:defRPr>
            </a:defPPr>
          </a:lstStyle>
          <a:p xmlns:a="http://schemas.openxmlformats.org/drawingml/2006/main">
            <a:pPr algn="l">
              <a:lnSpc>
                <a:spcPct val="118000"/>
              </a:lnSpc>
              <a:buNone/>
              <a:defRPr sz="1725" b="0">
                <a:solidFill>
                  <a:srgbClr val="173E67"/>
                </a:solidFill>
                <a:latin typeface="Microsoft YaHei"/>
                <a:ea typeface="Microsoft YaHei"/>
                <a:cs typeface="Microsoft YaHei"/>
              </a:defRPr>
            </a:pPr>
            <a:r>
              <a:rPr sz="1725" b="0">
                <a:solidFill>
                  <a:srgbClr val="173E67"/>
                </a:solidFill>
                <a:latin typeface="Microsoft YaHei"/>
                <a:ea typeface="Microsoft YaHei"/>
                <a:cs typeface="Microsoft YaHei"/>
              </a:rPr>
              <a:t>这些是项目已有观察。四个新方向的算法结果需要分别建立。</a:t>
            </a:r>
          </a:p>
        </p:txBody>
      </p:sp>
      <p:sp>
        <p:nvSpPr>
          <p:cNvPr id="4" name="separator">
            <a:extLst xmlns:a="http://schemas.openxmlformats.org/drawingml/2006/main">
              <a:ext uri="{FF2B5EF4-FFF2-40B4-BE49-F238E27FC236}">
                <a16:creationId xmlns:a16="http://schemas.microsoft.com/office/drawing/2014/main" id="{9D20315B-D887-4A91-82CC-59142C99D564}"/>
              </a:ext>
            </a:extLst>
          </p:cNvPr>
          <p:cNvSpPr>
            <a:spLocks xmlns:a="http://schemas.openxmlformats.org/drawingml/2006/main" noGrp="1"/>
          </p:cNvSpPr>
          <p:nvPr/>
        </p:nvSpPr>
        <p:spPr>
          <a:xfrm xmlns:a="http://schemas.openxmlformats.org/drawingml/2006/main">
            <a:off x="609600" y="6200775"/>
            <a:ext cx="10972800" cy="0"/>
          </a:xfrm>
          <a:prstGeom xmlns:a="http://schemas.openxmlformats.org/drawingml/2006/main" prst="line">
            <a:avLst/>
          </a:prstGeom>
          <a:ln xmlns:a="http://schemas.openxmlformats.org/drawingml/2006/main" w="9525">
            <a:solidFill>
              <a:srgbClr val="D5DCE3"/>
            </a:solidFill>
          </a:ln>
        </p:spPr>
      </p:sp>
      <p:sp>
        <p:nvSpPr>
          <p:cNvPr id="5" name="sources">
            <a:extLst xmlns:a="http://schemas.openxmlformats.org/drawingml/2006/main">
              <a:ext uri="{FF2B5EF4-FFF2-40B4-BE49-F238E27FC236}">
                <a16:creationId xmlns:a16="http://schemas.microsoft.com/office/drawing/2014/main" id="{3D5788A6-AD52-48BE-B805-686CF9F93376}"/>
              </a:ext>
            </a:extLst>
          </p:cNvPr>
          <p:cNvSpPr>
            <a:spLocks xmlns:a="http://schemas.openxmlformats.org/drawingml/2006/main" noGrp="1"/>
          </p:cNvSpPr>
          <p:nvPr/>
        </p:nvSpPr>
        <p:spPr>
          <a:xfrm xmlns:a="http://schemas.openxmlformats.org/drawingml/2006/main">
            <a:off x="609600" y="6353175"/>
            <a:ext cx="10363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13" b="0">
                <a:solidFill>
                  <a:srgbClr val="526170"/>
                </a:solidFill>
                <a:latin typeface="Microsoft YaHei"/>
                <a:ea typeface="Microsoft YaHei"/>
                <a:cs typeface="Microsoft YaHei"/>
              </a:defRPr>
            </a:defPPr>
          </a:lstStyle>
          <a:p xmlns:a="http://schemas.openxmlformats.org/drawingml/2006/main">
            <a:pPr algn="l">
              <a:lnSpc>
                <a:spcPct val="118000"/>
              </a:lnSpc>
              <a:buNone/>
              <a:defRPr sz="1013" b="0">
                <a:solidFill>
                  <a:srgbClr val="526170"/>
                </a:solidFill>
                <a:latin typeface="Microsoft YaHei"/>
                <a:ea typeface="Microsoft YaHei"/>
                <a:cs typeface="Microsoft YaHei"/>
              </a:defRPr>
            </a:pPr>
            <a:r>
              <a:rPr sz="1013" b="0">
                <a:solidFill>
                  <a:srgbClr val="526170"/>
                </a:solidFill>
                <a:latin typeface="Microsoft YaHei"/>
                <a:ea typeface="Microsoft YaHei"/>
                <a:cs typeface="Microsoft YaHei"/>
              </a:rPr>
              <a:t>项目历史证据：crystal/evidence/historical-evidence.md。每臂能量未知状态保留。</a:t>
            </a:r>
          </a:p>
        </p:txBody>
      </p:sp>
      <p:sp>
        <p:nvSpPr>
          <p:cNvPr id="6" name="page-number">
            <a:extLst xmlns:a="http://schemas.openxmlformats.org/drawingml/2006/main">
              <a:ext uri="{FF2B5EF4-FFF2-40B4-BE49-F238E27FC236}">
                <a16:creationId xmlns:a16="http://schemas.microsoft.com/office/drawing/2014/main" id="{C0F9671D-0FC4-40D8-BCE3-7FF332081C4E}"/>
              </a:ext>
            </a:extLst>
          </p:cNvPr>
          <p:cNvSpPr>
            <a:spLocks xmlns:a="http://schemas.openxmlformats.org/drawingml/2006/main" noGrp="1"/>
          </p:cNvSpPr>
          <p:nvPr/>
        </p:nvSpPr>
        <p:spPr>
          <a:xfrm xmlns:a="http://schemas.openxmlformats.org/drawingml/2006/main">
            <a:off x="11334750" y="6334125"/>
            <a:ext cx="266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26170"/>
                </a:solidFill>
                <a:latin typeface="Microsoft YaHei"/>
                <a:ea typeface="Microsoft YaHei"/>
                <a:cs typeface="Microsoft YaHei"/>
              </a:defRPr>
            </a:defPPr>
          </a:lstStyle>
          <a:p xmlns:a="http://schemas.openxmlformats.org/drawingml/2006/main">
            <a:pPr algn="r">
              <a:lnSpc>
                <a:spcPct val="118000"/>
              </a:lnSpc>
              <a:buNone/>
              <a:defRPr sz="1275" b="0">
                <a:solidFill>
                  <a:srgbClr val="526170"/>
                </a:solidFill>
                <a:latin typeface="Microsoft YaHei"/>
                <a:ea typeface="Microsoft YaHei"/>
                <a:cs typeface="Microsoft YaHei"/>
              </a:defRPr>
            </a:pPr>
            <a:r>
              <a:rPr sz="1275" b="0">
                <a:solidFill>
                  <a:srgbClr val="526170"/>
                </a:solidFill>
                <a:latin typeface="Microsoft YaHei"/>
                <a:ea typeface="Microsoft YaHei"/>
                <a:cs typeface="Microsoft YaHei"/>
              </a:rPr>
              <a:t>16</a:t>
            </a:r>
          </a:p>
        </p:txBody>
      </p:sp>
    </p:spTree>
    <p:extLst>
      <p:ext uri="{BB962C8B-B14F-4D97-AF65-F5344CB8AC3E}">
        <p14:creationId xmlns:p14="http://schemas.microsoft.com/office/powerpoint/2010/main" val="1213488831"/>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slide-title">
            <a:extLst xmlns:a="http://schemas.openxmlformats.org/drawingml/2006/main">
              <a:ext uri="{FF2B5EF4-FFF2-40B4-BE49-F238E27FC236}">
                <a16:creationId xmlns:a16="http://schemas.microsoft.com/office/drawing/2014/main" id="{D3B5039D-A522-4045-9E7D-A3EAFB8FBCF6}"/>
              </a:ext>
            </a:extLst>
          </p:cNvPr>
          <p:cNvSpPr>
            <a:spLocks xmlns:a="http://schemas.openxmlformats.org/drawingml/2006/main" noGrp="1"/>
          </p:cNvSpPr>
          <p:nvPr/>
        </p:nvSpPr>
        <p:spPr>
          <a:xfrm xmlns:a="http://schemas.openxmlformats.org/drawingml/2006/main">
            <a:off x="609600" y="36195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73E67"/>
                </a:solidFill>
                <a:latin typeface="Microsoft YaHei"/>
                <a:ea typeface="Microsoft YaHei"/>
                <a:cs typeface="Microsoft YaHei"/>
              </a:defRPr>
            </a:defPPr>
          </a:lstStyle>
          <a:p xmlns:a="http://schemas.openxmlformats.org/drawingml/2006/main">
            <a:pPr algn="l">
              <a:lnSpc>
                <a:spcPct val="118000"/>
              </a:lnSpc>
              <a:buNone/>
              <a:defRPr sz="3150" b="1">
                <a:solidFill>
                  <a:srgbClr val="173E67"/>
                </a:solidFill>
                <a:latin typeface="Microsoft YaHei"/>
                <a:ea typeface="Microsoft YaHei"/>
                <a:cs typeface="Microsoft YaHei"/>
              </a:defRPr>
            </a:pPr>
            <a:r>
              <a:rPr sz="3150" b="1">
                <a:solidFill>
                  <a:srgbClr val="173E67"/>
                </a:solidFill>
                <a:latin typeface="Microsoft YaHei"/>
                <a:ea typeface="Microsoft YaHei"/>
                <a:cs typeface="Microsoft YaHei"/>
              </a:rPr>
              <a:t>挑战1与2：条件如何实现，决定如何修订</a:t>
            </a:r>
          </a:p>
        </p:txBody>
      </p:sp>
      <p:sp>
        <p:nvSpPr>
          <p:cNvPr id="2" name="text">
            <a:extLst xmlns:a="http://schemas.openxmlformats.org/drawingml/2006/main">
              <a:ext uri="{FF2B5EF4-FFF2-40B4-BE49-F238E27FC236}">
                <a16:creationId xmlns:a16="http://schemas.microsoft.com/office/drawing/2014/main" id="{83707557-9021-40B7-A5F9-4A5A3C82B549}"/>
              </a:ext>
            </a:extLst>
          </p:cNvPr>
          <p:cNvSpPr>
            <a:spLocks xmlns:a="http://schemas.openxmlformats.org/drawingml/2006/main" noGrp="1"/>
          </p:cNvSpPr>
          <p:nvPr/>
        </p:nvSpPr>
        <p:spPr>
          <a:xfrm xmlns:a="http://schemas.openxmlformats.org/drawingml/2006/main">
            <a:off x="609600" y="145732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73E67"/>
                </a:solidFill>
                <a:latin typeface="Microsoft YaHei"/>
                <a:ea typeface="Microsoft YaHei"/>
                <a:cs typeface="Microsoft YaHei"/>
              </a:defRPr>
            </a:defPPr>
          </a:lstStyle>
          <a:p xmlns:a="http://schemas.openxmlformats.org/drawingml/2006/main">
            <a:pPr algn="l">
              <a:lnSpc>
                <a:spcPct val="118000"/>
              </a:lnSpc>
              <a:buNone/>
              <a:defRPr sz="2175" b="1">
                <a:solidFill>
                  <a:srgbClr val="173E67"/>
                </a:solidFill>
                <a:latin typeface="Microsoft YaHei"/>
                <a:ea typeface="Microsoft YaHei"/>
                <a:cs typeface="Microsoft YaHei"/>
              </a:defRPr>
            </a:pPr>
            <a:r>
              <a:rPr sz="2175" b="1">
                <a:solidFill>
                  <a:srgbClr val="173E67"/>
                </a:solidFill>
                <a:latin typeface="Microsoft YaHei"/>
                <a:ea typeface="Microsoft YaHei"/>
                <a:cs typeface="Microsoft YaHei"/>
              </a:rPr>
              <a:t>C1  科学要求怎样得到正确的物理结构？</a:t>
            </a:r>
          </a:p>
        </p:txBody>
      </p:sp>
      <p:sp>
        <p:nvSpPr>
          <p:cNvPr id="3" name="text">
            <a:extLst xmlns:a="http://schemas.openxmlformats.org/drawingml/2006/main">
              <a:ext uri="{FF2B5EF4-FFF2-40B4-BE49-F238E27FC236}">
                <a16:creationId xmlns:a16="http://schemas.microsoft.com/office/drawing/2014/main" id="{957EA455-24AF-4651-8F67-3D7AD087C8D2}"/>
              </a:ext>
            </a:extLst>
          </p:cNvPr>
          <p:cNvSpPr>
            <a:spLocks xmlns:a="http://schemas.openxmlformats.org/drawingml/2006/main" noGrp="1"/>
          </p:cNvSpPr>
          <p:nvPr/>
        </p:nvSpPr>
        <p:spPr>
          <a:xfrm xmlns:a="http://schemas.openxmlformats.org/drawingml/2006/main">
            <a:off x="609600" y="20383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1B2533"/>
                </a:solidFill>
                <a:latin typeface="Microsoft YaHei"/>
                <a:ea typeface="Microsoft YaHei"/>
                <a:cs typeface="Microsoft YaHei"/>
              </a:defRPr>
            </a:defPPr>
          </a:lstStyle>
          <a:p xmlns:a="http://schemas.openxmlformats.org/drawingml/2006/main">
            <a:pPr algn="l">
              <a:lnSpc>
                <a:spcPct val="118000"/>
              </a:lnSpc>
              <a:buNone/>
              <a:defRPr sz="1950" b="0">
                <a:solidFill>
                  <a:srgbClr val="1B2533"/>
                </a:solidFill>
                <a:latin typeface="Microsoft YaHei"/>
                <a:ea typeface="Microsoft YaHei"/>
                <a:cs typeface="Microsoft YaHei"/>
              </a:defRPr>
            </a:pPr>
            <a:r>
              <a:rPr sz="1950" b="0">
                <a:solidFill>
                  <a:srgbClr val="1B2533"/>
                </a:solidFill>
                <a:latin typeface="Microsoft YaHei"/>
                <a:ea typeface="Microsoft YaHei"/>
                <a:cs typeface="Microsoft YaHei"/>
              </a:rPr>
              <a:t>性质条件、对称约束和语言描述已经能影响生成。</a:t>
            </a:r>
          </a:p>
        </p:txBody>
      </p:sp>
      <p:sp>
        <p:nvSpPr>
          <p:cNvPr id="4" name="text">
            <a:extLst xmlns:a="http://schemas.openxmlformats.org/drawingml/2006/main">
              <a:ext uri="{FF2B5EF4-FFF2-40B4-BE49-F238E27FC236}">
                <a16:creationId xmlns:a16="http://schemas.microsoft.com/office/drawing/2014/main" id="{9F799000-DC7C-473D-BB86-690438C44661}"/>
              </a:ext>
            </a:extLst>
          </p:cNvPr>
          <p:cNvSpPr>
            <a:spLocks xmlns:a="http://schemas.openxmlformats.org/drawingml/2006/main" noGrp="1"/>
          </p:cNvSpPr>
          <p:nvPr/>
        </p:nvSpPr>
        <p:spPr>
          <a:xfrm xmlns:a="http://schemas.openxmlformats.org/drawingml/2006/main">
            <a:off x="609600" y="253365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1B2533"/>
                </a:solidFill>
                <a:latin typeface="Microsoft YaHei"/>
                <a:ea typeface="Microsoft YaHei"/>
                <a:cs typeface="Microsoft YaHei"/>
              </a:defRPr>
            </a:defPPr>
          </a:lstStyle>
          <a:p xmlns:a="http://schemas.openxmlformats.org/drawingml/2006/main">
            <a:pPr algn="l">
              <a:lnSpc>
                <a:spcPct val="118000"/>
              </a:lnSpc>
              <a:buNone/>
              <a:defRPr sz="1950" b="0">
                <a:solidFill>
                  <a:srgbClr val="1B2533"/>
                </a:solidFill>
                <a:latin typeface="Microsoft YaHei"/>
                <a:ea typeface="Microsoft YaHei"/>
                <a:cs typeface="Microsoft YaHei"/>
              </a:defRPr>
            </a:pPr>
            <a:r>
              <a:rPr sz="1950" b="0">
                <a:solidFill>
                  <a:srgbClr val="1B2533"/>
                </a:solidFill>
                <a:latin typeface="Microsoft YaHei"/>
                <a:ea typeface="Microsoft YaHei"/>
                <a:cs typeface="Microsoft YaHei"/>
              </a:rPr>
              <a:t>当前要解释：方案选择、条件传递与几何实现，哪一步限制了结果？</a:t>
            </a:r>
          </a:p>
        </p:txBody>
      </p:sp>
      <p:sp>
        <p:nvSpPr>
          <p:cNvPr id="5" name="text">
            <a:extLst xmlns:a="http://schemas.openxmlformats.org/drawingml/2006/main">
              <a:ext uri="{FF2B5EF4-FFF2-40B4-BE49-F238E27FC236}">
                <a16:creationId xmlns:a16="http://schemas.microsoft.com/office/drawing/2014/main" id="{A3D89CFE-2C29-469C-9CA0-58FD99BF09A3}"/>
              </a:ext>
            </a:extLst>
          </p:cNvPr>
          <p:cNvSpPr>
            <a:spLocks xmlns:a="http://schemas.openxmlformats.org/drawingml/2006/main" noGrp="1"/>
          </p:cNvSpPr>
          <p:nvPr/>
        </p:nvSpPr>
        <p:spPr>
          <a:xfrm xmlns:a="http://schemas.openxmlformats.org/drawingml/2006/main">
            <a:off x="609600" y="34575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73E67"/>
                </a:solidFill>
                <a:latin typeface="Microsoft YaHei"/>
                <a:ea typeface="Microsoft YaHei"/>
                <a:cs typeface="Microsoft YaHei"/>
              </a:defRPr>
            </a:defPPr>
          </a:lstStyle>
          <a:p xmlns:a="http://schemas.openxmlformats.org/drawingml/2006/main">
            <a:pPr algn="l">
              <a:lnSpc>
                <a:spcPct val="118000"/>
              </a:lnSpc>
              <a:buNone/>
              <a:defRPr sz="2175" b="1">
                <a:solidFill>
                  <a:srgbClr val="173E67"/>
                </a:solidFill>
                <a:latin typeface="Microsoft YaHei"/>
                <a:ea typeface="Microsoft YaHei"/>
                <a:cs typeface="Microsoft YaHei"/>
              </a:defRPr>
            </a:pPr>
            <a:r>
              <a:rPr sz="2175" b="1">
                <a:solidFill>
                  <a:srgbClr val="173E67"/>
                </a:solidFill>
                <a:latin typeface="Microsoft YaHei"/>
                <a:ea typeface="Microsoft YaHei"/>
                <a:cs typeface="Microsoft YaHei"/>
              </a:rPr>
              <a:t>C2  互相依赖的决定何时确定？</a:t>
            </a:r>
          </a:p>
        </p:txBody>
      </p:sp>
      <p:sp>
        <p:nvSpPr>
          <p:cNvPr id="6" name="text">
            <a:extLst xmlns:a="http://schemas.openxmlformats.org/drawingml/2006/main">
              <a:ext uri="{FF2B5EF4-FFF2-40B4-BE49-F238E27FC236}">
                <a16:creationId xmlns:a16="http://schemas.microsoft.com/office/drawing/2014/main" id="{BE771F12-5156-407D-90A7-F78628A4342B}"/>
              </a:ext>
            </a:extLst>
          </p:cNvPr>
          <p:cNvSpPr>
            <a:spLocks xmlns:a="http://schemas.openxmlformats.org/drawingml/2006/main" noGrp="1"/>
          </p:cNvSpPr>
          <p:nvPr/>
        </p:nvSpPr>
        <p:spPr>
          <a:xfrm xmlns:a="http://schemas.openxmlformats.org/drawingml/2006/main">
            <a:off x="609600" y="403860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1B2533"/>
                </a:solidFill>
                <a:latin typeface="Microsoft YaHei"/>
                <a:ea typeface="Microsoft YaHei"/>
                <a:cs typeface="Microsoft YaHei"/>
              </a:defRPr>
            </a:defPPr>
          </a:lstStyle>
          <a:p xmlns:a="http://schemas.openxmlformats.org/drawingml/2006/main">
            <a:pPr algn="l">
              <a:lnSpc>
                <a:spcPct val="118000"/>
              </a:lnSpc>
              <a:buNone/>
              <a:defRPr sz="1950" b="0">
                <a:solidFill>
                  <a:srgbClr val="1B2533"/>
                </a:solidFill>
                <a:latin typeface="Microsoft YaHei"/>
                <a:ea typeface="Microsoft YaHei"/>
                <a:cs typeface="Microsoft YaHei"/>
              </a:defRPr>
            </a:pPr>
            <a:r>
              <a:rPr sz="1950" b="0">
                <a:solidFill>
                  <a:srgbClr val="1B2533"/>
                </a:solidFill>
                <a:latin typeface="Microsoft YaHei"/>
                <a:ea typeface="Microsoft YaHei"/>
                <a:cs typeface="Microsoft YaHei"/>
              </a:rPr>
              <a:t>联合扩散和多模态flow已经处理化学与几何依赖。</a:t>
            </a:r>
          </a:p>
        </p:txBody>
      </p:sp>
      <p:sp>
        <p:nvSpPr>
          <p:cNvPr id="7" name="text">
            <a:extLst xmlns:a="http://schemas.openxmlformats.org/drawingml/2006/main">
              <a:ext uri="{FF2B5EF4-FFF2-40B4-BE49-F238E27FC236}">
                <a16:creationId xmlns:a16="http://schemas.microsoft.com/office/drawing/2014/main" id="{C18A48A5-CDB9-4D63-894F-40BE1C4451FF}"/>
              </a:ext>
            </a:extLst>
          </p:cNvPr>
          <p:cNvSpPr>
            <a:spLocks xmlns:a="http://schemas.openxmlformats.org/drawingml/2006/main" noGrp="1"/>
          </p:cNvSpPr>
          <p:nvPr/>
        </p:nvSpPr>
        <p:spPr>
          <a:xfrm xmlns:a="http://schemas.openxmlformats.org/drawingml/2006/main">
            <a:off x="609600" y="453390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1B2533"/>
                </a:solidFill>
                <a:latin typeface="Microsoft YaHei"/>
                <a:ea typeface="Microsoft YaHei"/>
                <a:cs typeface="Microsoft YaHei"/>
              </a:defRPr>
            </a:defPPr>
          </a:lstStyle>
          <a:p xmlns:a="http://schemas.openxmlformats.org/drawingml/2006/main">
            <a:pPr algn="l">
              <a:lnSpc>
                <a:spcPct val="118000"/>
              </a:lnSpc>
              <a:buNone/>
              <a:defRPr sz="1950" b="0">
                <a:solidFill>
                  <a:srgbClr val="1B2533"/>
                </a:solidFill>
                <a:latin typeface="Microsoft YaHei"/>
                <a:ea typeface="Microsoft YaHei"/>
                <a:cs typeface="Microsoft YaHei"/>
              </a:defRPr>
            </a:pPr>
            <a:r>
              <a:rPr sz="1950" b="0">
                <a:solidFill>
                  <a:srgbClr val="1B2533"/>
                </a:solidFill>
                <a:latin typeface="Microsoft YaHei"/>
                <a:ea typeface="Microsoft YaHei"/>
                <a:cs typeface="Microsoft YaHei"/>
              </a:rPr>
              <a:t>当前要解释：哪些元素或占位选择需要后续几何证据帮助修订？</a:t>
            </a:r>
          </a:p>
        </p:txBody>
      </p:sp>
      <p:sp>
        <p:nvSpPr>
          <p:cNvPr id="8" name="conclusion">
            <a:extLst xmlns:a="http://schemas.openxmlformats.org/drawingml/2006/main">
              <a:ext uri="{FF2B5EF4-FFF2-40B4-BE49-F238E27FC236}">
                <a16:creationId xmlns:a16="http://schemas.microsoft.com/office/drawing/2014/main" id="{179CA147-E236-4DCF-8D57-E95FBD4EB6A0}"/>
              </a:ext>
            </a:extLst>
          </p:cNvPr>
          <p:cNvSpPr>
            <a:spLocks xmlns:a="http://schemas.openxmlformats.org/drawingml/2006/main" noGrp="1"/>
          </p:cNvSpPr>
          <p:nvPr/>
        </p:nvSpPr>
        <p:spPr>
          <a:xfrm xmlns:a="http://schemas.openxmlformats.org/drawingml/2006/main">
            <a:off x="609600" y="5715000"/>
            <a:ext cx="109728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73E67"/>
                </a:solidFill>
                <a:latin typeface="Microsoft YaHei"/>
                <a:ea typeface="Microsoft YaHei"/>
                <a:cs typeface="Microsoft YaHei"/>
              </a:defRPr>
            </a:defPPr>
          </a:lstStyle>
          <a:p xmlns:a="http://schemas.openxmlformats.org/drawingml/2006/main">
            <a:pPr algn="l">
              <a:lnSpc>
                <a:spcPct val="118000"/>
              </a:lnSpc>
              <a:buNone/>
              <a:defRPr sz="1725" b="0">
                <a:solidFill>
                  <a:srgbClr val="173E67"/>
                </a:solidFill>
                <a:latin typeface="Microsoft YaHei"/>
                <a:ea typeface="Microsoft YaHei"/>
                <a:cs typeface="Microsoft YaHei"/>
              </a:defRPr>
            </a:pPr>
            <a:r>
              <a:rPr sz="1725" b="0">
                <a:solidFill>
                  <a:srgbClr val="173E67"/>
                </a:solidFill>
                <a:latin typeface="Microsoft YaHei"/>
                <a:ea typeface="Microsoft YaHei"/>
                <a:cs typeface="Microsoft YaHei"/>
              </a:rPr>
              <a:t>两项挑战共同支持方向A：让化学选择与几何生成相互提供信息。</a:t>
            </a:r>
          </a:p>
        </p:txBody>
      </p:sp>
      <p:sp>
        <p:nvSpPr>
          <p:cNvPr id="9" name="separator">
            <a:extLst xmlns:a="http://schemas.openxmlformats.org/drawingml/2006/main">
              <a:ext uri="{FF2B5EF4-FFF2-40B4-BE49-F238E27FC236}">
                <a16:creationId xmlns:a16="http://schemas.microsoft.com/office/drawing/2014/main" id="{676E25A1-E07D-4CC1-A986-0EE45086D475}"/>
              </a:ext>
            </a:extLst>
          </p:cNvPr>
          <p:cNvSpPr>
            <a:spLocks xmlns:a="http://schemas.openxmlformats.org/drawingml/2006/main" noGrp="1"/>
          </p:cNvSpPr>
          <p:nvPr/>
        </p:nvSpPr>
        <p:spPr>
          <a:xfrm xmlns:a="http://schemas.openxmlformats.org/drawingml/2006/main">
            <a:off x="609600" y="6200775"/>
            <a:ext cx="10972800" cy="0"/>
          </a:xfrm>
          <a:prstGeom xmlns:a="http://schemas.openxmlformats.org/drawingml/2006/main" prst="line">
            <a:avLst/>
          </a:prstGeom>
          <a:ln xmlns:a="http://schemas.openxmlformats.org/drawingml/2006/main" w="9525">
            <a:solidFill>
              <a:srgbClr val="D5DCE3"/>
            </a:solidFill>
          </a:ln>
        </p:spPr>
      </p:sp>
      <p:sp>
        <p:nvSpPr>
          <p:cNvPr id="10" name="sources">
            <a:extLst xmlns:a="http://schemas.openxmlformats.org/drawingml/2006/main">
              <a:ext uri="{FF2B5EF4-FFF2-40B4-BE49-F238E27FC236}">
                <a16:creationId xmlns:a16="http://schemas.microsoft.com/office/drawing/2014/main" id="{3C044E13-7969-4840-92B3-F6B8A0DB329A}"/>
              </a:ext>
            </a:extLst>
          </p:cNvPr>
          <p:cNvSpPr>
            <a:spLocks xmlns:a="http://schemas.openxmlformats.org/drawingml/2006/main" noGrp="1"/>
          </p:cNvSpPr>
          <p:nvPr/>
        </p:nvSpPr>
        <p:spPr>
          <a:xfrm xmlns:a="http://schemas.openxmlformats.org/drawingml/2006/main">
            <a:off x="609600" y="6353175"/>
            <a:ext cx="10363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13" b="0">
                <a:solidFill>
                  <a:srgbClr val="526170"/>
                </a:solidFill>
                <a:latin typeface="Microsoft YaHei"/>
                <a:ea typeface="Microsoft YaHei"/>
                <a:cs typeface="Microsoft YaHei"/>
              </a:defRPr>
            </a:defPPr>
          </a:lstStyle>
          <a:p xmlns:a="http://schemas.openxmlformats.org/drawingml/2006/main">
            <a:pPr algn="l">
              <a:lnSpc>
                <a:spcPct val="118000"/>
              </a:lnSpc>
              <a:buNone/>
              <a:defRPr sz="1013" b="0">
                <a:solidFill>
                  <a:srgbClr val="526170"/>
                </a:solidFill>
                <a:latin typeface="Microsoft YaHei"/>
                <a:ea typeface="Microsoft YaHei"/>
                <a:cs typeface="Microsoft YaHei"/>
              </a:defRPr>
            </a:pPr>
            <a:r>
              <a:rPr sz="1013" b="0">
                <a:solidFill>
                  <a:srgbClr val="526170"/>
                </a:solidFill>
                <a:latin typeface="Microsoft YaHei"/>
                <a:ea typeface="Microsoft YaHei"/>
                <a:cs typeface="Microsoft YaHei"/>
              </a:rPr>
              <a:t>DiffCSP；MatterGen；FlowLLM；CrysLLMGen；MCFlow。挑战表述为综述综合。</a:t>
            </a:r>
          </a:p>
        </p:txBody>
      </p:sp>
      <p:sp>
        <p:nvSpPr>
          <p:cNvPr id="11" name="page-number">
            <a:extLst xmlns:a="http://schemas.openxmlformats.org/drawingml/2006/main">
              <a:ext uri="{FF2B5EF4-FFF2-40B4-BE49-F238E27FC236}">
                <a16:creationId xmlns:a16="http://schemas.microsoft.com/office/drawing/2014/main" id="{C4AFEDE1-D89C-4563-9B47-B68F2324527A}"/>
              </a:ext>
            </a:extLst>
          </p:cNvPr>
          <p:cNvSpPr>
            <a:spLocks xmlns:a="http://schemas.openxmlformats.org/drawingml/2006/main" noGrp="1"/>
          </p:cNvSpPr>
          <p:nvPr/>
        </p:nvSpPr>
        <p:spPr>
          <a:xfrm xmlns:a="http://schemas.openxmlformats.org/drawingml/2006/main">
            <a:off x="11334750" y="6334125"/>
            <a:ext cx="266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26170"/>
                </a:solidFill>
                <a:latin typeface="Microsoft YaHei"/>
                <a:ea typeface="Microsoft YaHei"/>
                <a:cs typeface="Microsoft YaHei"/>
              </a:defRPr>
            </a:defPPr>
          </a:lstStyle>
          <a:p xmlns:a="http://schemas.openxmlformats.org/drawingml/2006/main">
            <a:pPr algn="r">
              <a:lnSpc>
                <a:spcPct val="118000"/>
              </a:lnSpc>
              <a:buNone/>
              <a:defRPr sz="1275" b="0">
                <a:solidFill>
                  <a:srgbClr val="526170"/>
                </a:solidFill>
                <a:latin typeface="Microsoft YaHei"/>
                <a:ea typeface="Microsoft YaHei"/>
                <a:cs typeface="Microsoft YaHei"/>
              </a:defRPr>
            </a:pPr>
            <a:r>
              <a:rPr sz="1275" b="0">
                <a:solidFill>
                  <a:srgbClr val="526170"/>
                </a:solidFill>
                <a:latin typeface="Microsoft YaHei"/>
                <a:ea typeface="Microsoft YaHei"/>
                <a:cs typeface="Microsoft YaHei"/>
              </a:rPr>
              <a:t>17</a:t>
            </a:r>
          </a:p>
        </p:txBody>
      </p:sp>
    </p:spTree>
    <p:extLst>
      <p:ext uri="{BB962C8B-B14F-4D97-AF65-F5344CB8AC3E}">
        <p14:creationId xmlns:p14="http://schemas.microsoft.com/office/powerpoint/2010/main" val="2008284048"/>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slide-title">
            <a:extLst xmlns:a="http://schemas.openxmlformats.org/drawingml/2006/main">
              <a:ext uri="{FF2B5EF4-FFF2-40B4-BE49-F238E27FC236}">
                <a16:creationId xmlns:a16="http://schemas.microsoft.com/office/drawing/2014/main" id="{80B41806-3AE1-43E2-9D21-C6892184E77A}"/>
              </a:ext>
            </a:extLst>
          </p:cNvPr>
          <p:cNvSpPr>
            <a:spLocks xmlns:a="http://schemas.openxmlformats.org/drawingml/2006/main" noGrp="1"/>
          </p:cNvSpPr>
          <p:nvPr/>
        </p:nvSpPr>
        <p:spPr>
          <a:xfrm xmlns:a="http://schemas.openxmlformats.org/drawingml/2006/main">
            <a:off x="609600" y="36195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73E67"/>
                </a:solidFill>
                <a:latin typeface="Microsoft YaHei"/>
                <a:ea typeface="Microsoft YaHei"/>
                <a:cs typeface="Microsoft YaHei"/>
              </a:defRPr>
            </a:defPPr>
          </a:lstStyle>
          <a:p xmlns:a="http://schemas.openxmlformats.org/drawingml/2006/main">
            <a:pPr algn="l">
              <a:lnSpc>
                <a:spcPct val="118000"/>
              </a:lnSpc>
              <a:buNone/>
              <a:defRPr sz="3150" b="1">
                <a:solidFill>
                  <a:srgbClr val="173E67"/>
                </a:solidFill>
                <a:latin typeface="Microsoft YaHei"/>
                <a:ea typeface="Microsoft YaHei"/>
                <a:cs typeface="Microsoft YaHei"/>
              </a:defRPr>
            </a:pPr>
            <a:r>
              <a:rPr sz="3150" b="1">
                <a:solidFill>
                  <a:srgbClr val="173E67"/>
                </a:solidFill>
                <a:latin typeface="Microsoft YaHei"/>
                <a:ea typeface="Microsoft YaHei"/>
                <a:cs typeface="Microsoft YaHei"/>
              </a:rPr>
              <a:t>挑战3：局部规律怎样组成周期整体</a:t>
            </a:r>
          </a:p>
        </p:txBody>
      </p:sp>
      <p:sp>
        <p:nvSpPr>
          <p:cNvPr id="2" name="lead">
            <a:extLst xmlns:a="http://schemas.openxmlformats.org/drawingml/2006/main">
              <a:ext uri="{FF2B5EF4-FFF2-40B4-BE49-F238E27FC236}">
                <a16:creationId xmlns:a16="http://schemas.microsoft.com/office/drawing/2014/main" id="{628E9ACB-7E63-4D39-88CD-7036AAE7D377}"/>
              </a:ext>
            </a:extLst>
          </p:cNvPr>
          <p:cNvSpPr>
            <a:spLocks xmlns:a="http://schemas.openxmlformats.org/drawingml/2006/main" noGrp="1"/>
          </p:cNvSpPr>
          <p:nvPr/>
        </p:nvSpPr>
        <p:spPr>
          <a:xfrm xmlns:a="http://schemas.openxmlformats.org/drawingml/2006/main">
            <a:off x="609600" y="11049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B2533"/>
                </a:solidFill>
                <a:latin typeface="Microsoft YaHei"/>
                <a:ea typeface="Microsoft YaHei"/>
                <a:cs typeface="Microsoft YaHei"/>
              </a:defRPr>
            </a:defPPr>
          </a:lstStyle>
          <a:p xmlns:a="http://schemas.openxmlformats.org/drawingml/2006/main">
            <a:pPr algn="l">
              <a:lnSpc>
                <a:spcPct val="118000"/>
              </a:lnSpc>
              <a:buNone/>
              <a:defRPr sz="2025" b="0">
                <a:solidFill>
                  <a:srgbClr val="1B2533"/>
                </a:solidFill>
                <a:latin typeface="Microsoft YaHei"/>
                <a:ea typeface="Microsoft YaHei"/>
                <a:cs typeface="Microsoft YaHei"/>
              </a:defRPr>
            </a:pPr>
            <a:r>
              <a:rPr sz="2025" b="0">
                <a:solidFill>
                  <a:srgbClr val="1B2533"/>
                </a:solidFill>
                <a:latin typeface="Microsoft YaHei"/>
                <a:ea typeface="Microsoft YaHei"/>
                <a:cs typeface="Microsoft YaHei"/>
              </a:rPr>
              <a:t>相邻环境共享原子、键和晶胞，各自合理的要求可能互相冲突。</a:t>
            </a:r>
          </a:p>
        </p:txBody>
      </p:sp>
      <p:sp>
        <p:nvSpPr>
          <p:cNvPr id="3" name="text">
            <a:extLst xmlns:a="http://schemas.openxmlformats.org/drawingml/2006/main">
              <a:ext uri="{FF2B5EF4-FFF2-40B4-BE49-F238E27FC236}">
                <a16:creationId xmlns:a16="http://schemas.microsoft.com/office/drawing/2014/main" id="{279A7CE9-20E8-4A75-A24E-E922BEB8D6EF}"/>
              </a:ext>
            </a:extLst>
          </p:cNvPr>
          <p:cNvSpPr>
            <a:spLocks xmlns:a="http://schemas.openxmlformats.org/drawingml/2006/main" noGrp="1"/>
          </p:cNvSpPr>
          <p:nvPr/>
        </p:nvSpPr>
        <p:spPr>
          <a:xfrm xmlns:a="http://schemas.openxmlformats.org/drawingml/2006/main">
            <a:off x="609600" y="2095500"/>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73E67"/>
                </a:solidFill>
                <a:latin typeface="Microsoft YaHei"/>
                <a:ea typeface="Microsoft YaHei"/>
                <a:cs typeface="Microsoft YaHei"/>
              </a:defRPr>
            </a:defPPr>
          </a:lstStyle>
          <a:p xmlns:a="http://schemas.openxmlformats.org/drawingml/2006/main">
            <a:pPr algn="l">
              <a:lnSpc>
                <a:spcPct val="118000"/>
              </a:lnSpc>
              <a:buNone/>
              <a:defRPr sz="1950" b="1">
                <a:solidFill>
                  <a:srgbClr val="173E67"/>
                </a:solidFill>
                <a:latin typeface="Microsoft YaHei"/>
                <a:ea typeface="Microsoft YaHei"/>
                <a:cs typeface="Microsoft YaHei"/>
              </a:defRPr>
            </a:pPr>
            <a:r>
              <a:rPr sz="1950" b="1">
                <a:solidFill>
                  <a:srgbClr val="173E67"/>
                </a:solidFill>
                <a:latin typeface="Microsoft YaHei"/>
                <a:ea typeface="Microsoft YaHei"/>
                <a:cs typeface="Microsoft YaHei"/>
              </a:rPr>
              <a:t>已有基础</a:t>
            </a:r>
          </a:p>
        </p:txBody>
      </p:sp>
      <p:sp>
        <p:nvSpPr>
          <p:cNvPr id="4" name="text">
            <a:extLst xmlns:a="http://schemas.openxmlformats.org/drawingml/2006/main">
              <a:ext uri="{FF2B5EF4-FFF2-40B4-BE49-F238E27FC236}">
                <a16:creationId xmlns:a16="http://schemas.microsoft.com/office/drawing/2014/main" id="{FCD0CA56-B586-40D7-98C9-752D38DBB232}"/>
              </a:ext>
            </a:extLst>
          </p:cNvPr>
          <p:cNvSpPr>
            <a:spLocks xmlns:a="http://schemas.openxmlformats.org/drawingml/2006/main" noGrp="1"/>
          </p:cNvSpPr>
          <p:nvPr/>
        </p:nvSpPr>
        <p:spPr>
          <a:xfrm xmlns:a="http://schemas.openxmlformats.org/drawingml/2006/main">
            <a:off x="2514600" y="2095500"/>
            <a:ext cx="9067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1B2533"/>
                </a:solidFill>
                <a:latin typeface="Microsoft YaHei"/>
                <a:ea typeface="Microsoft YaHei"/>
                <a:cs typeface="Microsoft YaHei"/>
              </a:defRPr>
            </a:defPPr>
          </a:lstStyle>
          <a:p xmlns:a="http://schemas.openxmlformats.org/drawingml/2006/main">
            <a:pPr algn="l">
              <a:lnSpc>
                <a:spcPct val="118000"/>
              </a:lnSpc>
              <a:buNone/>
              <a:defRPr sz="1950" b="0">
                <a:solidFill>
                  <a:srgbClr val="1B2533"/>
                </a:solidFill>
                <a:latin typeface="Microsoft YaHei"/>
                <a:ea typeface="Microsoft YaHei"/>
                <a:cs typeface="Microsoft YaHei"/>
              </a:defRPr>
            </a:pPr>
            <a:r>
              <a:rPr sz="1950" b="0">
                <a:solidFill>
                  <a:srgbClr val="1B2533"/>
                </a:solidFill>
                <a:latin typeface="Microsoft YaHei"/>
                <a:ea typeface="Microsoft YaHei"/>
                <a:cs typeface="Microsoft YaHei"/>
              </a:rPr>
              <a:t>图模型与通用势学习局部环境。对称和概念条件让局部关系进入生成过程。</a:t>
            </a:r>
          </a:p>
        </p:txBody>
      </p:sp>
      <p:sp>
        <p:nvSpPr>
          <p:cNvPr id="5" name="text">
            <a:extLst xmlns:a="http://schemas.openxmlformats.org/drawingml/2006/main">
              <a:ext uri="{FF2B5EF4-FFF2-40B4-BE49-F238E27FC236}">
                <a16:creationId xmlns:a16="http://schemas.microsoft.com/office/drawing/2014/main" id="{9AD1F3E2-A3DB-4F51-9BB6-FD19A2A41A49}"/>
              </a:ext>
            </a:extLst>
          </p:cNvPr>
          <p:cNvSpPr>
            <a:spLocks xmlns:a="http://schemas.openxmlformats.org/drawingml/2006/main" noGrp="1"/>
          </p:cNvSpPr>
          <p:nvPr/>
        </p:nvSpPr>
        <p:spPr>
          <a:xfrm xmlns:a="http://schemas.openxmlformats.org/drawingml/2006/main">
            <a:off x="609600" y="3352800"/>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73E67"/>
                </a:solidFill>
                <a:latin typeface="Microsoft YaHei"/>
                <a:ea typeface="Microsoft YaHei"/>
                <a:cs typeface="Microsoft YaHei"/>
              </a:defRPr>
            </a:defPPr>
          </a:lstStyle>
          <a:p xmlns:a="http://schemas.openxmlformats.org/drawingml/2006/main">
            <a:pPr algn="l">
              <a:lnSpc>
                <a:spcPct val="118000"/>
              </a:lnSpc>
              <a:buNone/>
              <a:defRPr sz="1950" b="1">
                <a:solidFill>
                  <a:srgbClr val="173E67"/>
                </a:solidFill>
                <a:latin typeface="Microsoft YaHei"/>
                <a:ea typeface="Microsoft YaHei"/>
                <a:cs typeface="Microsoft YaHei"/>
              </a:defRPr>
            </a:pPr>
            <a:r>
              <a:rPr sz="1950" b="1">
                <a:solidFill>
                  <a:srgbClr val="173E67"/>
                </a:solidFill>
                <a:latin typeface="Microsoft YaHei"/>
                <a:ea typeface="Microsoft YaHei"/>
                <a:cs typeface="Microsoft YaHei"/>
              </a:rPr>
              <a:t>当前困难</a:t>
            </a:r>
          </a:p>
        </p:txBody>
      </p:sp>
      <p:sp>
        <p:nvSpPr>
          <p:cNvPr id="6" name="text">
            <a:extLst xmlns:a="http://schemas.openxmlformats.org/drawingml/2006/main">
              <a:ext uri="{FF2B5EF4-FFF2-40B4-BE49-F238E27FC236}">
                <a16:creationId xmlns:a16="http://schemas.microsoft.com/office/drawing/2014/main" id="{4FFEE34A-C35F-4ED3-BB49-81818BD1EB7D}"/>
              </a:ext>
            </a:extLst>
          </p:cNvPr>
          <p:cNvSpPr>
            <a:spLocks xmlns:a="http://schemas.openxmlformats.org/drawingml/2006/main" noGrp="1"/>
          </p:cNvSpPr>
          <p:nvPr/>
        </p:nvSpPr>
        <p:spPr>
          <a:xfrm xmlns:a="http://schemas.openxmlformats.org/drawingml/2006/main">
            <a:off x="2514600" y="3352800"/>
            <a:ext cx="9067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1B2533"/>
                </a:solidFill>
                <a:latin typeface="Microsoft YaHei"/>
                <a:ea typeface="Microsoft YaHei"/>
                <a:cs typeface="Microsoft YaHei"/>
              </a:defRPr>
            </a:defPPr>
          </a:lstStyle>
          <a:p xmlns:a="http://schemas.openxmlformats.org/drawingml/2006/main">
            <a:pPr algn="l">
              <a:lnSpc>
                <a:spcPct val="118000"/>
              </a:lnSpc>
              <a:buNone/>
              <a:defRPr sz="1950" b="0">
                <a:solidFill>
                  <a:srgbClr val="1B2533"/>
                </a:solidFill>
                <a:latin typeface="Microsoft YaHei"/>
                <a:ea typeface="Microsoft YaHei"/>
                <a:cs typeface="Microsoft YaHei"/>
              </a:defRPr>
            </a:pPr>
            <a:r>
              <a:rPr sz="1950" b="0">
                <a:solidFill>
                  <a:srgbClr val="1B2533"/>
                </a:solidFill>
                <a:latin typeface="Microsoft YaHei"/>
                <a:ea typeface="Microsoft YaHei"/>
                <a:cs typeface="Microsoft YaHei"/>
              </a:rPr>
              <a:t>局部配位需要满足整体计量、周期连接和应变要求，随后还要面对相竞争。</a:t>
            </a:r>
          </a:p>
        </p:txBody>
      </p:sp>
      <p:sp>
        <p:nvSpPr>
          <p:cNvPr id="7" name="text">
            <a:extLst xmlns:a="http://schemas.openxmlformats.org/drawingml/2006/main">
              <a:ext uri="{FF2B5EF4-FFF2-40B4-BE49-F238E27FC236}">
                <a16:creationId xmlns:a16="http://schemas.microsoft.com/office/drawing/2014/main" id="{3853D6B6-76D6-4F0E-9411-C05366A7C789}"/>
              </a:ext>
            </a:extLst>
          </p:cNvPr>
          <p:cNvSpPr>
            <a:spLocks xmlns:a="http://schemas.openxmlformats.org/drawingml/2006/main" noGrp="1"/>
          </p:cNvSpPr>
          <p:nvPr/>
        </p:nvSpPr>
        <p:spPr>
          <a:xfrm xmlns:a="http://schemas.openxmlformats.org/drawingml/2006/main">
            <a:off x="609600" y="4610100"/>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73E67"/>
                </a:solidFill>
                <a:latin typeface="Microsoft YaHei"/>
                <a:ea typeface="Microsoft YaHei"/>
                <a:cs typeface="Microsoft YaHei"/>
              </a:defRPr>
            </a:defPPr>
          </a:lstStyle>
          <a:p xmlns:a="http://schemas.openxmlformats.org/drawingml/2006/main">
            <a:pPr algn="l">
              <a:lnSpc>
                <a:spcPct val="118000"/>
              </a:lnSpc>
              <a:buNone/>
              <a:defRPr sz="1950" b="1">
                <a:solidFill>
                  <a:srgbClr val="173E67"/>
                </a:solidFill>
                <a:latin typeface="Microsoft YaHei"/>
                <a:ea typeface="Microsoft YaHei"/>
                <a:cs typeface="Microsoft YaHei"/>
              </a:defRPr>
            </a:pPr>
            <a:r>
              <a:rPr sz="1950" b="1">
                <a:solidFill>
                  <a:srgbClr val="173E67"/>
                </a:solidFill>
                <a:latin typeface="Microsoft YaHei"/>
                <a:ea typeface="Microsoft YaHei"/>
                <a:cs typeface="Microsoft YaHei"/>
              </a:rPr>
              <a:t>方向B的问题</a:t>
            </a:r>
          </a:p>
        </p:txBody>
      </p:sp>
      <p:sp>
        <p:nvSpPr>
          <p:cNvPr id="8" name="text">
            <a:extLst xmlns:a="http://schemas.openxmlformats.org/drawingml/2006/main">
              <a:ext uri="{FF2B5EF4-FFF2-40B4-BE49-F238E27FC236}">
                <a16:creationId xmlns:a16="http://schemas.microsoft.com/office/drawing/2014/main" id="{25EA98A3-0684-4408-ABA7-54F07720BCC1}"/>
              </a:ext>
            </a:extLst>
          </p:cNvPr>
          <p:cNvSpPr>
            <a:spLocks xmlns:a="http://schemas.openxmlformats.org/drawingml/2006/main" noGrp="1"/>
          </p:cNvSpPr>
          <p:nvPr/>
        </p:nvSpPr>
        <p:spPr>
          <a:xfrm xmlns:a="http://schemas.openxmlformats.org/drawingml/2006/main">
            <a:off x="2514600" y="4610100"/>
            <a:ext cx="9067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1B2533"/>
                </a:solidFill>
                <a:latin typeface="Microsoft YaHei"/>
                <a:ea typeface="Microsoft YaHei"/>
                <a:cs typeface="Microsoft YaHei"/>
              </a:defRPr>
            </a:defPPr>
          </a:lstStyle>
          <a:p xmlns:a="http://schemas.openxmlformats.org/drawingml/2006/main">
            <a:pPr algn="l">
              <a:lnSpc>
                <a:spcPct val="118000"/>
              </a:lnSpc>
              <a:buNone/>
              <a:defRPr sz="1950" b="0">
                <a:solidFill>
                  <a:srgbClr val="1B2533"/>
                </a:solidFill>
                <a:latin typeface="Microsoft YaHei"/>
                <a:ea typeface="Microsoft YaHei"/>
                <a:cs typeface="Microsoft YaHei"/>
              </a:defRPr>
            </a:pPr>
            <a:r>
              <a:rPr sz="1950" b="0">
                <a:solidFill>
                  <a:srgbClr val="1B2533"/>
                </a:solidFill>
                <a:latin typeface="Microsoft YaHei"/>
                <a:ea typeface="Microsoft YaHei"/>
                <a:cs typeface="Microsoft YaHei"/>
              </a:rPr>
              <a:t>模型能否把熟悉的局部知识用于新的化学或连接方式，并产生稳定整体？</a:t>
            </a:r>
          </a:p>
        </p:txBody>
      </p:sp>
      <p:sp>
        <p:nvSpPr>
          <p:cNvPr id="9" name="separator">
            <a:extLst xmlns:a="http://schemas.openxmlformats.org/drawingml/2006/main">
              <a:ext uri="{FF2B5EF4-FFF2-40B4-BE49-F238E27FC236}">
                <a16:creationId xmlns:a16="http://schemas.microsoft.com/office/drawing/2014/main" id="{9D8AD3B6-16F6-42BA-9AD8-70D806118D26}"/>
              </a:ext>
            </a:extLst>
          </p:cNvPr>
          <p:cNvSpPr>
            <a:spLocks xmlns:a="http://schemas.openxmlformats.org/drawingml/2006/main" noGrp="1"/>
          </p:cNvSpPr>
          <p:nvPr/>
        </p:nvSpPr>
        <p:spPr>
          <a:xfrm xmlns:a="http://schemas.openxmlformats.org/drawingml/2006/main">
            <a:off x="609600" y="6200775"/>
            <a:ext cx="10972800" cy="0"/>
          </a:xfrm>
          <a:prstGeom xmlns:a="http://schemas.openxmlformats.org/drawingml/2006/main" prst="line">
            <a:avLst/>
          </a:prstGeom>
          <a:ln xmlns:a="http://schemas.openxmlformats.org/drawingml/2006/main" w="9525">
            <a:solidFill>
              <a:srgbClr val="D5DCE3"/>
            </a:solidFill>
          </a:ln>
        </p:spPr>
      </p:sp>
      <p:sp>
        <p:nvSpPr>
          <p:cNvPr id="10" name="sources">
            <a:extLst xmlns:a="http://schemas.openxmlformats.org/drawingml/2006/main">
              <a:ext uri="{FF2B5EF4-FFF2-40B4-BE49-F238E27FC236}">
                <a16:creationId xmlns:a16="http://schemas.microsoft.com/office/drawing/2014/main" id="{6E854199-0632-4517-9135-8BEBBC517B18}"/>
              </a:ext>
            </a:extLst>
          </p:cNvPr>
          <p:cNvSpPr>
            <a:spLocks xmlns:a="http://schemas.openxmlformats.org/drawingml/2006/main" noGrp="1"/>
          </p:cNvSpPr>
          <p:nvPr/>
        </p:nvSpPr>
        <p:spPr>
          <a:xfrm xmlns:a="http://schemas.openxmlformats.org/drawingml/2006/main">
            <a:off x="609600" y="6353175"/>
            <a:ext cx="10363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13" b="0">
                <a:solidFill>
                  <a:srgbClr val="526170"/>
                </a:solidFill>
                <a:latin typeface="Microsoft YaHei"/>
                <a:ea typeface="Microsoft YaHei"/>
                <a:cs typeface="Microsoft YaHei"/>
              </a:defRPr>
            </a:defPPr>
          </a:lstStyle>
          <a:p xmlns:a="http://schemas.openxmlformats.org/drawingml/2006/main">
            <a:pPr algn="l">
              <a:lnSpc>
                <a:spcPct val="118000"/>
              </a:lnSpc>
              <a:buNone/>
              <a:defRPr sz="1013" b="0">
                <a:solidFill>
                  <a:srgbClr val="526170"/>
                </a:solidFill>
                <a:latin typeface="Microsoft YaHei"/>
                <a:ea typeface="Microsoft YaHei"/>
                <a:cs typeface="Microsoft YaHei"/>
              </a:defRPr>
            </a:pPr>
            <a:r>
              <a:rPr sz="1013" b="0">
                <a:solidFill>
                  <a:srgbClr val="526170"/>
                </a:solidFill>
                <a:latin typeface="Microsoft YaHei"/>
                <a:ea typeface="Microsoft YaHei"/>
                <a:cs typeface="Microsoft YaHei"/>
              </a:rPr>
              <a:t>CGCNN；M3GNet / CHGNet；SCIGEN；Composable Crystals；UFO-MGen（后两项为2026预印本）</a:t>
            </a:r>
          </a:p>
        </p:txBody>
      </p:sp>
      <p:sp>
        <p:nvSpPr>
          <p:cNvPr id="11" name="page-number">
            <a:extLst xmlns:a="http://schemas.openxmlformats.org/drawingml/2006/main">
              <a:ext uri="{FF2B5EF4-FFF2-40B4-BE49-F238E27FC236}">
                <a16:creationId xmlns:a16="http://schemas.microsoft.com/office/drawing/2014/main" id="{CF9D7BE4-6356-4BB8-9B82-BDA0350CD228}"/>
              </a:ext>
            </a:extLst>
          </p:cNvPr>
          <p:cNvSpPr>
            <a:spLocks xmlns:a="http://schemas.openxmlformats.org/drawingml/2006/main" noGrp="1"/>
          </p:cNvSpPr>
          <p:nvPr/>
        </p:nvSpPr>
        <p:spPr>
          <a:xfrm xmlns:a="http://schemas.openxmlformats.org/drawingml/2006/main">
            <a:off x="11334750" y="6334125"/>
            <a:ext cx="266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26170"/>
                </a:solidFill>
                <a:latin typeface="Microsoft YaHei"/>
                <a:ea typeface="Microsoft YaHei"/>
                <a:cs typeface="Microsoft YaHei"/>
              </a:defRPr>
            </a:defPPr>
          </a:lstStyle>
          <a:p xmlns:a="http://schemas.openxmlformats.org/drawingml/2006/main">
            <a:pPr algn="r">
              <a:lnSpc>
                <a:spcPct val="118000"/>
              </a:lnSpc>
              <a:buNone/>
              <a:defRPr sz="1275" b="0">
                <a:solidFill>
                  <a:srgbClr val="526170"/>
                </a:solidFill>
                <a:latin typeface="Microsoft YaHei"/>
                <a:ea typeface="Microsoft YaHei"/>
                <a:cs typeface="Microsoft YaHei"/>
              </a:defRPr>
            </a:pPr>
            <a:r>
              <a:rPr sz="1275" b="0">
                <a:solidFill>
                  <a:srgbClr val="526170"/>
                </a:solidFill>
                <a:latin typeface="Microsoft YaHei"/>
                <a:ea typeface="Microsoft YaHei"/>
                <a:cs typeface="Microsoft YaHei"/>
              </a:rPr>
              <a:t>18</a:t>
            </a:r>
          </a:p>
        </p:txBody>
      </p:sp>
    </p:spTree>
    <p:extLst>
      <p:ext uri="{BB962C8B-B14F-4D97-AF65-F5344CB8AC3E}">
        <p14:creationId xmlns:p14="http://schemas.microsoft.com/office/powerpoint/2010/main" val="80111478"/>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slide-title">
            <a:extLst xmlns:a="http://schemas.openxmlformats.org/drawingml/2006/main">
              <a:ext uri="{FF2B5EF4-FFF2-40B4-BE49-F238E27FC236}">
                <a16:creationId xmlns:a16="http://schemas.microsoft.com/office/drawing/2014/main" id="{F5CE4EE2-4B4F-42F1-B549-4C1CD098F114}"/>
              </a:ext>
            </a:extLst>
          </p:cNvPr>
          <p:cNvSpPr>
            <a:spLocks xmlns:a="http://schemas.openxmlformats.org/drawingml/2006/main" noGrp="1"/>
          </p:cNvSpPr>
          <p:nvPr/>
        </p:nvSpPr>
        <p:spPr>
          <a:xfrm xmlns:a="http://schemas.openxmlformats.org/drawingml/2006/main">
            <a:off x="609600" y="36195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73E67"/>
                </a:solidFill>
                <a:latin typeface="Microsoft YaHei"/>
                <a:ea typeface="Microsoft YaHei"/>
                <a:cs typeface="Microsoft YaHei"/>
              </a:defRPr>
            </a:defPPr>
          </a:lstStyle>
          <a:p xmlns:a="http://schemas.openxmlformats.org/drawingml/2006/main">
            <a:pPr algn="l">
              <a:lnSpc>
                <a:spcPct val="118000"/>
              </a:lnSpc>
              <a:buNone/>
              <a:defRPr sz="3150" b="1">
                <a:solidFill>
                  <a:srgbClr val="173E67"/>
                </a:solidFill>
                <a:latin typeface="Microsoft YaHei"/>
                <a:ea typeface="Microsoft YaHei"/>
                <a:cs typeface="Microsoft YaHei"/>
              </a:defRPr>
            </a:pPr>
            <a:r>
              <a:rPr sz="3150" b="1">
                <a:solidFill>
                  <a:srgbClr val="173E67"/>
                </a:solidFill>
                <a:latin typeface="Microsoft YaHei"/>
                <a:ea typeface="Microsoft YaHei"/>
                <a:cs typeface="Microsoft YaHei"/>
              </a:rPr>
              <a:t>挑战4与6：物理计算怎样帮助后续生成</a:t>
            </a:r>
          </a:p>
        </p:txBody>
      </p:sp>
      <p:sp>
        <p:nvSpPr>
          <p:cNvPr id="2" name="text">
            <a:extLst xmlns:a="http://schemas.openxmlformats.org/drawingml/2006/main">
              <a:ext uri="{FF2B5EF4-FFF2-40B4-BE49-F238E27FC236}">
                <a16:creationId xmlns:a16="http://schemas.microsoft.com/office/drawing/2014/main" id="{2E3DC229-17DC-4960-8E4C-5A501867940B}"/>
              </a:ext>
            </a:extLst>
          </p:cNvPr>
          <p:cNvSpPr>
            <a:spLocks xmlns:a="http://schemas.openxmlformats.org/drawingml/2006/main" noGrp="1"/>
          </p:cNvSpPr>
          <p:nvPr/>
        </p:nvSpPr>
        <p:spPr>
          <a:xfrm xmlns:a="http://schemas.openxmlformats.org/drawingml/2006/main">
            <a:off x="609600" y="145732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73E67"/>
                </a:solidFill>
                <a:latin typeface="Microsoft YaHei"/>
                <a:ea typeface="Microsoft YaHei"/>
                <a:cs typeface="Microsoft YaHei"/>
              </a:defRPr>
            </a:defPPr>
          </a:lstStyle>
          <a:p xmlns:a="http://schemas.openxmlformats.org/drawingml/2006/main">
            <a:pPr algn="l">
              <a:lnSpc>
                <a:spcPct val="118000"/>
              </a:lnSpc>
              <a:buNone/>
              <a:defRPr sz="2175" b="1">
                <a:solidFill>
                  <a:srgbClr val="173E67"/>
                </a:solidFill>
                <a:latin typeface="Microsoft YaHei"/>
                <a:ea typeface="Microsoft YaHei"/>
                <a:cs typeface="Microsoft YaHei"/>
              </a:defRPr>
            </a:pPr>
            <a:r>
              <a:rPr sz="2175" b="1">
                <a:solidFill>
                  <a:srgbClr val="173E67"/>
                </a:solidFill>
                <a:latin typeface="Microsoft YaHei"/>
                <a:ea typeface="Microsoft YaHei"/>
                <a:cs typeface="Microsoft YaHei"/>
              </a:rPr>
              <a:t>C4  什么反馈能改变生成决定？</a:t>
            </a:r>
          </a:p>
        </p:txBody>
      </p:sp>
      <p:sp>
        <p:nvSpPr>
          <p:cNvPr id="3" name="text">
            <a:extLst xmlns:a="http://schemas.openxmlformats.org/drawingml/2006/main">
              <a:ext uri="{FF2B5EF4-FFF2-40B4-BE49-F238E27FC236}">
                <a16:creationId xmlns:a16="http://schemas.microsoft.com/office/drawing/2014/main" id="{724188E7-3B10-490C-8799-03A4200EAC6E}"/>
              </a:ext>
            </a:extLst>
          </p:cNvPr>
          <p:cNvSpPr>
            <a:spLocks xmlns:a="http://schemas.openxmlformats.org/drawingml/2006/main" noGrp="1"/>
          </p:cNvSpPr>
          <p:nvPr/>
        </p:nvSpPr>
        <p:spPr>
          <a:xfrm xmlns:a="http://schemas.openxmlformats.org/drawingml/2006/main">
            <a:off x="609600" y="20383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1B2533"/>
                </a:solidFill>
                <a:latin typeface="Microsoft YaHei"/>
                <a:ea typeface="Microsoft YaHei"/>
                <a:cs typeface="Microsoft YaHei"/>
              </a:defRPr>
            </a:defPPr>
          </a:lstStyle>
          <a:p xmlns:a="http://schemas.openxmlformats.org/drawingml/2006/main">
            <a:pPr algn="l">
              <a:lnSpc>
                <a:spcPct val="118000"/>
              </a:lnSpc>
              <a:buNone/>
              <a:defRPr sz="1950" b="0">
                <a:solidFill>
                  <a:srgbClr val="1B2533"/>
                </a:solidFill>
                <a:latin typeface="Microsoft YaHei"/>
                <a:ea typeface="Microsoft YaHei"/>
                <a:cs typeface="Microsoft YaHei"/>
              </a:defRPr>
            </a:pPr>
            <a:r>
              <a:rPr sz="1950" b="0">
                <a:solidFill>
                  <a:srgbClr val="1B2533"/>
                </a:solidFill>
                <a:latin typeface="Microsoft YaHei"/>
                <a:ea typeface="Microsoft YaHei"/>
                <a:cs typeface="Microsoft YaHei"/>
              </a:rPr>
              <a:t>物理搜索、引导和强化学习已能改变生成或搜索结果。</a:t>
            </a:r>
          </a:p>
        </p:txBody>
      </p:sp>
      <p:sp>
        <p:nvSpPr>
          <p:cNvPr id="4" name="text">
            <a:extLst xmlns:a="http://schemas.openxmlformats.org/drawingml/2006/main">
              <a:ext uri="{FF2B5EF4-FFF2-40B4-BE49-F238E27FC236}">
                <a16:creationId xmlns:a16="http://schemas.microsoft.com/office/drawing/2014/main" id="{19697BDD-EFCC-459C-9402-E6E80F30F54B}"/>
              </a:ext>
            </a:extLst>
          </p:cNvPr>
          <p:cNvSpPr>
            <a:spLocks xmlns:a="http://schemas.openxmlformats.org/drawingml/2006/main" noGrp="1"/>
          </p:cNvSpPr>
          <p:nvPr/>
        </p:nvSpPr>
        <p:spPr>
          <a:xfrm xmlns:a="http://schemas.openxmlformats.org/drawingml/2006/main">
            <a:off x="609600" y="253365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1B2533"/>
                </a:solidFill>
                <a:latin typeface="Microsoft YaHei"/>
                <a:ea typeface="Microsoft YaHei"/>
                <a:cs typeface="Microsoft YaHei"/>
              </a:defRPr>
            </a:defPPr>
          </a:lstStyle>
          <a:p xmlns:a="http://schemas.openxmlformats.org/drawingml/2006/main">
            <a:pPr algn="l">
              <a:lnSpc>
                <a:spcPct val="118000"/>
              </a:lnSpc>
              <a:buNone/>
              <a:defRPr sz="1950" b="0">
                <a:solidFill>
                  <a:srgbClr val="1B2533"/>
                </a:solidFill>
                <a:latin typeface="Microsoft YaHei"/>
                <a:ea typeface="Microsoft YaHei"/>
                <a:cs typeface="Microsoft YaHei"/>
              </a:defRPr>
            </a:pPr>
            <a:r>
              <a:rPr sz="1950" b="0">
                <a:solidFill>
                  <a:srgbClr val="1B2533"/>
                </a:solidFill>
                <a:latin typeface="Microsoft YaHei"/>
                <a:ea typeface="Microsoft YaHei"/>
                <a:cs typeface="Microsoft YaHei"/>
              </a:rPr>
              <a:t>困难在于将当前可计算的响应，对应到仍能改变终点的选择。</a:t>
            </a:r>
          </a:p>
        </p:txBody>
      </p:sp>
      <p:sp>
        <p:nvSpPr>
          <p:cNvPr id="5" name="text">
            <a:extLst xmlns:a="http://schemas.openxmlformats.org/drawingml/2006/main">
              <a:ext uri="{FF2B5EF4-FFF2-40B4-BE49-F238E27FC236}">
                <a16:creationId xmlns:a16="http://schemas.microsoft.com/office/drawing/2014/main" id="{4182574D-ACBB-44C0-9FFD-44781881086E}"/>
              </a:ext>
            </a:extLst>
          </p:cNvPr>
          <p:cNvSpPr>
            <a:spLocks xmlns:a="http://schemas.openxmlformats.org/drawingml/2006/main" noGrp="1"/>
          </p:cNvSpPr>
          <p:nvPr/>
        </p:nvSpPr>
        <p:spPr>
          <a:xfrm xmlns:a="http://schemas.openxmlformats.org/drawingml/2006/main">
            <a:off x="609600" y="34575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73E67"/>
                </a:solidFill>
                <a:latin typeface="Microsoft YaHei"/>
                <a:ea typeface="Microsoft YaHei"/>
                <a:cs typeface="Microsoft YaHei"/>
              </a:defRPr>
            </a:defPPr>
          </a:lstStyle>
          <a:p xmlns:a="http://schemas.openxmlformats.org/drawingml/2006/main">
            <a:pPr algn="l">
              <a:lnSpc>
                <a:spcPct val="118000"/>
              </a:lnSpc>
              <a:buNone/>
              <a:defRPr sz="2175" b="1">
                <a:solidFill>
                  <a:srgbClr val="173E67"/>
                </a:solidFill>
                <a:latin typeface="Microsoft YaHei"/>
                <a:ea typeface="Microsoft YaHei"/>
                <a:cs typeface="Microsoft YaHei"/>
              </a:defRPr>
            </a:pPr>
            <a:r>
              <a:rPr sz="2175" b="1">
                <a:solidFill>
                  <a:srgbClr val="173E67"/>
                </a:solidFill>
                <a:latin typeface="Microsoft YaHei"/>
                <a:ea typeface="Microsoft YaHei"/>
                <a:cs typeface="Microsoft YaHei"/>
              </a:rPr>
              <a:t>C6  一次计算能帮助多少新的材料？</a:t>
            </a:r>
          </a:p>
        </p:txBody>
      </p:sp>
      <p:sp>
        <p:nvSpPr>
          <p:cNvPr id="6" name="text">
            <a:extLst xmlns:a="http://schemas.openxmlformats.org/drawingml/2006/main">
              <a:ext uri="{FF2B5EF4-FFF2-40B4-BE49-F238E27FC236}">
                <a16:creationId xmlns:a16="http://schemas.microsoft.com/office/drawing/2014/main" id="{83D718C4-6BBE-4820-9392-ADC6D22A84F6}"/>
              </a:ext>
            </a:extLst>
          </p:cNvPr>
          <p:cNvSpPr>
            <a:spLocks xmlns:a="http://schemas.openxmlformats.org/drawingml/2006/main" noGrp="1"/>
          </p:cNvSpPr>
          <p:nvPr/>
        </p:nvSpPr>
        <p:spPr>
          <a:xfrm xmlns:a="http://schemas.openxmlformats.org/drawingml/2006/main">
            <a:off x="609600" y="403860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1B2533"/>
                </a:solidFill>
                <a:latin typeface="Microsoft YaHei"/>
                <a:ea typeface="Microsoft YaHei"/>
                <a:cs typeface="Microsoft YaHei"/>
              </a:defRPr>
            </a:defPPr>
          </a:lstStyle>
          <a:p xmlns:a="http://schemas.openxmlformats.org/drawingml/2006/main">
            <a:pPr algn="l">
              <a:lnSpc>
                <a:spcPct val="118000"/>
              </a:lnSpc>
              <a:buNone/>
              <a:defRPr sz="1950" b="0">
                <a:solidFill>
                  <a:srgbClr val="1B2533"/>
                </a:solidFill>
                <a:latin typeface="Microsoft YaHei"/>
                <a:ea typeface="Microsoft YaHei"/>
                <a:cs typeface="Microsoft YaHei"/>
              </a:defRPr>
            </a:pPr>
            <a:r>
              <a:rPr sz="1950" b="0">
                <a:solidFill>
                  <a:srgbClr val="1B2533"/>
                </a:solidFill>
                <a:latin typeface="Microsoft YaHei"/>
                <a:ea typeface="Microsoft YaHei"/>
                <a:cs typeface="Microsoft YaHei"/>
              </a:rPr>
              <a:t>数据回流与物理后训练已经改善模型。</a:t>
            </a:r>
          </a:p>
        </p:txBody>
      </p:sp>
      <p:sp>
        <p:nvSpPr>
          <p:cNvPr id="7" name="text">
            <a:extLst xmlns:a="http://schemas.openxmlformats.org/drawingml/2006/main">
              <a:ext uri="{FF2B5EF4-FFF2-40B4-BE49-F238E27FC236}">
                <a16:creationId xmlns:a16="http://schemas.microsoft.com/office/drawing/2014/main" id="{E4020E63-A5D9-424A-ADD1-A5D89975E760}"/>
              </a:ext>
            </a:extLst>
          </p:cNvPr>
          <p:cNvSpPr>
            <a:spLocks xmlns:a="http://schemas.openxmlformats.org/drawingml/2006/main" noGrp="1"/>
          </p:cNvSpPr>
          <p:nvPr/>
        </p:nvSpPr>
        <p:spPr>
          <a:xfrm xmlns:a="http://schemas.openxmlformats.org/drawingml/2006/main">
            <a:off x="609600" y="453390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1B2533"/>
                </a:solidFill>
                <a:latin typeface="Microsoft YaHei"/>
                <a:ea typeface="Microsoft YaHei"/>
                <a:cs typeface="Microsoft YaHei"/>
              </a:defRPr>
            </a:defPPr>
          </a:lstStyle>
          <a:p xmlns:a="http://schemas.openxmlformats.org/drawingml/2006/main">
            <a:pPr algn="l">
              <a:lnSpc>
                <a:spcPct val="118000"/>
              </a:lnSpc>
              <a:buNone/>
              <a:defRPr sz="1950" b="0">
                <a:solidFill>
                  <a:srgbClr val="1B2533"/>
                </a:solidFill>
                <a:latin typeface="Microsoft YaHei"/>
                <a:ea typeface="Microsoft YaHei"/>
                <a:cs typeface="Microsoft YaHei"/>
              </a:defRPr>
            </a:pPr>
            <a:r>
              <a:rPr sz="1950" b="0">
                <a:solidFill>
                  <a:srgbClr val="1B2533"/>
                </a:solidFill>
                <a:latin typeface="Microsoft YaHei"/>
                <a:ea typeface="Microsoft YaHei"/>
                <a:cs typeface="Microsoft YaHei"/>
              </a:rPr>
              <a:t>需要识别可迁移的响应关系，并检验它能否超出成功端点记忆。</a:t>
            </a:r>
          </a:p>
        </p:txBody>
      </p:sp>
      <p:sp>
        <p:nvSpPr>
          <p:cNvPr id="8" name="conclusion">
            <a:extLst xmlns:a="http://schemas.openxmlformats.org/drawingml/2006/main">
              <a:ext uri="{FF2B5EF4-FFF2-40B4-BE49-F238E27FC236}">
                <a16:creationId xmlns:a16="http://schemas.microsoft.com/office/drawing/2014/main" id="{65C4F8D4-D72A-4DBB-8E0D-7778D85AE94E}"/>
              </a:ext>
            </a:extLst>
          </p:cNvPr>
          <p:cNvSpPr>
            <a:spLocks xmlns:a="http://schemas.openxmlformats.org/drawingml/2006/main" noGrp="1"/>
          </p:cNvSpPr>
          <p:nvPr/>
        </p:nvSpPr>
        <p:spPr>
          <a:xfrm xmlns:a="http://schemas.openxmlformats.org/drawingml/2006/main">
            <a:off x="609600" y="5715000"/>
            <a:ext cx="109728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73E67"/>
                </a:solidFill>
                <a:latin typeface="Microsoft YaHei"/>
                <a:ea typeface="Microsoft YaHei"/>
                <a:cs typeface="Microsoft YaHei"/>
              </a:defRPr>
            </a:defPPr>
          </a:lstStyle>
          <a:p xmlns:a="http://schemas.openxmlformats.org/drawingml/2006/main">
            <a:pPr algn="l">
              <a:lnSpc>
                <a:spcPct val="118000"/>
              </a:lnSpc>
              <a:buNone/>
              <a:defRPr sz="1725" b="0">
                <a:solidFill>
                  <a:srgbClr val="173E67"/>
                </a:solidFill>
                <a:latin typeface="Microsoft YaHei"/>
                <a:ea typeface="Microsoft YaHei"/>
                <a:cs typeface="Microsoft YaHei"/>
              </a:defRPr>
            </a:pPr>
            <a:r>
              <a:rPr sz="1725" b="0">
                <a:solidFill>
                  <a:srgbClr val="173E67"/>
                </a:solidFill>
                <a:latin typeface="Microsoft YaHei"/>
                <a:ea typeface="Microsoft YaHei"/>
                <a:cs typeface="Microsoft YaHei"/>
              </a:rPr>
              <a:t>两项挑战共同支持方向C：学习结构变化与物理后果之间可复用的关系。</a:t>
            </a:r>
          </a:p>
        </p:txBody>
      </p:sp>
      <p:sp>
        <p:nvSpPr>
          <p:cNvPr id="9" name="separator">
            <a:extLst xmlns:a="http://schemas.openxmlformats.org/drawingml/2006/main">
              <a:ext uri="{FF2B5EF4-FFF2-40B4-BE49-F238E27FC236}">
                <a16:creationId xmlns:a16="http://schemas.microsoft.com/office/drawing/2014/main" id="{C996800A-19D5-40CB-BD97-13A85601464B}"/>
              </a:ext>
            </a:extLst>
          </p:cNvPr>
          <p:cNvSpPr>
            <a:spLocks xmlns:a="http://schemas.openxmlformats.org/drawingml/2006/main" noGrp="1"/>
          </p:cNvSpPr>
          <p:nvPr/>
        </p:nvSpPr>
        <p:spPr>
          <a:xfrm xmlns:a="http://schemas.openxmlformats.org/drawingml/2006/main">
            <a:off x="609600" y="6200775"/>
            <a:ext cx="10972800" cy="0"/>
          </a:xfrm>
          <a:prstGeom xmlns:a="http://schemas.openxmlformats.org/drawingml/2006/main" prst="line">
            <a:avLst/>
          </a:prstGeom>
          <a:ln xmlns:a="http://schemas.openxmlformats.org/drawingml/2006/main" w="9525">
            <a:solidFill>
              <a:srgbClr val="D5DCE3"/>
            </a:solidFill>
          </a:ln>
        </p:spPr>
      </p:sp>
      <p:sp>
        <p:nvSpPr>
          <p:cNvPr id="10" name="sources">
            <a:extLst xmlns:a="http://schemas.openxmlformats.org/drawingml/2006/main">
              <a:ext uri="{FF2B5EF4-FFF2-40B4-BE49-F238E27FC236}">
                <a16:creationId xmlns:a16="http://schemas.microsoft.com/office/drawing/2014/main" id="{9C6A2BE8-24F3-4D24-8E39-C8F527D68DDE}"/>
              </a:ext>
            </a:extLst>
          </p:cNvPr>
          <p:cNvSpPr>
            <a:spLocks xmlns:a="http://schemas.openxmlformats.org/drawingml/2006/main" noGrp="1"/>
          </p:cNvSpPr>
          <p:nvPr/>
        </p:nvSpPr>
        <p:spPr>
          <a:xfrm xmlns:a="http://schemas.openxmlformats.org/drawingml/2006/main">
            <a:off x="609600" y="6353175"/>
            <a:ext cx="10363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13" b="0">
                <a:solidFill>
                  <a:srgbClr val="526170"/>
                </a:solidFill>
                <a:latin typeface="Microsoft YaHei"/>
                <a:ea typeface="Microsoft YaHei"/>
                <a:cs typeface="Microsoft YaHei"/>
              </a:defRPr>
            </a:defPPr>
          </a:lstStyle>
          <a:p xmlns:a="http://schemas.openxmlformats.org/drawingml/2006/main">
            <a:pPr algn="l">
              <a:lnSpc>
                <a:spcPct val="118000"/>
              </a:lnSpc>
              <a:buNone/>
              <a:defRPr sz="1013" b="0">
                <a:solidFill>
                  <a:srgbClr val="526170"/>
                </a:solidFill>
                <a:latin typeface="Microsoft YaHei"/>
                <a:ea typeface="Microsoft YaHei"/>
                <a:cs typeface="Microsoft YaHei"/>
              </a:defRPr>
            </a:pPr>
            <a:r>
              <a:rPr sz="1013" b="0">
                <a:solidFill>
                  <a:srgbClr val="526170"/>
                </a:solidFill>
                <a:latin typeface="Microsoft YaHei"/>
                <a:ea typeface="Microsoft YaHei"/>
                <a:cs typeface="Microsoft YaHei"/>
              </a:rPr>
              <a:t>RL-CSP；GNoME；MatInvent；OMatG-IRL；GSS；OMatG-flash。</a:t>
            </a:r>
          </a:p>
        </p:txBody>
      </p:sp>
      <p:sp>
        <p:nvSpPr>
          <p:cNvPr id="11" name="page-number">
            <a:extLst xmlns:a="http://schemas.openxmlformats.org/drawingml/2006/main">
              <a:ext uri="{FF2B5EF4-FFF2-40B4-BE49-F238E27FC236}">
                <a16:creationId xmlns:a16="http://schemas.microsoft.com/office/drawing/2014/main" id="{099A8965-B230-4957-8104-46766F05A9FE}"/>
              </a:ext>
            </a:extLst>
          </p:cNvPr>
          <p:cNvSpPr>
            <a:spLocks xmlns:a="http://schemas.openxmlformats.org/drawingml/2006/main" noGrp="1"/>
          </p:cNvSpPr>
          <p:nvPr/>
        </p:nvSpPr>
        <p:spPr>
          <a:xfrm xmlns:a="http://schemas.openxmlformats.org/drawingml/2006/main">
            <a:off x="11334750" y="6334125"/>
            <a:ext cx="266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26170"/>
                </a:solidFill>
                <a:latin typeface="Microsoft YaHei"/>
                <a:ea typeface="Microsoft YaHei"/>
                <a:cs typeface="Microsoft YaHei"/>
              </a:defRPr>
            </a:defPPr>
          </a:lstStyle>
          <a:p xmlns:a="http://schemas.openxmlformats.org/drawingml/2006/main">
            <a:pPr algn="r">
              <a:lnSpc>
                <a:spcPct val="118000"/>
              </a:lnSpc>
              <a:buNone/>
              <a:defRPr sz="1275" b="0">
                <a:solidFill>
                  <a:srgbClr val="526170"/>
                </a:solidFill>
                <a:latin typeface="Microsoft YaHei"/>
                <a:ea typeface="Microsoft YaHei"/>
                <a:cs typeface="Microsoft YaHei"/>
              </a:defRPr>
            </a:pPr>
            <a:r>
              <a:rPr sz="1275" b="0">
                <a:solidFill>
                  <a:srgbClr val="526170"/>
                </a:solidFill>
                <a:latin typeface="Microsoft YaHei"/>
                <a:ea typeface="Microsoft YaHei"/>
                <a:cs typeface="Microsoft YaHei"/>
              </a:rPr>
              <a:t>19</a:t>
            </a:r>
          </a:p>
        </p:txBody>
      </p:sp>
    </p:spTree>
    <p:extLst>
      <p:ext uri="{BB962C8B-B14F-4D97-AF65-F5344CB8AC3E}">
        <p14:creationId xmlns:p14="http://schemas.microsoft.com/office/powerpoint/2010/main" val="423868372"/>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slide-title">
            <a:extLst xmlns:a="http://schemas.openxmlformats.org/drawingml/2006/main">
              <a:ext uri="{FF2B5EF4-FFF2-40B4-BE49-F238E27FC236}">
                <a16:creationId xmlns:a16="http://schemas.microsoft.com/office/drawing/2014/main" id="{52A7F113-E101-4450-A0BC-B52092924143}"/>
              </a:ext>
            </a:extLst>
          </p:cNvPr>
          <p:cNvSpPr>
            <a:spLocks xmlns:a="http://schemas.openxmlformats.org/drawingml/2006/main" noGrp="1"/>
          </p:cNvSpPr>
          <p:nvPr/>
        </p:nvSpPr>
        <p:spPr>
          <a:xfrm xmlns:a="http://schemas.openxmlformats.org/drawingml/2006/main">
            <a:off x="609600" y="36195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73E67"/>
                </a:solidFill>
                <a:latin typeface="Microsoft YaHei"/>
                <a:ea typeface="Microsoft YaHei"/>
                <a:cs typeface="Microsoft YaHei"/>
              </a:defRPr>
            </a:defPPr>
          </a:lstStyle>
          <a:p xmlns:a="http://schemas.openxmlformats.org/drawingml/2006/main">
            <a:pPr algn="l">
              <a:lnSpc>
                <a:spcPct val="118000"/>
              </a:lnSpc>
              <a:buNone/>
              <a:defRPr sz="3150" b="1">
                <a:solidFill>
                  <a:srgbClr val="173E67"/>
                </a:solidFill>
                <a:latin typeface="Microsoft YaHei"/>
                <a:ea typeface="Microsoft YaHei"/>
                <a:cs typeface="Microsoft YaHei"/>
              </a:defRPr>
            </a:pPr>
            <a:r>
              <a:rPr sz="3150" b="1">
                <a:solidFill>
                  <a:srgbClr val="173E67"/>
                </a:solidFill>
                <a:latin typeface="Microsoft YaHei"/>
                <a:ea typeface="Microsoft YaHei"/>
                <a:cs typeface="Microsoft YaHei"/>
              </a:rPr>
              <a:t>挑战5：怎样持续获得不同的合格结果</a:t>
            </a:r>
          </a:p>
        </p:txBody>
      </p:sp>
      <p:sp>
        <p:nvSpPr>
          <p:cNvPr id="2" name="lead">
            <a:extLst xmlns:a="http://schemas.openxmlformats.org/drawingml/2006/main">
              <a:ext uri="{FF2B5EF4-FFF2-40B4-BE49-F238E27FC236}">
                <a16:creationId xmlns:a16="http://schemas.microsoft.com/office/drawing/2014/main" id="{3EF7713D-576B-4D12-A7B0-3C63EB2ACB13}"/>
              </a:ext>
            </a:extLst>
          </p:cNvPr>
          <p:cNvSpPr>
            <a:spLocks xmlns:a="http://schemas.openxmlformats.org/drawingml/2006/main" noGrp="1"/>
          </p:cNvSpPr>
          <p:nvPr/>
        </p:nvSpPr>
        <p:spPr>
          <a:xfrm xmlns:a="http://schemas.openxmlformats.org/drawingml/2006/main">
            <a:off x="609600" y="11049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B2533"/>
                </a:solidFill>
                <a:latin typeface="Microsoft YaHei"/>
                <a:ea typeface="Microsoft YaHei"/>
                <a:cs typeface="Microsoft YaHei"/>
              </a:defRPr>
            </a:defPPr>
          </a:lstStyle>
          <a:p xmlns:a="http://schemas.openxmlformats.org/drawingml/2006/main">
            <a:pPr algn="l">
              <a:lnSpc>
                <a:spcPct val="118000"/>
              </a:lnSpc>
              <a:buNone/>
              <a:defRPr sz="2025" b="0">
                <a:solidFill>
                  <a:srgbClr val="1B2533"/>
                </a:solidFill>
                <a:latin typeface="Microsoft YaHei"/>
                <a:ea typeface="Microsoft YaHei"/>
                <a:cs typeface="Microsoft YaHei"/>
              </a:defRPr>
            </a:pPr>
            <a:r>
              <a:rPr sz="2025" b="0">
                <a:solidFill>
                  <a:srgbClr val="1B2533"/>
                </a:solidFill>
                <a:latin typeface="Microsoft YaHei"/>
                <a:ea typeface="Microsoft YaHei"/>
                <a:cs typeface="Microsoft YaHei"/>
              </a:rPr>
              <a:t>稳定性优化需要同时考虑新成功的出现与已有成功的保留。</a:t>
            </a:r>
          </a:p>
        </p:txBody>
      </p:sp>
      <p:sp>
        <p:nvSpPr>
          <p:cNvPr id="3" name="text">
            <a:extLst xmlns:a="http://schemas.openxmlformats.org/drawingml/2006/main">
              <a:ext uri="{FF2B5EF4-FFF2-40B4-BE49-F238E27FC236}">
                <a16:creationId xmlns:a16="http://schemas.microsoft.com/office/drawing/2014/main" id="{8AC9A677-9B2C-4D2A-9507-700533336933}"/>
              </a:ext>
            </a:extLst>
          </p:cNvPr>
          <p:cNvSpPr>
            <a:spLocks xmlns:a="http://schemas.openxmlformats.org/drawingml/2006/main" noGrp="1"/>
          </p:cNvSpPr>
          <p:nvPr/>
        </p:nvSpPr>
        <p:spPr>
          <a:xfrm xmlns:a="http://schemas.openxmlformats.org/drawingml/2006/main">
            <a:off x="609600" y="2095500"/>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73E67"/>
                </a:solidFill>
                <a:latin typeface="Microsoft YaHei"/>
                <a:ea typeface="Microsoft YaHei"/>
                <a:cs typeface="Microsoft YaHei"/>
              </a:defRPr>
            </a:defPPr>
          </a:lstStyle>
          <a:p xmlns:a="http://schemas.openxmlformats.org/drawingml/2006/main">
            <a:pPr algn="l">
              <a:lnSpc>
                <a:spcPct val="118000"/>
              </a:lnSpc>
              <a:buNone/>
              <a:defRPr sz="1950" b="1">
                <a:solidFill>
                  <a:srgbClr val="173E67"/>
                </a:solidFill>
                <a:latin typeface="Microsoft YaHei"/>
                <a:ea typeface="Microsoft YaHei"/>
                <a:cs typeface="Microsoft YaHei"/>
              </a:defRPr>
            </a:pPr>
            <a:r>
              <a:rPr sz="1950" b="1">
                <a:solidFill>
                  <a:srgbClr val="173E67"/>
                </a:solidFill>
                <a:latin typeface="Microsoft YaHei"/>
                <a:ea typeface="Microsoft YaHei"/>
                <a:cs typeface="Microsoft YaHei"/>
              </a:rPr>
              <a:t>已有基础</a:t>
            </a:r>
          </a:p>
        </p:txBody>
      </p:sp>
      <p:sp>
        <p:nvSpPr>
          <p:cNvPr id="4" name="text">
            <a:extLst xmlns:a="http://schemas.openxmlformats.org/drawingml/2006/main">
              <a:ext uri="{FF2B5EF4-FFF2-40B4-BE49-F238E27FC236}">
                <a16:creationId xmlns:a16="http://schemas.microsoft.com/office/drawing/2014/main" id="{1B708135-2B9D-4FD1-A83B-43BF8C735A8E}"/>
              </a:ext>
            </a:extLst>
          </p:cNvPr>
          <p:cNvSpPr>
            <a:spLocks xmlns:a="http://schemas.openxmlformats.org/drawingml/2006/main" noGrp="1"/>
          </p:cNvSpPr>
          <p:nvPr/>
        </p:nvSpPr>
        <p:spPr>
          <a:xfrm xmlns:a="http://schemas.openxmlformats.org/drawingml/2006/main">
            <a:off x="2514600" y="2095500"/>
            <a:ext cx="9067800" cy="917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1B2533"/>
                </a:solidFill>
                <a:latin typeface="Microsoft YaHei"/>
                <a:ea typeface="Microsoft YaHei"/>
                <a:cs typeface="Microsoft YaHei"/>
              </a:defRPr>
            </a:defPPr>
          </a:lstStyle>
          <a:p xmlns:a="http://schemas.openxmlformats.org/drawingml/2006/main">
            <a:pPr algn="l">
              <a:lnSpc>
                <a:spcPct val="118000"/>
              </a:lnSpc>
              <a:buNone/>
              <a:defRPr sz="1950" b="0">
                <a:solidFill>
                  <a:srgbClr val="1B2533"/>
                </a:solidFill>
                <a:latin typeface="Microsoft YaHei"/>
                <a:ea typeface="Microsoft YaHei"/>
                <a:cs typeface="Microsoft YaHei"/>
              </a:defRPr>
            </a:pPr>
            <a:r>
              <a:rPr sz="1950" b="0">
                <a:solidFill>
                  <a:srgbClr val="1B2533"/>
                </a:solidFill>
                <a:latin typeface="Microsoft YaHei"/>
                <a:ea typeface="Microsoft YaHei"/>
                <a:cs typeface="Microsoft YaHei"/>
              </a:rPr>
              <a:t>GFlowNet、QD及层级搜索已经把多个有用结果作为目标。</a:t>
            </a:r>
          </a:p>
        </p:txBody>
      </p:sp>
      <p:sp>
        <p:nvSpPr>
          <p:cNvPr id="5" name="text">
            <a:extLst xmlns:a="http://schemas.openxmlformats.org/drawingml/2006/main">
              <a:ext uri="{FF2B5EF4-FFF2-40B4-BE49-F238E27FC236}">
                <a16:creationId xmlns:a16="http://schemas.microsoft.com/office/drawing/2014/main" id="{70906081-6139-459E-B271-35402A143F7B}"/>
              </a:ext>
            </a:extLst>
          </p:cNvPr>
          <p:cNvSpPr>
            <a:spLocks xmlns:a="http://schemas.openxmlformats.org/drawingml/2006/main" noGrp="1"/>
          </p:cNvSpPr>
          <p:nvPr/>
        </p:nvSpPr>
        <p:spPr>
          <a:xfrm xmlns:a="http://schemas.openxmlformats.org/drawingml/2006/main">
            <a:off x="609600" y="3175000"/>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73E67"/>
                </a:solidFill>
                <a:latin typeface="Microsoft YaHei"/>
                <a:ea typeface="Microsoft YaHei"/>
                <a:cs typeface="Microsoft YaHei"/>
              </a:defRPr>
            </a:defPPr>
          </a:lstStyle>
          <a:p xmlns:a="http://schemas.openxmlformats.org/drawingml/2006/main">
            <a:pPr algn="l">
              <a:lnSpc>
                <a:spcPct val="118000"/>
              </a:lnSpc>
              <a:buNone/>
              <a:defRPr sz="1950" b="1">
                <a:solidFill>
                  <a:srgbClr val="173E67"/>
                </a:solidFill>
                <a:latin typeface="Microsoft YaHei"/>
                <a:ea typeface="Microsoft YaHei"/>
                <a:cs typeface="Microsoft YaHei"/>
              </a:defRPr>
            </a:pPr>
            <a:r>
              <a:rPr sz="1950" b="1">
                <a:solidFill>
                  <a:srgbClr val="173E67"/>
                </a:solidFill>
                <a:latin typeface="Microsoft YaHei"/>
                <a:ea typeface="Microsoft YaHei"/>
                <a:cs typeface="Microsoft YaHei"/>
              </a:rPr>
              <a:t>当前困难</a:t>
            </a:r>
          </a:p>
        </p:txBody>
      </p:sp>
      <p:sp>
        <p:nvSpPr>
          <p:cNvPr id="6" name="text">
            <a:extLst xmlns:a="http://schemas.openxmlformats.org/drawingml/2006/main">
              <a:ext uri="{FF2B5EF4-FFF2-40B4-BE49-F238E27FC236}">
                <a16:creationId xmlns:a16="http://schemas.microsoft.com/office/drawing/2014/main" id="{F7F16AA9-321C-411D-937E-17228D7C5BD1}"/>
              </a:ext>
            </a:extLst>
          </p:cNvPr>
          <p:cNvSpPr>
            <a:spLocks xmlns:a="http://schemas.openxmlformats.org/drawingml/2006/main" noGrp="1"/>
          </p:cNvSpPr>
          <p:nvPr/>
        </p:nvSpPr>
        <p:spPr>
          <a:xfrm xmlns:a="http://schemas.openxmlformats.org/drawingml/2006/main">
            <a:off x="2514600" y="3175000"/>
            <a:ext cx="9067800" cy="917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1B2533"/>
                </a:solidFill>
                <a:latin typeface="Microsoft YaHei"/>
                <a:ea typeface="Microsoft YaHei"/>
                <a:cs typeface="Microsoft YaHei"/>
              </a:defRPr>
            </a:defPPr>
          </a:lstStyle>
          <a:p xmlns:a="http://schemas.openxmlformats.org/drawingml/2006/main">
            <a:pPr algn="l">
              <a:lnSpc>
                <a:spcPct val="118000"/>
              </a:lnSpc>
              <a:buNone/>
              <a:defRPr sz="1950" b="0">
                <a:solidFill>
                  <a:srgbClr val="1B2533"/>
                </a:solidFill>
                <a:latin typeface="Microsoft YaHei"/>
                <a:ea typeface="Microsoft YaHei"/>
                <a:cs typeface="Microsoft YaHei"/>
              </a:defRPr>
            </a:pPr>
            <a:r>
              <a:rPr sz="1950" b="0">
                <a:solidFill>
                  <a:srgbClr val="1B2533"/>
                </a:solidFill>
                <a:latin typeface="Microsoft YaHei"/>
                <a:ea typeface="Microsoft YaHei"/>
                <a:cs typeface="Microsoft YaHei"/>
              </a:rPr>
              <a:t>合格类别通常未知。弛豫后才确认结构身份，搜索历史还会改变重复样本的价值。</a:t>
            </a:r>
          </a:p>
        </p:txBody>
      </p:sp>
      <p:sp>
        <p:nvSpPr>
          <p:cNvPr id="7" name="text">
            <a:extLst xmlns:a="http://schemas.openxmlformats.org/drawingml/2006/main">
              <a:ext uri="{FF2B5EF4-FFF2-40B4-BE49-F238E27FC236}">
                <a16:creationId xmlns:a16="http://schemas.microsoft.com/office/drawing/2014/main" id="{A8E1D2EA-0724-443D-BBC4-2E5989FA2E91}"/>
              </a:ext>
            </a:extLst>
          </p:cNvPr>
          <p:cNvSpPr>
            <a:spLocks xmlns:a="http://schemas.openxmlformats.org/drawingml/2006/main" noGrp="1"/>
          </p:cNvSpPr>
          <p:nvPr/>
        </p:nvSpPr>
        <p:spPr>
          <a:xfrm xmlns:a="http://schemas.openxmlformats.org/drawingml/2006/main">
            <a:off x="609600" y="4254500"/>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73E67"/>
                </a:solidFill>
                <a:latin typeface="Microsoft YaHei"/>
                <a:ea typeface="Microsoft YaHei"/>
                <a:cs typeface="Microsoft YaHei"/>
              </a:defRPr>
            </a:defPPr>
          </a:lstStyle>
          <a:p xmlns:a="http://schemas.openxmlformats.org/drawingml/2006/main">
            <a:pPr algn="l">
              <a:lnSpc>
                <a:spcPct val="118000"/>
              </a:lnSpc>
              <a:buNone/>
              <a:defRPr sz="1950" b="1">
                <a:solidFill>
                  <a:srgbClr val="173E67"/>
                </a:solidFill>
                <a:latin typeface="Microsoft YaHei"/>
                <a:ea typeface="Microsoft YaHei"/>
                <a:cs typeface="Microsoft YaHei"/>
              </a:defRPr>
            </a:pPr>
            <a:r>
              <a:rPr sz="1950" b="1">
                <a:solidFill>
                  <a:srgbClr val="173E67"/>
                </a:solidFill>
                <a:latin typeface="Microsoft YaHei"/>
                <a:ea typeface="Microsoft YaHei"/>
                <a:cs typeface="Microsoft YaHei"/>
              </a:rPr>
              <a:t>方向D的问题</a:t>
            </a:r>
          </a:p>
        </p:txBody>
      </p:sp>
      <p:sp>
        <p:nvSpPr>
          <p:cNvPr id="8" name="text">
            <a:extLst xmlns:a="http://schemas.openxmlformats.org/drawingml/2006/main">
              <a:ext uri="{FF2B5EF4-FFF2-40B4-BE49-F238E27FC236}">
                <a16:creationId xmlns:a16="http://schemas.microsoft.com/office/drawing/2014/main" id="{92B9413D-018A-4069-8971-83AA0129A659}"/>
              </a:ext>
            </a:extLst>
          </p:cNvPr>
          <p:cNvSpPr>
            <a:spLocks xmlns:a="http://schemas.openxmlformats.org/drawingml/2006/main" noGrp="1"/>
          </p:cNvSpPr>
          <p:nvPr/>
        </p:nvSpPr>
        <p:spPr>
          <a:xfrm xmlns:a="http://schemas.openxmlformats.org/drawingml/2006/main">
            <a:off x="2514600" y="4254500"/>
            <a:ext cx="9067800" cy="917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1B2533"/>
                </a:solidFill>
                <a:latin typeface="Microsoft YaHei"/>
                <a:ea typeface="Microsoft YaHei"/>
                <a:cs typeface="Microsoft YaHei"/>
              </a:defRPr>
            </a:defPPr>
          </a:lstStyle>
          <a:p xmlns:a="http://schemas.openxmlformats.org/drawingml/2006/main">
            <a:pPr algn="l">
              <a:lnSpc>
                <a:spcPct val="118000"/>
              </a:lnSpc>
              <a:buNone/>
              <a:defRPr sz="1950" b="0">
                <a:solidFill>
                  <a:srgbClr val="1B2533"/>
                </a:solidFill>
                <a:latin typeface="Microsoft YaHei"/>
                <a:ea typeface="Microsoft YaHei"/>
                <a:cs typeface="Microsoft YaHei"/>
              </a:defRPr>
            </a:pPr>
            <a:r>
              <a:rPr sz="1950" b="0">
                <a:solidFill>
                  <a:srgbClr val="1B2533"/>
                </a:solidFill>
                <a:latin typeface="Microsoft YaHei"/>
                <a:ea typeface="Microsoft YaHei"/>
                <a:cs typeface="Microsoft YaHei"/>
              </a:rPr>
              <a:t>怎样发现新成功、让模型学会生成它，并继续找到未用于训练的新结果？</a:t>
            </a:r>
          </a:p>
        </p:txBody>
      </p:sp>
      <p:sp>
        <p:nvSpPr>
          <p:cNvPr id="9" name="conclusion">
            <a:extLst xmlns:a="http://schemas.openxmlformats.org/drawingml/2006/main">
              <a:ext uri="{FF2B5EF4-FFF2-40B4-BE49-F238E27FC236}">
                <a16:creationId xmlns:a16="http://schemas.microsoft.com/office/drawing/2014/main" id="{FF4FF441-9C5C-4621-B4E1-52453646304E}"/>
              </a:ext>
            </a:extLst>
          </p:cNvPr>
          <p:cNvSpPr>
            <a:spLocks xmlns:a="http://schemas.openxmlformats.org/drawingml/2006/main" noGrp="1"/>
          </p:cNvSpPr>
          <p:nvPr/>
        </p:nvSpPr>
        <p:spPr>
          <a:xfrm xmlns:a="http://schemas.openxmlformats.org/drawingml/2006/main">
            <a:off x="609600" y="5619750"/>
            <a:ext cx="109728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73E67"/>
                </a:solidFill>
                <a:latin typeface="Microsoft YaHei"/>
                <a:ea typeface="Microsoft YaHei"/>
                <a:cs typeface="Microsoft YaHei"/>
              </a:defRPr>
            </a:defPPr>
          </a:lstStyle>
          <a:p xmlns:a="http://schemas.openxmlformats.org/drawingml/2006/main">
            <a:pPr algn="l">
              <a:lnSpc>
                <a:spcPct val="118000"/>
              </a:lnSpc>
              <a:buNone/>
              <a:defRPr sz="1725" b="0">
                <a:solidFill>
                  <a:srgbClr val="173E67"/>
                </a:solidFill>
                <a:latin typeface="Microsoft YaHei"/>
                <a:ea typeface="Microsoft YaHei"/>
                <a:cs typeface="Microsoft YaHei"/>
              </a:defRPr>
            </a:pPr>
            <a:r>
              <a:rPr sz="1725" b="0">
                <a:solidFill>
                  <a:srgbClr val="173E67"/>
                </a:solidFill>
                <a:latin typeface="Microsoft YaHei"/>
                <a:ea typeface="Microsoft YaHei"/>
                <a:cs typeface="Microsoft YaHei"/>
              </a:rPr>
              <a:t>C6同时进入这一方向：探索所得信息需要改善后续独立采样。</a:t>
            </a:r>
          </a:p>
        </p:txBody>
      </p:sp>
      <p:sp>
        <p:nvSpPr>
          <p:cNvPr id="10" name="separator">
            <a:extLst xmlns:a="http://schemas.openxmlformats.org/drawingml/2006/main">
              <a:ext uri="{FF2B5EF4-FFF2-40B4-BE49-F238E27FC236}">
                <a16:creationId xmlns:a16="http://schemas.microsoft.com/office/drawing/2014/main" id="{EE225306-0BEE-4C74-821E-B45BB9EE8AE1}"/>
              </a:ext>
            </a:extLst>
          </p:cNvPr>
          <p:cNvSpPr>
            <a:spLocks xmlns:a="http://schemas.openxmlformats.org/drawingml/2006/main" noGrp="1"/>
          </p:cNvSpPr>
          <p:nvPr/>
        </p:nvSpPr>
        <p:spPr>
          <a:xfrm xmlns:a="http://schemas.openxmlformats.org/drawingml/2006/main">
            <a:off x="609600" y="6200775"/>
            <a:ext cx="10972800" cy="0"/>
          </a:xfrm>
          <a:prstGeom xmlns:a="http://schemas.openxmlformats.org/drawingml/2006/main" prst="line">
            <a:avLst/>
          </a:prstGeom>
          <a:ln xmlns:a="http://schemas.openxmlformats.org/drawingml/2006/main" w="9525">
            <a:solidFill>
              <a:srgbClr val="D5DCE3"/>
            </a:solidFill>
          </a:ln>
        </p:spPr>
      </p:sp>
      <p:sp>
        <p:nvSpPr>
          <p:cNvPr id="11" name="sources">
            <a:extLst xmlns:a="http://schemas.openxmlformats.org/drawingml/2006/main">
              <a:ext uri="{FF2B5EF4-FFF2-40B4-BE49-F238E27FC236}">
                <a16:creationId xmlns:a16="http://schemas.microsoft.com/office/drawing/2014/main" id="{BABE699C-79BE-48F6-9C37-6823FC65BC6B}"/>
              </a:ext>
            </a:extLst>
          </p:cNvPr>
          <p:cNvSpPr>
            <a:spLocks xmlns:a="http://schemas.openxmlformats.org/drawingml/2006/main" noGrp="1"/>
          </p:cNvSpPr>
          <p:nvPr/>
        </p:nvSpPr>
        <p:spPr>
          <a:xfrm xmlns:a="http://schemas.openxmlformats.org/drawingml/2006/main">
            <a:off x="609600" y="6353175"/>
            <a:ext cx="10363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13" b="0">
                <a:solidFill>
                  <a:srgbClr val="526170"/>
                </a:solidFill>
                <a:latin typeface="Microsoft YaHei"/>
                <a:ea typeface="Microsoft YaHei"/>
                <a:cs typeface="Microsoft YaHei"/>
              </a:defRPr>
            </a:defPPr>
          </a:lstStyle>
          <a:p xmlns:a="http://schemas.openxmlformats.org/drawingml/2006/main">
            <a:pPr algn="l">
              <a:lnSpc>
                <a:spcPct val="118000"/>
              </a:lnSpc>
              <a:buNone/>
              <a:defRPr sz="1013" b="0">
                <a:solidFill>
                  <a:srgbClr val="526170"/>
                </a:solidFill>
                <a:latin typeface="Microsoft YaHei"/>
                <a:ea typeface="Microsoft YaHei"/>
                <a:cs typeface="Microsoft YaHei"/>
              </a:defRPr>
            </a:pPr>
            <a:r>
              <a:rPr sz="1013" b="0">
                <a:solidFill>
                  <a:srgbClr val="526170"/>
                </a:solidFill>
                <a:latin typeface="Microsoft YaHei"/>
                <a:ea typeface="Microsoft YaHei"/>
                <a:cs typeface="Microsoft YaHei"/>
              </a:rPr>
              <a:t>GFlowNet；晶体QD；SHAFT；Chemeleon2；ANCHOR。</a:t>
            </a:r>
          </a:p>
        </p:txBody>
      </p:sp>
      <p:sp>
        <p:nvSpPr>
          <p:cNvPr id="12" name="page-number">
            <a:extLst xmlns:a="http://schemas.openxmlformats.org/drawingml/2006/main">
              <a:ext uri="{FF2B5EF4-FFF2-40B4-BE49-F238E27FC236}">
                <a16:creationId xmlns:a16="http://schemas.microsoft.com/office/drawing/2014/main" id="{D49C6919-6112-4EDE-94C9-6A9A2E03A3EA}"/>
              </a:ext>
            </a:extLst>
          </p:cNvPr>
          <p:cNvSpPr>
            <a:spLocks xmlns:a="http://schemas.openxmlformats.org/drawingml/2006/main" noGrp="1"/>
          </p:cNvSpPr>
          <p:nvPr/>
        </p:nvSpPr>
        <p:spPr>
          <a:xfrm xmlns:a="http://schemas.openxmlformats.org/drawingml/2006/main">
            <a:off x="11334750" y="6334125"/>
            <a:ext cx="266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26170"/>
                </a:solidFill>
                <a:latin typeface="Microsoft YaHei"/>
                <a:ea typeface="Microsoft YaHei"/>
                <a:cs typeface="Microsoft YaHei"/>
              </a:defRPr>
            </a:defPPr>
          </a:lstStyle>
          <a:p xmlns:a="http://schemas.openxmlformats.org/drawingml/2006/main">
            <a:pPr algn="r">
              <a:lnSpc>
                <a:spcPct val="118000"/>
              </a:lnSpc>
              <a:buNone/>
              <a:defRPr sz="1275" b="0">
                <a:solidFill>
                  <a:srgbClr val="526170"/>
                </a:solidFill>
                <a:latin typeface="Microsoft YaHei"/>
                <a:ea typeface="Microsoft YaHei"/>
                <a:cs typeface="Microsoft YaHei"/>
              </a:defRPr>
            </a:pPr>
            <a:r>
              <a:rPr sz="1275" b="0">
                <a:solidFill>
                  <a:srgbClr val="526170"/>
                </a:solidFill>
                <a:latin typeface="Microsoft YaHei"/>
                <a:ea typeface="Microsoft YaHei"/>
                <a:cs typeface="Microsoft YaHei"/>
              </a:rPr>
              <a:t>20</a:t>
            </a:r>
          </a:p>
        </p:txBody>
      </p:sp>
    </p:spTree>
    <p:extLst>
      <p:ext uri="{BB962C8B-B14F-4D97-AF65-F5344CB8AC3E}">
        <p14:creationId xmlns:p14="http://schemas.microsoft.com/office/powerpoint/2010/main" val="559193721"/>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783B2BC3-D72B-4BD3-9BD8-6472CD502FC8}"/>
              </a:ext>
            </a:extLst>
          </p:cNvPr>
          <p:cNvSpPr>
            <a:spLocks xmlns:a="http://schemas.openxmlformats.org/drawingml/2006/main" noGrp="1"/>
          </p:cNvSpPr>
          <p:nvPr/>
        </p:nvSpPr>
        <p:spPr>
          <a:xfrm xmlns:a="http://schemas.openxmlformats.org/drawingml/2006/main">
            <a:off x="609600" y="36195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73E67"/>
                </a:solidFill>
                <a:latin typeface="Microsoft YaHei"/>
                <a:ea typeface="Microsoft YaHei"/>
                <a:cs typeface="Microsoft YaHei"/>
              </a:defRPr>
            </a:defPPr>
          </a:lstStyle>
          <a:p xmlns:a="http://schemas.openxmlformats.org/drawingml/2006/main">
            <a:pPr algn="l">
              <a:lnSpc>
                <a:spcPct val="118000"/>
              </a:lnSpc>
              <a:buNone/>
              <a:defRPr sz="3150" b="1">
                <a:solidFill>
                  <a:srgbClr val="173E67"/>
                </a:solidFill>
                <a:latin typeface="Microsoft YaHei"/>
                <a:ea typeface="Microsoft YaHei"/>
                <a:cs typeface="Microsoft YaHei"/>
              </a:defRPr>
            </a:pPr>
            <a:r>
              <a:rPr sz="3150" b="1">
                <a:solidFill>
                  <a:srgbClr val="173E67"/>
                </a:solidFill>
                <a:latin typeface="Microsoft YaHei"/>
                <a:ea typeface="Microsoft YaHei"/>
                <a:cs typeface="Microsoft YaHei"/>
              </a:rPr>
              <a:t>六个挑战形成四个独立研究方向</a:t>
            </a:r>
          </a:p>
        </p:txBody>
      </p:sp>
      <p:graphicFrame>
        <p:nvGraphicFramePr>
          <p:cNvPr id="2" name="">
            <a:extLst xmlns:a="http://schemas.openxmlformats.org/drawingml/2006/main">
              <a:ext uri="{FF2B5EF4-FFF2-40B4-BE49-F238E27FC236}">
                <a16:creationId xmlns:a16="http://schemas.microsoft.com/office/drawing/2014/main" id="{508140B6-E57F-4024-B3BE-68C7EABB10CA}"/>
              </a:ext>
            </a:extLst>
          </p:cNvPr>
          <p:cNvGraphicFramePr/>
          <p:nvPr/>
        </p:nvGraphicFramePr>
        <p:xfrm>
          <a:off xmlns:a="http://schemas.openxmlformats.org/drawingml/2006/main" x="609600" y="1400175"/>
          <a:ext xmlns:a="http://schemas.openxmlformats.org/drawingml/2006/main" cx="10972800" cy="4010025"/>
        </p:xfrm>
        <a:graphic xmlns:a="http://schemas.openxmlformats.org/drawingml/2006/main">
          <a:graphicData uri="http://schemas.openxmlformats.org/drawingml/2006/table">
            <a:tbl>
              <a:tblPr firstRow="0" bandRow="0"/>
              <a:tblGrid>
                <a:gridCol w="2238375"/>
                <a:gridCol w="1714500"/>
                <a:gridCol w="3810000"/>
                <a:gridCol w="3209925"/>
              </a:tblGrid>
              <a:tr h="533400">
                <a:tc>
                  <a:txBody>
                    <a:bodyPr wrap="square" lIns="114300" tIns="85725" rIns="95250" bIns="85725">
                      <a:noAutofit/>
                    </a:bodyPr>
                    <a:lstStyle/>
                    <a:p>
                      <a:pPr algn="l">
                        <a:lnSpc>
                          <a:spcPct val="118000"/>
                        </a:lnSpc>
                        <a:buNone/>
                      </a:pPr>
                      <a:r>
                        <a:rPr sz="1800" b="1">
                          <a:solidFill>
                            <a:srgbClr val="173E67"/>
                          </a:solidFill>
                          <a:latin typeface="Microsoft YaHei"/>
                          <a:ea typeface="Microsoft YaHei"/>
                          <a:cs typeface="Microsoft YaHei"/>
                        </a:rPr>
                        <a:t>方向</a:t>
                      </a:r>
                    </a:p>
                  </a:txBody>
                  <a:tcPr marL="91440" marR="91440" marT="45720" marB="45720" anchor="ctr">
                    <a:solidFill>
                      <a:srgbClr val="EDF2F6"/>
                    </a:solidFill>
                  </a:tcPr>
                </a:tc>
                <a:tc>
                  <a:txBody>
                    <a:bodyPr wrap="square" lIns="114300" tIns="85725" rIns="95250" bIns="85725">
                      <a:noAutofit/>
                    </a:bodyPr>
                    <a:lstStyle/>
                    <a:p>
                      <a:pPr algn="l">
                        <a:lnSpc>
                          <a:spcPct val="118000"/>
                        </a:lnSpc>
                        <a:buNone/>
                      </a:pPr>
                      <a:r>
                        <a:rPr sz="1800" b="1">
                          <a:solidFill>
                            <a:srgbClr val="173E67"/>
                          </a:solidFill>
                          <a:latin typeface="Microsoft YaHei"/>
                          <a:ea typeface="Microsoft YaHei"/>
                          <a:cs typeface="Microsoft YaHei"/>
                        </a:rPr>
                        <a:t>主要挑战</a:t>
                      </a:r>
                    </a:p>
                  </a:txBody>
                  <a:tcPr marL="91440" marR="91440" marT="45720" marB="45720" anchor="ctr">
                    <a:solidFill>
                      <a:srgbClr val="EDF2F6"/>
                    </a:solidFill>
                  </a:tcPr>
                </a:tc>
                <a:tc>
                  <a:txBody>
                    <a:bodyPr wrap="square" lIns="114300" tIns="85725" rIns="95250" bIns="85725">
                      <a:noAutofit/>
                    </a:bodyPr>
                    <a:lstStyle/>
                    <a:p>
                      <a:pPr algn="l">
                        <a:lnSpc>
                          <a:spcPct val="118000"/>
                        </a:lnSpc>
                        <a:buNone/>
                      </a:pPr>
                      <a:r>
                        <a:rPr sz="1800" b="1">
                          <a:solidFill>
                            <a:srgbClr val="173E67"/>
                          </a:solidFill>
                          <a:latin typeface="Microsoft YaHei"/>
                          <a:ea typeface="Microsoft YaHei"/>
                          <a:cs typeface="Microsoft YaHei"/>
                        </a:rPr>
                        <a:t>中心问题</a:t>
                      </a:r>
                    </a:p>
                  </a:txBody>
                  <a:tcPr marL="91440" marR="91440" marT="45720" marB="45720" anchor="ctr">
                    <a:solidFill>
                      <a:srgbClr val="EDF2F6"/>
                    </a:solidFill>
                  </a:tcPr>
                </a:tc>
                <a:tc>
                  <a:txBody>
                    <a:bodyPr wrap="square" lIns="114300" tIns="85725" rIns="95250" bIns="85725">
                      <a:noAutofit/>
                    </a:bodyPr>
                    <a:lstStyle/>
                    <a:p>
                      <a:pPr algn="l">
                        <a:lnSpc>
                          <a:spcPct val="118000"/>
                        </a:lnSpc>
                        <a:buNone/>
                      </a:pPr>
                      <a:r>
                        <a:rPr sz="1800" b="1">
                          <a:solidFill>
                            <a:srgbClr val="173E67"/>
                          </a:solidFill>
                          <a:latin typeface="Microsoft YaHei"/>
                          <a:ea typeface="Microsoft YaHei"/>
                          <a:cs typeface="Microsoft YaHei"/>
                        </a:rPr>
                        <a:t>优先技术基座</a:t>
                      </a:r>
                    </a:p>
                  </a:txBody>
                  <a:tcPr marL="91440" marR="91440" marT="45720" marB="45720" anchor="ctr">
                    <a:solidFill>
                      <a:srgbClr val="EDF2F6"/>
                    </a:solidFill>
                  </a:tcPr>
                </a:tc>
              </a:tr>
              <a:tr h="869156">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A</a:t>
                      </a:r>
                    </a:p>
                    <a:p>
                      <a:pPr algn="l">
                        <a:lnSpc>
                          <a:spcPct val="118000"/>
                        </a:lnSpc>
                        <a:buNone/>
                      </a:pPr>
                      <a:r>
                        <a:rPr sz="1725" b="0">
                          <a:solidFill>
                            <a:srgbClr val="1B2533"/>
                          </a:solidFill>
                          <a:latin typeface="Microsoft YaHei"/>
                          <a:ea typeface="Microsoft YaHei"/>
                          <a:cs typeface="Microsoft YaHei"/>
                        </a:rPr>
                        <a:t>化学与几何共同生成</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C1、C2</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怎样根据彼此的证据修订选择？</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LLM + Diffusion / SI</a:t>
                      </a:r>
                    </a:p>
                  </a:txBody>
                  <a:tcPr marL="91440" marR="91440" marT="45720" marB="45720" anchor="ctr">
                    <a:solidFill>
                      <a:srgbClr val="FFFFFF"/>
                    </a:solidFill>
                  </a:tcPr>
                </a:tc>
              </a:tr>
              <a:tr h="869156">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B</a:t>
                      </a:r>
                    </a:p>
                    <a:p>
                      <a:pPr algn="l">
                        <a:lnSpc>
                          <a:spcPct val="118000"/>
                        </a:lnSpc>
                        <a:buNone/>
                      </a:pPr>
                      <a:r>
                        <a:rPr sz="1725" b="0">
                          <a:solidFill>
                            <a:srgbClr val="1B2533"/>
                          </a:solidFill>
                          <a:latin typeface="Microsoft YaHei"/>
                          <a:ea typeface="Microsoft YaHei"/>
                          <a:cs typeface="Microsoft YaHei"/>
                        </a:rPr>
                        <a:t>局部知识的整体实现</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C3，联系C1</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哪些共享条件支持新的组合？</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组合条件 Diffusion</a:t>
                      </a:r>
                    </a:p>
                  </a:txBody>
                  <a:tcPr marL="91440" marR="91440" marT="45720" marB="45720" anchor="ctr">
                    <a:solidFill>
                      <a:srgbClr val="FFFFFF"/>
                    </a:solidFill>
                  </a:tcPr>
                </a:tc>
              </a:tr>
              <a:tr h="869156">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C</a:t>
                      </a:r>
                    </a:p>
                    <a:p>
                      <a:pPr algn="l">
                        <a:lnSpc>
                          <a:spcPct val="118000"/>
                        </a:lnSpc>
                        <a:buNone/>
                      </a:pPr>
                      <a:r>
                        <a:rPr sz="1725" b="0">
                          <a:solidFill>
                            <a:srgbClr val="1B2533"/>
                          </a:solidFill>
                          <a:latin typeface="Microsoft YaHei"/>
                          <a:ea typeface="Microsoft YaHei"/>
                          <a:cs typeface="Microsoft YaHei"/>
                        </a:rPr>
                        <a:t>从物理反馈学习</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C4、C6</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哪些响应关系可以迁移？</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SI / flow 路径学习</a:t>
                      </a:r>
                    </a:p>
                  </a:txBody>
                  <a:tcPr marL="91440" marR="91440" marT="45720" marB="45720" anchor="ctr">
                    <a:solidFill>
                      <a:srgbClr val="FFFFFF"/>
                    </a:solidFill>
                  </a:tcPr>
                </a:tc>
              </a:tr>
              <a:tr h="869156">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D</a:t>
                      </a:r>
                    </a:p>
                    <a:p>
                      <a:pPr algn="l">
                        <a:lnSpc>
                          <a:spcPct val="118000"/>
                        </a:lnSpc>
                        <a:buNone/>
                      </a:pPr>
                      <a:r>
                        <a:rPr sz="1725" b="0">
                          <a:solidFill>
                            <a:srgbClr val="1B2533"/>
                          </a:solidFill>
                          <a:latin typeface="Microsoft YaHei"/>
                          <a:ea typeface="Microsoft YaHei"/>
                          <a:cs typeface="Microsoft YaHei"/>
                        </a:rPr>
                        <a:t>持续发现不同结果</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C5、C6</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怎样获得并保持新成功？</a:t>
                      </a:r>
                    </a:p>
                  </a:txBody>
                  <a:tcPr marL="91440" marR="91440" marT="45720" marB="45720" anchor="ctr">
                    <a:solidFill>
                      <a:srgbClr val="FFFFFF"/>
                    </a:solidFill>
                  </a:tcPr>
                </a:tc>
                <a:tc>
                  <a:txBody>
                    <a:bodyPr wrap="square" lIns="114300" tIns="85725" rIns="95250" bIns="85725">
                      <a:noAutofit/>
                    </a:bodyPr>
                    <a:lstStyle/>
                    <a:p>
                      <a:pPr algn="l">
                        <a:lnSpc>
                          <a:spcPct val="118000"/>
                        </a:lnSpc>
                        <a:buNone/>
                      </a:pPr>
                      <a:r>
                        <a:rPr sz="1725" b="0">
                          <a:solidFill>
                            <a:srgbClr val="1B2533"/>
                          </a:solidFill>
                          <a:latin typeface="Microsoft YaHei"/>
                          <a:ea typeface="Microsoft YaHei"/>
                          <a:cs typeface="Microsoft YaHei"/>
                        </a:rPr>
                        <a:t>层级 LLM / AR</a:t>
                      </a:r>
                    </a:p>
                    <a:p>
                      <a:pPr algn="l">
                        <a:lnSpc>
                          <a:spcPct val="118000"/>
                        </a:lnSpc>
                        <a:buNone/>
                      </a:pPr>
                      <a:r>
                        <a:rPr sz="1725" b="0">
                          <a:solidFill>
                            <a:srgbClr val="1B2533"/>
                          </a:solidFill>
                          <a:latin typeface="Microsoft YaHei"/>
                          <a:ea typeface="Microsoft YaHei"/>
                          <a:cs typeface="Microsoft YaHei"/>
                        </a:rPr>
                        <a:t>+ 条件 Diffusion</a:t>
                      </a:r>
                    </a:p>
                  </a:txBody>
                  <a:tcPr marL="91440" marR="91440" marT="45720" marB="45720" anchor="ctr">
                    <a:solidFill>
                      <a:srgbClr val="FFFFFF"/>
                    </a:solidFill>
                  </a:tcPr>
                </a:tc>
              </a:tr>
            </a:tbl>
          </a:graphicData>
        </a:graphic>
      </p:graphicFrame>
      <p:sp>
        <p:nvSpPr>
          <p:cNvPr id="3" name="conclusion">
            <a:extLst xmlns:a="http://schemas.openxmlformats.org/drawingml/2006/main">
              <a:ext uri="{FF2B5EF4-FFF2-40B4-BE49-F238E27FC236}">
                <a16:creationId xmlns:a16="http://schemas.microsoft.com/office/drawing/2014/main" id="{E6EE1956-763D-44CE-BFF9-3D6007AAD92A}"/>
              </a:ext>
            </a:extLst>
          </p:cNvPr>
          <p:cNvSpPr>
            <a:spLocks xmlns:a="http://schemas.openxmlformats.org/drawingml/2006/main" noGrp="1"/>
          </p:cNvSpPr>
          <p:nvPr/>
        </p:nvSpPr>
        <p:spPr>
          <a:xfrm xmlns:a="http://schemas.openxmlformats.org/drawingml/2006/main">
            <a:off x="609600" y="5619750"/>
            <a:ext cx="109728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73E67"/>
                </a:solidFill>
                <a:latin typeface="Microsoft YaHei"/>
                <a:ea typeface="Microsoft YaHei"/>
                <a:cs typeface="Microsoft YaHei"/>
              </a:defRPr>
            </a:defPPr>
          </a:lstStyle>
          <a:p xmlns:a="http://schemas.openxmlformats.org/drawingml/2006/main">
            <a:pPr algn="l">
              <a:lnSpc>
                <a:spcPct val="118000"/>
              </a:lnSpc>
              <a:buNone/>
              <a:defRPr sz="1725" b="0">
                <a:solidFill>
                  <a:srgbClr val="173E67"/>
                </a:solidFill>
                <a:latin typeface="Microsoft YaHei"/>
                <a:ea typeface="Microsoft YaHei"/>
                <a:cs typeface="Microsoft YaHei"/>
              </a:defRPr>
            </a:pPr>
            <a:r>
              <a:rPr sz="1725" b="0">
                <a:solidFill>
                  <a:srgbClr val="173E67"/>
                </a:solidFill>
                <a:latin typeface="Microsoft YaHei"/>
                <a:ea typeface="Microsoft YaHei"/>
                <a:cs typeface="Microsoft YaHei"/>
              </a:rPr>
              <a:t>四个方向共享SUN目标，各自回答不同的学习问题。</a:t>
            </a:r>
          </a:p>
        </p:txBody>
      </p:sp>
      <p:sp>
        <p:nvSpPr>
          <p:cNvPr id="4" name="separator">
            <a:extLst xmlns:a="http://schemas.openxmlformats.org/drawingml/2006/main">
              <a:ext uri="{FF2B5EF4-FFF2-40B4-BE49-F238E27FC236}">
                <a16:creationId xmlns:a16="http://schemas.microsoft.com/office/drawing/2014/main" id="{113A73E2-4E4D-42FE-B720-DCB2824332AC}"/>
              </a:ext>
            </a:extLst>
          </p:cNvPr>
          <p:cNvSpPr>
            <a:spLocks xmlns:a="http://schemas.openxmlformats.org/drawingml/2006/main" noGrp="1"/>
          </p:cNvSpPr>
          <p:nvPr/>
        </p:nvSpPr>
        <p:spPr>
          <a:xfrm xmlns:a="http://schemas.openxmlformats.org/drawingml/2006/main">
            <a:off x="609600" y="6200775"/>
            <a:ext cx="10972800" cy="0"/>
          </a:xfrm>
          <a:prstGeom xmlns:a="http://schemas.openxmlformats.org/drawingml/2006/main" prst="line">
            <a:avLst/>
          </a:prstGeom>
          <a:ln xmlns:a="http://schemas.openxmlformats.org/drawingml/2006/main" w="9525">
            <a:solidFill>
              <a:srgbClr val="D5DCE3"/>
            </a:solidFill>
          </a:ln>
        </p:spPr>
      </p:sp>
      <p:sp>
        <p:nvSpPr>
          <p:cNvPr id="5" name="sources">
            <a:extLst xmlns:a="http://schemas.openxmlformats.org/drawingml/2006/main">
              <a:ext uri="{FF2B5EF4-FFF2-40B4-BE49-F238E27FC236}">
                <a16:creationId xmlns:a16="http://schemas.microsoft.com/office/drawing/2014/main" id="{D2D97A70-93C2-4D0B-8677-0405C61833F1}"/>
              </a:ext>
            </a:extLst>
          </p:cNvPr>
          <p:cNvSpPr>
            <a:spLocks xmlns:a="http://schemas.openxmlformats.org/drawingml/2006/main" noGrp="1"/>
          </p:cNvSpPr>
          <p:nvPr/>
        </p:nvSpPr>
        <p:spPr>
          <a:xfrm xmlns:a="http://schemas.openxmlformats.org/drawingml/2006/main">
            <a:off x="609600" y="6353175"/>
            <a:ext cx="10363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13" b="0">
                <a:solidFill>
                  <a:srgbClr val="526170"/>
                </a:solidFill>
                <a:latin typeface="Microsoft YaHei"/>
                <a:ea typeface="Microsoft YaHei"/>
                <a:cs typeface="Microsoft YaHei"/>
              </a:defRPr>
            </a:defPPr>
          </a:lstStyle>
          <a:p xmlns:a="http://schemas.openxmlformats.org/drawingml/2006/main">
            <a:pPr algn="l">
              <a:lnSpc>
                <a:spcPct val="118000"/>
              </a:lnSpc>
              <a:buNone/>
              <a:defRPr sz="1013" b="0">
                <a:solidFill>
                  <a:srgbClr val="526170"/>
                </a:solidFill>
                <a:latin typeface="Microsoft YaHei"/>
                <a:ea typeface="Microsoft YaHei"/>
                <a:cs typeface="Microsoft YaHei"/>
              </a:defRPr>
            </a:pPr>
            <a:r>
              <a:rPr sz="1013" b="0">
                <a:solidFill>
                  <a:srgbClr val="526170"/>
                </a:solidFill>
                <a:latin typeface="Microsoft YaHei"/>
                <a:ea typeface="Microsoft YaHei"/>
                <a:cs typeface="Microsoft YaHei"/>
              </a:rPr>
              <a:t>研究议程。AR = autoregressive，自回归生成。SI = stochastic interpolants，随机插值。</a:t>
            </a:r>
          </a:p>
        </p:txBody>
      </p:sp>
      <p:sp>
        <p:nvSpPr>
          <p:cNvPr id="6" name="page-number">
            <a:extLst xmlns:a="http://schemas.openxmlformats.org/drawingml/2006/main">
              <a:ext uri="{FF2B5EF4-FFF2-40B4-BE49-F238E27FC236}">
                <a16:creationId xmlns:a16="http://schemas.microsoft.com/office/drawing/2014/main" id="{F4FFA472-DA57-42C9-AB34-3E450273AA87}"/>
              </a:ext>
            </a:extLst>
          </p:cNvPr>
          <p:cNvSpPr>
            <a:spLocks xmlns:a="http://schemas.openxmlformats.org/drawingml/2006/main" noGrp="1"/>
          </p:cNvSpPr>
          <p:nvPr/>
        </p:nvSpPr>
        <p:spPr>
          <a:xfrm xmlns:a="http://schemas.openxmlformats.org/drawingml/2006/main">
            <a:off x="11334750" y="6334125"/>
            <a:ext cx="266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26170"/>
                </a:solidFill>
                <a:latin typeface="Microsoft YaHei"/>
                <a:ea typeface="Microsoft YaHei"/>
                <a:cs typeface="Microsoft YaHei"/>
              </a:defRPr>
            </a:defPPr>
          </a:lstStyle>
          <a:p xmlns:a="http://schemas.openxmlformats.org/drawingml/2006/main">
            <a:pPr algn="r">
              <a:lnSpc>
                <a:spcPct val="118000"/>
              </a:lnSpc>
              <a:buNone/>
              <a:defRPr sz="1275" b="0">
                <a:solidFill>
                  <a:srgbClr val="526170"/>
                </a:solidFill>
                <a:latin typeface="Microsoft YaHei"/>
                <a:ea typeface="Microsoft YaHei"/>
                <a:cs typeface="Microsoft YaHei"/>
              </a:defRPr>
            </a:pPr>
            <a:r>
              <a:rPr sz="1275" b="0">
                <a:solidFill>
                  <a:srgbClr val="526170"/>
                </a:solidFill>
                <a:latin typeface="Microsoft YaHei"/>
                <a:ea typeface="Microsoft YaHei"/>
                <a:cs typeface="Microsoft YaHei"/>
              </a:rPr>
              <a:t>21</a:t>
            </a:r>
          </a:p>
        </p:txBody>
      </p:sp>
    </p:spTree>
    <p:extLst>
      <p:ext uri="{BB962C8B-B14F-4D97-AF65-F5344CB8AC3E}">
        <p14:creationId xmlns:p14="http://schemas.microsoft.com/office/powerpoint/2010/main" val="51683190"/>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slide-title">
            <a:extLst xmlns:a="http://schemas.openxmlformats.org/drawingml/2006/main">
              <a:ext uri="{FF2B5EF4-FFF2-40B4-BE49-F238E27FC236}">
                <a16:creationId xmlns:a16="http://schemas.microsoft.com/office/drawing/2014/main" id="{EB8722CF-60CB-443C-9EC2-8566E18D9511}"/>
              </a:ext>
            </a:extLst>
          </p:cNvPr>
          <p:cNvSpPr>
            <a:spLocks xmlns:a="http://schemas.openxmlformats.org/drawingml/2006/main" noGrp="1"/>
          </p:cNvSpPr>
          <p:nvPr/>
        </p:nvSpPr>
        <p:spPr>
          <a:xfrm xmlns:a="http://schemas.openxmlformats.org/drawingml/2006/main">
            <a:off x="609600" y="36195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73E67"/>
                </a:solidFill>
                <a:latin typeface="Microsoft YaHei"/>
                <a:ea typeface="Microsoft YaHei"/>
                <a:cs typeface="Microsoft YaHei"/>
              </a:defRPr>
            </a:defPPr>
          </a:lstStyle>
          <a:p xmlns:a="http://schemas.openxmlformats.org/drawingml/2006/main">
            <a:pPr algn="l">
              <a:lnSpc>
                <a:spcPct val="118000"/>
              </a:lnSpc>
              <a:buNone/>
              <a:defRPr sz="3150" b="1">
                <a:solidFill>
                  <a:srgbClr val="173E67"/>
                </a:solidFill>
                <a:latin typeface="Microsoft YaHei"/>
                <a:ea typeface="Microsoft YaHei"/>
                <a:cs typeface="Microsoft YaHei"/>
              </a:defRPr>
            </a:pPr>
            <a:r>
              <a:rPr sz="3150" b="1">
                <a:solidFill>
                  <a:srgbClr val="173E67"/>
                </a:solidFill>
                <a:latin typeface="Microsoft YaHei"/>
                <a:ea typeface="Microsoft YaHei"/>
                <a:cs typeface="Microsoft YaHei"/>
              </a:rPr>
              <a:t>方向A：化学选择与几何相互修订</a:t>
            </a:r>
          </a:p>
        </p:txBody>
      </p:sp>
      <p:sp>
        <p:nvSpPr>
          <p:cNvPr id="2" name="text">
            <a:extLst xmlns:a="http://schemas.openxmlformats.org/drawingml/2006/main">
              <a:ext uri="{FF2B5EF4-FFF2-40B4-BE49-F238E27FC236}">
                <a16:creationId xmlns:a16="http://schemas.microsoft.com/office/drawing/2014/main" id="{985E94D5-D52C-4DE0-8BB3-C5AA94A98698}"/>
              </a:ext>
            </a:extLst>
          </p:cNvPr>
          <p:cNvSpPr>
            <a:spLocks xmlns:a="http://schemas.openxmlformats.org/drawingml/2006/main" noGrp="1"/>
          </p:cNvSpPr>
          <p:nvPr/>
        </p:nvSpPr>
        <p:spPr>
          <a:xfrm xmlns:a="http://schemas.openxmlformats.org/drawingml/2006/main">
            <a:off x="609600" y="12001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E67"/>
                </a:solidFill>
                <a:latin typeface="Microsoft YaHei"/>
                <a:ea typeface="Microsoft YaHei"/>
                <a:cs typeface="Microsoft YaHei"/>
              </a:defRPr>
            </a:defPPr>
          </a:lstStyle>
          <a:p xmlns:a="http://schemas.openxmlformats.org/drawingml/2006/main">
            <a:pPr algn="l">
              <a:lnSpc>
                <a:spcPct val="118000"/>
              </a:lnSpc>
              <a:buNone/>
              <a:defRPr sz="2100" b="0">
                <a:solidFill>
                  <a:srgbClr val="173E67"/>
                </a:solidFill>
                <a:latin typeface="Microsoft YaHei"/>
                <a:ea typeface="Microsoft YaHei"/>
                <a:cs typeface="Microsoft YaHei"/>
              </a:defRPr>
            </a:pPr>
            <a:r>
              <a:rPr sz="2100" b="0">
                <a:solidFill>
                  <a:srgbClr val="173E67"/>
                </a:solidFill>
                <a:latin typeface="Microsoft YaHei"/>
                <a:ea typeface="Microsoft YaHei"/>
                <a:cs typeface="Microsoft YaHei"/>
              </a:rPr>
              <a:t>问题：几何逐渐清楚后，模型怎样改进最初的化学选择？</a:t>
            </a:r>
          </a:p>
        </p:txBody>
      </p:sp>
      <p:sp>
        <p:nvSpPr>
          <p:cNvPr id="3" name="text">
            <a:extLst xmlns:a="http://schemas.openxmlformats.org/drawingml/2006/main">
              <a:ext uri="{FF2B5EF4-FFF2-40B4-BE49-F238E27FC236}">
                <a16:creationId xmlns:a16="http://schemas.microsoft.com/office/drawing/2014/main" id="{74E6688E-FE92-4A31-A5C0-9CACD2AE8FF9}"/>
              </a:ext>
            </a:extLst>
          </p:cNvPr>
          <p:cNvSpPr>
            <a:spLocks xmlns:a="http://schemas.openxmlformats.org/drawingml/2006/main" noGrp="1"/>
          </p:cNvSpPr>
          <p:nvPr/>
        </p:nvSpPr>
        <p:spPr>
          <a:xfrm xmlns:a="http://schemas.openxmlformats.org/drawingml/2006/main">
            <a:off x="609600" y="2247900"/>
            <a:ext cx="1638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73E67"/>
                </a:solidFill>
                <a:latin typeface="Microsoft YaHei"/>
                <a:ea typeface="Microsoft YaHei"/>
                <a:cs typeface="Microsoft YaHei"/>
              </a:defRPr>
            </a:defPPr>
          </a:lstStyle>
          <a:p xmlns:a="http://schemas.openxmlformats.org/drawingml/2006/main">
            <a:pPr algn="l">
              <a:lnSpc>
                <a:spcPct val="118000"/>
              </a:lnSpc>
              <a:buNone/>
              <a:defRPr sz="1950" b="1">
                <a:solidFill>
                  <a:srgbClr val="173E67"/>
                </a:solidFill>
                <a:latin typeface="Microsoft YaHei"/>
                <a:ea typeface="Microsoft YaHei"/>
                <a:cs typeface="Microsoft YaHei"/>
              </a:defRPr>
            </a:pPr>
            <a:r>
              <a:rPr sz="1950" b="1">
                <a:solidFill>
                  <a:srgbClr val="173E67"/>
                </a:solidFill>
                <a:latin typeface="Microsoft YaHei"/>
                <a:ea typeface="Microsoft YaHei"/>
                <a:cs typeface="Microsoft YaHei"/>
              </a:rPr>
              <a:t>方法</a:t>
            </a:r>
          </a:p>
        </p:txBody>
      </p:sp>
      <p:sp>
        <p:nvSpPr>
          <p:cNvPr id="4" name="text">
            <a:extLst xmlns:a="http://schemas.openxmlformats.org/drawingml/2006/main">
              <a:ext uri="{FF2B5EF4-FFF2-40B4-BE49-F238E27FC236}">
                <a16:creationId xmlns:a16="http://schemas.microsoft.com/office/drawing/2014/main" id="{D37472EC-88F9-4AEC-AFBB-A2D926DB1E9A}"/>
              </a:ext>
            </a:extLst>
          </p:cNvPr>
          <p:cNvSpPr>
            <a:spLocks xmlns:a="http://schemas.openxmlformats.org/drawingml/2006/main" noGrp="1"/>
          </p:cNvSpPr>
          <p:nvPr/>
        </p:nvSpPr>
        <p:spPr>
          <a:xfrm xmlns:a="http://schemas.openxmlformats.org/drawingml/2006/main">
            <a:off x="2343150" y="2247900"/>
            <a:ext cx="92392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1B2533"/>
                </a:solidFill>
                <a:latin typeface="Microsoft YaHei"/>
                <a:ea typeface="Microsoft YaHei"/>
                <a:cs typeface="Microsoft YaHei"/>
              </a:defRPr>
            </a:defPPr>
          </a:lstStyle>
          <a:p xmlns:a="http://schemas.openxmlformats.org/drawingml/2006/main">
            <a:pPr algn="l">
              <a:lnSpc>
                <a:spcPct val="118000"/>
              </a:lnSpc>
              <a:buNone/>
              <a:defRPr sz="1950" b="0">
                <a:solidFill>
                  <a:srgbClr val="1B2533"/>
                </a:solidFill>
                <a:latin typeface="Microsoft YaHei"/>
                <a:ea typeface="Microsoft YaHei"/>
                <a:cs typeface="Microsoft YaHei"/>
              </a:defRPr>
            </a:pPr>
            <a:r>
              <a:rPr sz="1950" b="0">
                <a:solidFill>
                  <a:srgbClr val="1B2533"/>
                </a:solidFill>
                <a:latin typeface="Microsoft YaHei"/>
                <a:ea typeface="Microsoft YaHei"/>
                <a:cs typeface="Microsoft YaHei"/>
              </a:rPr>
              <a:t>LLM组织元素、占位与结构关系。Diffusion或SI生成周期几何，中间结构信息再用于修订仍未确定的选择。</a:t>
            </a:r>
          </a:p>
        </p:txBody>
      </p:sp>
      <p:sp>
        <p:nvSpPr>
          <p:cNvPr id="5" name="text">
            <a:extLst xmlns:a="http://schemas.openxmlformats.org/drawingml/2006/main">
              <a:ext uri="{FF2B5EF4-FFF2-40B4-BE49-F238E27FC236}">
                <a16:creationId xmlns:a16="http://schemas.microsoft.com/office/drawing/2014/main" id="{58EE175B-8840-40DF-B2F5-1E0B00A913F1}"/>
              </a:ext>
            </a:extLst>
          </p:cNvPr>
          <p:cNvSpPr>
            <a:spLocks xmlns:a="http://schemas.openxmlformats.org/drawingml/2006/main" noGrp="1"/>
          </p:cNvSpPr>
          <p:nvPr/>
        </p:nvSpPr>
        <p:spPr>
          <a:xfrm xmlns:a="http://schemas.openxmlformats.org/drawingml/2006/main">
            <a:off x="609600" y="3276600"/>
            <a:ext cx="1638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73E67"/>
                </a:solidFill>
                <a:latin typeface="Microsoft YaHei"/>
                <a:ea typeface="Microsoft YaHei"/>
                <a:cs typeface="Microsoft YaHei"/>
              </a:defRPr>
            </a:defPPr>
          </a:lstStyle>
          <a:p xmlns:a="http://schemas.openxmlformats.org/drawingml/2006/main">
            <a:pPr algn="l">
              <a:lnSpc>
                <a:spcPct val="118000"/>
              </a:lnSpc>
              <a:buNone/>
              <a:defRPr sz="1950" b="1">
                <a:solidFill>
                  <a:srgbClr val="173E67"/>
                </a:solidFill>
                <a:latin typeface="Microsoft YaHei"/>
                <a:ea typeface="Microsoft YaHei"/>
                <a:cs typeface="Microsoft YaHei"/>
              </a:defRPr>
            </a:pPr>
            <a:r>
              <a:rPr sz="1950" b="1">
                <a:solidFill>
                  <a:srgbClr val="173E67"/>
                </a:solidFill>
                <a:latin typeface="Microsoft YaHei"/>
                <a:ea typeface="Microsoft YaHei"/>
                <a:cs typeface="Microsoft YaHei"/>
              </a:rPr>
              <a:t>已有进展</a:t>
            </a:r>
          </a:p>
        </p:txBody>
      </p:sp>
      <p:sp>
        <p:nvSpPr>
          <p:cNvPr id="6" name="text">
            <a:extLst xmlns:a="http://schemas.openxmlformats.org/drawingml/2006/main">
              <a:ext uri="{FF2B5EF4-FFF2-40B4-BE49-F238E27FC236}">
                <a16:creationId xmlns:a16="http://schemas.microsoft.com/office/drawing/2014/main" id="{75EDDDF1-E2A6-4F7F-963D-80EE1AD83BB1}"/>
              </a:ext>
            </a:extLst>
          </p:cNvPr>
          <p:cNvSpPr>
            <a:spLocks xmlns:a="http://schemas.openxmlformats.org/drawingml/2006/main" noGrp="1"/>
          </p:cNvSpPr>
          <p:nvPr/>
        </p:nvSpPr>
        <p:spPr>
          <a:xfrm xmlns:a="http://schemas.openxmlformats.org/drawingml/2006/main">
            <a:off x="2343150" y="3276600"/>
            <a:ext cx="92392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1B2533"/>
                </a:solidFill>
                <a:latin typeface="Microsoft YaHei"/>
                <a:ea typeface="Microsoft YaHei"/>
                <a:cs typeface="Microsoft YaHei"/>
              </a:defRPr>
            </a:defPPr>
          </a:lstStyle>
          <a:p xmlns:a="http://schemas.openxmlformats.org/drawingml/2006/main">
            <a:pPr algn="l">
              <a:lnSpc>
                <a:spcPct val="118000"/>
              </a:lnSpc>
              <a:buNone/>
              <a:defRPr sz="1950" b="0">
                <a:solidFill>
                  <a:srgbClr val="1B2533"/>
                </a:solidFill>
                <a:latin typeface="Microsoft YaHei"/>
                <a:ea typeface="Microsoft YaHei"/>
                <a:cs typeface="Microsoft YaHei"/>
              </a:defRPr>
            </a:pPr>
            <a:r>
              <a:rPr sz="1950" b="0">
                <a:solidFill>
                  <a:srgbClr val="1B2533"/>
                </a:solidFill>
                <a:latin typeface="Microsoft YaHei"/>
                <a:ea typeface="Microsoft YaHei"/>
                <a:cs typeface="Microsoft YaHei"/>
              </a:rPr>
              <a:t>FlowLLM和CrysLLMGen已有单向分工。MatterGen、OMatG与MCFlow提供联合生成参照。</a:t>
            </a:r>
          </a:p>
        </p:txBody>
      </p:sp>
      <p:sp>
        <p:nvSpPr>
          <p:cNvPr id="7" name="text">
            <a:extLst xmlns:a="http://schemas.openxmlformats.org/drawingml/2006/main">
              <a:ext uri="{FF2B5EF4-FFF2-40B4-BE49-F238E27FC236}">
                <a16:creationId xmlns:a16="http://schemas.microsoft.com/office/drawing/2014/main" id="{43AC9DD8-A046-4B87-AAC1-435989FDD27D}"/>
              </a:ext>
            </a:extLst>
          </p:cNvPr>
          <p:cNvSpPr>
            <a:spLocks xmlns:a="http://schemas.openxmlformats.org/drawingml/2006/main" noGrp="1"/>
          </p:cNvSpPr>
          <p:nvPr/>
        </p:nvSpPr>
        <p:spPr>
          <a:xfrm xmlns:a="http://schemas.openxmlformats.org/drawingml/2006/main">
            <a:off x="609600" y="4305300"/>
            <a:ext cx="1638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73E67"/>
                </a:solidFill>
                <a:latin typeface="Microsoft YaHei"/>
                <a:ea typeface="Microsoft YaHei"/>
                <a:cs typeface="Microsoft YaHei"/>
              </a:defRPr>
            </a:defPPr>
          </a:lstStyle>
          <a:p xmlns:a="http://schemas.openxmlformats.org/drawingml/2006/main">
            <a:pPr algn="l">
              <a:lnSpc>
                <a:spcPct val="118000"/>
              </a:lnSpc>
              <a:buNone/>
              <a:defRPr sz="1950" b="1">
                <a:solidFill>
                  <a:srgbClr val="173E67"/>
                </a:solidFill>
                <a:latin typeface="Microsoft YaHei"/>
                <a:ea typeface="Microsoft YaHei"/>
                <a:cs typeface="Microsoft YaHei"/>
              </a:defRPr>
            </a:pPr>
            <a:r>
              <a:rPr sz="1950" b="1">
                <a:solidFill>
                  <a:srgbClr val="173E67"/>
                </a:solidFill>
                <a:latin typeface="Microsoft YaHei"/>
                <a:ea typeface="Microsoft YaHei"/>
                <a:cs typeface="Microsoft YaHei"/>
              </a:rPr>
              <a:t>需要的结果</a:t>
            </a:r>
          </a:p>
        </p:txBody>
      </p:sp>
      <p:sp>
        <p:nvSpPr>
          <p:cNvPr id="8" name="text">
            <a:extLst xmlns:a="http://schemas.openxmlformats.org/drawingml/2006/main">
              <a:ext uri="{FF2B5EF4-FFF2-40B4-BE49-F238E27FC236}">
                <a16:creationId xmlns:a16="http://schemas.microsoft.com/office/drawing/2014/main" id="{B5B7E7ED-FD0A-411E-9AAC-EC7C671B0B9B}"/>
              </a:ext>
            </a:extLst>
          </p:cNvPr>
          <p:cNvSpPr>
            <a:spLocks xmlns:a="http://schemas.openxmlformats.org/drawingml/2006/main" noGrp="1"/>
          </p:cNvSpPr>
          <p:nvPr/>
        </p:nvSpPr>
        <p:spPr>
          <a:xfrm xmlns:a="http://schemas.openxmlformats.org/drawingml/2006/main">
            <a:off x="2343150" y="4305300"/>
            <a:ext cx="92392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1B2533"/>
                </a:solidFill>
                <a:latin typeface="Microsoft YaHei"/>
                <a:ea typeface="Microsoft YaHei"/>
                <a:cs typeface="Microsoft YaHei"/>
              </a:defRPr>
            </a:defPPr>
          </a:lstStyle>
          <a:p xmlns:a="http://schemas.openxmlformats.org/drawingml/2006/main">
            <a:pPr algn="l">
              <a:lnSpc>
                <a:spcPct val="118000"/>
              </a:lnSpc>
              <a:buNone/>
              <a:defRPr sz="1950" b="0">
                <a:solidFill>
                  <a:srgbClr val="1B2533"/>
                </a:solidFill>
                <a:latin typeface="Microsoft YaHei"/>
                <a:ea typeface="Microsoft YaHei"/>
                <a:cs typeface="Microsoft YaHei"/>
              </a:defRPr>
            </a:pPr>
            <a:r>
              <a:rPr sz="1950" b="0">
                <a:solidFill>
                  <a:srgbClr val="1B2533"/>
                </a:solidFill>
                <a:latin typeface="Microsoft YaHei"/>
                <a:ea typeface="Microsoft YaHei"/>
                <a:cs typeface="Microsoft YaHei"/>
              </a:rPr>
              <a:t>在未见化学与结构组合上，检验配对正确性、有效修订和独立DNG的SUN增量。</a:t>
            </a:r>
          </a:p>
        </p:txBody>
      </p:sp>
      <p:sp>
        <p:nvSpPr>
          <p:cNvPr id="9" name="text">
            <a:extLst xmlns:a="http://schemas.openxmlformats.org/drawingml/2006/main">
              <a:ext uri="{FF2B5EF4-FFF2-40B4-BE49-F238E27FC236}">
                <a16:creationId xmlns:a16="http://schemas.microsoft.com/office/drawing/2014/main" id="{B8B76CDC-87F0-4A9C-9219-1FD2B4B1B3E2}"/>
              </a:ext>
            </a:extLst>
          </p:cNvPr>
          <p:cNvSpPr>
            <a:spLocks xmlns:a="http://schemas.openxmlformats.org/drawingml/2006/main" noGrp="1"/>
          </p:cNvSpPr>
          <p:nvPr/>
        </p:nvSpPr>
        <p:spPr>
          <a:xfrm xmlns:a="http://schemas.openxmlformats.org/drawingml/2006/main">
            <a:off x="609600" y="56197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26170"/>
                </a:solidFill>
                <a:latin typeface="Microsoft YaHei"/>
                <a:ea typeface="Microsoft YaHei"/>
                <a:cs typeface="Microsoft YaHei"/>
              </a:defRPr>
            </a:defPPr>
          </a:lstStyle>
          <a:p xmlns:a="http://schemas.openxmlformats.org/drawingml/2006/main">
            <a:pPr algn="l">
              <a:lnSpc>
                <a:spcPct val="118000"/>
              </a:lnSpc>
              <a:buNone/>
              <a:defRPr sz="1725" b="0">
                <a:solidFill>
                  <a:srgbClr val="526170"/>
                </a:solidFill>
                <a:latin typeface="Microsoft YaHei"/>
                <a:ea typeface="Microsoft YaHei"/>
                <a:cs typeface="Microsoft YaHei"/>
              </a:defRPr>
            </a:pPr>
            <a:r>
              <a:rPr sz="1725" b="0">
                <a:solidFill>
                  <a:srgbClr val="526170"/>
                </a:solidFill>
                <a:latin typeface="Microsoft YaHei"/>
                <a:ea typeface="Microsoft YaHei"/>
                <a:cs typeface="Microsoft YaHei"/>
              </a:rPr>
              <a:t>主要比较：强组成提案+CSP，纯联合生成，双向交互。</a:t>
            </a:r>
          </a:p>
        </p:txBody>
      </p:sp>
      <p:sp>
        <p:nvSpPr>
          <p:cNvPr id="10" name="separator">
            <a:extLst xmlns:a="http://schemas.openxmlformats.org/drawingml/2006/main">
              <a:ext uri="{FF2B5EF4-FFF2-40B4-BE49-F238E27FC236}">
                <a16:creationId xmlns:a16="http://schemas.microsoft.com/office/drawing/2014/main" id="{FCDAB4C0-4FE4-419E-AA4E-D335A414CF40}"/>
              </a:ext>
            </a:extLst>
          </p:cNvPr>
          <p:cNvSpPr>
            <a:spLocks xmlns:a="http://schemas.openxmlformats.org/drawingml/2006/main" noGrp="1"/>
          </p:cNvSpPr>
          <p:nvPr/>
        </p:nvSpPr>
        <p:spPr>
          <a:xfrm xmlns:a="http://schemas.openxmlformats.org/drawingml/2006/main">
            <a:off x="609600" y="6200775"/>
            <a:ext cx="10972800" cy="0"/>
          </a:xfrm>
          <a:prstGeom xmlns:a="http://schemas.openxmlformats.org/drawingml/2006/main" prst="line">
            <a:avLst/>
          </a:prstGeom>
          <a:ln xmlns:a="http://schemas.openxmlformats.org/drawingml/2006/main" w="9525">
            <a:solidFill>
              <a:srgbClr val="D5DCE3"/>
            </a:solidFill>
          </a:ln>
        </p:spPr>
      </p:sp>
      <p:sp>
        <p:nvSpPr>
          <p:cNvPr id="11" name="sources">
            <a:extLst xmlns:a="http://schemas.openxmlformats.org/drawingml/2006/main">
              <a:ext uri="{FF2B5EF4-FFF2-40B4-BE49-F238E27FC236}">
                <a16:creationId xmlns:a16="http://schemas.microsoft.com/office/drawing/2014/main" id="{899F4375-8C7F-459F-AE34-8977C36B31BC}"/>
              </a:ext>
            </a:extLst>
          </p:cNvPr>
          <p:cNvSpPr>
            <a:spLocks xmlns:a="http://schemas.openxmlformats.org/drawingml/2006/main" noGrp="1"/>
          </p:cNvSpPr>
          <p:nvPr/>
        </p:nvSpPr>
        <p:spPr>
          <a:xfrm xmlns:a="http://schemas.openxmlformats.org/drawingml/2006/main">
            <a:off x="609600" y="6353175"/>
            <a:ext cx="10363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13" b="0">
                <a:solidFill>
                  <a:srgbClr val="526170"/>
                </a:solidFill>
                <a:latin typeface="Microsoft YaHei"/>
                <a:ea typeface="Microsoft YaHei"/>
                <a:cs typeface="Microsoft YaHei"/>
              </a:defRPr>
            </a:defPPr>
          </a:lstStyle>
          <a:p xmlns:a="http://schemas.openxmlformats.org/drawingml/2006/main">
            <a:pPr algn="l">
              <a:lnSpc>
                <a:spcPct val="118000"/>
              </a:lnSpc>
              <a:buNone/>
              <a:defRPr sz="1013" b="0">
                <a:solidFill>
                  <a:srgbClr val="526170"/>
                </a:solidFill>
                <a:latin typeface="Microsoft YaHei"/>
                <a:ea typeface="Microsoft YaHei"/>
                <a:cs typeface="Microsoft YaHei"/>
              </a:defRPr>
            </a:pPr>
            <a:r>
              <a:rPr sz="1013" b="0">
                <a:solidFill>
                  <a:srgbClr val="526170"/>
                </a:solidFill>
                <a:latin typeface="Microsoft YaHei"/>
                <a:ea typeface="Microsoft YaHei"/>
                <a:cs typeface="Microsoft YaHei"/>
              </a:rPr>
              <a:t>方向A为待验证方法。先行：FlowLLM；CrysLLMGen；MatterGen；OMatG；MCFlow。</a:t>
            </a:r>
          </a:p>
        </p:txBody>
      </p:sp>
      <p:sp>
        <p:nvSpPr>
          <p:cNvPr id="12" name="page-number">
            <a:extLst xmlns:a="http://schemas.openxmlformats.org/drawingml/2006/main">
              <a:ext uri="{FF2B5EF4-FFF2-40B4-BE49-F238E27FC236}">
                <a16:creationId xmlns:a16="http://schemas.microsoft.com/office/drawing/2014/main" id="{B1EA93D3-883A-4061-A540-A61B1E5EA2BA}"/>
              </a:ext>
            </a:extLst>
          </p:cNvPr>
          <p:cNvSpPr>
            <a:spLocks xmlns:a="http://schemas.openxmlformats.org/drawingml/2006/main" noGrp="1"/>
          </p:cNvSpPr>
          <p:nvPr/>
        </p:nvSpPr>
        <p:spPr>
          <a:xfrm xmlns:a="http://schemas.openxmlformats.org/drawingml/2006/main">
            <a:off x="11334750" y="6334125"/>
            <a:ext cx="266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26170"/>
                </a:solidFill>
                <a:latin typeface="Microsoft YaHei"/>
                <a:ea typeface="Microsoft YaHei"/>
                <a:cs typeface="Microsoft YaHei"/>
              </a:defRPr>
            </a:defPPr>
          </a:lstStyle>
          <a:p xmlns:a="http://schemas.openxmlformats.org/drawingml/2006/main">
            <a:pPr algn="r">
              <a:lnSpc>
                <a:spcPct val="118000"/>
              </a:lnSpc>
              <a:buNone/>
              <a:defRPr sz="1275" b="0">
                <a:solidFill>
                  <a:srgbClr val="526170"/>
                </a:solidFill>
                <a:latin typeface="Microsoft YaHei"/>
                <a:ea typeface="Microsoft YaHei"/>
                <a:cs typeface="Microsoft YaHei"/>
              </a:defRPr>
            </a:pPr>
            <a:r>
              <a:rPr sz="1275" b="0">
                <a:solidFill>
                  <a:srgbClr val="526170"/>
                </a:solidFill>
                <a:latin typeface="Microsoft YaHei"/>
                <a:ea typeface="Microsoft YaHei"/>
                <a:cs typeface="Microsoft YaHei"/>
              </a:rPr>
              <a:t>22</a:t>
            </a:r>
          </a:p>
        </p:txBody>
      </p:sp>
    </p:spTree>
    <p:extLst>
      <p:ext uri="{BB962C8B-B14F-4D97-AF65-F5344CB8AC3E}">
        <p14:creationId xmlns:p14="http://schemas.microsoft.com/office/powerpoint/2010/main" val="1276297948"/>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slide-title">
            <a:extLst xmlns:a="http://schemas.openxmlformats.org/drawingml/2006/main">
              <a:ext uri="{FF2B5EF4-FFF2-40B4-BE49-F238E27FC236}">
                <a16:creationId xmlns:a16="http://schemas.microsoft.com/office/drawing/2014/main" id="{9D2D5EC7-AB55-4AA6-A024-2864C9A3CF18}"/>
              </a:ext>
            </a:extLst>
          </p:cNvPr>
          <p:cNvSpPr>
            <a:spLocks xmlns:a="http://schemas.openxmlformats.org/drawingml/2006/main" noGrp="1"/>
          </p:cNvSpPr>
          <p:nvPr/>
        </p:nvSpPr>
        <p:spPr>
          <a:xfrm xmlns:a="http://schemas.openxmlformats.org/drawingml/2006/main">
            <a:off x="609600" y="36195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73E67"/>
                </a:solidFill>
                <a:latin typeface="Microsoft YaHei"/>
                <a:ea typeface="Microsoft YaHei"/>
                <a:cs typeface="Microsoft YaHei"/>
              </a:defRPr>
            </a:defPPr>
          </a:lstStyle>
          <a:p xmlns:a="http://schemas.openxmlformats.org/drawingml/2006/main">
            <a:pPr algn="l">
              <a:lnSpc>
                <a:spcPct val="118000"/>
              </a:lnSpc>
              <a:buNone/>
              <a:defRPr sz="3150" b="1">
                <a:solidFill>
                  <a:srgbClr val="173E67"/>
                </a:solidFill>
                <a:latin typeface="Microsoft YaHei"/>
                <a:ea typeface="Microsoft YaHei"/>
                <a:cs typeface="Microsoft YaHei"/>
              </a:defRPr>
            </a:pPr>
            <a:r>
              <a:rPr sz="3150" b="1">
                <a:solidFill>
                  <a:srgbClr val="173E67"/>
                </a:solidFill>
                <a:latin typeface="Microsoft YaHei"/>
                <a:ea typeface="Microsoft YaHei"/>
                <a:cs typeface="Microsoft YaHei"/>
              </a:rPr>
              <a:t>方向B：局部化学知识的整体实现</a:t>
            </a:r>
          </a:p>
        </p:txBody>
      </p:sp>
      <p:sp>
        <p:nvSpPr>
          <p:cNvPr id="2" name="text">
            <a:extLst xmlns:a="http://schemas.openxmlformats.org/drawingml/2006/main">
              <a:ext uri="{FF2B5EF4-FFF2-40B4-BE49-F238E27FC236}">
                <a16:creationId xmlns:a16="http://schemas.microsoft.com/office/drawing/2014/main" id="{A4DFB042-425B-4300-BB5E-E882ABD358BA}"/>
              </a:ext>
            </a:extLst>
          </p:cNvPr>
          <p:cNvSpPr>
            <a:spLocks xmlns:a="http://schemas.openxmlformats.org/drawingml/2006/main" noGrp="1"/>
          </p:cNvSpPr>
          <p:nvPr/>
        </p:nvSpPr>
        <p:spPr>
          <a:xfrm xmlns:a="http://schemas.openxmlformats.org/drawingml/2006/main">
            <a:off x="609600" y="12001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E67"/>
                </a:solidFill>
                <a:latin typeface="Microsoft YaHei"/>
                <a:ea typeface="Microsoft YaHei"/>
                <a:cs typeface="Microsoft YaHei"/>
              </a:defRPr>
            </a:defPPr>
          </a:lstStyle>
          <a:p xmlns:a="http://schemas.openxmlformats.org/drawingml/2006/main">
            <a:pPr algn="l">
              <a:lnSpc>
                <a:spcPct val="118000"/>
              </a:lnSpc>
              <a:buNone/>
              <a:defRPr sz="2100" b="0">
                <a:solidFill>
                  <a:srgbClr val="173E67"/>
                </a:solidFill>
                <a:latin typeface="Microsoft YaHei"/>
                <a:ea typeface="Microsoft YaHei"/>
                <a:cs typeface="Microsoft YaHei"/>
              </a:defRPr>
            </a:pPr>
            <a:r>
              <a:rPr sz="2100" b="0">
                <a:solidFill>
                  <a:srgbClr val="173E67"/>
                </a:solidFill>
                <a:latin typeface="Microsoft YaHei"/>
                <a:ea typeface="Microsoft YaHei"/>
                <a:cs typeface="Microsoft YaHei"/>
              </a:rPr>
              <a:t>问题：哪些局部规律能在新的周期结构中同时成立？</a:t>
            </a:r>
          </a:p>
        </p:txBody>
      </p:sp>
      <p:sp>
        <p:nvSpPr>
          <p:cNvPr id="3" name="text">
            <a:extLst xmlns:a="http://schemas.openxmlformats.org/drawingml/2006/main">
              <a:ext uri="{FF2B5EF4-FFF2-40B4-BE49-F238E27FC236}">
                <a16:creationId xmlns:a16="http://schemas.microsoft.com/office/drawing/2014/main" id="{56E40F7F-66E8-40AC-957D-B6EC225C81A5}"/>
              </a:ext>
            </a:extLst>
          </p:cNvPr>
          <p:cNvSpPr>
            <a:spLocks xmlns:a="http://schemas.openxmlformats.org/drawingml/2006/main" noGrp="1"/>
          </p:cNvSpPr>
          <p:nvPr/>
        </p:nvSpPr>
        <p:spPr>
          <a:xfrm xmlns:a="http://schemas.openxmlformats.org/drawingml/2006/main">
            <a:off x="609600" y="2247900"/>
            <a:ext cx="1638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73E67"/>
                </a:solidFill>
                <a:latin typeface="Microsoft YaHei"/>
                <a:ea typeface="Microsoft YaHei"/>
                <a:cs typeface="Microsoft YaHei"/>
              </a:defRPr>
            </a:defPPr>
          </a:lstStyle>
          <a:p xmlns:a="http://schemas.openxmlformats.org/drawingml/2006/main">
            <a:pPr algn="l">
              <a:lnSpc>
                <a:spcPct val="118000"/>
              </a:lnSpc>
              <a:buNone/>
              <a:defRPr sz="1950" b="1">
                <a:solidFill>
                  <a:srgbClr val="173E67"/>
                </a:solidFill>
                <a:latin typeface="Microsoft YaHei"/>
                <a:ea typeface="Microsoft YaHei"/>
                <a:cs typeface="Microsoft YaHei"/>
              </a:defRPr>
            </a:pPr>
            <a:r>
              <a:rPr sz="1950" b="1">
                <a:solidFill>
                  <a:srgbClr val="173E67"/>
                </a:solidFill>
                <a:latin typeface="Microsoft YaHei"/>
                <a:ea typeface="Microsoft YaHei"/>
                <a:cs typeface="Microsoft YaHei"/>
              </a:rPr>
              <a:t>方法</a:t>
            </a:r>
          </a:p>
        </p:txBody>
      </p:sp>
      <p:sp>
        <p:nvSpPr>
          <p:cNvPr id="4" name="text">
            <a:extLst xmlns:a="http://schemas.openxmlformats.org/drawingml/2006/main">
              <a:ext uri="{FF2B5EF4-FFF2-40B4-BE49-F238E27FC236}">
                <a16:creationId xmlns:a16="http://schemas.microsoft.com/office/drawing/2014/main" id="{B33571E1-2A4A-4000-A834-5BCA47E33691}"/>
              </a:ext>
            </a:extLst>
          </p:cNvPr>
          <p:cNvSpPr>
            <a:spLocks xmlns:a="http://schemas.openxmlformats.org/drawingml/2006/main" noGrp="1"/>
          </p:cNvSpPr>
          <p:nvPr/>
        </p:nvSpPr>
        <p:spPr>
          <a:xfrm xmlns:a="http://schemas.openxmlformats.org/drawingml/2006/main">
            <a:off x="2343150" y="2247900"/>
            <a:ext cx="92392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1B2533"/>
                </a:solidFill>
                <a:latin typeface="Microsoft YaHei"/>
                <a:ea typeface="Microsoft YaHei"/>
                <a:cs typeface="Microsoft YaHei"/>
              </a:defRPr>
            </a:defPPr>
          </a:lstStyle>
          <a:p xmlns:a="http://schemas.openxmlformats.org/drawingml/2006/main">
            <a:pPr algn="l">
              <a:lnSpc>
                <a:spcPct val="118000"/>
              </a:lnSpc>
              <a:buNone/>
              <a:defRPr sz="1950" b="0">
                <a:solidFill>
                  <a:srgbClr val="1B2533"/>
                </a:solidFill>
                <a:latin typeface="Microsoft YaHei"/>
                <a:ea typeface="Microsoft YaHei"/>
                <a:cs typeface="Microsoft YaHei"/>
              </a:defRPr>
            </a:pPr>
            <a:r>
              <a:rPr sz="1950" b="0">
                <a:solidFill>
                  <a:srgbClr val="1B2533"/>
                </a:solidFill>
                <a:latin typeface="Microsoft YaHei"/>
                <a:ea typeface="Microsoft YaHei"/>
                <a:cs typeface="Microsoft YaHei"/>
              </a:rPr>
              <a:t>用组合条件Diffusion表示配位和周期连接要求，在共享原子位置与晶胞中生成完整结构。</a:t>
            </a:r>
          </a:p>
        </p:txBody>
      </p:sp>
      <p:sp>
        <p:nvSpPr>
          <p:cNvPr id="5" name="text">
            <a:extLst xmlns:a="http://schemas.openxmlformats.org/drawingml/2006/main">
              <a:ext uri="{FF2B5EF4-FFF2-40B4-BE49-F238E27FC236}">
                <a16:creationId xmlns:a16="http://schemas.microsoft.com/office/drawing/2014/main" id="{2F626B7F-5D52-4821-98A3-7CEB995DBD0F}"/>
              </a:ext>
            </a:extLst>
          </p:cNvPr>
          <p:cNvSpPr>
            <a:spLocks xmlns:a="http://schemas.openxmlformats.org/drawingml/2006/main" noGrp="1"/>
          </p:cNvSpPr>
          <p:nvPr/>
        </p:nvSpPr>
        <p:spPr>
          <a:xfrm xmlns:a="http://schemas.openxmlformats.org/drawingml/2006/main">
            <a:off x="609600" y="3276600"/>
            <a:ext cx="1638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73E67"/>
                </a:solidFill>
                <a:latin typeface="Microsoft YaHei"/>
                <a:ea typeface="Microsoft YaHei"/>
                <a:cs typeface="Microsoft YaHei"/>
              </a:defRPr>
            </a:defPPr>
          </a:lstStyle>
          <a:p xmlns:a="http://schemas.openxmlformats.org/drawingml/2006/main">
            <a:pPr algn="l">
              <a:lnSpc>
                <a:spcPct val="118000"/>
              </a:lnSpc>
              <a:buNone/>
              <a:defRPr sz="1950" b="1">
                <a:solidFill>
                  <a:srgbClr val="173E67"/>
                </a:solidFill>
                <a:latin typeface="Microsoft YaHei"/>
                <a:ea typeface="Microsoft YaHei"/>
                <a:cs typeface="Microsoft YaHei"/>
              </a:defRPr>
            </a:pPr>
            <a:r>
              <a:rPr sz="1950" b="1">
                <a:solidFill>
                  <a:srgbClr val="173E67"/>
                </a:solidFill>
                <a:latin typeface="Microsoft YaHei"/>
                <a:ea typeface="Microsoft YaHei"/>
                <a:cs typeface="Microsoft YaHei"/>
              </a:rPr>
              <a:t>已有进展</a:t>
            </a:r>
          </a:p>
        </p:txBody>
      </p:sp>
      <p:sp>
        <p:nvSpPr>
          <p:cNvPr id="6" name="text">
            <a:extLst xmlns:a="http://schemas.openxmlformats.org/drawingml/2006/main">
              <a:ext uri="{FF2B5EF4-FFF2-40B4-BE49-F238E27FC236}">
                <a16:creationId xmlns:a16="http://schemas.microsoft.com/office/drawing/2014/main" id="{CF16AC47-E61C-4F64-8774-B88D61C60C9D}"/>
              </a:ext>
            </a:extLst>
          </p:cNvPr>
          <p:cNvSpPr>
            <a:spLocks xmlns:a="http://schemas.openxmlformats.org/drawingml/2006/main" noGrp="1"/>
          </p:cNvSpPr>
          <p:nvPr/>
        </p:nvSpPr>
        <p:spPr>
          <a:xfrm xmlns:a="http://schemas.openxmlformats.org/drawingml/2006/main">
            <a:off x="2343150" y="3276600"/>
            <a:ext cx="92392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1B2533"/>
                </a:solidFill>
                <a:latin typeface="Microsoft YaHei"/>
                <a:ea typeface="Microsoft YaHei"/>
                <a:cs typeface="Microsoft YaHei"/>
              </a:defRPr>
            </a:defPPr>
          </a:lstStyle>
          <a:p xmlns:a="http://schemas.openxmlformats.org/drawingml/2006/main">
            <a:pPr algn="l">
              <a:lnSpc>
                <a:spcPct val="118000"/>
              </a:lnSpc>
              <a:buNone/>
              <a:defRPr sz="1950" b="0">
                <a:solidFill>
                  <a:srgbClr val="1B2533"/>
                </a:solidFill>
                <a:latin typeface="Microsoft YaHei"/>
                <a:ea typeface="Microsoft YaHei"/>
                <a:cs typeface="Microsoft YaHei"/>
              </a:defRPr>
            </a:pPr>
            <a:r>
              <a:rPr sz="1950" b="0">
                <a:solidFill>
                  <a:srgbClr val="1B2533"/>
                </a:solidFill>
                <a:latin typeface="Microsoft YaHei"/>
                <a:ea typeface="Microsoft YaHei"/>
                <a:cs typeface="Microsoft YaHei"/>
              </a:rPr>
              <a:t>SCIGEN展示结构约束的用途。Composable Crystals等开始研究概念组合。</a:t>
            </a:r>
          </a:p>
        </p:txBody>
      </p:sp>
      <p:sp>
        <p:nvSpPr>
          <p:cNvPr id="7" name="text">
            <a:extLst xmlns:a="http://schemas.openxmlformats.org/drawingml/2006/main">
              <a:ext uri="{FF2B5EF4-FFF2-40B4-BE49-F238E27FC236}">
                <a16:creationId xmlns:a16="http://schemas.microsoft.com/office/drawing/2014/main" id="{7D5E1051-F705-496D-BE77-894C5A8D5091}"/>
              </a:ext>
            </a:extLst>
          </p:cNvPr>
          <p:cNvSpPr>
            <a:spLocks xmlns:a="http://schemas.openxmlformats.org/drawingml/2006/main" noGrp="1"/>
          </p:cNvSpPr>
          <p:nvPr/>
        </p:nvSpPr>
        <p:spPr>
          <a:xfrm xmlns:a="http://schemas.openxmlformats.org/drawingml/2006/main">
            <a:off x="609600" y="4305300"/>
            <a:ext cx="1638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73E67"/>
                </a:solidFill>
                <a:latin typeface="Microsoft YaHei"/>
                <a:ea typeface="Microsoft YaHei"/>
                <a:cs typeface="Microsoft YaHei"/>
              </a:defRPr>
            </a:defPPr>
          </a:lstStyle>
          <a:p xmlns:a="http://schemas.openxmlformats.org/drawingml/2006/main">
            <a:pPr algn="l">
              <a:lnSpc>
                <a:spcPct val="118000"/>
              </a:lnSpc>
              <a:buNone/>
              <a:defRPr sz="1950" b="1">
                <a:solidFill>
                  <a:srgbClr val="173E67"/>
                </a:solidFill>
                <a:latin typeface="Microsoft YaHei"/>
                <a:ea typeface="Microsoft YaHei"/>
                <a:cs typeface="Microsoft YaHei"/>
              </a:defRPr>
            </a:pPr>
            <a:r>
              <a:rPr sz="1950" b="1">
                <a:solidFill>
                  <a:srgbClr val="173E67"/>
                </a:solidFill>
                <a:latin typeface="Microsoft YaHei"/>
                <a:ea typeface="Microsoft YaHei"/>
                <a:cs typeface="Microsoft YaHei"/>
              </a:rPr>
              <a:t>需要的结果</a:t>
            </a:r>
          </a:p>
        </p:txBody>
      </p:sp>
      <p:sp>
        <p:nvSpPr>
          <p:cNvPr id="8" name="text">
            <a:extLst xmlns:a="http://schemas.openxmlformats.org/drawingml/2006/main">
              <a:ext uri="{FF2B5EF4-FFF2-40B4-BE49-F238E27FC236}">
                <a16:creationId xmlns:a16="http://schemas.microsoft.com/office/drawing/2014/main" id="{338B6BC6-26D7-4E7D-8D5F-8E90DD264934}"/>
              </a:ext>
            </a:extLst>
          </p:cNvPr>
          <p:cNvSpPr>
            <a:spLocks xmlns:a="http://schemas.openxmlformats.org/drawingml/2006/main" noGrp="1"/>
          </p:cNvSpPr>
          <p:nvPr/>
        </p:nvSpPr>
        <p:spPr>
          <a:xfrm xmlns:a="http://schemas.openxmlformats.org/drawingml/2006/main">
            <a:off x="2343150" y="4305300"/>
            <a:ext cx="92392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1B2533"/>
                </a:solidFill>
                <a:latin typeface="Microsoft YaHei"/>
                <a:ea typeface="Microsoft YaHei"/>
                <a:cs typeface="Microsoft YaHei"/>
              </a:defRPr>
            </a:defPPr>
          </a:lstStyle>
          <a:p xmlns:a="http://schemas.openxmlformats.org/drawingml/2006/main">
            <a:pPr algn="l">
              <a:lnSpc>
                <a:spcPct val="118000"/>
              </a:lnSpc>
              <a:buNone/>
              <a:defRPr sz="1950" b="0">
                <a:solidFill>
                  <a:srgbClr val="1B2533"/>
                </a:solidFill>
                <a:latin typeface="Microsoft YaHei"/>
                <a:ea typeface="Microsoft YaHei"/>
                <a:cs typeface="Microsoft YaHei"/>
              </a:defRPr>
            </a:pPr>
            <a:r>
              <a:rPr sz="1950" b="0">
                <a:solidFill>
                  <a:srgbClr val="1B2533"/>
                </a:solidFill>
                <a:latin typeface="Microsoft YaHei"/>
                <a:ea typeface="Microsoft YaHei"/>
                <a:cs typeface="Microsoft YaHei"/>
              </a:rPr>
              <a:t>在新的化学、连接方式或原胞复杂度上，检验组合泛化及稳定结构增量。</a:t>
            </a:r>
          </a:p>
        </p:txBody>
      </p:sp>
      <p:sp>
        <p:nvSpPr>
          <p:cNvPr id="9" name="text">
            <a:extLst xmlns:a="http://schemas.openxmlformats.org/drawingml/2006/main">
              <a:ext uri="{FF2B5EF4-FFF2-40B4-BE49-F238E27FC236}">
                <a16:creationId xmlns:a16="http://schemas.microsoft.com/office/drawing/2014/main" id="{6CB275A7-4098-43BA-8E7F-B16E932C7DEB}"/>
              </a:ext>
            </a:extLst>
          </p:cNvPr>
          <p:cNvSpPr>
            <a:spLocks xmlns:a="http://schemas.openxmlformats.org/drawingml/2006/main" noGrp="1"/>
          </p:cNvSpPr>
          <p:nvPr/>
        </p:nvSpPr>
        <p:spPr>
          <a:xfrm xmlns:a="http://schemas.openxmlformats.org/drawingml/2006/main">
            <a:off x="609600" y="56197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26170"/>
                </a:solidFill>
                <a:latin typeface="Microsoft YaHei"/>
                <a:ea typeface="Microsoft YaHei"/>
                <a:cs typeface="Microsoft YaHei"/>
              </a:defRPr>
            </a:defPPr>
          </a:lstStyle>
          <a:p xmlns:a="http://schemas.openxmlformats.org/drawingml/2006/main">
            <a:pPr algn="l">
              <a:lnSpc>
                <a:spcPct val="118000"/>
              </a:lnSpc>
              <a:buNone/>
              <a:defRPr sz="1725" b="0">
                <a:solidFill>
                  <a:srgbClr val="526170"/>
                </a:solidFill>
                <a:latin typeface="Microsoft YaHei"/>
                <a:ea typeface="Microsoft YaHei"/>
                <a:cs typeface="Microsoft YaHei"/>
              </a:defRPr>
            </a:pPr>
            <a:r>
              <a:rPr sz="1725" b="0">
                <a:solidFill>
                  <a:srgbClr val="526170"/>
                </a:solidFill>
                <a:latin typeface="Microsoft YaHei"/>
                <a:ea typeface="Microsoft YaHei"/>
                <a:cs typeface="Microsoft YaHei"/>
              </a:rPr>
              <a:t>主要比较：整结构模板、独立条件输入、显式共享关系。</a:t>
            </a:r>
          </a:p>
        </p:txBody>
      </p:sp>
      <p:sp>
        <p:nvSpPr>
          <p:cNvPr id="10" name="separator">
            <a:extLst xmlns:a="http://schemas.openxmlformats.org/drawingml/2006/main">
              <a:ext uri="{FF2B5EF4-FFF2-40B4-BE49-F238E27FC236}">
                <a16:creationId xmlns:a16="http://schemas.microsoft.com/office/drawing/2014/main" id="{EC38C742-1A4A-42D1-A371-F80FFAE77ECB}"/>
              </a:ext>
            </a:extLst>
          </p:cNvPr>
          <p:cNvSpPr>
            <a:spLocks xmlns:a="http://schemas.openxmlformats.org/drawingml/2006/main" noGrp="1"/>
          </p:cNvSpPr>
          <p:nvPr/>
        </p:nvSpPr>
        <p:spPr>
          <a:xfrm xmlns:a="http://schemas.openxmlformats.org/drawingml/2006/main">
            <a:off x="609600" y="6200775"/>
            <a:ext cx="10972800" cy="0"/>
          </a:xfrm>
          <a:prstGeom xmlns:a="http://schemas.openxmlformats.org/drawingml/2006/main" prst="line">
            <a:avLst/>
          </a:prstGeom>
          <a:ln xmlns:a="http://schemas.openxmlformats.org/drawingml/2006/main" w="9525">
            <a:solidFill>
              <a:srgbClr val="D5DCE3"/>
            </a:solidFill>
          </a:ln>
        </p:spPr>
      </p:sp>
      <p:sp>
        <p:nvSpPr>
          <p:cNvPr id="11" name="sources">
            <a:extLst xmlns:a="http://schemas.openxmlformats.org/drawingml/2006/main">
              <a:ext uri="{FF2B5EF4-FFF2-40B4-BE49-F238E27FC236}">
                <a16:creationId xmlns:a16="http://schemas.microsoft.com/office/drawing/2014/main" id="{8C043139-79AB-455F-9D30-AE3672013EED}"/>
              </a:ext>
            </a:extLst>
          </p:cNvPr>
          <p:cNvSpPr>
            <a:spLocks xmlns:a="http://schemas.openxmlformats.org/drawingml/2006/main" noGrp="1"/>
          </p:cNvSpPr>
          <p:nvPr/>
        </p:nvSpPr>
        <p:spPr>
          <a:xfrm xmlns:a="http://schemas.openxmlformats.org/drawingml/2006/main">
            <a:off x="609600" y="6353175"/>
            <a:ext cx="10363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13" b="0">
                <a:solidFill>
                  <a:srgbClr val="526170"/>
                </a:solidFill>
                <a:latin typeface="Microsoft YaHei"/>
                <a:ea typeface="Microsoft YaHei"/>
                <a:cs typeface="Microsoft YaHei"/>
              </a:defRPr>
            </a:defPPr>
          </a:lstStyle>
          <a:p xmlns:a="http://schemas.openxmlformats.org/drawingml/2006/main">
            <a:pPr algn="l">
              <a:lnSpc>
                <a:spcPct val="118000"/>
              </a:lnSpc>
              <a:buNone/>
              <a:defRPr sz="1013" b="0">
                <a:solidFill>
                  <a:srgbClr val="526170"/>
                </a:solidFill>
                <a:latin typeface="Microsoft YaHei"/>
                <a:ea typeface="Microsoft YaHei"/>
                <a:cs typeface="Microsoft YaHei"/>
              </a:defRPr>
            </a:pPr>
            <a:r>
              <a:rPr sz="1013" b="0">
                <a:solidFill>
                  <a:srgbClr val="526170"/>
                </a:solidFill>
                <a:latin typeface="Microsoft YaHei"/>
                <a:ea typeface="Microsoft YaHei"/>
                <a:cs typeface="Microsoft YaHei"/>
              </a:rPr>
              <a:t>方向B为待验证方法。先行：SCIGEN；Composable Crystals；UFO-MGen；CHGNet。</a:t>
            </a:r>
          </a:p>
        </p:txBody>
      </p:sp>
      <p:sp>
        <p:nvSpPr>
          <p:cNvPr id="12" name="page-number">
            <a:extLst xmlns:a="http://schemas.openxmlformats.org/drawingml/2006/main">
              <a:ext uri="{FF2B5EF4-FFF2-40B4-BE49-F238E27FC236}">
                <a16:creationId xmlns:a16="http://schemas.microsoft.com/office/drawing/2014/main" id="{1A3F3164-CD06-4AD6-954B-E08D6A656B2B}"/>
              </a:ext>
            </a:extLst>
          </p:cNvPr>
          <p:cNvSpPr>
            <a:spLocks xmlns:a="http://schemas.openxmlformats.org/drawingml/2006/main" noGrp="1"/>
          </p:cNvSpPr>
          <p:nvPr/>
        </p:nvSpPr>
        <p:spPr>
          <a:xfrm xmlns:a="http://schemas.openxmlformats.org/drawingml/2006/main">
            <a:off x="11334750" y="6334125"/>
            <a:ext cx="266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26170"/>
                </a:solidFill>
                <a:latin typeface="Microsoft YaHei"/>
                <a:ea typeface="Microsoft YaHei"/>
                <a:cs typeface="Microsoft YaHei"/>
              </a:defRPr>
            </a:defPPr>
          </a:lstStyle>
          <a:p xmlns:a="http://schemas.openxmlformats.org/drawingml/2006/main">
            <a:pPr algn="r">
              <a:lnSpc>
                <a:spcPct val="118000"/>
              </a:lnSpc>
              <a:buNone/>
              <a:defRPr sz="1275" b="0">
                <a:solidFill>
                  <a:srgbClr val="526170"/>
                </a:solidFill>
                <a:latin typeface="Microsoft YaHei"/>
                <a:ea typeface="Microsoft YaHei"/>
                <a:cs typeface="Microsoft YaHei"/>
              </a:defRPr>
            </a:pPr>
            <a:r>
              <a:rPr sz="1275" b="0">
                <a:solidFill>
                  <a:srgbClr val="526170"/>
                </a:solidFill>
                <a:latin typeface="Microsoft YaHei"/>
                <a:ea typeface="Microsoft YaHei"/>
                <a:cs typeface="Microsoft YaHei"/>
              </a:rPr>
              <a:t>23</a:t>
            </a:r>
          </a:p>
        </p:txBody>
      </p:sp>
    </p:spTree>
    <p:extLst>
      <p:ext uri="{BB962C8B-B14F-4D97-AF65-F5344CB8AC3E}">
        <p14:creationId xmlns:p14="http://schemas.microsoft.com/office/powerpoint/2010/main" val="957322475"/>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slide-title">
            <a:extLst xmlns:a="http://schemas.openxmlformats.org/drawingml/2006/main">
              <a:ext uri="{FF2B5EF4-FFF2-40B4-BE49-F238E27FC236}">
                <a16:creationId xmlns:a16="http://schemas.microsoft.com/office/drawing/2014/main" id="{B90B6C36-D42F-420B-91CA-D37AACAEFEDD}"/>
              </a:ext>
            </a:extLst>
          </p:cNvPr>
          <p:cNvSpPr>
            <a:spLocks xmlns:a="http://schemas.openxmlformats.org/drawingml/2006/main" noGrp="1"/>
          </p:cNvSpPr>
          <p:nvPr/>
        </p:nvSpPr>
        <p:spPr>
          <a:xfrm xmlns:a="http://schemas.openxmlformats.org/drawingml/2006/main">
            <a:off x="609600" y="36195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73E67"/>
                </a:solidFill>
                <a:latin typeface="Microsoft YaHei"/>
                <a:ea typeface="Microsoft YaHei"/>
                <a:cs typeface="Microsoft YaHei"/>
              </a:defRPr>
            </a:defPPr>
          </a:lstStyle>
          <a:p xmlns:a="http://schemas.openxmlformats.org/drawingml/2006/main">
            <a:pPr algn="l">
              <a:lnSpc>
                <a:spcPct val="118000"/>
              </a:lnSpc>
              <a:buNone/>
              <a:defRPr sz="3150" b="1">
                <a:solidFill>
                  <a:srgbClr val="173E67"/>
                </a:solidFill>
                <a:latin typeface="Microsoft YaHei"/>
                <a:ea typeface="Microsoft YaHei"/>
                <a:cs typeface="Microsoft YaHei"/>
              </a:defRPr>
            </a:pPr>
            <a:r>
              <a:rPr sz="3150" b="1">
                <a:solidFill>
                  <a:srgbClr val="173E67"/>
                </a:solidFill>
                <a:latin typeface="Microsoft YaHei"/>
                <a:ea typeface="Microsoft YaHei"/>
                <a:cs typeface="Microsoft YaHei"/>
              </a:rPr>
              <a:t>方向C：把物理反馈学入生成模型</a:t>
            </a:r>
          </a:p>
        </p:txBody>
      </p:sp>
      <p:sp>
        <p:nvSpPr>
          <p:cNvPr id="2" name="text">
            <a:extLst xmlns:a="http://schemas.openxmlformats.org/drawingml/2006/main">
              <a:ext uri="{FF2B5EF4-FFF2-40B4-BE49-F238E27FC236}">
                <a16:creationId xmlns:a16="http://schemas.microsoft.com/office/drawing/2014/main" id="{38B8E2C5-68F9-46B6-AA3D-43B9DDB5960F}"/>
              </a:ext>
            </a:extLst>
          </p:cNvPr>
          <p:cNvSpPr>
            <a:spLocks xmlns:a="http://schemas.openxmlformats.org/drawingml/2006/main" noGrp="1"/>
          </p:cNvSpPr>
          <p:nvPr/>
        </p:nvSpPr>
        <p:spPr>
          <a:xfrm xmlns:a="http://schemas.openxmlformats.org/drawingml/2006/main">
            <a:off x="609600" y="12001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E67"/>
                </a:solidFill>
                <a:latin typeface="Microsoft YaHei"/>
                <a:ea typeface="Microsoft YaHei"/>
                <a:cs typeface="Microsoft YaHei"/>
              </a:defRPr>
            </a:defPPr>
          </a:lstStyle>
          <a:p xmlns:a="http://schemas.openxmlformats.org/drawingml/2006/main">
            <a:pPr algn="l">
              <a:lnSpc>
                <a:spcPct val="118000"/>
              </a:lnSpc>
              <a:buNone/>
              <a:defRPr sz="2100" b="0">
                <a:solidFill>
                  <a:srgbClr val="173E67"/>
                </a:solidFill>
                <a:latin typeface="Microsoft YaHei"/>
                <a:ea typeface="Microsoft YaHei"/>
                <a:cs typeface="Microsoft YaHei"/>
              </a:defRPr>
            </a:pPr>
            <a:r>
              <a:rPr sz="2100" b="0">
                <a:solidFill>
                  <a:srgbClr val="173E67"/>
                </a:solidFill>
                <a:latin typeface="Microsoft YaHei"/>
                <a:ea typeface="Microsoft YaHei"/>
                <a:cs typeface="Microsoft YaHei"/>
              </a:rPr>
              <a:t>问题：一次结构改变产生的响应，能否帮助其他材料？</a:t>
            </a:r>
          </a:p>
        </p:txBody>
      </p:sp>
      <p:sp>
        <p:nvSpPr>
          <p:cNvPr id="3" name="text">
            <a:extLst xmlns:a="http://schemas.openxmlformats.org/drawingml/2006/main">
              <a:ext uri="{FF2B5EF4-FFF2-40B4-BE49-F238E27FC236}">
                <a16:creationId xmlns:a16="http://schemas.microsoft.com/office/drawing/2014/main" id="{E917DF99-4E87-4E6C-ACB0-E60CED85CCC2}"/>
              </a:ext>
            </a:extLst>
          </p:cNvPr>
          <p:cNvSpPr>
            <a:spLocks xmlns:a="http://schemas.openxmlformats.org/drawingml/2006/main" noGrp="1"/>
          </p:cNvSpPr>
          <p:nvPr/>
        </p:nvSpPr>
        <p:spPr>
          <a:xfrm xmlns:a="http://schemas.openxmlformats.org/drawingml/2006/main">
            <a:off x="609600" y="2247900"/>
            <a:ext cx="1638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73E67"/>
                </a:solidFill>
                <a:latin typeface="Microsoft YaHei"/>
                <a:ea typeface="Microsoft YaHei"/>
                <a:cs typeface="Microsoft YaHei"/>
              </a:defRPr>
            </a:defPPr>
          </a:lstStyle>
          <a:p xmlns:a="http://schemas.openxmlformats.org/drawingml/2006/main">
            <a:pPr algn="l">
              <a:lnSpc>
                <a:spcPct val="118000"/>
              </a:lnSpc>
              <a:buNone/>
              <a:defRPr sz="1950" b="1">
                <a:solidFill>
                  <a:srgbClr val="173E67"/>
                </a:solidFill>
                <a:latin typeface="Microsoft YaHei"/>
                <a:ea typeface="Microsoft YaHei"/>
                <a:cs typeface="Microsoft YaHei"/>
              </a:defRPr>
            </a:pPr>
            <a:r>
              <a:rPr sz="1950" b="1">
                <a:solidFill>
                  <a:srgbClr val="173E67"/>
                </a:solidFill>
                <a:latin typeface="Microsoft YaHei"/>
                <a:ea typeface="Microsoft YaHei"/>
                <a:cs typeface="Microsoft YaHei"/>
              </a:rPr>
              <a:t>方法</a:t>
            </a:r>
          </a:p>
        </p:txBody>
      </p:sp>
      <p:sp>
        <p:nvSpPr>
          <p:cNvPr id="4" name="text">
            <a:extLst xmlns:a="http://schemas.openxmlformats.org/drawingml/2006/main">
              <a:ext uri="{FF2B5EF4-FFF2-40B4-BE49-F238E27FC236}">
                <a16:creationId xmlns:a16="http://schemas.microsoft.com/office/drawing/2014/main" id="{103FA508-019B-400A-BF69-2DD785204930}"/>
              </a:ext>
            </a:extLst>
          </p:cNvPr>
          <p:cNvSpPr>
            <a:spLocks xmlns:a="http://schemas.openxmlformats.org/drawingml/2006/main" noGrp="1"/>
          </p:cNvSpPr>
          <p:nvPr/>
        </p:nvSpPr>
        <p:spPr>
          <a:xfrm xmlns:a="http://schemas.openxmlformats.org/drawingml/2006/main">
            <a:off x="2343150" y="2247900"/>
            <a:ext cx="92392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1B2533"/>
                </a:solidFill>
                <a:latin typeface="Microsoft YaHei"/>
                <a:ea typeface="Microsoft YaHei"/>
                <a:cs typeface="Microsoft YaHei"/>
              </a:defRPr>
            </a:defPPr>
          </a:lstStyle>
          <a:p xmlns:a="http://schemas.openxmlformats.org/drawingml/2006/main">
            <a:pPr algn="l">
              <a:lnSpc>
                <a:spcPct val="118000"/>
              </a:lnSpc>
              <a:buNone/>
              <a:defRPr sz="1950" b="0">
                <a:solidFill>
                  <a:srgbClr val="1B2533"/>
                </a:solidFill>
                <a:latin typeface="Microsoft YaHei"/>
                <a:ea typeface="Microsoft YaHei"/>
                <a:cs typeface="Microsoft YaHei"/>
              </a:defRPr>
            </a:pPr>
            <a:r>
              <a:rPr sz="1950" b="0">
                <a:solidFill>
                  <a:srgbClr val="1B2533"/>
                </a:solidFill>
                <a:latin typeface="Microsoft YaHei"/>
                <a:ea typeface="Microsoft YaHei"/>
                <a:cs typeface="Microsoft YaHei"/>
              </a:rPr>
              <a:t>用SI或flow学习来源、实际结构变化、物理响应与多个终点的关系，将已付费计算用于后续生成。</a:t>
            </a:r>
          </a:p>
        </p:txBody>
      </p:sp>
      <p:sp>
        <p:nvSpPr>
          <p:cNvPr id="5" name="text">
            <a:extLst xmlns:a="http://schemas.openxmlformats.org/drawingml/2006/main">
              <a:ext uri="{FF2B5EF4-FFF2-40B4-BE49-F238E27FC236}">
                <a16:creationId xmlns:a16="http://schemas.microsoft.com/office/drawing/2014/main" id="{9541EB04-4C30-4E07-A6F7-2026CDDAEBE1}"/>
              </a:ext>
            </a:extLst>
          </p:cNvPr>
          <p:cNvSpPr>
            <a:spLocks xmlns:a="http://schemas.openxmlformats.org/drawingml/2006/main" noGrp="1"/>
          </p:cNvSpPr>
          <p:nvPr/>
        </p:nvSpPr>
        <p:spPr>
          <a:xfrm xmlns:a="http://schemas.openxmlformats.org/drawingml/2006/main">
            <a:off x="609600" y="3276600"/>
            <a:ext cx="1638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73E67"/>
                </a:solidFill>
                <a:latin typeface="Microsoft YaHei"/>
                <a:ea typeface="Microsoft YaHei"/>
                <a:cs typeface="Microsoft YaHei"/>
              </a:defRPr>
            </a:defPPr>
          </a:lstStyle>
          <a:p xmlns:a="http://schemas.openxmlformats.org/drawingml/2006/main">
            <a:pPr algn="l">
              <a:lnSpc>
                <a:spcPct val="118000"/>
              </a:lnSpc>
              <a:buNone/>
              <a:defRPr sz="1950" b="1">
                <a:solidFill>
                  <a:srgbClr val="173E67"/>
                </a:solidFill>
                <a:latin typeface="Microsoft YaHei"/>
                <a:ea typeface="Microsoft YaHei"/>
                <a:cs typeface="Microsoft YaHei"/>
              </a:defRPr>
            </a:pPr>
            <a:r>
              <a:rPr sz="1950" b="1">
                <a:solidFill>
                  <a:srgbClr val="173E67"/>
                </a:solidFill>
                <a:latin typeface="Microsoft YaHei"/>
                <a:ea typeface="Microsoft YaHei"/>
                <a:cs typeface="Microsoft YaHei"/>
              </a:rPr>
              <a:t>已有进展</a:t>
            </a:r>
          </a:p>
        </p:txBody>
      </p:sp>
      <p:sp>
        <p:nvSpPr>
          <p:cNvPr id="6" name="text">
            <a:extLst xmlns:a="http://schemas.openxmlformats.org/drawingml/2006/main">
              <a:ext uri="{FF2B5EF4-FFF2-40B4-BE49-F238E27FC236}">
                <a16:creationId xmlns:a16="http://schemas.microsoft.com/office/drawing/2014/main" id="{B6461380-B5DA-4A0B-A183-37FE5237C5B1}"/>
              </a:ext>
            </a:extLst>
          </p:cNvPr>
          <p:cNvSpPr>
            <a:spLocks xmlns:a="http://schemas.openxmlformats.org/drawingml/2006/main" noGrp="1"/>
          </p:cNvSpPr>
          <p:nvPr/>
        </p:nvSpPr>
        <p:spPr>
          <a:xfrm xmlns:a="http://schemas.openxmlformats.org/drawingml/2006/main">
            <a:off x="2343150" y="3276600"/>
            <a:ext cx="92392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1B2533"/>
                </a:solidFill>
                <a:latin typeface="Microsoft YaHei"/>
                <a:ea typeface="Microsoft YaHei"/>
                <a:cs typeface="Microsoft YaHei"/>
              </a:defRPr>
            </a:defPPr>
          </a:lstStyle>
          <a:p xmlns:a="http://schemas.openxmlformats.org/drawingml/2006/main">
            <a:pPr algn="l">
              <a:lnSpc>
                <a:spcPct val="118000"/>
              </a:lnSpc>
              <a:buNone/>
              <a:defRPr sz="1950" b="0">
                <a:solidFill>
                  <a:srgbClr val="1B2533"/>
                </a:solidFill>
                <a:latin typeface="Microsoft YaHei"/>
                <a:ea typeface="Microsoft YaHei"/>
                <a:cs typeface="Microsoft YaHei"/>
              </a:defRPr>
            </a:pPr>
            <a:r>
              <a:rPr sz="1950" b="0">
                <a:solidFill>
                  <a:srgbClr val="1B2533"/>
                </a:solidFill>
                <a:latin typeface="Microsoft YaHei"/>
                <a:ea typeface="Microsoft YaHei"/>
                <a:cs typeface="Microsoft YaHei"/>
              </a:rPr>
              <a:t>物理后训练已有成果。新贡献需要解释模型学到了何种可复用关系。</a:t>
            </a:r>
          </a:p>
        </p:txBody>
      </p:sp>
      <p:sp>
        <p:nvSpPr>
          <p:cNvPr id="7" name="text">
            <a:extLst xmlns:a="http://schemas.openxmlformats.org/drawingml/2006/main">
              <a:ext uri="{FF2B5EF4-FFF2-40B4-BE49-F238E27FC236}">
                <a16:creationId xmlns:a16="http://schemas.microsoft.com/office/drawing/2014/main" id="{1103EFD2-DB91-4348-AA80-6D05E0F332B4}"/>
              </a:ext>
            </a:extLst>
          </p:cNvPr>
          <p:cNvSpPr>
            <a:spLocks xmlns:a="http://schemas.openxmlformats.org/drawingml/2006/main" noGrp="1"/>
          </p:cNvSpPr>
          <p:nvPr/>
        </p:nvSpPr>
        <p:spPr>
          <a:xfrm xmlns:a="http://schemas.openxmlformats.org/drawingml/2006/main">
            <a:off x="609600" y="4305300"/>
            <a:ext cx="1638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73E67"/>
                </a:solidFill>
                <a:latin typeface="Microsoft YaHei"/>
                <a:ea typeface="Microsoft YaHei"/>
                <a:cs typeface="Microsoft YaHei"/>
              </a:defRPr>
            </a:defPPr>
          </a:lstStyle>
          <a:p xmlns:a="http://schemas.openxmlformats.org/drawingml/2006/main">
            <a:pPr algn="l">
              <a:lnSpc>
                <a:spcPct val="118000"/>
              </a:lnSpc>
              <a:buNone/>
              <a:defRPr sz="1950" b="1">
                <a:solidFill>
                  <a:srgbClr val="173E67"/>
                </a:solidFill>
                <a:latin typeface="Microsoft YaHei"/>
                <a:ea typeface="Microsoft YaHei"/>
                <a:cs typeface="Microsoft YaHei"/>
              </a:defRPr>
            </a:pPr>
            <a:r>
              <a:rPr sz="1950" b="1">
                <a:solidFill>
                  <a:srgbClr val="173E67"/>
                </a:solidFill>
                <a:latin typeface="Microsoft YaHei"/>
                <a:ea typeface="Microsoft YaHei"/>
                <a:cs typeface="Microsoft YaHei"/>
              </a:rPr>
              <a:t>需要的结果</a:t>
            </a:r>
          </a:p>
        </p:txBody>
      </p:sp>
      <p:sp>
        <p:nvSpPr>
          <p:cNvPr id="8" name="text">
            <a:extLst xmlns:a="http://schemas.openxmlformats.org/drawingml/2006/main">
              <a:ext uri="{FF2B5EF4-FFF2-40B4-BE49-F238E27FC236}">
                <a16:creationId xmlns:a16="http://schemas.microsoft.com/office/drawing/2014/main" id="{2CBD7FB8-B5ED-4E97-8E6B-317434027CCA}"/>
              </a:ext>
            </a:extLst>
          </p:cNvPr>
          <p:cNvSpPr>
            <a:spLocks xmlns:a="http://schemas.openxmlformats.org/drawingml/2006/main" noGrp="1"/>
          </p:cNvSpPr>
          <p:nvPr/>
        </p:nvSpPr>
        <p:spPr>
          <a:xfrm xmlns:a="http://schemas.openxmlformats.org/drawingml/2006/main">
            <a:off x="2343150" y="4305300"/>
            <a:ext cx="92392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1B2533"/>
                </a:solidFill>
                <a:latin typeface="Microsoft YaHei"/>
                <a:ea typeface="Microsoft YaHei"/>
                <a:cs typeface="Microsoft YaHei"/>
              </a:defRPr>
            </a:defPPr>
          </a:lstStyle>
          <a:p xmlns:a="http://schemas.openxmlformats.org/drawingml/2006/main">
            <a:pPr algn="l">
              <a:lnSpc>
                <a:spcPct val="118000"/>
              </a:lnSpc>
              <a:buNone/>
              <a:defRPr sz="1950" b="0">
                <a:solidFill>
                  <a:srgbClr val="1B2533"/>
                </a:solidFill>
                <a:latin typeface="Microsoft YaHei"/>
                <a:ea typeface="Microsoft YaHei"/>
                <a:cs typeface="Microsoft YaHei"/>
              </a:defRPr>
            </a:pPr>
            <a:r>
              <a:rPr sz="1950" b="0">
                <a:solidFill>
                  <a:srgbClr val="1B2533"/>
                </a:solidFill>
                <a:latin typeface="Microsoft YaHei"/>
                <a:ea typeface="Microsoft YaHei"/>
                <a:cs typeface="Microsoft YaHei"/>
              </a:rPr>
              <a:t>在相同物理投入下，检验跨条件迁移，以及普通独立采样产生的SUN增量。</a:t>
            </a:r>
          </a:p>
        </p:txBody>
      </p:sp>
      <p:sp>
        <p:nvSpPr>
          <p:cNvPr id="9" name="text">
            <a:extLst xmlns:a="http://schemas.openxmlformats.org/drawingml/2006/main">
              <a:ext uri="{FF2B5EF4-FFF2-40B4-BE49-F238E27FC236}">
                <a16:creationId xmlns:a16="http://schemas.microsoft.com/office/drawing/2014/main" id="{87F0831D-6FB0-4952-B1DF-8ED60A85A8FC}"/>
              </a:ext>
            </a:extLst>
          </p:cNvPr>
          <p:cNvSpPr>
            <a:spLocks xmlns:a="http://schemas.openxmlformats.org/drawingml/2006/main" noGrp="1"/>
          </p:cNvSpPr>
          <p:nvPr/>
        </p:nvSpPr>
        <p:spPr>
          <a:xfrm xmlns:a="http://schemas.openxmlformats.org/drawingml/2006/main">
            <a:off x="609600" y="56197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26170"/>
                </a:solidFill>
                <a:latin typeface="Microsoft YaHei"/>
                <a:ea typeface="Microsoft YaHei"/>
                <a:cs typeface="Microsoft YaHei"/>
              </a:defRPr>
            </a:defPPr>
          </a:lstStyle>
          <a:p xmlns:a="http://schemas.openxmlformats.org/drawingml/2006/main">
            <a:pPr algn="l">
              <a:lnSpc>
                <a:spcPct val="118000"/>
              </a:lnSpc>
              <a:buNone/>
              <a:defRPr sz="1725" b="0">
                <a:solidFill>
                  <a:srgbClr val="526170"/>
                </a:solidFill>
                <a:latin typeface="Microsoft YaHei"/>
                <a:ea typeface="Microsoft YaHei"/>
                <a:cs typeface="Microsoft YaHei"/>
              </a:defRPr>
            </a:pPr>
            <a:r>
              <a:rPr sz="1725" b="0">
                <a:solidFill>
                  <a:srgbClr val="526170"/>
                </a:solidFill>
                <a:latin typeface="Microsoft YaHei"/>
                <a:ea typeface="Microsoft YaHei"/>
                <a:cs typeface="Microsoft YaHei"/>
              </a:rPr>
              <a:t>主要比较：仅学成功终点、标量奖励训练、保留响应关系的学习。</a:t>
            </a:r>
          </a:p>
        </p:txBody>
      </p:sp>
      <p:sp>
        <p:nvSpPr>
          <p:cNvPr id="10" name="separator">
            <a:extLst xmlns:a="http://schemas.openxmlformats.org/drawingml/2006/main">
              <a:ext uri="{FF2B5EF4-FFF2-40B4-BE49-F238E27FC236}">
                <a16:creationId xmlns:a16="http://schemas.microsoft.com/office/drawing/2014/main" id="{F39AE4EA-CCAB-4086-81F1-B8D5EC6B8C59}"/>
              </a:ext>
            </a:extLst>
          </p:cNvPr>
          <p:cNvSpPr>
            <a:spLocks xmlns:a="http://schemas.openxmlformats.org/drawingml/2006/main" noGrp="1"/>
          </p:cNvSpPr>
          <p:nvPr/>
        </p:nvSpPr>
        <p:spPr>
          <a:xfrm xmlns:a="http://schemas.openxmlformats.org/drawingml/2006/main">
            <a:off x="609600" y="6200775"/>
            <a:ext cx="10972800" cy="0"/>
          </a:xfrm>
          <a:prstGeom xmlns:a="http://schemas.openxmlformats.org/drawingml/2006/main" prst="line">
            <a:avLst/>
          </a:prstGeom>
          <a:ln xmlns:a="http://schemas.openxmlformats.org/drawingml/2006/main" w="9525">
            <a:solidFill>
              <a:srgbClr val="D5DCE3"/>
            </a:solidFill>
          </a:ln>
        </p:spPr>
      </p:sp>
      <p:sp>
        <p:nvSpPr>
          <p:cNvPr id="11" name="sources">
            <a:extLst xmlns:a="http://schemas.openxmlformats.org/drawingml/2006/main">
              <a:ext uri="{FF2B5EF4-FFF2-40B4-BE49-F238E27FC236}">
                <a16:creationId xmlns:a16="http://schemas.microsoft.com/office/drawing/2014/main" id="{48C21902-A920-4E40-9320-F9BA210FCF29}"/>
              </a:ext>
            </a:extLst>
          </p:cNvPr>
          <p:cNvSpPr>
            <a:spLocks xmlns:a="http://schemas.openxmlformats.org/drawingml/2006/main" noGrp="1"/>
          </p:cNvSpPr>
          <p:nvPr/>
        </p:nvSpPr>
        <p:spPr>
          <a:xfrm xmlns:a="http://schemas.openxmlformats.org/drawingml/2006/main">
            <a:off x="609600" y="6353175"/>
            <a:ext cx="10363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13" b="0">
                <a:solidFill>
                  <a:srgbClr val="526170"/>
                </a:solidFill>
                <a:latin typeface="Microsoft YaHei"/>
                <a:ea typeface="Microsoft YaHei"/>
                <a:cs typeface="Microsoft YaHei"/>
              </a:defRPr>
            </a:defPPr>
          </a:lstStyle>
          <a:p xmlns:a="http://schemas.openxmlformats.org/drawingml/2006/main">
            <a:pPr algn="l">
              <a:lnSpc>
                <a:spcPct val="118000"/>
              </a:lnSpc>
              <a:buNone/>
              <a:defRPr sz="1013" b="0">
                <a:solidFill>
                  <a:srgbClr val="526170"/>
                </a:solidFill>
                <a:latin typeface="Microsoft YaHei"/>
                <a:ea typeface="Microsoft YaHei"/>
                <a:cs typeface="Microsoft YaHei"/>
              </a:defRPr>
            </a:pPr>
            <a:r>
              <a:rPr sz="1013" b="0">
                <a:solidFill>
                  <a:srgbClr val="526170"/>
                </a:solidFill>
                <a:latin typeface="Microsoft YaHei"/>
                <a:ea typeface="Microsoft YaHei"/>
                <a:cs typeface="Microsoft YaHei"/>
              </a:rPr>
              <a:t>方向C为待验证方法。先行：MatInvent；PLaID++；Chemeleon2；OMatG-IRL；OMatG-flash。</a:t>
            </a:r>
          </a:p>
        </p:txBody>
      </p:sp>
      <p:sp>
        <p:nvSpPr>
          <p:cNvPr id="12" name="page-number">
            <a:extLst xmlns:a="http://schemas.openxmlformats.org/drawingml/2006/main">
              <a:ext uri="{FF2B5EF4-FFF2-40B4-BE49-F238E27FC236}">
                <a16:creationId xmlns:a16="http://schemas.microsoft.com/office/drawing/2014/main" id="{C32A2313-28DE-45A1-B89C-5B7172ACB173}"/>
              </a:ext>
            </a:extLst>
          </p:cNvPr>
          <p:cNvSpPr>
            <a:spLocks xmlns:a="http://schemas.openxmlformats.org/drawingml/2006/main" noGrp="1"/>
          </p:cNvSpPr>
          <p:nvPr/>
        </p:nvSpPr>
        <p:spPr>
          <a:xfrm xmlns:a="http://schemas.openxmlformats.org/drawingml/2006/main">
            <a:off x="11334750" y="6334125"/>
            <a:ext cx="266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26170"/>
                </a:solidFill>
                <a:latin typeface="Microsoft YaHei"/>
                <a:ea typeface="Microsoft YaHei"/>
                <a:cs typeface="Microsoft YaHei"/>
              </a:defRPr>
            </a:defPPr>
          </a:lstStyle>
          <a:p xmlns:a="http://schemas.openxmlformats.org/drawingml/2006/main">
            <a:pPr algn="r">
              <a:lnSpc>
                <a:spcPct val="118000"/>
              </a:lnSpc>
              <a:buNone/>
              <a:defRPr sz="1275" b="0">
                <a:solidFill>
                  <a:srgbClr val="526170"/>
                </a:solidFill>
                <a:latin typeface="Microsoft YaHei"/>
                <a:ea typeface="Microsoft YaHei"/>
                <a:cs typeface="Microsoft YaHei"/>
              </a:defRPr>
            </a:pPr>
            <a:r>
              <a:rPr sz="1275" b="0">
                <a:solidFill>
                  <a:srgbClr val="526170"/>
                </a:solidFill>
                <a:latin typeface="Microsoft YaHei"/>
                <a:ea typeface="Microsoft YaHei"/>
                <a:cs typeface="Microsoft YaHei"/>
              </a:rPr>
              <a:t>24</a:t>
            </a:r>
          </a:p>
        </p:txBody>
      </p:sp>
    </p:spTree>
    <p:extLst>
      <p:ext uri="{BB962C8B-B14F-4D97-AF65-F5344CB8AC3E}">
        <p14:creationId xmlns:p14="http://schemas.microsoft.com/office/powerpoint/2010/main" val="2032659991"/>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slide-title">
            <a:extLst xmlns:a="http://schemas.openxmlformats.org/drawingml/2006/main">
              <a:ext uri="{FF2B5EF4-FFF2-40B4-BE49-F238E27FC236}">
                <a16:creationId xmlns:a16="http://schemas.microsoft.com/office/drawing/2014/main" id="{3814FAAE-85A1-4462-9EF7-1D769A65F51D}"/>
              </a:ext>
            </a:extLst>
          </p:cNvPr>
          <p:cNvSpPr>
            <a:spLocks xmlns:a="http://schemas.openxmlformats.org/drawingml/2006/main" noGrp="1"/>
          </p:cNvSpPr>
          <p:nvPr/>
        </p:nvSpPr>
        <p:spPr>
          <a:xfrm xmlns:a="http://schemas.openxmlformats.org/drawingml/2006/main">
            <a:off x="609600" y="36195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73E67"/>
                </a:solidFill>
                <a:latin typeface="Microsoft YaHei"/>
                <a:ea typeface="Microsoft YaHei"/>
                <a:cs typeface="Microsoft YaHei"/>
              </a:defRPr>
            </a:defPPr>
          </a:lstStyle>
          <a:p xmlns:a="http://schemas.openxmlformats.org/drawingml/2006/main">
            <a:pPr algn="l">
              <a:lnSpc>
                <a:spcPct val="118000"/>
              </a:lnSpc>
              <a:buNone/>
              <a:defRPr sz="3150" b="1">
                <a:solidFill>
                  <a:srgbClr val="173E67"/>
                </a:solidFill>
                <a:latin typeface="Microsoft YaHei"/>
                <a:ea typeface="Microsoft YaHei"/>
                <a:cs typeface="Microsoft YaHei"/>
              </a:defRPr>
            </a:pPr>
            <a:r>
              <a:rPr sz="3150" b="1">
                <a:solidFill>
                  <a:srgbClr val="173E67"/>
                </a:solidFill>
                <a:latin typeface="Microsoft YaHei"/>
                <a:ea typeface="Microsoft YaHei"/>
                <a:cs typeface="Microsoft YaHei"/>
              </a:rPr>
              <a:t>方向D：持续发现不同的稳定新结构</a:t>
            </a:r>
          </a:p>
        </p:txBody>
      </p:sp>
      <p:sp>
        <p:nvSpPr>
          <p:cNvPr id="2" name="text">
            <a:extLst xmlns:a="http://schemas.openxmlformats.org/drawingml/2006/main">
              <a:ext uri="{FF2B5EF4-FFF2-40B4-BE49-F238E27FC236}">
                <a16:creationId xmlns:a16="http://schemas.microsoft.com/office/drawing/2014/main" id="{99CCEC26-A728-4DFC-8D5F-1C75E9295D1E}"/>
              </a:ext>
            </a:extLst>
          </p:cNvPr>
          <p:cNvSpPr>
            <a:spLocks xmlns:a="http://schemas.openxmlformats.org/drawingml/2006/main" noGrp="1"/>
          </p:cNvSpPr>
          <p:nvPr/>
        </p:nvSpPr>
        <p:spPr>
          <a:xfrm xmlns:a="http://schemas.openxmlformats.org/drawingml/2006/main">
            <a:off x="609600" y="12001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E67"/>
                </a:solidFill>
                <a:latin typeface="Microsoft YaHei"/>
                <a:ea typeface="Microsoft YaHei"/>
                <a:cs typeface="Microsoft YaHei"/>
              </a:defRPr>
            </a:defPPr>
          </a:lstStyle>
          <a:p xmlns:a="http://schemas.openxmlformats.org/drawingml/2006/main">
            <a:pPr algn="l">
              <a:lnSpc>
                <a:spcPct val="118000"/>
              </a:lnSpc>
              <a:buNone/>
              <a:defRPr sz="2100" b="0">
                <a:solidFill>
                  <a:srgbClr val="173E67"/>
                </a:solidFill>
                <a:latin typeface="Microsoft YaHei"/>
                <a:ea typeface="Microsoft YaHei"/>
                <a:cs typeface="Microsoft YaHei"/>
              </a:defRPr>
            </a:pPr>
            <a:r>
              <a:rPr sz="2100" b="0">
                <a:solidFill>
                  <a:srgbClr val="173E67"/>
                </a:solidFill>
                <a:latin typeface="Microsoft YaHei"/>
                <a:ea typeface="Microsoft YaHei"/>
                <a:cs typeface="Microsoft YaHei"/>
              </a:rPr>
              <a:t>问题：生成分布怎样获得新成功，并保留已经学到的成功？</a:t>
            </a:r>
          </a:p>
        </p:txBody>
      </p:sp>
      <p:sp>
        <p:nvSpPr>
          <p:cNvPr id="3" name="text">
            <a:extLst xmlns:a="http://schemas.openxmlformats.org/drawingml/2006/main">
              <a:ext uri="{FF2B5EF4-FFF2-40B4-BE49-F238E27FC236}">
                <a16:creationId xmlns:a16="http://schemas.microsoft.com/office/drawing/2014/main" id="{32D75FEE-F363-42B8-8A2F-8B59B4685118}"/>
              </a:ext>
            </a:extLst>
          </p:cNvPr>
          <p:cNvSpPr>
            <a:spLocks xmlns:a="http://schemas.openxmlformats.org/drawingml/2006/main" noGrp="1"/>
          </p:cNvSpPr>
          <p:nvPr/>
        </p:nvSpPr>
        <p:spPr>
          <a:xfrm xmlns:a="http://schemas.openxmlformats.org/drawingml/2006/main">
            <a:off x="609600" y="2247900"/>
            <a:ext cx="1638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73E67"/>
                </a:solidFill>
                <a:latin typeface="Microsoft YaHei"/>
                <a:ea typeface="Microsoft YaHei"/>
                <a:cs typeface="Microsoft YaHei"/>
              </a:defRPr>
            </a:defPPr>
          </a:lstStyle>
          <a:p xmlns:a="http://schemas.openxmlformats.org/drawingml/2006/main">
            <a:pPr algn="l">
              <a:lnSpc>
                <a:spcPct val="118000"/>
              </a:lnSpc>
              <a:buNone/>
              <a:defRPr sz="1950" b="1">
                <a:solidFill>
                  <a:srgbClr val="173E67"/>
                </a:solidFill>
                <a:latin typeface="Microsoft YaHei"/>
                <a:ea typeface="Microsoft YaHei"/>
                <a:cs typeface="Microsoft YaHei"/>
              </a:defRPr>
            </a:pPr>
            <a:r>
              <a:rPr sz="1950" b="1">
                <a:solidFill>
                  <a:srgbClr val="173E67"/>
                </a:solidFill>
                <a:latin typeface="Microsoft YaHei"/>
                <a:ea typeface="Microsoft YaHei"/>
                <a:cs typeface="Microsoft YaHei"/>
              </a:rPr>
              <a:t>方法</a:t>
            </a:r>
          </a:p>
        </p:txBody>
      </p:sp>
      <p:sp>
        <p:nvSpPr>
          <p:cNvPr id="4" name="text">
            <a:extLst xmlns:a="http://schemas.openxmlformats.org/drawingml/2006/main">
              <a:ext uri="{FF2B5EF4-FFF2-40B4-BE49-F238E27FC236}">
                <a16:creationId xmlns:a16="http://schemas.microsoft.com/office/drawing/2014/main" id="{C1504488-0868-4256-9AF1-EC4ADDC77F72}"/>
              </a:ext>
            </a:extLst>
          </p:cNvPr>
          <p:cNvSpPr>
            <a:spLocks xmlns:a="http://schemas.openxmlformats.org/drawingml/2006/main" noGrp="1"/>
          </p:cNvSpPr>
          <p:nvPr/>
        </p:nvSpPr>
        <p:spPr>
          <a:xfrm xmlns:a="http://schemas.openxmlformats.org/drawingml/2006/main">
            <a:off x="2343150" y="2247900"/>
            <a:ext cx="92392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1B2533"/>
                </a:solidFill>
                <a:latin typeface="Microsoft YaHei"/>
                <a:ea typeface="Microsoft YaHei"/>
                <a:cs typeface="Microsoft YaHei"/>
              </a:defRPr>
            </a:defPPr>
          </a:lstStyle>
          <a:p xmlns:a="http://schemas.openxmlformats.org/drawingml/2006/main">
            <a:pPr algn="l">
              <a:lnSpc>
                <a:spcPct val="118000"/>
              </a:lnSpc>
              <a:buNone/>
              <a:defRPr sz="1950" b="0">
                <a:solidFill>
                  <a:srgbClr val="1B2533"/>
                </a:solidFill>
                <a:latin typeface="Microsoft YaHei"/>
                <a:ea typeface="Microsoft YaHei"/>
                <a:cs typeface="Microsoft YaHei"/>
              </a:defRPr>
            </a:pPr>
            <a:r>
              <a:rPr sz="1950" b="0">
                <a:solidFill>
                  <a:srgbClr val="1B2533"/>
                </a:solidFill>
                <a:latin typeface="Microsoft YaHei"/>
                <a:ea typeface="Microsoft YaHei"/>
                <a:cs typeface="Microsoft YaHei"/>
              </a:rPr>
              <a:t>层级LLM或AR组织化学与结构选择，条件Diffusion保留多种几何实现。根据物理结果和发现历史继续学习。</a:t>
            </a:r>
          </a:p>
        </p:txBody>
      </p:sp>
      <p:sp>
        <p:nvSpPr>
          <p:cNvPr id="5" name="text">
            <a:extLst xmlns:a="http://schemas.openxmlformats.org/drawingml/2006/main">
              <a:ext uri="{FF2B5EF4-FFF2-40B4-BE49-F238E27FC236}">
                <a16:creationId xmlns:a16="http://schemas.microsoft.com/office/drawing/2014/main" id="{A4F98F29-D2F2-4A63-B07A-955E93381E7F}"/>
              </a:ext>
            </a:extLst>
          </p:cNvPr>
          <p:cNvSpPr>
            <a:spLocks xmlns:a="http://schemas.openxmlformats.org/drawingml/2006/main" noGrp="1"/>
          </p:cNvSpPr>
          <p:nvPr/>
        </p:nvSpPr>
        <p:spPr>
          <a:xfrm xmlns:a="http://schemas.openxmlformats.org/drawingml/2006/main">
            <a:off x="609600" y="3276600"/>
            <a:ext cx="1638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73E67"/>
                </a:solidFill>
                <a:latin typeface="Microsoft YaHei"/>
                <a:ea typeface="Microsoft YaHei"/>
                <a:cs typeface="Microsoft YaHei"/>
              </a:defRPr>
            </a:defPPr>
          </a:lstStyle>
          <a:p xmlns:a="http://schemas.openxmlformats.org/drawingml/2006/main">
            <a:pPr algn="l">
              <a:lnSpc>
                <a:spcPct val="118000"/>
              </a:lnSpc>
              <a:buNone/>
              <a:defRPr sz="1950" b="1">
                <a:solidFill>
                  <a:srgbClr val="173E67"/>
                </a:solidFill>
                <a:latin typeface="Microsoft YaHei"/>
                <a:ea typeface="Microsoft YaHei"/>
                <a:cs typeface="Microsoft YaHei"/>
              </a:defRPr>
            </a:pPr>
            <a:r>
              <a:rPr sz="1950" b="1">
                <a:solidFill>
                  <a:srgbClr val="173E67"/>
                </a:solidFill>
                <a:latin typeface="Microsoft YaHei"/>
                <a:ea typeface="Microsoft YaHei"/>
                <a:cs typeface="Microsoft YaHei"/>
              </a:rPr>
              <a:t>已有进展</a:t>
            </a:r>
          </a:p>
        </p:txBody>
      </p:sp>
      <p:sp>
        <p:nvSpPr>
          <p:cNvPr id="6" name="text">
            <a:extLst xmlns:a="http://schemas.openxmlformats.org/drawingml/2006/main">
              <a:ext uri="{FF2B5EF4-FFF2-40B4-BE49-F238E27FC236}">
                <a16:creationId xmlns:a16="http://schemas.microsoft.com/office/drawing/2014/main" id="{90A2296C-EE28-4261-9024-C5F4F78A2D6F}"/>
              </a:ext>
            </a:extLst>
          </p:cNvPr>
          <p:cNvSpPr>
            <a:spLocks xmlns:a="http://schemas.openxmlformats.org/drawingml/2006/main" noGrp="1"/>
          </p:cNvSpPr>
          <p:nvPr/>
        </p:nvSpPr>
        <p:spPr>
          <a:xfrm xmlns:a="http://schemas.openxmlformats.org/drawingml/2006/main">
            <a:off x="2343150" y="3276600"/>
            <a:ext cx="92392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1B2533"/>
                </a:solidFill>
                <a:latin typeface="Microsoft YaHei"/>
                <a:ea typeface="Microsoft YaHei"/>
                <a:cs typeface="Microsoft YaHei"/>
              </a:defRPr>
            </a:defPPr>
          </a:lstStyle>
          <a:p xmlns:a="http://schemas.openxmlformats.org/drawingml/2006/main">
            <a:pPr algn="l">
              <a:lnSpc>
                <a:spcPct val="118000"/>
              </a:lnSpc>
              <a:buNone/>
              <a:defRPr sz="1950" b="0">
                <a:solidFill>
                  <a:srgbClr val="1B2533"/>
                </a:solidFill>
                <a:latin typeface="Microsoft YaHei"/>
                <a:ea typeface="Microsoft YaHei"/>
                <a:cs typeface="Microsoft YaHei"/>
              </a:defRPr>
            </a:pPr>
            <a:r>
              <a:rPr sz="1950" b="0">
                <a:solidFill>
                  <a:srgbClr val="1B2533"/>
                </a:solidFill>
                <a:latin typeface="Microsoft YaHei"/>
                <a:ea typeface="Microsoft YaHei"/>
                <a:cs typeface="Microsoft YaHei"/>
              </a:rPr>
              <a:t>GFlowNet、QD和ANCHOR已有多解与历史相关探索。</a:t>
            </a:r>
          </a:p>
        </p:txBody>
      </p:sp>
      <p:sp>
        <p:nvSpPr>
          <p:cNvPr id="7" name="text">
            <a:extLst xmlns:a="http://schemas.openxmlformats.org/drawingml/2006/main">
              <a:ext uri="{FF2B5EF4-FFF2-40B4-BE49-F238E27FC236}">
                <a16:creationId xmlns:a16="http://schemas.microsoft.com/office/drawing/2014/main" id="{75C1CBEE-1CFB-4BDD-9743-B07403D157BA}"/>
              </a:ext>
            </a:extLst>
          </p:cNvPr>
          <p:cNvSpPr>
            <a:spLocks xmlns:a="http://schemas.openxmlformats.org/drawingml/2006/main" noGrp="1"/>
          </p:cNvSpPr>
          <p:nvPr/>
        </p:nvSpPr>
        <p:spPr>
          <a:xfrm xmlns:a="http://schemas.openxmlformats.org/drawingml/2006/main">
            <a:off x="609600" y="4305300"/>
            <a:ext cx="1638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73E67"/>
                </a:solidFill>
                <a:latin typeface="Microsoft YaHei"/>
                <a:ea typeface="Microsoft YaHei"/>
                <a:cs typeface="Microsoft YaHei"/>
              </a:defRPr>
            </a:defPPr>
          </a:lstStyle>
          <a:p xmlns:a="http://schemas.openxmlformats.org/drawingml/2006/main">
            <a:pPr algn="l">
              <a:lnSpc>
                <a:spcPct val="118000"/>
              </a:lnSpc>
              <a:buNone/>
              <a:defRPr sz="1950" b="1">
                <a:solidFill>
                  <a:srgbClr val="173E67"/>
                </a:solidFill>
                <a:latin typeface="Microsoft YaHei"/>
                <a:ea typeface="Microsoft YaHei"/>
                <a:cs typeface="Microsoft YaHei"/>
              </a:defRPr>
            </a:pPr>
            <a:r>
              <a:rPr sz="1950" b="1">
                <a:solidFill>
                  <a:srgbClr val="173E67"/>
                </a:solidFill>
                <a:latin typeface="Microsoft YaHei"/>
                <a:ea typeface="Microsoft YaHei"/>
                <a:cs typeface="Microsoft YaHei"/>
              </a:rPr>
              <a:t>需要的结果</a:t>
            </a:r>
          </a:p>
        </p:txBody>
      </p:sp>
      <p:sp>
        <p:nvSpPr>
          <p:cNvPr id="8" name="text">
            <a:extLst xmlns:a="http://schemas.openxmlformats.org/drawingml/2006/main">
              <a:ext uri="{FF2B5EF4-FFF2-40B4-BE49-F238E27FC236}">
                <a16:creationId xmlns:a16="http://schemas.microsoft.com/office/drawing/2014/main" id="{324D0E3A-1826-4239-9D9F-33A8C5127804}"/>
              </a:ext>
            </a:extLst>
          </p:cNvPr>
          <p:cNvSpPr>
            <a:spLocks xmlns:a="http://schemas.openxmlformats.org/drawingml/2006/main" noGrp="1"/>
          </p:cNvSpPr>
          <p:nvPr/>
        </p:nvSpPr>
        <p:spPr>
          <a:xfrm xmlns:a="http://schemas.openxmlformats.org/drawingml/2006/main">
            <a:off x="2343150" y="4305300"/>
            <a:ext cx="92392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1B2533"/>
                </a:solidFill>
                <a:latin typeface="Microsoft YaHei"/>
                <a:ea typeface="Microsoft YaHei"/>
                <a:cs typeface="Microsoft YaHei"/>
              </a:defRPr>
            </a:defPPr>
          </a:lstStyle>
          <a:p xmlns:a="http://schemas.openxmlformats.org/drawingml/2006/main">
            <a:pPr algn="l">
              <a:lnSpc>
                <a:spcPct val="118000"/>
              </a:lnSpc>
              <a:buNone/>
              <a:defRPr sz="1950" b="0">
                <a:solidFill>
                  <a:srgbClr val="1B2533"/>
                </a:solidFill>
                <a:latin typeface="Microsoft YaHei"/>
                <a:ea typeface="Microsoft YaHei"/>
                <a:cs typeface="Microsoft YaHei"/>
              </a:defRPr>
            </a:pPr>
            <a:r>
              <a:rPr sz="1950" b="0">
                <a:solidFill>
                  <a:srgbClr val="1B2533"/>
                </a:solidFill>
                <a:latin typeface="Microsoft YaHei"/>
                <a:ea typeface="Microsoft YaHei"/>
                <a:cs typeface="Microsoft YaHei"/>
              </a:rPr>
              <a:t>在同预算下，检验首次发现数量、新成功的再生成能力，以及后续新增发现。</a:t>
            </a:r>
          </a:p>
        </p:txBody>
      </p:sp>
      <p:sp>
        <p:nvSpPr>
          <p:cNvPr id="9" name="text">
            <a:extLst xmlns:a="http://schemas.openxmlformats.org/drawingml/2006/main">
              <a:ext uri="{FF2B5EF4-FFF2-40B4-BE49-F238E27FC236}">
                <a16:creationId xmlns:a16="http://schemas.microsoft.com/office/drawing/2014/main" id="{1B7443F5-186F-4AA3-AA18-7BC4D3A1350F}"/>
              </a:ext>
            </a:extLst>
          </p:cNvPr>
          <p:cNvSpPr>
            <a:spLocks xmlns:a="http://schemas.openxmlformats.org/drawingml/2006/main" noGrp="1"/>
          </p:cNvSpPr>
          <p:nvPr/>
        </p:nvSpPr>
        <p:spPr>
          <a:xfrm xmlns:a="http://schemas.openxmlformats.org/drawingml/2006/main">
            <a:off x="609600" y="56197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26170"/>
                </a:solidFill>
                <a:latin typeface="Microsoft YaHei"/>
                <a:ea typeface="Microsoft YaHei"/>
                <a:cs typeface="Microsoft YaHei"/>
              </a:defRPr>
            </a:defPPr>
          </a:lstStyle>
          <a:p xmlns:a="http://schemas.openxmlformats.org/drawingml/2006/main">
            <a:pPr algn="l">
              <a:lnSpc>
                <a:spcPct val="118000"/>
              </a:lnSpc>
              <a:buNone/>
              <a:defRPr sz="1725" b="0">
                <a:solidFill>
                  <a:srgbClr val="526170"/>
                </a:solidFill>
                <a:latin typeface="Microsoft YaHei"/>
                <a:ea typeface="Microsoft YaHei"/>
                <a:cs typeface="Microsoft YaHei"/>
              </a:defRPr>
            </a:pPr>
            <a:r>
              <a:rPr sz="1725" b="0">
                <a:solidFill>
                  <a:srgbClr val="526170"/>
                </a:solidFill>
                <a:latin typeface="Microsoft YaHei"/>
                <a:ea typeface="Microsoft YaHei"/>
                <a:cs typeface="Microsoft YaHei"/>
              </a:rPr>
              <a:t>主要比较：固定采样、只重采样已有成功、探索后持续学习。</a:t>
            </a:r>
          </a:p>
        </p:txBody>
      </p:sp>
      <p:sp>
        <p:nvSpPr>
          <p:cNvPr id="10" name="separator">
            <a:extLst xmlns:a="http://schemas.openxmlformats.org/drawingml/2006/main">
              <a:ext uri="{FF2B5EF4-FFF2-40B4-BE49-F238E27FC236}">
                <a16:creationId xmlns:a16="http://schemas.microsoft.com/office/drawing/2014/main" id="{61E997FD-EC46-4142-9D0E-8F3F1F8B2FE9}"/>
              </a:ext>
            </a:extLst>
          </p:cNvPr>
          <p:cNvSpPr>
            <a:spLocks xmlns:a="http://schemas.openxmlformats.org/drawingml/2006/main" noGrp="1"/>
          </p:cNvSpPr>
          <p:nvPr/>
        </p:nvSpPr>
        <p:spPr>
          <a:xfrm xmlns:a="http://schemas.openxmlformats.org/drawingml/2006/main">
            <a:off x="609600" y="6200775"/>
            <a:ext cx="10972800" cy="0"/>
          </a:xfrm>
          <a:prstGeom xmlns:a="http://schemas.openxmlformats.org/drawingml/2006/main" prst="line">
            <a:avLst/>
          </a:prstGeom>
          <a:ln xmlns:a="http://schemas.openxmlformats.org/drawingml/2006/main" w="9525">
            <a:solidFill>
              <a:srgbClr val="D5DCE3"/>
            </a:solidFill>
          </a:ln>
        </p:spPr>
      </p:sp>
      <p:sp>
        <p:nvSpPr>
          <p:cNvPr id="11" name="sources">
            <a:extLst xmlns:a="http://schemas.openxmlformats.org/drawingml/2006/main">
              <a:ext uri="{FF2B5EF4-FFF2-40B4-BE49-F238E27FC236}">
                <a16:creationId xmlns:a16="http://schemas.microsoft.com/office/drawing/2014/main" id="{AB222D8C-A553-43E2-8DD1-27B2E2A4156F}"/>
              </a:ext>
            </a:extLst>
          </p:cNvPr>
          <p:cNvSpPr>
            <a:spLocks xmlns:a="http://schemas.openxmlformats.org/drawingml/2006/main" noGrp="1"/>
          </p:cNvSpPr>
          <p:nvPr/>
        </p:nvSpPr>
        <p:spPr>
          <a:xfrm xmlns:a="http://schemas.openxmlformats.org/drawingml/2006/main">
            <a:off x="609600" y="6353175"/>
            <a:ext cx="10363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13" b="0">
                <a:solidFill>
                  <a:srgbClr val="526170"/>
                </a:solidFill>
                <a:latin typeface="Microsoft YaHei"/>
                <a:ea typeface="Microsoft YaHei"/>
                <a:cs typeface="Microsoft YaHei"/>
              </a:defRPr>
            </a:defPPr>
          </a:lstStyle>
          <a:p xmlns:a="http://schemas.openxmlformats.org/drawingml/2006/main">
            <a:pPr algn="l">
              <a:lnSpc>
                <a:spcPct val="118000"/>
              </a:lnSpc>
              <a:buNone/>
              <a:defRPr sz="1013" b="0">
                <a:solidFill>
                  <a:srgbClr val="526170"/>
                </a:solidFill>
                <a:latin typeface="Microsoft YaHei"/>
                <a:ea typeface="Microsoft YaHei"/>
                <a:cs typeface="Microsoft YaHei"/>
              </a:defRPr>
            </a:pPr>
            <a:r>
              <a:rPr sz="1013" b="0">
                <a:solidFill>
                  <a:srgbClr val="526170"/>
                </a:solidFill>
                <a:latin typeface="Microsoft YaHei"/>
                <a:ea typeface="Microsoft YaHei"/>
                <a:cs typeface="Microsoft YaHei"/>
              </a:rPr>
              <a:t>方向D为待验证方法。先行：GFlowNet；晶体QD；SHAFT；ANCHOR。</a:t>
            </a:r>
          </a:p>
        </p:txBody>
      </p:sp>
      <p:sp>
        <p:nvSpPr>
          <p:cNvPr id="12" name="page-number">
            <a:extLst xmlns:a="http://schemas.openxmlformats.org/drawingml/2006/main">
              <a:ext uri="{FF2B5EF4-FFF2-40B4-BE49-F238E27FC236}">
                <a16:creationId xmlns:a16="http://schemas.microsoft.com/office/drawing/2014/main" id="{B74DC0BF-F943-4154-8A36-54F9CA926C3E}"/>
              </a:ext>
            </a:extLst>
          </p:cNvPr>
          <p:cNvSpPr>
            <a:spLocks xmlns:a="http://schemas.openxmlformats.org/drawingml/2006/main" noGrp="1"/>
          </p:cNvSpPr>
          <p:nvPr/>
        </p:nvSpPr>
        <p:spPr>
          <a:xfrm xmlns:a="http://schemas.openxmlformats.org/drawingml/2006/main">
            <a:off x="11334750" y="6334125"/>
            <a:ext cx="266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26170"/>
                </a:solidFill>
                <a:latin typeface="Microsoft YaHei"/>
                <a:ea typeface="Microsoft YaHei"/>
                <a:cs typeface="Microsoft YaHei"/>
              </a:defRPr>
            </a:defPPr>
          </a:lstStyle>
          <a:p xmlns:a="http://schemas.openxmlformats.org/drawingml/2006/main">
            <a:pPr algn="r">
              <a:lnSpc>
                <a:spcPct val="118000"/>
              </a:lnSpc>
              <a:buNone/>
              <a:defRPr sz="1275" b="0">
                <a:solidFill>
                  <a:srgbClr val="526170"/>
                </a:solidFill>
                <a:latin typeface="Microsoft YaHei"/>
                <a:ea typeface="Microsoft YaHei"/>
                <a:cs typeface="Microsoft YaHei"/>
              </a:defRPr>
            </a:pPr>
            <a:r>
              <a:rPr sz="1275" b="0">
                <a:solidFill>
                  <a:srgbClr val="526170"/>
                </a:solidFill>
                <a:latin typeface="Microsoft YaHei"/>
                <a:ea typeface="Microsoft YaHei"/>
                <a:cs typeface="Microsoft YaHei"/>
              </a:rPr>
              <a:t>25</a:t>
            </a:r>
          </a:p>
        </p:txBody>
      </p:sp>
    </p:spTree>
    <p:extLst>
      <p:ext uri="{BB962C8B-B14F-4D97-AF65-F5344CB8AC3E}">
        <p14:creationId xmlns:p14="http://schemas.microsoft.com/office/powerpoint/2010/main" val="565875906"/>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slide-title">
            <a:extLst xmlns:a="http://schemas.openxmlformats.org/drawingml/2006/main">
              <a:ext uri="{FF2B5EF4-FFF2-40B4-BE49-F238E27FC236}">
                <a16:creationId xmlns:a16="http://schemas.microsoft.com/office/drawing/2014/main" id="{DC8D3576-C466-40A3-BF83-7BCF091D2E24}"/>
              </a:ext>
            </a:extLst>
          </p:cNvPr>
          <p:cNvSpPr>
            <a:spLocks xmlns:a="http://schemas.openxmlformats.org/drawingml/2006/main" noGrp="1"/>
          </p:cNvSpPr>
          <p:nvPr/>
        </p:nvSpPr>
        <p:spPr>
          <a:xfrm xmlns:a="http://schemas.openxmlformats.org/drawingml/2006/main">
            <a:off x="609600" y="36195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73E67"/>
                </a:solidFill>
                <a:latin typeface="Microsoft YaHei"/>
                <a:ea typeface="Microsoft YaHei"/>
                <a:cs typeface="Microsoft YaHei"/>
              </a:defRPr>
            </a:defPPr>
          </a:lstStyle>
          <a:p xmlns:a="http://schemas.openxmlformats.org/drawingml/2006/main">
            <a:pPr algn="l">
              <a:lnSpc>
                <a:spcPct val="118000"/>
              </a:lnSpc>
              <a:buNone/>
              <a:defRPr sz="3150" b="1">
                <a:solidFill>
                  <a:srgbClr val="173E67"/>
                </a:solidFill>
                <a:latin typeface="Microsoft YaHei"/>
                <a:ea typeface="Microsoft YaHei"/>
                <a:cs typeface="Microsoft YaHei"/>
              </a:defRPr>
            </a:pPr>
            <a:r>
              <a:rPr sz="3150" b="1">
                <a:solidFill>
                  <a:srgbClr val="173E67"/>
                </a:solidFill>
                <a:latin typeface="Microsoft YaHei"/>
                <a:ea typeface="Microsoft YaHei"/>
                <a:cs typeface="Microsoft YaHei"/>
              </a:rPr>
              <a:t>四个方向应建立什么论文结果</a:t>
            </a:r>
          </a:p>
        </p:txBody>
      </p:sp>
      <p:sp>
        <p:nvSpPr>
          <p:cNvPr id="2" name="lead">
            <a:extLst xmlns:a="http://schemas.openxmlformats.org/drawingml/2006/main">
              <a:ext uri="{FF2B5EF4-FFF2-40B4-BE49-F238E27FC236}">
                <a16:creationId xmlns:a16="http://schemas.microsoft.com/office/drawing/2014/main" id="{18BCC09C-AC48-4CF3-AD16-44AAD8825D5D}"/>
              </a:ext>
            </a:extLst>
          </p:cNvPr>
          <p:cNvSpPr>
            <a:spLocks xmlns:a="http://schemas.openxmlformats.org/drawingml/2006/main" noGrp="1"/>
          </p:cNvSpPr>
          <p:nvPr/>
        </p:nvSpPr>
        <p:spPr>
          <a:xfrm xmlns:a="http://schemas.openxmlformats.org/drawingml/2006/main">
            <a:off x="609600" y="11049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B2533"/>
                </a:solidFill>
                <a:latin typeface="Microsoft YaHei"/>
                <a:ea typeface="Microsoft YaHei"/>
                <a:cs typeface="Microsoft YaHei"/>
              </a:defRPr>
            </a:defPPr>
          </a:lstStyle>
          <a:p xmlns:a="http://schemas.openxmlformats.org/drawingml/2006/main">
            <a:pPr algn="l">
              <a:lnSpc>
                <a:spcPct val="118000"/>
              </a:lnSpc>
              <a:buNone/>
              <a:defRPr sz="2025" b="0">
                <a:solidFill>
                  <a:srgbClr val="1B2533"/>
                </a:solidFill>
                <a:latin typeface="Microsoft YaHei"/>
                <a:ea typeface="Microsoft YaHei"/>
                <a:cs typeface="Microsoft YaHei"/>
              </a:defRPr>
            </a:pPr>
            <a:r>
              <a:rPr sz="2025" b="0">
                <a:solidFill>
                  <a:srgbClr val="1B2533"/>
                </a:solidFill>
                <a:latin typeface="Microsoft YaHei"/>
                <a:ea typeface="Microsoft YaHei"/>
                <a:cs typeface="Microsoft YaHei"/>
              </a:rPr>
              <a:t>方法成功需要同时带来可解释的学习进展和稳定新结构增量。</a:t>
            </a:r>
          </a:p>
        </p:txBody>
      </p:sp>
      <p:sp>
        <p:nvSpPr>
          <p:cNvPr id="3" name="text">
            <a:extLst xmlns:a="http://schemas.openxmlformats.org/drawingml/2006/main">
              <a:ext uri="{FF2B5EF4-FFF2-40B4-BE49-F238E27FC236}">
                <a16:creationId xmlns:a16="http://schemas.microsoft.com/office/drawing/2014/main" id="{6C6EA17F-E362-4EB6-93C6-BC395A814E53}"/>
              </a:ext>
            </a:extLst>
          </p:cNvPr>
          <p:cNvSpPr>
            <a:spLocks xmlns:a="http://schemas.openxmlformats.org/drawingml/2006/main" noGrp="1"/>
          </p:cNvSpPr>
          <p:nvPr/>
        </p:nvSpPr>
        <p:spPr>
          <a:xfrm xmlns:a="http://schemas.openxmlformats.org/drawingml/2006/main">
            <a:off x="609600" y="2095500"/>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73E67"/>
                </a:solidFill>
                <a:latin typeface="Microsoft YaHei"/>
                <a:ea typeface="Microsoft YaHei"/>
                <a:cs typeface="Microsoft YaHei"/>
              </a:defRPr>
            </a:defPPr>
          </a:lstStyle>
          <a:p xmlns:a="http://schemas.openxmlformats.org/drawingml/2006/main">
            <a:pPr algn="l">
              <a:lnSpc>
                <a:spcPct val="118000"/>
              </a:lnSpc>
              <a:buNone/>
              <a:defRPr sz="1950" b="1">
                <a:solidFill>
                  <a:srgbClr val="173E67"/>
                </a:solidFill>
                <a:latin typeface="Microsoft YaHei"/>
                <a:ea typeface="Microsoft YaHei"/>
                <a:cs typeface="Microsoft YaHei"/>
              </a:defRPr>
            </a:pPr>
            <a:r>
              <a:rPr sz="1950" b="1">
                <a:solidFill>
                  <a:srgbClr val="173E67"/>
                </a:solidFill>
                <a:latin typeface="Microsoft YaHei"/>
                <a:ea typeface="Microsoft YaHei"/>
                <a:cs typeface="Microsoft YaHei"/>
              </a:rPr>
              <a:t>A的结果</a:t>
            </a:r>
          </a:p>
        </p:txBody>
      </p:sp>
      <p:sp>
        <p:nvSpPr>
          <p:cNvPr id="4" name="text">
            <a:extLst xmlns:a="http://schemas.openxmlformats.org/drawingml/2006/main">
              <a:ext uri="{FF2B5EF4-FFF2-40B4-BE49-F238E27FC236}">
                <a16:creationId xmlns:a16="http://schemas.microsoft.com/office/drawing/2014/main" id="{92CF2FD3-674C-42C1-BBB1-08F52CF27506}"/>
              </a:ext>
            </a:extLst>
          </p:cNvPr>
          <p:cNvSpPr>
            <a:spLocks xmlns:a="http://schemas.openxmlformats.org/drawingml/2006/main" noGrp="1"/>
          </p:cNvSpPr>
          <p:nvPr/>
        </p:nvSpPr>
        <p:spPr>
          <a:xfrm xmlns:a="http://schemas.openxmlformats.org/drawingml/2006/main">
            <a:off x="2514600" y="2095500"/>
            <a:ext cx="90678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1B2533"/>
                </a:solidFill>
                <a:latin typeface="Microsoft YaHei"/>
                <a:ea typeface="Microsoft YaHei"/>
                <a:cs typeface="Microsoft YaHei"/>
              </a:defRPr>
            </a:defPPr>
          </a:lstStyle>
          <a:p xmlns:a="http://schemas.openxmlformats.org/drawingml/2006/main">
            <a:pPr algn="l">
              <a:lnSpc>
                <a:spcPct val="118000"/>
              </a:lnSpc>
              <a:buNone/>
              <a:defRPr sz="1950" b="0">
                <a:solidFill>
                  <a:srgbClr val="1B2533"/>
                </a:solidFill>
                <a:latin typeface="Microsoft YaHei"/>
                <a:ea typeface="Microsoft YaHei"/>
                <a:cs typeface="Microsoft YaHei"/>
              </a:defRPr>
            </a:pPr>
            <a:r>
              <a:rPr sz="1950" b="0">
                <a:solidFill>
                  <a:srgbClr val="1B2533"/>
                </a:solidFill>
                <a:latin typeface="Microsoft YaHei"/>
                <a:ea typeface="Microsoft YaHei"/>
                <a:cs typeface="Microsoft YaHei"/>
              </a:rPr>
              <a:t>说明化学与几何交换了什么有效信息，并在新组合上优于强分阶段方法。</a:t>
            </a:r>
          </a:p>
        </p:txBody>
      </p:sp>
      <p:sp>
        <p:nvSpPr>
          <p:cNvPr id="5" name="text">
            <a:extLst xmlns:a="http://schemas.openxmlformats.org/drawingml/2006/main">
              <a:ext uri="{FF2B5EF4-FFF2-40B4-BE49-F238E27FC236}">
                <a16:creationId xmlns:a16="http://schemas.microsoft.com/office/drawing/2014/main" id="{F289C4A1-9CFC-4BED-8EAE-FDC4CCD0318F}"/>
              </a:ext>
            </a:extLst>
          </p:cNvPr>
          <p:cNvSpPr>
            <a:spLocks xmlns:a="http://schemas.openxmlformats.org/drawingml/2006/main" noGrp="1"/>
          </p:cNvSpPr>
          <p:nvPr/>
        </p:nvSpPr>
        <p:spPr>
          <a:xfrm xmlns:a="http://schemas.openxmlformats.org/drawingml/2006/main">
            <a:off x="609600" y="3038475"/>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73E67"/>
                </a:solidFill>
                <a:latin typeface="Microsoft YaHei"/>
                <a:ea typeface="Microsoft YaHei"/>
                <a:cs typeface="Microsoft YaHei"/>
              </a:defRPr>
            </a:defPPr>
          </a:lstStyle>
          <a:p xmlns:a="http://schemas.openxmlformats.org/drawingml/2006/main">
            <a:pPr algn="l">
              <a:lnSpc>
                <a:spcPct val="118000"/>
              </a:lnSpc>
              <a:buNone/>
              <a:defRPr sz="1950" b="1">
                <a:solidFill>
                  <a:srgbClr val="173E67"/>
                </a:solidFill>
                <a:latin typeface="Microsoft YaHei"/>
                <a:ea typeface="Microsoft YaHei"/>
                <a:cs typeface="Microsoft YaHei"/>
              </a:defRPr>
            </a:pPr>
            <a:r>
              <a:rPr sz="1950" b="1">
                <a:solidFill>
                  <a:srgbClr val="173E67"/>
                </a:solidFill>
                <a:latin typeface="Microsoft YaHei"/>
                <a:ea typeface="Microsoft YaHei"/>
                <a:cs typeface="Microsoft YaHei"/>
              </a:rPr>
              <a:t>B的结果</a:t>
            </a:r>
          </a:p>
        </p:txBody>
      </p:sp>
      <p:sp>
        <p:nvSpPr>
          <p:cNvPr id="6" name="text">
            <a:extLst xmlns:a="http://schemas.openxmlformats.org/drawingml/2006/main">
              <a:ext uri="{FF2B5EF4-FFF2-40B4-BE49-F238E27FC236}">
                <a16:creationId xmlns:a16="http://schemas.microsoft.com/office/drawing/2014/main" id="{ED362194-686E-458A-AB82-DF30886F13F0}"/>
              </a:ext>
            </a:extLst>
          </p:cNvPr>
          <p:cNvSpPr>
            <a:spLocks xmlns:a="http://schemas.openxmlformats.org/drawingml/2006/main" noGrp="1"/>
          </p:cNvSpPr>
          <p:nvPr/>
        </p:nvSpPr>
        <p:spPr>
          <a:xfrm xmlns:a="http://schemas.openxmlformats.org/drawingml/2006/main">
            <a:off x="2514600" y="3038475"/>
            <a:ext cx="90678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1B2533"/>
                </a:solidFill>
                <a:latin typeface="Microsoft YaHei"/>
                <a:ea typeface="Microsoft YaHei"/>
                <a:cs typeface="Microsoft YaHei"/>
              </a:defRPr>
            </a:defPPr>
          </a:lstStyle>
          <a:p xmlns:a="http://schemas.openxmlformats.org/drawingml/2006/main">
            <a:pPr algn="l">
              <a:lnSpc>
                <a:spcPct val="118000"/>
              </a:lnSpc>
              <a:buNone/>
              <a:defRPr sz="1950" b="0">
                <a:solidFill>
                  <a:srgbClr val="1B2533"/>
                </a:solidFill>
                <a:latin typeface="Microsoft YaHei"/>
                <a:ea typeface="Microsoft YaHei"/>
                <a:cs typeface="Microsoft YaHei"/>
              </a:defRPr>
            </a:pPr>
            <a:r>
              <a:rPr sz="1950" b="0">
                <a:solidFill>
                  <a:srgbClr val="1B2533"/>
                </a:solidFill>
                <a:latin typeface="Microsoft YaHei"/>
                <a:ea typeface="Microsoft YaHei"/>
                <a:cs typeface="Microsoft YaHei"/>
              </a:rPr>
              <a:t>说明哪些共享关系使局部知识可以迁移，并形成新的稳定整体。</a:t>
            </a:r>
          </a:p>
        </p:txBody>
      </p:sp>
      <p:sp>
        <p:nvSpPr>
          <p:cNvPr id="7" name="text">
            <a:extLst xmlns:a="http://schemas.openxmlformats.org/drawingml/2006/main">
              <a:ext uri="{FF2B5EF4-FFF2-40B4-BE49-F238E27FC236}">
                <a16:creationId xmlns:a16="http://schemas.microsoft.com/office/drawing/2014/main" id="{E979839B-6A1C-4DA4-B5AC-350FA538B71B}"/>
              </a:ext>
            </a:extLst>
          </p:cNvPr>
          <p:cNvSpPr>
            <a:spLocks xmlns:a="http://schemas.openxmlformats.org/drawingml/2006/main" noGrp="1"/>
          </p:cNvSpPr>
          <p:nvPr/>
        </p:nvSpPr>
        <p:spPr>
          <a:xfrm xmlns:a="http://schemas.openxmlformats.org/drawingml/2006/main">
            <a:off x="609600" y="3981450"/>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73E67"/>
                </a:solidFill>
                <a:latin typeface="Microsoft YaHei"/>
                <a:ea typeface="Microsoft YaHei"/>
                <a:cs typeface="Microsoft YaHei"/>
              </a:defRPr>
            </a:defPPr>
          </a:lstStyle>
          <a:p xmlns:a="http://schemas.openxmlformats.org/drawingml/2006/main">
            <a:pPr algn="l">
              <a:lnSpc>
                <a:spcPct val="118000"/>
              </a:lnSpc>
              <a:buNone/>
              <a:defRPr sz="1950" b="1">
                <a:solidFill>
                  <a:srgbClr val="173E67"/>
                </a:solidFill>
                <a:latin typeface="Microsoft YaHei"/>
                <a:ea typeface="Microsoft YaHei"/>
                <a:cs typeface="Microsoft YaHei"/>
              </a:defRPr>
            </a:pPr>
            <a:r>
              <a:rPr sz="1950" b="1">
                <a:solidFill>
                  <a:srgbClr val="173E67"/>
                </a:solidFill>
                <a:latin typeface="Microsoft YaHei"/>
                <a:ea typeface="Microsoft YaHei"/>
                <a:cs typeface="Microsoft YaHei"/>
              </a:rPr>
              <a:t>C的结果</a:t>
            </a:r>
          </a:p>
        </p:txBody>
      </p:sp>
      <p:sp>
        <p:nvSpPr>
          <p:cNvPr id="8" name="text">
            <a:extLst xmlns:a="http://schemas.openxmlformats.org/drawingml/2006/main">
              <a:ext uri="{FF2B5EF4-FFF2-40B4-BE49-F238E27FC236}">
                <a16:creationId xmlns:a16="http://schemas.microsoft.com/office/drawing/2014/main" id="{EFC7123C-4FEB-4D64-81DA-C5A8DF70C3F8}"/>
              </a:ext>
            </a:extLst>
          </p:cNvPr>
          <p:cNvSpPr>
            <a:spLocks xmlns:a="http://schemas.openxmlformats.org/drawingml/2006/main" noGrp="1"/>
          </p:cNvSpPr>
          <p:nvPr/>
        </p:nvSpPr>
        <p:spPr>
          <a:xfrm xmlns:a="http://schemas.openxmlformats.org/drawingml/2006/main">
            <a:off x="2514600" y="3981450"/>
            <a:ext cx="90678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1B2533"/>
                </a:solidFill>
                <a:latin typeface="Microsoft YaHei"/>
                <a:ea typeface="Microsoft YaHei"/>
                <a:cs typeface="Microsoft YaHei"/>
              </a:defRPr>
            </a:defPPr>
          </a:lstStyle>
          <a:p xmlns:a="http://schemas.openxmlformats.org/drawingml/2006/main">
            <a:pPr algn="l">
              <a:lnSpc>
                <a:spcPct val="118000"/>
              </a:lnSpc>
              <a:buNone/>
              <a:defRPr sz="1950" b="0">
                <a:solidFill>
                  <a:srgbClr val="1B2533"/>
                </a:solidFill>
                <a:latin typeface="Microsoft YaHei"/>
                <a:ea typeface="Microsoft YaHei"/>
                <a:cs typeface="Microsoft YaHei"/>
              </a:defRPr>
            </a:pPr>
            <a:r>
              <a:rPr sz="1950" b="0">
                <a:solidFill>
                  <a:srgbClr val="1B2533"/>
                </a:solidFill>
                <a:latin typeface="Microsoft YaHei"/>
                <a:ea typeface="Microsoft YaHei"/>
                <a:cs typeface="Microsoft YaHei"/>
              </a:rPr>
              <a:t>说明物理响应中哪些内容能够复用，并改善后续独立生成。</a:t>
            </a:r>
          </a:p>
        </p:txBody>
      </p:sp>
      <p:sp>
        <p:nvSpPr>
          <p:cNvPr id="9" name="text">
            <a:extLst xmlns:a="http://schemas.openxmlformats.org/drawingml/2006/main">
              <a:ext uri="{FF2B5EF4-FFF2-40B4-BE49-F238E27FC236}">
                <a16:creationId xmlns:a16="http://schemas.microsoft.com/office/drawing/2014/main" id="{42B65DF5-5B4B-44E9-8263-E985A99D96D7}"/>
              </a:ext>
            </a:extLst>
          </p:cNvPr>
          <p:cNvSpPr>
            <a:spLocks xmlns:a="http://schemas.openxmlformats.org/drawingml/2006/main" noGrp="1"/>
          </p:cNvSpPr>
          <p:nvPr/>
        </p:nvSpPr>
        <p:spPr>
          <a:xfrm xmlns:a="http://schemas.openxmlformats.org/drawingml/2006/main">
            <a:off x="609600" y="4924425"/>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73E67"/>
                </a:solidFill>
                <a:latin typeface="Microsoft YaHei"/>
                <a:ea typeface="Microsoft YaHei"/>
                <a:cs typeface="Microsoft YaHei"/>
              </a:defRPr>
            </a:defPPr>
          </a:lstStyle>
          <a:p xmlns:a="http://schemas.openxmlformats.org/drawingml/2006/main">
            <a:pPr algn="l">
              <a:lnSpc>
                <a:spcPct val="118000"/>
              </a:lnSpc>
              <a:buNone/>
              <a:defRPr sz="1950" b="1">
                <a:solidFill>
                  <a:srgbClr val="173E67"/>
                </a:solidFill>
                <a:latin typeface="Microsoft YaHei"/>
                <a:ea typeface="Microsoft YaHei"/>
                <a:cs typeface="Microsoft YaHei"/>
              </a:defRPr>
            </a:pPr>
            <a:r>
              <a:rPr sz="1950" b="1">
                <a:solidFill>
                  <a:srgbClr val="173E67"/>
                </a:solidFill>
                <a:latin typeface="Microsoft YaHei"/>
                <a:ea typeface="Microsoft YaHei"/>
                <a:cs typeface="Microsoft YaHei"/>
              </a:rPr>
              <a:t>D的结果</a:t>
            </a:r>
          </a:p>
        </p:txBody>
      </p:sp>
      <p:sp>
        <p:nvSpPr>
          <p:cNvPr id="10" name="text">
            <a:extLst xmlns:a="http://schemas.openxmlformats.org/drawingml/2006/main">
              <a:ext uri="{FF2B5EF4-FFF2-40B4-BE49-F238E27FC236}">
                <a16:creationId xmlns:a16="http://schemas.microsoft.com/office/drawing/2014/main" id="{AE0D9F7C-C28A-4828-83BA-184E3BF51DA2}"/>
              </a:ext>
            </a:extLst>
          </p:cNvPr>
          <p:cNvSpPr>
            <a:spLocks xmlns:a="http://schemas.openxmlformats.org/drawingml/2006/main" noGrp="1"/>
          </p:cNvSpPr>
          <p:nvPr/>
        </p:nvSpPr>
        <p:spPr>
          <a:xfrm xmlns:a="http://schemas.openxmlformats.org/drawingml/2006/main">
            <a:off x="2514600" y="4924425"/>
            <a:ext cx="90678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1B2533"/>
                </a:solidFill>
                <a:latin typeface="Microsoft YaHei"/>
                <a:ea typeface="Microsoft YaHei"/>
                <a:cs typeface="Microsoft YaHei"/>
              </a:defRPr>
            </a:defPPr>
          </a:lstStyle>
          <a:p xmlns:a="http://schemas.openxmlformats.org/drawingml/2006/main">
            <a:pPr algn="l">
              <a:lnSpc>
                <a:spcPct val="118000"/>
              </a:lnSpc>
              <a:buNone/>
              <a:defRPr sz="1950" b="0">
                <a:solidFill>
                  <a:srgbClr val="1B2533"/>
                </a:solidFill>
                <a:latin typeface="Microsoft YaHei"/>
                <a:ea typeface="Microsoft YaHei"/>
                <a:cs typeface="Microsoft YaHei"/>
              </a:defRPr>
            </a:pPr>
            <a:r>
              <a:rPr sz="1950" b="0">
                <a:solidFill>
                  <a:srgbClr val="1B2533"/>
                </a:solidFill>
                <a:latin typeface="Microsoft YaHei"/>
                <a:ea typeface="Microsoft YaHei"/>
                <a:cs typeface="Microsoft YaHei"/>
              </a:rPr>
              <a:t>说明模型怎样获得和保留未知成功，并持续扩大不同的SUN结果集合。</a:t>
            </a:r>
          </a:p>
        </p:txBody>
      </p:sp>
      <p:sp>
        <p:nvSpPr>
          <p:cNvPr id="11" name="separator">
            <a:extLst xmlns:a="http://schemas.openxmlformats.org/drawingml/2006/main">
              <a:ext uri="{FF2B5EF4-FFF2-40B4-BE49-F238E27FC236}">
                <a16:creationId xmlns:a16="http://schemas.microsoft.com/office/drawing/2014/main" id="{C823F978-2A19-4870-B334-70730605FCDD}"/>
              </a:ext>
            </a:extLst>
          </p:cNvPr>
          <p:cNvSpPr>
            <a:spLocks xmlns:a="http://schemas.openxmlformats.org/drawingml/2006/main" noGrp="1"/>
          </p:cNvSpPr>
          <p:nvPr/>
        </p:nvSpPr>
        <p:spPr>
          <a:xfrm xmlns:a="http://schemas.openxmlformats.org/drawingml/2006/main">
            <a:off x="609600" y="6200775"/>
            <a:ext cx="10972800" cy="0"/>
          </a:xfrm>
          <a:prstGeom xmlns:a="http://schemas.openxmlformats.org/drawingml/2006/main" prst="line">
            <a:avLst/>
          </a:prstGeom>
          <a:ln xmlns:a="http://schemas.openxmlformats.org/drawingml/2006/main" w="9525">
            <a:solidFill>
              <a:srgbClr val="D5DCE3"/>
            </a:solidFill>
          </a:ln>
        </p:spPr>
      </p:sp>
      <p:sp>
        <p:nvSpPr>
          <p:cNvPr id="12" name="sources">
            <a:extLst xmlns:a="http://schemas.openxmlformats.org/drawingml/2006/main">
              <a:ext uri="{FF2B5EF4-FFF2-40B4-BE49-F238E27FC236}">
                <a16:creationId xmlns:a16="http://schemas.microsoft.com/office/drawing/2014/main" id="{6FE18CB8-F63D-40AC-A3D5-EDA0DEBCB881}"/>
              </a:ext>
            </a:extLst>
          </p:cNvPr>
          <p:cNvSpPr>
            <a:spLocks xmlns:a="http://schemas.openxmlformats.org/drawingml/2006/main" noGrp="1"/>
          </p:cNvSpPr>
          <p:nvPr/>
        </p:nvSpPr>
        <p:spPr>
          <a:xfrm xmlns:a="http://schemas.openxmlformats.org/drawingml/2006/main">
            <a:off x="609600" y="6353175"/>
            <a:ext cx="10363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13" b="0">
                <a:solidFill>
                  <a:srgbClr val="526170"/>
                </a:solidFill>
                <a:latin typeface="Microsoft YaHei"/>
                <a:ea typeface="Microsoft YaHei"/>
                <a:cs typeface="Microsoft YaHei"/>
              </a:defRPr>
            </a:defPPr>
          </a:lstStyle>
          <a:p xmlns:a="http://schemas.openxmlformats.org/drawingml/2006/main">
            <a:pPr algn="l">
              <a:lnSpc>
                <a:spcPct val="118000"/>
              </a:lnSpc>
              <a:buNone/>
              <a:defRPr sz="1013" b="0">
                <a:solidFill>
                  <a:srgbClr val="526170"/>
                </a:solidFill>
                <a:latin typeface="Microsoft YaHei"/>
                <a:ea typeface="Microsoft YaHei"/>
                <a:cs typeface="Microsoft YaHei"/>
              </a:defRPr>
            </a:pPr>
            <a:r>
              <a:rPr sz="1013" b="0">
                <a:solidFill>
                  <a:srgbClr val="526170"/>
                </a:solidFill>
                <a:latin typeface="Microsoft YaHei"/>
                <a:ea typeface="Microsoft YaHei"/>
                <a:cs typeface="Microsoft YaHei"/>
              </a:rPr>
              <a:t>共同结果口径：严格SUN、条件任务、独立来源、完整费用。新算法结果待建立。</a:t>
            </a:r>
          </a:p>
        </p:txBody>
      </p:sp>
      <p:sp>
        <p:nvSpPr>
          <p:cNvPr id="13" name="page-number">
            <a:extLst xmlns:a="http://schemas.openxmlformats.org/drawingml/2006/main">
              <a:ext uri="{FF2B5EF4-FFF2-40B4-BE49-F238E27FC236}">
                <a16:creationId xmlns:a16="http://schemas.microsoft.com/office/drawing/2014/main" id="{DF3008CE-789F-41FC-930D-E2D9C000FFFD}"/>
              </a:ext>
            </a:extLst>
          </p:cNvPr>
          <p:cNvSpPr>
            <a:spLocks xmlns:a="http://schemas.openxmlformats.org/drawingml/2006/main" noGrp="1"/>
          </p:cNvSpPr>
          <p:nvPr/>
        </p:nvSpPr>
        <p:spPr>
          <a:xfrm xmlns:a="http://schemas.openxmlformats.org/drawingml/2006/main">
            <a:off x="11334750" y="6334125"/>
            <a:ext cx="266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26170"/>
                </a:solidFill>
                <a:latin typeface="Microsoft YaHei"/>
                <a:ea typeface="Microsoft YaHei"/>
                <a:cs typeface="Microsoft YaHei"/>
              </a:defRPr>
            </a:defPPr>
          </a:lstStyle>
          <a:p xmlns:a="http://schemas.openxmlformats.org/drawingml/2006/main">
            <a:pPr algn="r">
              <a:lnSpc>
                <a:spcPct val="118000"/>
              </a:lnSpc>
              <a:buNone/>
              <a:defRPr sz="1275" b="0">
                <a:solidFill>
                  <a:srgbClr val="526170"/>
                </a:solidFill>
                <a:latin typeface="Microsoft YaHei"/>
                <a:ea typeface="Microsoft YaHei"/>
                <a:cs typeface="Microsoft YaHei"/>
              </a:defRPr>
            </a:pPr>
            <a:r>
              <a:rPr sz="1275" b="0">
                <a:solidFill>
                  <a:srgbClr val="526170"/>
                </a:solidFill>
                <a:latin typeface="Microsoft YaHei"/>
                <a:ea typeface="Microsoft YaHei"/>
                <a:cs typeface="Microsoft YaHei"/>
              </a:rPr>
              <a:t>26</a:t>
            </a:r>
          </a:p>
        </p:txBody>
      </p:sp>
    </p:spTree>
    <p:extLst>
      <p:ext uri="{BB962C8B-B14F-4D97-AF65-F5344CB8AC3E}">
        <p14:creationId xmlns:p14="http://schemas.microsoft.com/office/powerpoint/2010/main" val="574844917"/>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slide-title">
            <a:extLst xmlns:a="http://schemas.openxmlformats.org/drawingml/2006/main">
              <a:ext uri="{FF2B5EF4-FFF2-40B4-BE49-F238E27FC236}">
                <a16:creationId xmlns:a16="http://schemas.microsoft.com/office/drawing/2014/main" id="{1BFCB464-2140-46D5-B66C-E360D8E6B59E}"/>
              </a:ext>
            </a:extLst>
          </p:cNvPr>
          <p:cNvSpPr>
            <a:spLocks xmlns:a="http://schemas.openxmlformats.org/drawingml/2006/main" noGrp="1"/>
          </p:cNvSpPr>
          <p:nvPr/>
        </p:nvSpPr>
        <p:spPr>
          <a:xfrm xmlns:a="http://schemas.openxmlformats.org/drawingml/2006/main">
            <a:off x="609600" y="36195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73E67"/>
                </a:solidFill>
                <a:latin typeface="Microsoft YaHei"/>
                <a:ea typeface="Microsoft YaHei"/>
                <a:cs typeface="Microsoft YaHei"/>
              </a:defRPr>
            </a:defPPr>
          </a:lstStyle>
          <a:p xmlns:a="http://schemas.openxmlformats.org/drawingml/2006/main">
            <a:pPr algn="l">
              <a:lnSpc>
                <a:spcPct val="118000"/>
              </a:lnSpc>
              <a:buNone/>
              <a:defRPr sz="3150" b="1">
                <a:solidFill>
                  <a:srgbClr val="173E67"/>
                </a:solidFill>
                <a:latin typeface="Microsoft YaHei"/>
                <a:ea typeface="Microsoft YaHei"/>
                <a:cs typeface="Microsoft YaHei"/>
              </a:defRPr>
            </a:pPr>
            <a:r>
              <a:rPr sz="3150" b="1">
                <a:solidFill>
                  <a:srgbClr val="173E67"/>
                </a:solidFill>
                <a:latin typeface="Microsoft YaHei"/>
                <a:ea typeface="Microsoft YaHei"/>
                <a:cs typeface="Microsoft YaHei"/>
              </a:rPr>
              <a:t>主要参考文献：表示与条件生成</a:t>
            </a:r>
          </a:p>
        </p:txBody>
      </p:sp>
      <p:sp>
        <p:nvSpPr>
          <p:cNvPr id="2" name="bibliography-R08">
            <a:extLst xmlns:a="http://schemas.openxmlformats.org/drawingml/2006/main">
              <a:ext uri="{FF2B5EF4-FFF2-40B4-BE49-F238E27FC236}">
                <a16:creationId xmlns:a16="http://schemas.microsoft.com/office/drawing/2014/main" id="{825F9B94-753E-42B9-946B-F77B4B71A7AD}"/>
              </a:ext>
            </a:extLst>
          </p:cNvPr>
          <p:cNvSpPr>
            <a:spLocks xmlns:a="http://schemas.openxmlformats.org/drawingml/2006/main" noGrp="1"/>
          </p:cNvSpPr>
          <p:nvPr/>
        </p:nvSpPr>
        <p:spPr>
          <a:xfrm xmlns:a="http://schemas.openxmlformats.org/drawingml/2006/main">
            <a:off x="609600" y="13906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1B2533"/>
                </a:solidFill>
                <a:latin typeface="Microsoft YaHei"/>
                <a:ea typeface="Microsoft YaHei"/>
                <a:cs typeface="Microsoft YaHei"/>
              </a:defRPr>
            </a:defPPr>
          </a:lstStyle>
          <a:p xmlns:a="http://schemas.openxmlformats.org/drawingml/2006/main">
            <a:pPr algn="l">
              <a:lnSpc>
                <a:spcPct val="118000"/>
              </a:lnSpc>
              <a:buNone/>
              <a:defRPr sz="1425" b="0">
                <a:solidFill>
                  <a:srgbClr val="1B2533"/>
                </a:solidFill>
                <a:latin typeface="Microsoft YaHei"/>
                <a:ea typeface="Microsoft YaHei"/>
                <a:cs typeface="Microsoft YaHei"/>
              </a:defRPr>
            </a:pPr>
            <a:r>
              <a:rPr sz="1425" b="0">
                <a:solidFill>
                  <a:srgbClr val="1B2533"/>
                </a:solidFill>
                <a:latin typeface="Microsoft YaHei"/>
                <a:ea typeface="Microsoft YaHei"/>
                <a:cs typeface="Microsoft YaHei"/>
              </a:rPr>
              <a:t>[R08] Tian Xie et al. Crystal Diffusion Variational Autoencoder for Periodic Material Generation. ICLR 2022.</a:t>
            </a:r>
          </a:p>
        </p:txBody>
      </p:sp>
      <p:sp>
        <p:nvSpPr>
          <p:cNvPr id="3" name="bibliography-R13">
            <a:extLst xmlns:a="http://schemas.openxmlformats.org/drawingml/2006/main">
              <a:ext uri="{FF2B5EF4-FFF2-40B4-BE49-F238E27FC236}">
                <a16:creationId xmlns:a16="http://schemas.microsoft.com/office/drawing/2014/main" id="{156B854A-E538-405B-B825-3BE35F01245F}"/>
              </a:ext>
            </a:extLst>
          </p:cNvPr>
          <p:cNvSpPr>
            <a:spLocks xmlns:a="http://schemas.openxmlformats.org/drawingml/2006/main" noGrp="1"/>
          </p:cNvSpPr>
          <p:nvPr/>
        </p:nvSpPr>
        <p:spPr>
          <a:xfrm xmlns:a="http://schemas.openxmlformats.org/drawingml/2006/main">
            <a:off x="609600" y="20383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1B2533"/>
                </a:solidFill>
                <a:latin typeface="Microsoft YaHei"/>
                <a:ea typeface="Microsoft YaHei"/>
                <a:cs typeface="Microsoft YaHei"/>
              </a:defRPr>
            </a:defPPr>
          </a:lstStyle>
          <a:p xmlns:a="http://schemas.openxmlformats.org/drawingml/2006/main">
            <a:pPr algn="l">
              <a:lnSpc>
                <a:spcPct val="118000"/>
              </a:lnSpc>
              <a:buNone/>
              <a:defRPr sz="1425" b="0">
                <a:solidFill>
                  <a:srgbClr val="1B2533"/>
                </a:solidFill>
                <a:latin typeface="Microsoft YaHei"/>
                <a:ea typeface="Microsoft YaHei"/>
                <a:cs typeface="Microsoft YaHei"/>
              </a:defRPr>
            </a:pPr>
            <a:r>
              <a:rPr sz="1425" b="0">
                <a:solidFill>
                  <a:srgbClr val="1B2533"/>
                </a:solidFill>
                <a:latin typeface="Microsoft YaHei"/>
                <a:ea typeface="Microsoft YaHei"/>
                <a:cs typeface="Microsoft YaHei"/>
              </a:rPr>
              <a:t>[R13] Rui Jiao et al. Crystal Structure Prediction by Joint Equivariant Diffusion. NeurIPS 2023.</a:t>
            </a:r>
          </a:p>
        </p:txBody>
      </p:sp>
      <p:sp>
        <p:nvSpPr>
          <p:cNvPr id="4" name="bibliography-R26">
            <a:extLst xmlns:a="http://schemas.openxmlformats.org/drawingml/2006/main">
              <a:ext uri="{FF2B5EF4-FFF2-40B4-BE49-F238E27FC236}">
                <a16:creationId xmlns:a16="http://schemas.microsoft.com/office/drawing/2014/main" id="{7FEF089C-DD03-4956-A18A-3673F59D3D34}"/>
              </a:ext>
            </a:extLst>
          </p:cNvPr>
          <p:cNvSpPr>
            <a:spLocks xmlns:a="http://schemas.openxmlformats.org/drawingml/2006/main" noGrp="1"/>
          </p:cNvSpPr>
          <p:nvPr/>
        </p:nvSpPr>
        <p:spPr>
          <a:xfrm xmlns:a="http://schemas.openxmlformats.org/drawingml/2006/main">
            <a:off x="609600" y="2686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1B2533"/>
                </a:solidFill>
                <a:latin typeface="Microsoft YaHei"/>
                <a:ea typeface="Microsoft YaHei"/>
                <a:cs typeface="Microsoft YaHei"/>
              </a:defRPr>
            </a:defPPr>
          </a:lstStyle>
          <a:p xmlns:a="http://schemas.openxmlformats.org/drawingml/2006/main">
            <a:pPr algn="l">
              <a:lnSpc>
                <a:spcPct val="118000"/>
              </a:lnSpc>
              <a:buNone/>
              <a:defRPr sz="1425" b="0">
                <a:solidFill>
                  <a:srgbClr val="1B2533"/>
                </a:solidFill>
                <a:latin typeface="Microsoft YaHei"/>
                <a:ea typeface="Microsoft YaHei"/>
                <a:cs typeface="Microsoft YaHei"/>
              </a:defRPr>
            </a:pPr>
            <a:r>
              <a:rPr sz="1425" b="0">
                <a:solidFill>
                  <a:srgbClr val="1B2533"/>
                </a:solidFill>
                <a:latin typeface="Microsoft YaHei"/>
                <a:ea typeface="Microsoft YaHei"/>
                <a:cs typeface="Microsoft YaHei"/>
              </a:rPr>
              <a:t>[R26] Benjamin Kurt Miller et al. FlowMM: Generating Materials with Riemannian Flow Matching. ICML 2024, PMLR 235.</a:t>
            </a:r>
          </a:p>
        </p:txBody>
      </p:sp>
      <p:sp>
        <p:nvSpPr>
          <p:cNvPr id="5" name="bibliography-R34">
            <a:extLst xmlns:a="http://schemas.openxmlformats.org/drawingml/2006/main">
              <a:ext uri="{FF2B5EF4-FFF2-40B4-BE49-F238E27FC236}">
                <a16:creationId xmlns:a16="http://schemas.microsoft.com/office/drawing/2014/main" id="{1E6B1889-F64E-41A8-80FB-6341B067D046}"/>
              </a:ext>
            </a:extLst>
          </p:cNvPr>
          <p:cNvSpPr>
            <a:spLocks xmlns:a="http://schemas.openxmlformats.org/drawingml/2006/main" noGrp="1"/>
          </p:cNvSpPr>
          <p:nvPr/>
        </p:nvSpPr>
        <p:spPr>
          <a:xfrm xmlns:a="http://schemas.openxmlformats.org/drawingml/2006/main">
            <a:off x="609600" y="33337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1B2533"/>
                </a:solidFill>
                <a:latin typeface="Microsoft YaHei"/>
                <a:ea typeface="Microsoft YaHei"/>
                <a:cs typeface="Microsoft YaHei"/>
              </a:defRPr>
            </a:defPPr>
          </a:lstStyle>
          <a:p xmlns:a="http://schemas.openxmlformats.org/drawingml/2006/main">
            <a:pPr algn="l">
              <a:lnSpc>
                <a:spcPct val="118000"/>
              </a:lnSpc>
              <a:buNone/>
              <a:defRPr sz="1425" b="0">
                <a:solidFill>
                  <a:srgbClr val="1B2533"/>
                </a:solidFill>
                <a:latin typeface="Microsoft YaHei"/>
                <a:ea typeface="Microsoft YaHei"/>
                <a:cs typeface="Microsoft YaHei"/>
              </a:defRPr>
            </a:pPr>
            <a:r>
              <a:rPr sz="1425" b="0">
                <a:solidFill>
                  <a:srgbClr val="1B2533"/>
                </a:solidFill>
                <a:latin typeface="Microsoft YaHei"/>
                <a:ea typeface="Microsoft YaHei"/>
                <a:cs typeface="Microsoft YaHei"/>
              </a:rPr>
              <a:t>[R34] Philipp Hoellmer et al. Open Materials Generation with Stochastic Interpolants. ICML 2025, PMLR 267.</a:t>
            </a:r>
          </a:p>
        </p:txBody>
      </p:sp>
      <p:sp>
        <p:nvSpPr>
          <p:cNvPr id="6" name="bibliography-R35">
            <a:extLst xmlns:a="http://schemas.openxmlformats.org/drawingml/2006/main">
              <a:ext uri="{FF2B5EF4-FFF2-40B4-BE49-F238E27FC236}">
                <a16:creationId xmlns:a16="http://schemas.microsoft.com/office/drawing/2014/main" id="{9026A5CB-EB45-40B3-84DD-DB1533AAF599}"/>
              </a:ext>
            </a:extLst>
          </p:cNvPr>
          <p:cNvSpPr>
            <a:spLocks xmlns:a="http://schemas.openxmlformats.org/drawingml/2006/main" noGrp="1"/>
          </p:cNvSpPr>
          <p:nvPr/>
        </p:nvSpPr>
        <p:spPr>
          <a:xfrm xmlns:a="http://schemas.openxmlformats.org/drawingml/2006/main">
            <a:off x="609600" y="39814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1B2533"/>
                </a:solidFill>
                <a:latin typeface="Microsoft YaHei"/>
                <a:ea typeface="Microsoft YaHei"/>
                <a:cs typeface="Microsoft YaHei"/>
              </a:defRPr>
            </a:defPPr>
          </a:lstStyle>
          <a:p xmlns:a="http://schemas.openxmlformats.org/drawingml/2006/main">
            <a:pPr algn="l">
              <a:lnSpc>
                <a:spcPct val="118000"/>
              </a:lnSpc>
              <a:buNone/>
              <a:defRPr sz="1425" b="0">
                <a:solidFill>
                  <a:srgbClr val="1B2533"/>
                </a:solidFill>
                <a:latin typeface="Microsoft YaHei"/>
                <a:ea typeface="Microsoft YaHei"/>
                <a:cs typeface="Microsoft YaHei"/>
              </a:defRPr>
            </a:pPr>
            <a:r>
              <a:rPr sz="1425" b="0">
                <a:solidFill>
                  <a:srgbClr val="1B2533"/>
                </a:solidFill>
                <a:latin typeface="Microsoft YaHei"/>
                <a:ea typeface="Microsoft YaHei"/>
                <a:cs typeface="Microsoft YaHei"/>
              </a:rPr>
              <a:t>[R35] Daniel Levy et al. SymmCD: Symmetry-Preserving Crystal Generation with Diffusion Models. ICLR 2025.</a:t>
            </a:r>
          </a:p>
        </p:txBody>
      </p:sp>
      <p:sp>
        <p:nvSpPr>
          <p:cNvPr id="7" name="bibliography-R19">
            <a:extLst xmlns:a="http://schemas.openxmlformats.org/drawingml/2006/main">
              <a:ext uri="{FF2B5EF4-FFF2-40B4-BE49-F238E27FC236}">
                <a16:creationId xmlns:a16="http://schemas.microsoft.com/office/drawing/2014/main" id="{2FC2A42D-C1B8-48F9-A4AE-2CEE04AD8F83}"/>
              </a:ext>
            </a:extLst>
          </p:cNvPr>
          <p:cNvSpPr>
            <a:spLocks xmlns:a="http://schemas.openxmlformats.org/drawingml/2006/main" noGrp="1"/>
          </p:cNvSpPr>
          <p:nvPr/>
        </p:nvSpPr>
        <p:spPr>
          <a:xfrm xmlns:a="http://schemas.openxmlformats.org/drawingml/2006/main">
            <a:off x="609600" y="46291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1B2533"/>
                </a:solidFill>
                <a:latin typeface="Microsoft YaHei"/>
                <a:ea typeface="Microsoft YaHei"/>
                <a:cs typeface="Microsoft YaHei"/>
              </a:defRPr>
            </a:defPPr>
          </a:lstStyle>
          <a:p xmlns:a="http://schemas.openxmlformats.org/drawingml/2006/main">
            <a:pPr algn="l">
              <a:lnSpc>
                <a:spcPct val="118000"/>
              </a:lnSpc>
              <a:buNone/>
              <a:defRPr sz="1425" b="0">
                <a:solidFill>
                  <a:srgbClr val="1B2533"/>
                </a:solidFill>
                <a:latin typeface="Microsoft YaHei"/>
                <a:ea typeface="Microsoft YaHei"/>
                <a:cs typeface="Microsoft YaHei"/>
              </a:defRPr>
            </a:pPr>
            <a:r>
              <a:rPr sz="1425" b="0">
                <a:solidFill>
                  <a:srgbClr val="1B2533"/>
                </a:solidFill>
                <a:latin typeface="Microsoft YaHei"/>
                <a:ea typeface="Microsoft YaHei"/>
                <a:cs typeface="Microsoft YaHei"/>
              </a:rPr>
              <a:t>[R19] Claudio Zeni et al. A generative model for inorganic materials design. Nature 2025.</a:t>
            </a:r>
          </a:p>
        </p:txBody>
      </p:sp>
      <p:sp>
        <p:nvSpPr>
          <p:cNvPr id="8" name="bibliography-R27">
            <a:extLst xmlns:a="http://schemas.openxmlformats.org/drawingml/2006/main">
              <a:ext uri="{FF2B5EF4-FFF2-40B4-BE49-F238E27FC236}">
                <a16:creationId xmlns:a16="http://schemas.microsoft.com/office/drawing/2014/main" id="{4F245A8A-CEBE-406F-830D-35C02E2020DE}"/>
              </a:ext>
            </a:extLst>
          </p:cNvPr>
          <p:cNvSpPr>
            <a:spLocks xmlns:a="http://schemas.openxmlformats.org/drawingml/2006/main" noGrp="1"/>
          </p:cNvSpPr>
          <p:nvPr/>
        </p:nvSpPr>
        <p:spPr>
          <a:xfrm xmlns:a="http://schemas.openxmlformats.org/drawingml/2006/main">
            <a:off x="609600" y="52768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1B2533"/>
                </a:solidFill>
                <a:latin typeface="Microsoft YaHei"/>
                <a:ea typeface="Microsoft YaHei"/>
                <a:cs typeface="Microsoft YaHei"/>
              </a:defRPr>
            </a:defPPr>
          </a:lstStyle>
          <a:p xmlns:a="http://schemas.openxmlformats.org/drawingml/2006/main">
            <a:pPr algn="l">
              <a:lnSpc>
                <a:spcPct val="118000"/>
              </a:lnSpc>
              <a:buNone/>
              <a:defRPr sz="1425" b="0">
                <a:solidFill>
                  <a:srgbClr val="1B2533"/>
                </a:solidFill>
                <a:latin typeface="Microsoft YaHei"/>
                <a:ea typeface="Microsoft YaHei"/>
                <a:cs typeface="Microsoft YaHei"/>
              </a:defRPr>
            </a:pPr>
            <a:r>
              <a:rPr sz="1425" b="0">
                <a:solidFill>
                  <a:srgbClr val="1B2533"/>
                </a:solidFill>
                <a:latin typeface="Microsoft YaHei"/>
                <a:ea typeface="Microsoft YaHei"/>
                <a:cs typeface="Microsoft YaHei"/>
              </a:rPr>
              <a:t>[R27] Ryotaro Okabe et al. Structural constraint integration in a generative model for the discovery of quantum materials. Nature Materials 25, 223–230 2026.</a:t>
            </a:r>
          </a:p>
        </p:txBody>
      </p:sp>
      <p:sp>
        <p:nvSpPr>
          <p:cNvPr id="9" name="separator">
            <a:extLst xmlns:a="http://schemas.openxmlformats.org/drawingml/2006/main">
              <a:ext uri="{FF2B5EF4-FFF2-40B4-BE49-F238E27FC236}">
                <a16:creationId xmlns:a16="http://schemas.microsoft.com/office/drawing/2014/main" id="{F0EFB5AE-139E-4B08-88A7-9C06C2D59B96}"/>
              </a:ext>
            </a:extLst>
          </p:cNvPr>
          <p:cNvSpPr>
            <a:spLocks xmlns:a="http://schemas.openxmlformats.org/drawingml/2006/main" noGrp="1"/>
          </p:cNvSpPr>
          <p:nvPr/>
        </p:nvSpPr>
        <p:spPr>
          <a:xfrm xmlns:a="http://schemas.openxmlformats.org/drawingml/2006/main">
            <a:off x="609600" y="6200775"/>
            <a:ext cx="10972800" cy="0"/>
          </a:xfrm>
          <a:prstGeom xmlns:a="http://schemas.openxmlformats.org/drawingml/2006/main" prst="line">
            <a:avLst/>
          </a:prstGeom>
          <a:ln xmlns:a="http://schemas.openxmlformats.org/drawingml/2006/main" w="9525">
            <a:solidFill>
              <a:srgbClr val="D5DCE3"/>
            </a:solidFill>
          </a:ln>
        </p:spPr>
      </p:sp>
      <p:sp>
        <p:nvSpPr>
          <p:cNvPr id="10" name="sources">
            <a:extLst xmlns:a="http://schemas.openxmlformats.org/drawingml/2006/main">
              <a:ext uri="{FF2B5EF4-FFF2-40B4-BE49-F238E27FC236}">
                <a16:creationId xmlns:a16="http://schemas.microsoft.com/office/drawing/2014/main" id="{46946926-D597-43ED-A8CC-4FE908E8B5D9}"/>
              </a:ext>
            </a:extLst>
          </p:cNvPr>
          <p:cNvSpPr>
            <a:spLocks xmlns:a="http://schemas.openxmlformats.org/drawingml/2006/main" noGrp="1"/>
          </p:cNvSpPr>
          <p:nvPr/>
        </p:nvSpPr>
        <p:spPr>
          <a:xfrm xmlns:a="http://schemas.openxmlformats.org/drawingml/2006/main">
            <a:off x="609600" y="6353175"/>
            <a:ext cx="10363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13" b="0">
                <a:solidFill>
                  <a:srgbClr val="526170"/>
                </a:solidFill>
                <a:latin typeface="Microsoft YaHei"/>
                <a:ea typeface="Microsoft YaHei"/>
                <a:cs typeface="Microsoft YaHei"/>
              </a:defRPr>
            </a:defPPr>
          </a:lstStyle>
          <a:p xmlns:a="http://schemas.openxmlformats.org/drawingml/2006/main">
            <a:pPr algn="l">
              <a:lnSpc>
                <a:spcPct val="118000"/>
              </a:lnSpc>
              <a:buNone/>
              <a:defRPr sz="1013" b="0">
                <a:solidFill>
                  <a:srgbClr val="526170"/>
                </a:solidFill>
                <a:latin typeface="Microsoft YaHei"/>
                <a:ea typeface="Microsoft YaHei"/>
                <a:cs typeface="Microsoft YaHei"/>
              </a:defRPr>
            </a:pPr>
            <a:r>
              <a:rPr sz="1013" b="0">
                <a:solidFill>
                  <a:srgbClr val="526170"/>
                </a:solidFill>
                <a:latin typeface="Microsoft YaHei"/>
                <a:ea typeface="Microsoft YaHei"/>
                <a:cs typeface="Microsoft YaHei"/>
              </a:rPr>
              <a:t>正文各页备注包含对应原文链接与结果范围。完整57项文献见综述索引。</a:t>
            </a:r>
          </a:p>
        </p:txBody>
      </p:sp>
      <p:sp>
        <p:nvSpPr>
          <p:cNvPr id="11" name="page-number">
            <a:extLst xmlns:a="http://schemas.openxmlformats.org/drawingml/2006/main">
              <a:ext uri="{FF2B5EF4-FFF2-40B4-BE49-F238E27FC236}">
                <a16:creationId xmlns:a16="http://schemas.microsoft.com/office/drawing/2014/main" id="{FA73F9F0-0CAB-451C-A087-0C8DFC2AF510}"/>
              </a:ext>
            </a:extLst>
          </p:cNvPr>
          <p:cNvSpPr>
            <a:spLocks xmlns:a="http://schemas.openxmlformats.org/drawingml/2006/main" noGrp="1"/>
          </p:cNvSpPr>
          <p:nvPr/>
        </p:nvSpPr>
        <p:spPr>
          <a:xfrm xmlns:a="http://schemas.openxmlformats.org/drawingml/2006/main">
            <a:off x="11334750" y="6334125"/>
            <a:ext cx="266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26170"/>
                </a:solidFill>
                <a:latin typeface="Microsoft YaHei"/>
                <a:ea typeface="Microsoft YaHei"/>
                <a:cs typeface="Microsoft YaHei"/>
              </a:defRPr>
            </a:defPPr>
          </a:lstStyle>
          <a:p xmlns:a="http://schemas.openxmlformats.org/drawingml/2006/main">
            <a:pPr algn="r">
              <a:lnSpc>
                <a:spcPct val="118000"/>
              </a:lnSpc>
              <a:buNone/>
              <a:defRPr sz="1275" b="0">
                <a:solidFill>
                  <a:srgbClr val="526170"/>
                </a:solidFill>
                <a:latin typeface="Microsoft YaHei"/>
                <a:ea typeface="Microsoft YaHei"/>
                <a:cs typeface="Microsoft YaHei"/>
              </a:defRPr>
            </a:pPr>
            <a:r>
              <a:rPr sz="1275" b="0">
                <a:solidFill>
                  <a:srgbClr val="526170"/>
                </a:solidFill>
                <a:latin typeface="Microsoft YaHei"/>
                <a:ea typeface="Microsoft YaHei"/>
                <a:cs typeface="Microsoft YaHei"/>
              </a:rPr>
              <a:t>27</a:t>
            </a:r>
          </a:p>
        </p:txBody>
      </p:sp>
    </p:spTree>
    <p:extLst>
      <p:ext uri="{BB962C8B-B14F-4D97-AF65-F5344CB8AC3E}">
        <p14:creationId xmlns:p14="http://schemas.microsoft.com/office/powerpoint/2010/main" val="1775628499"/>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slide-title">
            <a:extLst xmlns:a="http://schemas.openxmlformats.org/drawingml/2006/main">
              <a:ext uri="{FF2B5EF4-FFF2-40B4-BE49-F238E27FC236}">
                <a16:creationId xmlns:a16="http://schemas.microsoft.com/office/drawing/2014/main" id="{56595D57-377E-4B59-AFA1-0D15112D6D1B}"/>
              </a:ext>
            </a:extLst>
          </p:cNvPr>
          <p:cNvSpPr>
            <a:spLocks xmlns:a="http://schemas.openxmlformats.org/drawingml/2006/main" noGrp="1"/>
          </p:cNvSpPr>
          <p:nvPr/>
        </p:nvSpPr>
        <p:spPr>
          <a:xfrm xmlns:a="http://schemas.openxmlformats.org/drawingml/2006/main">
            <a:off x="609600" y="36195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73E67"/>
                </a:solidFill>
                <a:latin typeface="Microsoft YaHei"/>
                <a:ea typeface="Microsoft YaHei"/>
                <a:cs typeface="Microsoft YaHei"/>
              </a:defRPr>
            </a:defPPr>
          </a:lstStyle>
          <a:p xmlns:a="http://schemas.openxmlformats.org/drawingml/2006/main">
            <a:pPr algn="l">
              <a:lnSpc>
                <a:spcPct val="118000"/>
              </a:lnSpc>
              <a:buNone/>
              <a:defRPr sz="3150" b="1">
                <a:solidFill>
                  <a:srgbClr val="173E67"/>
                </a:solidFill>
                <a:latin typeface="Microsoft YaHei"/>
                <a:ea typeface="Microsoft YaHei"/>
                <a:cs typeface="Microsoft YaHei"/>
              </a:defRPr>
            </a:pPr>
            <a:r>
              <a:rPr sz="3150" b="1">
                <a:solidFill>
                  <a:srgbClr val="173E67"/>
                </a:solidFill>
                <a:latin typeface="Microsoft YaHei"/>
                <a:ea typeface="Microsoft YaHei"/>
                <a:cs typeface="Microsoft YaHei"/>
              </a:rPr>
              <a:t>主要参考文献：交互、反馈与发现</a:t>
            </a:r>
          </a:p>
        </p:txBody>
      </p:sp>
      <p:sp>
        <p:nvSpPr>
          <p:cNvPr id="2" name="bibliography-R29">
            <a:extLst xmlns:a="http://schemas.openxmlformats.org/drawingml/2006/main">
              <a:ext uri="{FF2B5EF4-FFF2-40B4-BE49-F238E27FC236}">
                <a16:creationId xmlns:a16="http://schemas.microsoft.com/office/drawing/2014/main" id="{504C4B53-D5E3-4481-BC5C-C60A12AB95F1}"/>
              </a:ext>
            </a:extLst>
          </p:cNvPr>
          <p:cNvSpPr>
            <a:spLocks xmlns:a="http://schemas.openxmlformats.org/drawingml/2006/main" noGrp="1"/>
          </p:cNvSpPr>
          <p:nvPr/>
        </p:nvSpPr>
        <p:spPr>
          <a:xfrm xmlns:a="http://schemas.openxmlformats.org/drawingml/2006/main">
            <a:off x="609600" y="13906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1B2533"/>
                </a:solidFill>
                <a:latin typeface="Microsoft YaHei"/>
                <a:ea typeface="Microsoft YaHei"/>
                <a:cs typeface="Microsoft YaHei"/>
              </a:defRPr>
            </a:defPPr>
          </a:lstStyle>
          <a:p xmlns:a="http://schemas.openxmlformats.org/drawingml/2006/main">
            <a:pPr algn="l">
              <a:lnSpc>
                <a:spcPct val="118000"/>
              </a:lnSpc>
              <a:buNone/>
              <a:defRPr sz="1425" b="0">
                <a:solidFill>
                  <a:srgbClr val="1B2533"/>
                </a:solidFill>
                <a:latin typeface="Microsoft YaHei"/>
                <a:ea typeface="Microsoft YaHei"/>
                <a:cs typeface="Microsoft YaHei"/>
              </a:defRPr>
            </a:pPr>
            <a:r>
              <a:rPr sz="1425" b="0">
                <a:solidFill>
                  <a:srgbClr val="1B2533"/>
                </a:solidFill>
                <a:latin typeface="Microsoft YaHei"/>
                <a:ea typeface="Microsoft YaHei"/>
                <a:cs typeface="Microsoft YaHei"/>
              </a:rPr>
              <a:t>[R29] Anuroop Sriram et al. FlowLLM: Flow Matching for Material Generation with Large Language Models as Base Distributions. NeurIPS 2024.</a:t>
            </a:r>
          </a:p>
        </p:txBody>
      </p:sp>
      <p:sp>
        <p:nvSpPr>
          <p:cNvPr id="3" name="bibliography-R43">
            <a:extLst xmlns:a="http://schemas.openxmlformats.org/drawingml/2006/main">
              <a:ext uri="{FF2B5EF4-FFF2-40B4-BE49-F238E27FC236}">
                <a16:creationId xmlns:a16="http://schemas.microsoft.com/office/drawing/2014/main" id="{0DBFB8CC-B49D-40D8-B657-0A4B4E8BD4E6}"/>
              </a:ext>
            </a:extLst>
          </p:cNvPr>
          <p:cNvSpPr>
            <a:spLocks xmlns:a="http://schemas.openxmlformats.org/drawingml/2006/main" noGrp="1"/>
          </p:cNvSpPr>
          <p:nvPr/>
        </p:nvSpPr>
        <p:spPr>
          <a:xfrm xmlns:a="http://schemas.openxmlformats.org/drawingml/2006/main">
            <a:off x="609600" y="20383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1B2533"/>
                </a:solidFill>
                <a:latin typeface="Microsoft YaHei"/>
                <a:ea typeface="Microsoft YaHei"/>
                <a:cs typeface="Microsoft YaHei"/>
              </a:defRPr>
            </a:defPPr>
          </a:lstStyle>
          <a:p xmlns:a="http://schemas.openxmlformats.org/drawingml/2006/main">
            <a:pPr algn="l">
              <a:lnSpc>
                <a:spcPct val="118000"/>
              </a:lnSpc>
              <a:buNone/>
              <a:defRPr sz="1425" b="0">
                <a:solidFill>
                  <a:srgbClr val="1B2533"/>
                </a:solidFill>
                <a:latin typeface="Microsoft YaHei"/>
                <a:ea typeface="Microsoft YaHei"/>
                <a:cs typeface="Microsoft YaHei"/>
              </a:defRPr>
            </a:pPr>
            <a:r>
              <a:rPr sz="1425" b="0">
                <a:solidFill>
                  <a:srgbClr val="1B2533"/>
                </a:solidFill>
                <a:latin typeface="Microsoft YaHei"/>
                <a:ea typeface="Microsoft YaHei"/>
                <a:cs typeface="Microsoft YaHei"/>
              </a:rPr>
              <a:t>[R43] Subhojyoti Khastagir et al. LLM Meets Diffusion: A Hybrid Framework for Crystal Material Generation. NeurIPS 2025.</a:t>
            </a:r>
          </a:p>
        </p:txBody>
      </p:sp>
      <p:sp>
        <p:nvSpPr>
          <p:cNvPr id="4" name="bibliography-R40">
            <a:extLst xmlns:a="http://schemas.openxmlformats.org/drawingml/2006/main">
              <a:ext uri="{FF2B5EF4-FFF2-40B4-BE49-F238E27FC236}">
                <a16:creationId xmlns:a16="http://schemas.microsoft.com/office/drawing/2014/main" id="{171AFFE2-DE6B-45F7-ADF6-4221E3728294}"/>
              </a:ext>
            </a:extLst>
          </p:cNvPr>
          <p:cNvSpPr>
            <a:spLocks xmlns:a="http://schemas.openxmlformats.org/drawingml/2006/main" noGrp="1"/>
          </p:cNvSpPr>
          <p:nvPr/>
        </p:nvSpPr>
        <p:spPr>
          <a:xfrm xmlns:a="http://schemas.openxmlformats.org/drawingml/2006/main">
            <a:off x="609600" y="2686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1B2533"/>
                </a:solidFill>
                <a:latin typeface="Microsoft YaHei"/>
                <a:ea typeface="Microsoft YaHei"/>
                <a:cs typeface="Microsoft YaHei"/>
              </a:defRPr>
            </a:defPPr>
          </a:lstStyle>
          <a:p xmlns:a="http://schemas.openxmlformats.org/drawingml/2006/main">
            <a:pPr algn="l">
              <a:lnSpc>
                <a:spcPct val="118000"/>
              </a:lnSpc>
              <a:buNone/>
              <a:defRPr sz="1425" b="0">
                <a:solidFill>
                  <a:srgbClr val="1B2533"/>
                </a:solidFill>
                <a:latin typeface="Microsoft YaHei"/>
                <a:ea typeface="Microsoft YaHei"/>
                <a:cs typeface="Microsoft YaHei"/>
              </a:defRPr>
            </a:pPr>
            <a:r>
              <a:rPr sz="1425" b="0">
                <a:solidFill>
                  <a:srgbClr val="1B2533"/>
                </a:solidFill>
                <a:latin typeface="Microsoft YaHei"/>
                <a:ea typeface="Microsoft YaHei"/>
                <a:cs typeface="Microsoft YaHei"/>
              </a:rPr>
              <a:t>[R40] Andy Xu et al. PLaID++: A Preference Aligned Language Model for Targeted Inorganic Materials Design. ICML 2026.</a:t>
            </a:r>
          </a:p>
        </p:txBody>
      </p:sp>
      <p:sp>
        <p:nvSpPr>
          <p:cNvPr id="5" name="bibliography-R49">
            <a:extLst xmlns:a="http://schemas.openxmlformats.org/drawingml/2006/main">
              <a:ext uri="{FF2B5EF4-FFF2-40B4-BE49-F238E27FC236}">
                <a16:creationId xmlns:a16="http://schemas.microsoft.com/office/drawing/2014/main" id="{BD965B6D-9AD3-471F-ACD9-5FB5B48C079F}"/>
              </a:ext>
            </a:extLst>
          </p:cNvPr>
          <p:cNvSpPr>
            <a:spLocks xmlns:a="http://schemas.openxmlformats.org/drawingml/2006/main" noGrp="1"/>
          </p:cNvSpPr>
          <p:nvPr/>
        </p:nvSpPr>
        <p:spPr>
          <a:xfrm xmlns:a="http://schemas.openxmlformats.org/drawingml/2006/main">
            <a:off x="609600" y="33337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1B2533"/>
                </a:solidFill>
                <a:latin typeface="Microsoft YaHei"/>
                <a:ea typeface="Microsoft YaHei"/>
                <a:cs typeface="Microsoft YaHei"/>
              </a:defRPr>
            </a:defPPr>
          </a:lstStyle>
          <a:p xmlns:a="http://schemas.openxmlformats.org/drawingml/2006/main">
            <a:pPr algn="l">
              <a:lnSpc>
                <a:spcPct val="118000"/>
              </a:lnSpc>
              <a:buNone/>
              <a:defRPr sz="1425" b="0">
                <a:solidFill>
                  <a:srgbClr val="1B2533"/>
                </a:solidFill>
                <a:latin typeface="Microsoft YaHei"/>
                <a:ea typeface="Microsoft YaHei"/>
                <a:cs typeface="Microsoft YaHei"/>
              </a:defRPr>
            </a:pPr>
            <a:r>
              <a:rPr sz="1425" b="0">
                <a:solidFill>
                  <a:srgbClr val="1B2533"/>
                </a:solidFill>
                <a:latin typeface="Microsoft YaHei"/>
                <a:ea typeface="Microsoft YaHei"/>
                <a:cs typeface="Microsoft YaHei"/>
              </a:rPr>
              <a:t>[R49] Kiyoung Seong et al. Multimodal Crystal Flow: Any-to-Any Modality Generation for Unified Crystal Modeling. ICML2026, PMLR306:109105–109131.</a:t>
            </a:r>
          </a:p>
        </p:txBody>
      </p:sp>
      <p:sp>
        <p:nvSpPr>
          <p:cNvPr id="6" name="bibliography-R48">
            <a:extLst xmlns:a="http://schemas.openxmlformats.org/drawingml/2006/main">
              <a:ext uri="{FF2B5EF4-FFF2-40B4-BE49-F238E27FC236}">
                <a16:creationId xmlns:a16="http://schemas.microsoft.com/office/drawing/2014/main" id="{F767DAE9-0D54-4240-8C1D-B7AA24EB7477}"/>
              </a:ext>
            </a:extLst>
          </p:cNvPr>
          <p:cNvSpPr>
            <a:spLocks xmlns:a="http://schemas.openxmlformats.org/drawingml/2006/main" noGrp="1"/>
          </p:cNvSpPr>
          <p:nvPr/>
        </p:nvSpPr>
        <p:spPr>
          <a:xfrm xmlns:a="http://schemas.openxmlformats.org/drawingml/2006/main">
            <a:off x="609600" y="39814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1B2533"/>
                </a:solidFill>
                <a:latin typeface="Microsoft YaHei"/>
                <a:ea typeface="Microsoft YaHei"/>
                <a:cs typeface="Microsoft YaHei"/>
              </a:defRPr>
            </a:defPPr>
          </a:lstStyle>
          <a:p xmlns:a="http://schemas.openxmlformats.org/drawingml/2006/main">
            <a:pPr algn="l">
              <a:lnSpc>
                <a:spcPct val="118000"/>
              </a:lnSpc>
              <a:buNone/>
              <a:defRPr sz="1425" b="0">
                <a:solidFill>
                  <a:srgbClr val="1B2533"/>
                </a:solidFill>
                <a:latin typeface="Microsoft YaHei"/>
                <a:ea typeface="Microsoft YaHei"/>
                <a:cs typeface="Microsoft YaHei"/>
              </a:defRPr>
            </a:pPr>
            <a:r>
              <a:rPr sz="1425" b="0">
                <a:solidFill>
                  <a:srgbClr val="1B2533"/>
                </a:solidFill>
                <a:latin typeface="Microsoft YaHei"/>
                <a:ea typeface="Microsoft YaHei"/>
                <a:cs typeface="Microsoft YaHei"/>
              </a:rPr>
              <a:t>[R48] Philipp Hoellmer et al. Open Materials Generation with Inference-Time Reinforcement Learning. ICML 2026.</a:t>
            </a:r>
          </a:p>
        </p:txBody>
      </p:sp>
      <p:sp>
        <p:nvSpPr>
          <p:cNvPr id="7" name="bibliography-R45">
            <a:extLst xmlns:a="http://schemas.openxmlformats.org/drawingml/2006/main">
              <a:ext uri="{FF2B5EF4-FFF2-40B4-BE49-F238E27FC236}">
                <a16:creationId xmlns:a16="http://schemas.microsoft.com/office/drawing/2014/main" id="{808A51E0-26EF-4EEF-98C3-960D92F97F52}"/>
              </a:ext>
            </a:extLst>
          </p:cNvPr>
          <p:cNvSpPr>
            <a:spLocks xmlns:a="http://schemas.openxmlformats.org/drawingml/2006/main" noGrp="1"/>
          </p:cNvSpPr>
          <p:nvPr/>
        </p:nvSpPr>
        <p:spPr>
          <a:xfrm xmlns:a="http://schemas.openxmlformats.org/drawingml/2006/main">
            <a:off x="609600" y="46291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1B2533"/>
                </a:solidFill>
                <a:latin typeface="Microsoft YaHei"/>
                <a:ea typeface="Microsoft YaHei"/>
                <a:cs typeface="Microsoft YaHei"/>
              </a:defRPr>
            </a:defPPr>
          </a:lstStyle>
          <a:p xmlns:a="http://schemas.openxmlformats.org/drawingml/2006/main">
            <a:pPr algn="l">
              <a:lnSpc>
                <a:spcPct val="118000"/>
              </a:lnSpc>
              <a:buNone/>
              <a:defRPr sz="1425" b="0">
                <a:solidFill>
                  <a:srgbClr val="1B2533"/>
                </a:solidFill>
                <a:latin typeface="Microsoft YaHei"/>
                <a:ea typeface="Microsoft YaHei"/>
                <a:cs typeface="Microsoft YaHei"/>
              </a:defRPr>
            </a:pPr>
            <a:r>
              <a:rPr sz="1425" b="0">
                <a:solidFill>
                  <a:srgbClr val="1B2533"/>
                </a:solidFill>
                <a:latin typeface="Microsoft YaHei"/>
                <a:ea typeface="Microsoft YaHei"/>
                <a:cs typeface="Microsoft YaHei"/>
              </a:rPr>
              <a:t>[R45] Hyunsoo Park et al. Guiding Generative Models to Uncover Diverse and Novel Crystals via Reinforcement Learning. Nature Machine Intelligence 2026.</a:t>
            </a:r>
          </a:p>
        </p:txBody>
      </p:sp>
      <p:sp>
        <p:nvSpPr>
          <p:cNvPr id="8" name="bibliography-R56">
            <a:extLst xmlns:a="http://schemas.openxmlformats.org/drawingml/2006/main">
              <a:ext uri="{FF2B5EF4-FFF2-40B4-BE49-F238E27FC236}">
                <a16:creationId xmlns:a16="http://schemas.microsoft.com/office/drawing/2014/main" id="{B96D02F8-DD24-4708-ACC2-31CD0AD9C96A}"/>
              </a:ext>
            </a:extLst>
          </p:cNvPr>
          <p:cNvSpPr>
            <a:spLocks xmlns:a="http://schemas.openxmlformats.org/drawingml/2006/main" noGrp="1"/>
          </p:cNvSpPr>
          <p:nvPr/>
        </p:nvSpPr>
        <p:spPr>
          <a:xfrm xmlns:a="http://schemas.openxmlformats.org/drawingml/2006/main">
            <a:off x="609600" y="52768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1B2533"/>
                </a:solidFill>
                <a:latin typeface="Microsoft YaHei"/>
                <a:ea typeface="Microsoft YaHei"/>
                <a:cs typeface="Microsoft YaHei"/>
              </a:defRPr>
            </a:defPPr>
          </a:lstStyle>
          <a:p xmlns:a="http://schemas.openxmlformats.org/drawingml/2006/main">
            <a:pPr algn="l">
              <a:lnSpc>
                <a:spcPct val="118000"/>
              </a:lnSpc>
              <a:buNone/>
              <a:defRPr sz="1425" b="0">
                <a:solidFill>
                  <a:srgbClr val="1B2533"/>
                </a:solidFill>
                <a:latin typeface="Microsoft YaHei"/>
                <a:ea typeface="Microsoft YaHei"/>
                <a:cs typeface="Microsoft YaHei"/>
              </a:defRPr>
            </a:pPr>
            <a:r>
              <a:rPr sz="1425" b="0">
                <a:solidFill>
                  <a:srgbClr val="1B2533"/>
                </a:solidFill>
                <a:latin typeface="Microsoft YaHei"/>
                <a:ea typeface="Microsoft YaHei"/>
                <a:cs typeface="Microsoft YaHei"/>
              </a:rPr>
              <a:t>[R56] Emma Lei Hovmand et al. Let CSP Be Your ANCHOR: Adaptive Crystal Search over Frozen Structure Priors. arXiv 预印本 2026.</a:t>
            </a:r>
          </a:p>
        </p:txBody>
      </p:sp>
      <p:sp>
        <p:nvSpPr>
          <p:cNvPr id="9" name="separator">
            <a:extLst xmlns:a="http://schemas.openxmlformats.org/drawingml/2006/main">
              <a:ext uri="{FF2B5EF4-FFF2-40B4-BE49-F238E27FC236}">
                <a16:creationId xmlns:a16="http://schemas.microsoft.com/office/drawing/2014/main" id="{6FEDCC97-67F0-4E76-8C96-6C744F99B666}"/>
              </a:ext>
            </a:extLst>
          </p:cNvPr>
          <p:cNvSpPr>
            <a:spLocks xmlns:a="http://schemas.openxmlformats.org/drawingml/2006/main" noGrp="1"/>
          </p:cNvSpPr>
          <p:nvPr/>
        </p:nvSpPr>
        <p:spPr>
          <a:xfrm xmlns:a="http://schemas.openxmlformats.org/drawingml/2006/main">
            <a:off x="609600" y="6200775"/>
            <a:ext cx="10972800" cy="0"/>
          </a:xfrm>
          <a:prstGeom xmlns:a="http://schemas.openxmlformats.org/drawingml/2006/main" prst="line">
            <a:avLst/>
          </a:prstGeom>
          <a:ln xmlns:a="http://schemas.openxmlformats.org/drawingml/2006/main" w="9525">
            <a:solidFill>
              <a:srgbClr val="D5DCE3"/>
            </a:solidFill>
          </a:ln>
        </p:spPr>
      </p:sp>
      <p:sp>
        <p:nvSpPr>
          <p:cNvPr id="10" name="sources">
            <a:extLst xmlns:a="http://schemas.openxmlformats.org/drawingml/2006/main">
              <a:ext uri="{FF2B5EF4-FFF2-40B4-BE49-F238E27FC236}">
                <a16:creationId xmlns:a16="http://schemas.microsoft.com/office/drawing/2014/main" id="{37F12F93-A36E-4D61-90C2-D66A945C4BEC}"/>
              </a:ext>
            </a:extLst>
          </p:cNvPr>
          <p:cNvSpPr>
            <a:spLocks xmlns:a="http://schemas.openxmlformats.org/drawingml/2006/main" noGrp="1"/>
          </p:cNvSpPr>
          <p:nvPr/>
        </p:nvSpPr>
        <p:spPr>
          <a:xfrm xmlns:a="http://schemas.openxmlformats.org/drawingml/2006/main">
            <a:off x="609600" y="6353175"/>
            <a:ext cx="10363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13" b="0">
                <a:solidFill>
                  <a:srgbClr val="526170"/>
                </a:solidFill>
                <a:latin typeface="Microsoft YaHei"/>
                <a:ea typeface="Microsoft YaHei"/>
                <a:cs typeface="Microsoft YaHei"/>
              </a:defRPr>
            </a:defPPr>
          </a:lstStyle>
          <a:p xmlns:a="http://schemas.openxmlformats.org/drawingml/2006/main">
            <a:pPr algn="l">
              <a:lnSpc>
                <a:spcPct val="118000"/>
              </a:lnSpc>
              <a:buNone/>
              <a:defRPr sz="1013" b="0">
                <a:solidFill>
                  <a:srgbClr val="526170"/>
                </a:solidFill>
                <a:latin typeface="Microsoft YaHei"/>
                <a:ea typeface="Microsoft YaHei"/>
                <a:cs typeface="Microsoft YaHei"/>
              </a:defRPr>
            </a:pPr>
            <a:r>
              <a:rPr sz="1013" b="0">
                <a:solidFill>
                  <a:srgbClr val="526170"/>
                </a:solidFill>
                <a:latin typeface="Microsoft YaHei"/>
                <a:ea typeface="Microsoft YaHei"/>
                <a:cs typeface="Microsoft YaHei"/>
              </a:rPr>
              <a:t>完整综述、年表、逐篇证据与57项文献：https://github.com/YWDDLiang/Research/tree/main/crystal/evolution</a:t>
            </a:r>
          </a:p>
        </p:txBody>
      </p:sp>
      <p:sp>
        <p:nvSpPr>
          <p:cNvPr id="11" name="page-number">
            <a:extLst xmlns:a="http://schemas.openxmlformats.org/drawingml/2006/main">
              <a:ext uri="{FF2B5EF4-FFF2-40B4-BE49-F238E27FC236}">
                <a16:creationId xmlns:a16="http://schemas.microsoft.com/office/drawing/2014/main" id="{C5A84188-0763-4EC5-BA51-61DF49FA5313}"/>
              </a:ext>
            </a:extLst>
          </p:cNvPr>
          <p:cNvSpPr>
            <a:spLocks xmlns:a="http://schemas.openxmlformats.org/drawingml/2006/main" noGrp="1"/>
          </p:cNvSpPr>
          <p:nvPr/>
        </p:nvSpPr>
        <p:spPr>
          <a:xfrm xmlns:a="http://schemas.openxmlformats.org/drawingml/2006/main">
            <a:off x="11334750" y="6334125"/>
            <a:ext cx="266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26170"/>
                </a:solidFill>
                <a:latin typeface="Microsoft YaHei"/>
                <a:ea typeface="Microsoft YaHei"/>
                <a:cs typeface="Microsoft YaHei"/>
              </a:defRPr>
            </a:defPPr>
          </a:lstStyle>
          <a:p xmlns:a="http://schemas.openxmlformats.org/drawingml/2006/main">
            <a:pPr algn="r">
              <a:lnSpc>
                <a:spcPct val="118000"/>
              </a:lnSpc>
              <a:buNone/>
              <a:defRPr sz="1275" b="0">
                <a:solidFill>
                  <a:srgbClr val="526170"/>
                </a:solidFill>
                <a:latin typeface="Microsoft YaHei"/>
                <a:ea typeface="Microsoft YaHei"/>
                <a:cs typeface="Microsoft YaHei"/>
              </a:defRPr>
            </a:pPr>
            <a:r>
              <a:rPr sz="1275" b="0">
                <a:solidFill>
                  <a:srgbClr val="526170"/>
                </a:solidFill>
                <a:latin typeface="Microsoft YaHei"/>
                <a:ea typeface="Microsoft YaHei"/>
                <a:cs typeface="Microsoft YaHei"/>
              </a:rPr>
              <a:t>28</a:t>
            </a:r>
          </a:p>
        </p:txBody>
      </p:sp>
    </p:spTree>
    <p:extLst>
      <p:ext uri="{BB962C8B-B14F-4D97-AF65-F5344CB8AC3E}">
        <p14:creationId xmlns:p14="http://schemas.microsoft.com/office/powerpoint/2010/main" val="41077443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2026-10-10T11:43:56.2200000Z</dcterms:created>
  <dcterms:modified xsi:type="dcterms:W3CDTF">2026-10-10T11:43:56.2200000Z</dcterms:modified>
</coreProperties>
</file>