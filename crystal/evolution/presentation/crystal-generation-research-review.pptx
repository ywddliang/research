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0557f8ca5d4547" /><Relationship Type="http://schemas.openxmlformats.org/officeDocument/2006/relationships/extended-properties" Target="/docProps/app.xml" Id="Rf733b513e5264409" /><Relationship Type="http://schemas.openxmlformats.org/officeDocument/2006/relationships/officeDocument" Target="/ppt/presentation.xml" Id="R413d622c18c54705" /></Relationships>
</file>

<file path=ppt/presentation.xml><?xml version="1.0" encoding="utf-8"?>
<p:presentation xmlns:p="http://schemas.openxmlformats.org/presentationml/2006/main">
  <p:sldMasterIdLst>
    <p:sldMasterId xmlns:r="http://schemas.openxmlformats.org/officeDocument/2006/relationships" id="2147483648" r:id="R7190c6cb1cea427b"/>
  </p:sldMasterIdLst>
  <p:notesMasterIdLst>
    <p:notesMasterId xmlns:r="http://schemas.openxmlformats.org/officeDocument/2006/relationships" r:id="R8ebe7047a5204a80"/>
  </p:notesMasterIdLst>
  <p:sldIdLst>
    <p:sldId xmlns:r="http://schemas.openxmlformats.org/officeDocument/2006/relationships" id="256" r:id="Red313b9ac667422a"/>
    <p:sldId xmlns:r="http://schemas.openxmlformats.org/officeDocument/2006/relationships" id="257" r:id="Rdbac5dd59e08470b"/>
    <p:sldId xmlns:r="http://schemas.openxmlformats.org/officeDocument/2006/relationships" id="258" r:id="R94c83bf104374744"/>
    <p:sldId xmlns:r="http://schemas.openxmlformats.org/officeDocument/2006/relationships" id="259" r:id="Rb74e74dd97f94735"/>
    <p:sldId xmlns:r="http://schemas.openxmlformats.org/officeDocument/2006/relationships" id="260" r:id="R40d0c264f9d54fc8"/>
    <p:sldId xmlns:r="http://schemas.openxmlformats.org/officeDocument/2006/relationships" id="261" r:id="R5b2a91f5176a4b5f"/>
    <p:sldId xmlns:r="http://schemas.openxmlformats.org/officeDocument/2006/relationships" id="262" r:id="Rce40d0f885a847f1"/>
    <p:sldId xmlns:r="http://schemas.openxmlformats.org/officeDocument/2006/relationships" id="263" r:id="R0a8cf12c7540441d"/>
    <p:sldId xmlns:r="http://schemas.openxmlformats.org/officeDocument/2006/relationships" id="264" r:id="R472748e164a64643"/>
    <p:sldId xmlns:r="http://schemas.openxmlformats.org/officeDocument/2006/relationships" id="265" r:id="Rbc8a837c775649c6"/>
    <p:sldId xmlns:r="http://schemas.openxmlformats.org/officeDocument/2006/relationships" id="266" r:id="R98a7091478a94ab6"/>
    <p:sldId xmlns:r="http://schemas.openxmlformats.org/officeDocument/2006/relationships" id="267" r:id="R2b13551c2c284786"/>
    <p:sldId xmlns:r="http://schemas.openxmlformats.org/officeDocument/2006/relationships" id="268" r:id="R2773f1b513b34cda"/>
    <p:sldId xmlns:r="http://schemas.openxmlformats.org/officeDocument/2006/relationships" id="269" r:id="Re1d1441377844783"/>
    <p:sldId xmlns:r="http://schemas.openxmlformats.org/officeDocument/2006/relationships" id="270" r:id="R4c5b34286f854d5e"/>
    <p:sldId xmlns:r="http://schemas.openxmlformats.org/officeDocument/2006/relationships" id="271" r:id="R3353f42d394c4bac"/>
    <p:sldId xmlns:r="http://schemas.openxmlformats.org/officeDocument/2006/relationships" id="272" r:id="Rd5f7ea838c374c4a"/>
    <p:sldId xmlns:r="http://schemas.openxmlformats.org/officeDocument/2006/relationships" id="273" r:id="R35036779069547e6"/>
    <p:sldId xmlns:r="http://schemas.openxmlformats.org/officeDocument/2006/relationships" id="274" r:id="R6afb5752963d45f7"/>
    <p:sldId xmlns:r="http://schemas.openxmlformats.org/officeDocument/2006/relationships" id="275" r:id="R82208f8d4fca47e9"/>
    <p:sldId xmlns:r="http://schemas.openxmlformats.org/officeDocument/2006/relationships" id="276" r:id="R68d170bea1e44c86"/>
    <p:sldId xmlns:r="http://schemas.openxmlformats.org/officeDocument/2006/relationships" id="277" r:id="R728e38e323e74861"/>
    <p:sldId xmlns:r="http://schemas.openxmlformats.org/officeDocument/2006/relationships" id="278" r:id="Rdea1f1501c5a4591"/>
    <p:sldId xmlns:r="http://schemas.openxmlformats.org/officeDocument/2006/relationships" id="279" r:id="Rdb87c89dea8a43d9"/>
    <p:sldId xmlns:r="http://schemas.openxmlformats.org/officeDocument/2006/relationships" id="280" r:id="Rac534a8bd48f4a0a"/>
    <p:sldId xmlns:r="http://schemas.openxmlformats.org/officeDocument/2006/relationships" id="281" r:id="R7b3910e8c92f46f5"/>
    <p:sldId xmlns:r="http://schemas.openxmlformats.org/officeDocument/2006/relationships" id="282" r:id="R18db232b08cc4bd1"/>
    <p:sldId xmlns:r="http://schemas.openxmlformats.org/officeDocument/2006/relationships" id="283" r:id="R3ea07be6f0214222"/>
    <p:sldId xmlns:r="http://schemas.openxmlformats.org/officeDocument/2006/relationships" id="284" r:id="R217fd58fb8474724"/>
    <p:sldId xmlns:r="http://schemas.openxmlformats.org/officeDocument/2006/relationships" id="285" r:id="R25e77b75667a4f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cd6ded35104b18" /><Relationship Type="http://schemas.openxmlformats.org/officeDocument/2006/relationships/slideMaster" Target="/ppt/slideMasters/slideMaster1.xml" Id="R7190c6cb1cea427b" /><Relationship Type="http://schemas.openxmlformats.org/officeDocument/2006/relationships/notesMaster" Target="/ppt/notesMasters/notesMaster1.xml" Id="R8ebe7047a5204a80" /><Relationship Type="http://schemas.openxmlformats.org/officeDocument/2006/relationships/presProps" Target="/ppt/presProps.xml" Id="Raffeece3e29c47e9" /><Relationship Type="http://schemas.openxmlformats.org/officeDocument/2006/relationships/tableStyles" Target="/ppt/tableStyles.xml" Id="R269ff12704c44d2b" /><Relationship Type="http://schemas.openxmlformats.org/officeDocument/2006/relationships/slide" Target="/ppt/slides/slide1.xml" Id="Red313b9ac667422a" /><Relationship Type="http://schemas.openxmlformats.org/officeDocument/2006/relationships/slide" Target="/ppt/slides/slide2.xml" Id="Rdbac5dd59e08470b" /><Relationship Type="http://schemas.openxmlformats.org/officeDocument/2006/relationships/slide" Target="/ppt/slides/slide3.xml" Id="R94c83bf104374744" /><Relationship Type="http://schemas.openxmlformats.org/officeDocument/2006/relationships/slide" Target="/ppt/slides/slide4.xml" Id="Rb74e74dd97f94735" /><Relationship Type="http://schemas.openxmlformats.org/officeDocument/2006/relationships/slide" Target="/ppt/slides/slide5.xml" Id="R40d0c264f9d54fc8" /><Relationship Type="http://schemas.openxmlformats.org/officeDocument/2006/relationships/slide" Target="/ppt/slides/slide6.xml" Id="R5b2a91f5176a4b5f" /><Relationship Type="http://schemas.openxmlformats.org/officeDocument/2006/relationships/slide" Target="/ppt/slides/slide7.xml" Id="Rce40d0f885a847f1" /><Relationship Type="http://schemas.openxmlformats.org/officeDocument/2006/relationships/slide" Target="/ppt/slides/slide8.xml" Id="R0a8cf12c7540441d" /><Relationship Type="http://schemas.openxmlformats.org/officeDocument/2006/relationships/slide" Target="/ppt/slides/slide9.xml" Id="R472748e164a64643" /><Relationship Type="http://schemas.openxmlformats.org/officeDocument/2006/relationships/slide" Target="/ppt/slides/slide10.xml" Id="Rbc8a837c775649c6" /><Relationship Type="http://schemas.openxmlformats.org/officeDocument/2006/relationships/slide" Target="/ppt/slides/slide11.xml" Id="R98a7091478a94ab6" /><Relationship Type="http://schemas.openxmlformats.org/officeDocument/2006/relationships/slide" Target="/ppt/slides/slide12.xml" Id="R2b13551c2c284786" /><Relationship Type="http://schemas.openxmlformats.org/officeDocument/2006/relationships/slide" Target="/ppt/slides/slide13.xml" Id="R2773f1b513b34cda" /><Relationship Type="http://schemas.openxmlformats.org/officeDocument/2006/relationships/slide" Target="/ppt/slides/slide14.xml" Id="Re1d1441377844783" /><Relationship Type="http://schemas.openxmlformats.org/officeDocument/2006/relationships/slide" Target="/ppt/slides/slide15.xml" Id="R4c5b34286f854d5e" /><Relationship Type="http://schemas.openxmlformats.org/officeDocument/2006/relationships/slide" Target="/ppt/slides/slide16.xml" Id="R3353f42d394c4bac" /><Relationship Type="http://schemas.openxmlformats.org/officeDocument/2006/relationships/slide" Target="/ppt/slides/slide17.xml" Id="Rd5f7ea838c374c4a" /><Relationship Type="http://schemas.openxmlformats.org/officeDocument/2006/relationships/slide" Target="/ppt/slides/slide18.xml" Id="R35036779069547e6" /><Relationship Type="http://schemas.openxmlformats.org/officeDocument/2006/relationships/slide" Target="/ppt/slides/slide19.xml" Id="R6afb5752963d45f7" /><Relationship Type="http://schemas.openxmlformats.org/officeDocument/2006/relationships/slide" Target="/ppt/slides/slide20.xml" Id="R82208f8d4fca47e9" /><Relationship Type="http://schemas.openxmlformats.org/officeDocument/2006/relationships/slide" Target="/ppt/slides/slide21.xml" Id="R68d170bea1e44c86" /><Relationship Type="http://schemas.openxmlformats.org/officeDocument/2006/relationships/slide" Target="/ppt/slides/slide22.xml" Id="R728e38e323e74861" /><Relationship Type="http://schemas.openxmlformats.org/officeDocument/2006/relationships/slide" Target="/ppt/slides/slide23.xml" Id="Rdea1f1501c5a4591" /><Relationship Type="http://schemas.openxmlformats.org/officeDocument/2006/relationships/slide" Target="/ppt/slides/slide24.xml" Id="Rdb87c89dea8a43d9" /><Relationship Type="http://schemas.openxmlformats.org/officeDocument/2006/relationships/slide" Target="/ppt/slides/slide25.xml" Id="Rac534a8bd48f4a0a" /><Relationship Type="http://schemas.openxmlformats.org/officeDocument/2006/relationships/slide" Target="/ppt/slides/slide26.xml" Id="R7b3910e8c92f46f5" /><Relationship Type="http://schemas.openxmlformats.org/officeDocument/2006/relationships/slide" Target="/ppt/slides/slide27.xml" Id="R18db232b08cc4bd1" /><Relationship Type="http://schemas.openxmlformats.org/officeDocument/2006/relationships/slide" Target="/ppt/slides/slide28.xml" Id="R3ea07be6f0214222" /><Relationship Type="http://schemas.openxmlformats.org/officeDocument/2006/relationships/slide" Target="/ppt/slides/slide29.xml" Id="R217fd58fb8474724" /><Relationship Type="http://schemas.openxmlformats.org/officeDocument/2006/relationships/slide" Target="/ppt/slides/slide30.xml" Id="R25e77b75667a4f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5c836b7c174f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fad261229245a8" /><Relationship Type="http://schemas.openxmlformats.org/officeDocument/2006/relationships/notesMaster" Target="/ppt/notesMasters/notesMaster1.xml" Id="Rab97dc0663b94d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b0b98d682846cd" /><Relationship Type="http://schemas.openxmlformats.org/officeDocument/2006/relationships/notesMaster" Target="/ppt/notesMasters/notesMaster1.xml" Id="R88984dc18b6240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7c51a2abdf4fa5" /><Relationship Type="http://schemas.openxmlformats.org/officeDocument/2006/relationships/notesMaster" Target="/ppt/notesMasters/notesMaster1.xml" Id="R2eeb213890cc43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2d1d087d4c4ce3" /><Relationship Type="http://schemas.openxmlformats.org/officeDocument/2006/relationships/notesMaster" Target="/ppt/notesMasters/notesMaster1.xml" Id="R2383250d5c2f4f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f072c20c7442d5" /><Relationship Type="http://schemas.openxmlformats.org/officeDocument/2006/relationships/notesMaster" Target="/ppt/notesMasters/notesMaster1.xml" Id="R69b1b0cd738a44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a6c69262914cbe" /><Relationship Type="http://schemas.openxmlformats.org/officeDocument/2006/relationships/notesMaster" Target="/ppt/notesMasters/notesMaster1.xml" Id="Rde2cd27ab1df46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146863fc834a5b" /><Relationship Type="http://schemas.openxmlformats.org/officeDocument/2006/relationships/notesMaster" Target="/ppt/notesMasters/notesMaster1.xml" Id="R7a6432008e2a48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0288694cac4a64" /><Relationship Type="http://schemas.openxmlformats.org/officeDocument/2006/relationships/notesMaster" Target="/ppt/notesMasters/notesMaster1.xml" Id="R15e18ca209d141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6971da1fc345d1" /><Relationship Type="http://schemas.openxmlformats.org/officeDocument/2006/relationships/notesMaster" Target="/ppt/notesMasters/notesMaster1.xml" Id="Rc6c075fc95c242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15c5ad2d2e44ca" /><Relationship Type="http://schemas.openxmlformats.org/officeDocument/2006/relationships/notesMaster" Target="/ppt/notesMasters/notesMaster1.xml" Id="R952e27cff42c4b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5f119332fe40a6" /><Relationship Type="http://schemas.openxmlformats.org/officeDocument/2006/relationships/notesMaster" Target="/ppt/notesMasters/notesMaster1.xml" Id="R152ed35040e246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72f192e484481c" /><Relationship Type="http://schemas.openxmlformats.org/officeDocument/2006/relationships/notesMaster" Target="/ppt/notesMasters/notesMaster1.xml" Id="R30a74d878e2644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fd690d9c624ae5" /><Relationship Type="http://schemas.openxmlformats.org/officeDocument/2006/relationships/notesMaster" Target="/ppt/notesMasters/notesMaster1.xml" Id="R6f8afacc38314d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686fec6db74309" /><Relationship Type="http://schemas.openxmlformats.org/officeDocument/2006/relationships/notesMaster" Target="/ppt/notesMasters/notesMaster1.xml" Id="Re2acda27383640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6c215e088445ef" /><Relationship Type="http://schemas.openxmlformats.org/officeDocument/2006/relationships/notesMaster" Target="/ppt/notesMasters/notesMaster1.xml" Id="R62acc00ab9cd46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3dbf3c76144852" /><Relationship Type="http://schemas.openxmlformats.org/officeDocument/2006/relationships/notesMaster" Target="/ppt/notesMasters/notesMaster1.xml" Id="Rcd2352e32fa745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cccfc209ac4f6f" /><Relationship Type="http://schemas.openxmlformats.org/officeDocument/2006/relationships/notesMaster" Target="/ppt/notesMasters/notesMaster1.xml" Id="R4a39d4b014b34b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b78ffb2fb740c0" /><Relationship Type="http://schemas.openxmlformats.org/officeDocument/2006/relationships/notesMaster" Target="/ppt/notesMasters/notesMaster1.xml" Id="Rf66a4a0cb4e24d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2c7858d4954a74" /><Relationship Type="http://schemas.openxmlformats.org/officeDocument/2006/relationships/notesMaster" Target="/ppt/notesMasters/notesMaster1.xml" Id="Rf90309bbc8724d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64ec3af7a74017" /><Relationship Type="http://schemas.openxmlformats.org/officeDocument/2006/relationships/notesMaster" Target="/ppt/notesMasters/notesMaster1.xml" Id="Rec6b02e1905c498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c288400d3e484b" /><Relationship Type="http://schemas.openxmlformats.org/officeDocument/2006/relationships/notesMaster" Target="/ppt/notesMasters/notesMaster1.xml" Id="Rfbadbd8027c145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468d2033d24363" /><Relationship Type="http://schemas.openxmlformats.org/officeDocument/2006/relationships/notesMaster" Target="/ppt/notesMasters/notesMaster1.xml" Id="R285d5124a9f74c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78756a0b8b4c94" /><Relationship Type="http://schemas.openxmlformats.org/officeDocument/2006/relationships/notesMaster" Target="/ppt/notesMasters/notesMaster1.xml" Id="R13a28e300ae243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186c4b0662478e" /><Relationship Type="http://schemas.openxmlformats.org/officeDocument/2006/relationships/notesMaster" Target="/ppt/notesMasters/notesMaster1.xml" Id="R6fb013dbd21a40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c7e22e30ac64a13" /><Relationship Type="http://schemas.openxmlformats.org/officeDocument/2006/relationships/notesMaster" Target="/ppt/notesMasters/notesMaster1.xml" Id="Re889ef45cb5045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a9c535a5b834da3" /><Relationship Type="http://schemas.openxmlformats.org/officeDocument/2006/relationships/notesMaster" Target="/ppt/notesMasters/notesMaster1.xml" Id="R3beef6763a8944b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20b7d630e648cb" /><Relationship Type="http://schemas.openxmlformats.org/officeDocument/2006/relationships/notesMaster" Target="/ppt/notesMasters/notesMaster1.xml" Id="Rd743ed4379a847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af2db361b054c2c" /><Relationship Type="http://schemas.openxmlformats.org/officeDocument/2006/relationships/notesMaster" Target="/ppt/notesMasters/notesMaster1.xml" Id="R8a2523f661c44f2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7956973ea34d69" /><Relationship Type="http://schemas.openxmlformats.org/officeDocument/2006/relationships/notesMaster" Target="/ppt/notesMasters/notesMaster1.xml" Id="Raef2542c86634f4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73b111c6d5475c" /><Relationship Type="http://schemas.openxmlformats.org/officeDocument/2006/relationships/notesMaster" Target="/ppt/notesMasters/notesMaster1.xml" Id="Rf3c1342b9a3b40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以已完成的晶体生成综述和方法调研为基础，补全各挑战和路线的任务、原始论文、能力变化及当前研究问题。四方向仍为研究议程。本次更新没有新科学实验。</a:t>
            </a:r>
          </a:p>
          <a:p xmlns:a="http://schemas.openxmlformats.org/drawingml/2006/main">
            <a:r>
              <a:t/>
            </a:r>
          </a:p>
          <a:p xmlns:a="http://schemas.openxmlformats.org/drawingml/2006/main">
            <a:r>
              <a:t>参考文献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项目主目标为严格SUN。S采用E_hull≤0，单位eV/atom。U为生成集合内去重，N相对于声明的参考结构集合。稳定性评价应明确能量理论水平和参考相集合。熟悉结构框架中的新稳定化学也可以构成发现。</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p>
          <a:p xmlns:a="http://schemas.openxmlformats.org/drawingml/2006/main">
            <a:r>
              <a:t/>
            </a:r>
          </a:p>
          <a:p xmlns:a="http://schemas.openxmlformats.org/drawingml/2006/main">
            <a:r>
              <a:t>[R18] Amil Merchant, Simon Batzner, Samuel S. Schoenholz, Muratahan Aykol, Gowoon Cheon, Ekin Dogus Cubuk. Scaling deep learning for materials discovery. Nature 2023. DOI: 10.1038/s41586-023-06735-9. https://www.nature.com/articles/s41586-023-06735-9</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[R31] Nathan J. Szymanski, Christopher J. Bartel. Establishing baselines for generative discovery of inorganic crystals. Materials Horizons 2025. DOI: 10.1039/D5MH00010F. https://pubs.rsc.org/en/content/articlehtml/2025/mh/d5mh00010f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文任务比方法名更能说明证据支持什么。CSP为给定组成结构预测，DNG为自主生成。物理搜索与模型更新一行包含不同下游对象，后续C4/C6及路线C分别展开。GNoME主要更新物性预测模型，不能作为生成器响应学习已经成功的证据。</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[R13] Rui Jiao, Wenbing Huang, Peijia Lin, Jiaqi Han, Pin Chen, Yutong Lu, Yang Liu. Crystal Structure Prediction by Joint Equivariant Diffusion. NeurIPS 2023. https://arxiv.org/abs/2309.04475</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[R37] Kishalay Das, Subhojyoti Khastagir, Pawan Goyal, Seung-Cheol Lee, Satadeep Bhattacharjee, Niloy Ganguly. Periodic Materials Generation using Text-Guided Joint Diffusion Model. ICLR 2025. https://proceedings.iclr.cc/paper_files/paper/2025/hash/24e4e3234178a836b70e0aa48827e0ff-Abstract-Conference.html</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[R35] Levy, Daniel, Panigrahi, Siba Smarak, Kaba, Sékou-Oumar, Zhu, Qiang, Lee, Kin Long Kelvin, Galkin, Mikhail, Miret, Santiago, Ravanbakhsh, Siamak. SymmCD: Symmetry-Preserving Crystal Generation with Diffusion Models. ICLR 2025. https://arxiv.org/abs/2502.03638</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xmlns:a="http://schemas.openxmlformats.org/drawingml/2006/main">
            <a:r>
              <a:t/>
            </a:r>
          </a:p>
          <a:p xmlns:a="http://schemas.openxmlformats.org/drawingml/2006/main">
            <a:r>
              <a:t>[R18] Amil Merchant, Simon Batzner, Samuel S. Schoenholz, Muratahan Aykol, Gowoon Cheon, Ekin Dogus Cubuk. Scaling deep learning for materials discovery. Nature 2023. DOI: 10.1038/s41586-023-06735-9. https://www.nature.com/articles/s41586-023-06735-9</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本页是能力演化的综合，不表示每一方法直接继承上一列。正式日期与首稿日期在完整文献年表中分别记录。SI、diffusion和flow存在数学联系，LLM可与连续生成模型结合。</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[R01] Chris J. Pickard, R. J. Needs. High-Pressure Phases of Silane. Physical Review Letters 97, 045504. DOI: 10.1103/PhysRevLett.97.045504. https://journals.aps.org/prl/abstract/10.1103/PhysRevLett.97.045504</a:t>
            </a:r>
          </a:p>
          <a:p xmlns:a="http://schemas.openxmlformats.org/drawingml/2006/main">
            <a:r>
              <a:t/>
            </a:r>
          </a:p>
          <a:p xmlns:a="http://schemas.openxmlformats.org/drawingml/2006/main">
            <a:r>
              <a:t>[R02] Artem R. Oganov, Colin W. Glass. Crystal structure prediction using ab initio evolutionary techniques: Principles and applications. Journal of Chemical Physics 124, 244704 (2006). DOI: 10.1063/1.2210932. https://doi.org/10.1063/1.2210932</a:t>
            </a:r>
          </a:p>
          <a:p xmlns:a="http://schemas.openxmlformats.org/drawingml/2006/main">
            <a:r>
              <a:t/>
            </a:r>
          </a:p>
          <a:p xmlns:a="http://schemas.openxmlformats.org/drawingml/2006/main">
            <a:r>
              <a:t>[R06] Juhwan Noh, Jaehoon Kim, Helge S. Stein, Benjamin Sanchez-Lengeling, John M. Gregoire, Alan Aspuru-Guzik, Yousung Jung. Inverse Design of Solid-State Materials via a Continuous Representation. Matter 1(5), 1370–1384. DOI: 10.1016/j.matt.2019.08.017. https://doi.org/10.1016/j.matt.2019.08.017</a:t>
            </a:r>
          </a:p>
          <a:p xmlns:a="http://schemas.openxmlformats.org/drawingml/2006/main">
            <a:r>
              <a:t/>
            </a:r>
          </a:p>
          <a:p xmlns:a="http://schemas.openxmlformats.org/drawingml/2006/main">
            <a:r>
              <a:t>[R07] Zekun Ren, Siyu Isaac Parker Tian, Juhwan Noh, Felipe Oviedo, Guangzong Xing, Jiali Li, Qiaohao Liang, Ruiming Zhu, Armin G. Aberle, Shijing Sun, Xiaonan Wang, Yi Liu, Qianxiao Li, Senthilnath Jayavelu, Kedar Hippalgaonkar, Yousung Jung, Tonio Buonassisi. An invertible crystallographic representation for general inverse design of inorganic crystals with targeted properties. Matter 5, 314–335 2022. DOI: 10.1016/j.matt.2021.11.032. https://arxiv.org/pdf/2005.07609v3</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[R13] Rui Jiao, Wenbing Huang, Peijia Lin, Jiaqi Han, Pin Chen, Yutong Lu, Yang Liu. Crystal Structure Prediction by Joint Equivariant Diffusion. NeurIPS 2023. https://arxiv.org/abs/2309.04475</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[R35] Levy, Daniel, Panigrahi, Siba Smarak, Kaba, Sékou-Oumar, Zhu, Qiang, Lee, Kin Long Kelvin, Galkin, Mikhail, Miret, Santiago, Ravanbakhsh, Siamak. SymmCD: Symmetry-Preserving Crystal Generation with Diffusion Models. ICLR 2025. https://arxiv.org/abs/2502.03638</a:t>
            </a:r>
          </a:p>
          <a:p xmlns:a="http://schemas.openxmlformats.org/drawingml/2006/main">
            <a:r>
              <a:t/>
            </a:r>
          </a:p>
          <a:p xmlns:a="http://schemas.openxmlformats.org/drawingml/2006/main">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[R18] Amil Merchant, Simon Batzner, Samuel S. Schoenholz, Muratahan Aykol, Gowoon Cheon, Ekin Dogus Cubuk. Scaling deep learning for materials discovery. Nature 2023. DOI: 10.1038/s41586-023-06735-9. https://www.nature.com/articles/s41586-023-06735-9</a:t>
            </a:r>
          </a:p>
          <a:p xmlns:a="http://schemas.openxmlformats.org/drawingml/2006/main">
            <a:r>
              <a:t/>
            </a:r>
          </a:p>
          <a:p xmlns:a="http://schemas.openxmlformats.org/drawingml/2006/main">
            <a:r>
              <a:t>[R23] Marta Wolinska, Aron Walsh, Antoine Cully. Illuminating the property space in crystal structure prediction using Quality-Diversity algorithms. Digital Discovery 2024. DOI: 10.1039/D4DD00054D. https://arxiv.org/html/2403.03511v1</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 = stochastic interpolants，随机插值。SI为流与扩散提供统一的路径建模方式。这里保留方法差异，不将其描述成依次淘汰的模型序列。</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[R13] Rui Jiao, Wenbing Huang, Peijia Lin, Jiaqi Han, Pin Chen, Yutong Lu, Yang Liu. Crystal Structure Prediction by Joint Equivariant Diffusion. NeurIPS 2023. https://arxiv.org/abs/2309.04475</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偏好信号由eqV2提供。失败解析重新采样，因此分母是可解析CIF而非全部生成请求。该对照不代表PLaID++主方法整体下降。图按原文数值重绘，不推断未在该对照中分离的U/N损失机制。</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严格SUN采用S≤0，另报M≤0.1。DFT校正口径、元素参考和竞争相集合固定。N/U与S应对应同一评价阶段。LeMat主比较各模型提交结构的流程不同，不能假设所有结构都是统一未弛豫输入。原型类别变化与参考结构新颖是互补指标。</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[R31] Nathan J. Szymanski, Christopher J. Bartel. Establishing baselines for generative discovery of inorganic crystals. Materials Horizons 2025. DOI: 10.1039/D5MH00010F. https://pubs.rsc.org/en/content/articlehtml/2025/mh/d5mh00010f</a:t>
            </a:r>
          </a:p>
          <a:p xmlns:a="http://schemas.openxmlformats.org/drawingml/2006/main">
            <a:r>
              <a:t/>
            </a:r>
          </a:p>
          <a:p xmlns:a="http://schemas.openxmlformats.org/drawingml/2006/main">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xmlns:a="http://schemas.openxmlformats.org/drawingml/2006/main">
            <a:r>
              <a:t/>
            </a:r>
          </a:p>
          <a:p xmlns:a="http://schemas.openxmlformats.org/drawingml/2006/main">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xmlns:a="http://schemas.openxmlformats.org/drawingml/2006/main">
            <a:r>
              <a:t/>
            </a:r>
          </a:p>
          <a:p xmlns:a="http://schemas.openxmlformats.org/drawingml/2006/main">
            <a:r>
              <a:t>[R52] Negishi, Masahiro, Walsh, Aron. Substitution-Based Analysis of Structural Novelty for Generative Models of Materials. arXiv 预印本 2026. https://arxiv.org/html/2606.23166v1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任务演化为本综述综合，不把同一行方法视为直接继承。FTCP在具体性质目标中验证逆设计，CDVAE包括生成与性质优化。MatterGen将化学/性质条件接入联合扩散；SCIGEN将结构图案约束接入DiffCSP式生成。TGDMat与Chemeleon支持文本条件，PLaID++支持结构语言与偏好条件设计。MatterGen稳定阈值0.1与本项目严格阈值分别保留。</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[R06] Juhwan Noh, Jaehoon Kim, Helge S. Stein, Benjamin Sanchez-Lengeling, John M. Gregoire, Alan Aspuru-Guzik, Yousung Jung. Inverse Design of Solid-State Materials via a Continuous Representation. Matter 1(5), 1370–1384. DOI: 10.1016/j.matt.2019.08.017. https://doi.org/10.1016/j.matt.2019.08.017</a:t>
            </a:r>
          </a:p>
          <a:p xmlns:a="http://schemas.openxmlformats.org/drawingml/2006/main">
            <a:r>
              <a:t/>
            </a:r>
          </a:p>
          <a:p xmlns:a="http://schemas.openxmlformats.org/drawingml/2006/main">
            <a:r>
              <a:t>[R07] Zekun Ren, Siyu Isaac Parker Tian, Juhwan Noh, Felipe Oviedo, Guangzong Xing, Jiali Li, Qiaohao Liang, Ruiming Zhu, Armin G. Aberle, Shijing Sun, Xiaonan Wang, Yi Liu, Qianxiao Li, Senthilnath Jayavelu, Kedar Hippalgaonkar, Yousung Jung, Tonio Buonassisi. An invertible crystallographic representation for general inverse design of inorganic crystals with targeted properties. Matter 5, 314–335 2022. DOI: 10.1016/j.matt.2021.11.032. https://arxiv.org/pdf/2005.07609v3</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[R21] Nate Gruver, Anuroop Sriram, Andrea Madotto, Andrew Gordon Wilson, C. Lawrence Zitnick, Zachary Ulissi. Fine-Tuned Language Models Generate Stable Inorganic Materials as Text. ICLR 2024. https://arxiv.org/abs/2402.04379</a:t>
            </a:r>
          </a:p>
          <a:p xmlns:a="http://schemas.openxmlformats.org/drawingml/2006/main">
            <a:r>
              <a:t/>
            </a:r>
          </a:p>
          <a:p xmlns:a="http://schemas.openxmlformats.org/drawingml/2006/main">
            <a:r>
              <a:t>[R37] Kishalay Das, Subhojyoti Khastagir, Pawan Goyal, Seung-Cheol Lee, Satadeep Bhattacharjee, Niloy Ganguly. Periodic Materials Generation using Text-Guided Joint Diffusion Model. ICLR 2025. https://proceedings.iclr.cc/paper_files/paper/2025/hash/24e4e3234178a836b70e0aa48827e0ff-Abstract-Conference.html</a:t>
            </a:r>
          </a:p>
          <a:p xmlns:a="http://schemas.openxmlformats.org/drawingml/2006/main">
            <a:r>
              <a:t/>
            </a:r>
          </a:p>
          <a:p xmlns:a="http://schemas.openxmlformats.org/drawingml/2006/main">
            <a:r>
              <a:t>[R39] Hyunsoo Park, Anthony Onwuli, Aron Walsh. Exploration of crystal chemical space using text-guided generative artificial intelligence. Nature Communications 16, 4379 2025. DOI: 10.1038/s41467-025-59636-y. https://www.nature.com/articles/s41467-025-59636-y</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MM复用DiffCSP网络并改变生成过程。FlowLLM结合Crystal-LLM与FlowMM。MCFlow的独立模态时间处理多种条件推断；H.8匹配率45.58%与63.14%是CSP接口比较。ANCHOR冻结结构先验并改变组成分布，提供组成策略可能解释增益的强参照。概率分解本身可表示联合分布，当前问题在有限学习条件下的信息利用。</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[R13] Rui Jiao, Wenbing Huang, Peijia Lin, Jiaqi Han, Pin Chen, Yutong Lu, Yang Liu. Crystal Structure Prediction by Joint Equivariant Diffusion. NeurIPS 2023. https://arxiv.org/abs/2309.04475</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[R33] Wu, Hanlin, Song, Yuxuan, Gong, Jingjing, Cao, Ziyao, Ouyang, Yawen, Zhang, Jianbing, Zhou, Hao, Ma, Wei-Ying, Liu, Jingjing. A Periodic Bayesian Flow for Material Generation. ICLR 2025. https://arxiv.org/abs/2502.02016</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CGCNN和MLIP是知识背景，不是组合生成结论。SymmCD和Wyckoff方法学习/构造对称配置。Composable Crystals的邻域concept含坐标及晶格信息，因此concept有效不能独自归因于纯局部化学。UFO-MGen的未见配置试验提供给定scaffold的条件完成证据。晶体局部环境共享原子、边和晶格，需要共同计量和几何实现。</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[R05] Tian Xie, Jeffrey C. Grossman. Crystal Graph Convolutional Neural Networks for an Accurate and Interpretable Prediction of Material Properties. Physical Review Letters 120, 145301. DOI: 10.1103/PhysRevLett.120.145301. https://journals.aps.org/prl/abstract/10.1103/PhysRevLett.120.145301</a:t>
            </a:r>
          </a:p>
          <a:p xmlns:a="http://schemas.openxmlformats.org/drawingml/2006/main">
            <a:r>
              <a:t/>
            </a:r>
          </a:p>
          <a:p xmlns:a="http://schemas.openxmlformats.org/drawingml/2006/main">
            <a:r>
              <a:t>[R10] Chi Chen, Shyue Ping Ong. A universal graph deep learning interatomic potential for the periodic table. Nature Computational Science 2, 718–728. DOI: 10.1038/s43588-022-00349-3. https://www.nature.com/articles/s43588-022-00349-3</a:t>
            </a:r>
          </a:p>
          <a:p xmlns:a="http://schemas.openxmlformats.org/drawingml/2006/main">
            <a:r>
              <a:t/>
            </a:r>
          </a:p>
          <a:p xmlns:a="http://schemas.openxmlformats.org/drawingml/2006/main">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xmlns:a="http://schemas.openxmlformats.org/drawingml/2006/main">
            <a:r>
              <a:t/>
            </a:r>
          </a:p>
          <a:p xmlns:a="http://schemas.openxmlformats.org/drawingml/2006/main">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xmlns:a="http://schemas.openxmlformats.org/drawingml/2006/main">
            <a:r>
              <a:t/>
            </a:r>
          </a:p>
          <a:p xmlns:a="http://schemas.openxmlformats.org/drawingml/2006/main">
            <a:r>
              <a:t>[R35] Levy, Daniel, Panigrahi, Siba Smarak, Kaba, Sékou-Oumar, Zhu, Qiang, Lee, Kin Long Kelvin, Galkin, Mikhail, Miret, Santiago, Ravanbakhsh, Siamak. SymmCD: Symmetry-Preserving Crystal Generation with Diffusion Models. ICLR 2025. https://arxiv.org/abs/2502.03638</a:t>
            </a:r>
          </a:p>
          <a:p xmlns:a="http://schemas.openxmlformats.org/drawingml/2006/main">
            <a:r>
              <a:t/>
            </a:r>
          </a:p>
          <a:p xmlns:a="http://schemas.openxmlformats.org/drawingml/2006/main">
            <a:r>
              <a:t>[R36] Kelvinius, Filip Ekström, Andersson, Oskar B., Parackal, Abhijith S., Qian, Dong, Armiento, Rickard, Lindsten, Fredrik. WyckoffDiff – A Generative Diffusion Model for Crystal Symmetry. ICML 2025, PMLR 267. https://proceedings.mlr.press/v267/ekstrom-kelvinius25a.html</a:t>
            </a:r>
          </a:p>
          <a:p xmlns:a="http://schemas.openxmlformats.org/drawingml/2006/main">
            <a:r>
              <a:t/>
            </a:r>
          </a:p>
          <a:p xmlns:a="http://schemas.openxmlformats.org/drawingml/2006/main">
            <a:r>
              <a:t>[R38] Kazeev, Nikita, Nong, Wei, Romanov, Ignat, Zhu, Ruiming, Ustyuzhanin, Andrey, Yamazaki, Shuya, Hippalgaonkar, Kedar. Wyckoff Transformer: Generation of Symmetric Crystals. ICML 2025, PMLR 267, 29495–29526. https://arxiv.org/abs/2503.02407</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xmlns:a="http://schemas.openxmlformats.org/drawingml/2006/main">
            <a:r>
              <a:t/>
            </a:r>
          </a:p>
          <a:p xmlns:a="http://schemas.openxmlformats.org/drawingml/2006/main">
            <a:r>
              <a:t>[R55] Jingyi Zhou, Oyshee Chowdhury, Noah Oyeniran, Chongze Hu. Topology-Stratified Materials Discovery with A Flow-Based Generative Model. arXiv 预印本 2026. https://arxiv.org/html/2609.26547v1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理搜索、改变动作分布、后训练生成模型和推理时引导是不同反馈对象。MatInvent以MatterGen为默认基座，OMatG-IRL更新SI生成场，GSS将先验与物理力用于采样/搜索。当前研究从反馈存在推进到反馈何时能够支持有益的有限决定。项目PDE18零strict gain/loss为相关内部观察，不能外推为所有反馈无效。</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[R01] Chris J. Pickard, R. J. Needs. High-Pressure Phases of Silane. Physical Review Letters 97, 045504. DOI: 10.1103/PhysRevLett.97.045504. https://journals.aps.org/prl/abstract/10.1103/PhysRevLett.97.045504</a:t>
            </a:r>
          </a:p>
          <a:p xmlns:a="http://schemas.openxmlformats.org/drawingml/2006/main">
            <a:r>
              <a:t/>
            </a:r>
          </a:p>
          <a:p xmlns:a="http://schemas.openxmlformats.org/drawingml/2006/main">
            <a:r>
              <a:t>[R02] Artem R. Oganov, Colin W. Glass. Crystal structure prediction using ab initio evolutionary techniques: Principles and applications. Journal of Chemical Physics 124, 244704 (2006). DOI: 10.1063/1.2210932. https://doi.org/10.1063/1.2210932</a:t>
            </a:r>
          </a:p>
          <a:p xmlns:a="http://schemas.openxmlformats.org/drawingml/2006/main">
            <a:r>
              <a:t/>
            </a:r>
          </a:p>
          <a:p xmlns:a="http://schemas.openxmlformats.org/drawingml/2006/main">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xmlns:a="http://schemas.openxmlformats.org/drawingml/2006/main">
            <a:r>
              <a:t/>
            </a:r>
          </a:p>
          <a:p xmlns:a="http://schemas.openxmlformats.org/drawingml/2006/main">
            <a:r>
              <a:t>[R44] Chen, Junwu, Guo, Jeff, Fako, Edvin, Schwaller, Philippe. Accelerating inverse materials design using generative diffusion models with reinforcement learning. arXiv 预印本 2025. https://arxiv.org/html/2511.03112v1</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[R50] Qin, Yifang, Shi, Yu, Tan, Junfu, Liu, Chang, Zhang, Ming, Lu, Ziheng. Generative structure search for efficient and diverse discovery of molecular and crystal structures. arXiv 预印本 2026. https://arxiv.org/html/2604.27636v2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GFlowNet Foundations首稿2021、JMLR2023。QD的性质档案针对选定组成；SHAFT以层级对称选择生成材料，其原文mode资格与严格SUN分开。PLaID++表征/后训练、Chemeleon2的latent RL与ANCHOR组成探索分别改变不同因素。稳定性、多样性和新颖性联合优化已有方法，研究需落在未知合格结果的持续获得与保持。</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[R09] Bengio, Yoshua, Lahlou, Salem, Deleu, Tristan, Hu, Edward J., Tiwari, Mo, Bengio, Emmanuel. GFlowNet Foundations. Journal of Machine Learning Research 2023. https://jmlr.org/papers/v24/22-0364.html</a:t>
            </a:r>
          </a:p>
          <a:p xmlns:a="http://schemas.openxmlformats.org/drawingml/2006/main">
            <a:r>
              <a:t/>
            </a:r>
          </a:p>
          <a:p xmlns:a="http://schemas.openxmlformats.org/drawingml/2006/main">
            <a:r>
              <a:t>[R23] Marta Wolinska, Aron Walsh, Antoine Cully. Illuminating the property space in crystal structure prediction using Quality-Diversity algorithms. Digital Discovery 2024. DOI: 10.1039/D4DD00054D. https://arxiv.org/html/2403.03511v1</a:t>
            </a:r>
          </a:p>
          <a:p xmlns:a="http://schemas.openxmlformats.org/drawingml/2006/main">
            <a:r>
              <a:t/>
            </a:r>
          </a:p>
          <a:p xmlns:a="http://schemas.openxmlformats.org/drawingml/2006/main">
            <a:r>
              <a:t>[R30] Nguyen, Tri Minh, Tawfik, Sherif Abdulkader, Tran, Truyen, Gupta, Sunil, Rana, Santu, Venkatesh, Svetha. Efficient Symmetry-Aware Materials Generation via Hierarchical Generative Flow Networks. Digital Discovery 2026. DOI: 10.1039/D4DD00392F. https://arxiv.org/html/2411.04323v1</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[R45] Hyunsoo Park, Aron Walsh. Guiding Generative Models to Uncover Diverse and Novel Crystals via Reinforcement Learning. Nature Machine Intelligence 2026. DOI: 10.1038/s42256-026-01262-4. https://www.nature.com/articles/s42256-026-01262-4</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GNoME是物理数据回流的先例，但不是扩散后训练。OMatG-IRL已有CSP式物理训练到DNG的证据。OMatG-flash直接采用RAM，关注少步生成映射。ANCHOR v2 F.6语料由访问组成重放形成，未按稳定/新颖阈值筛选。C关注学习的关系内容，D关注这些信息怎样扩大并保持成功分布。</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p>
          <a:p xmlns:a="http://schemas.openxmlformats.org/drawingml/2006/main">
            <a:r>
              <a:t/>
            </a:r>
          </a:p>
          <a:p xmlns:a="http://schemas.openxmlformats.org/drawingml/2006/main">
            <a:r>
              <a:t>[R18] Amil Merchant, Simon Batzner, Samuel S. Schoenholz, Muratahan Aykol, Gowoon Cheon, Ekin Dogus Cubuk. Scaling deep learning for materials discovery. Nature 2023. DOI: 10.1038/s41586-023-06735-9. https://www.nature.com/articles/s41586-023-06735-9</a:t>
            </a:r>
          </a:p>
          <a:p xmlns:a="http://schemas.openxmlformats.org/drawingml/2006/main">
            <a:r>
              <a:t/>
            </a:r>
          </a:p>
          <a:p xmlns:a="http://schemas.openxmlformats.org/drawingml/2006/main">
            <a:r>
              <a:t>[R44] Chen, Junwu, Guo, Jeff, Fako, Edvin, Schwaller, Philippe. Accelerating inverse materials design using generative diffusion models with reinforcement learning. arXiv 预印本 2025. https://arxiv.org/html/2511.03112v1</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[R45] Hyunsoo Park, Aron Walsh. Guiding Generative Models to Uncover Diverse and Novel Crystals via Reinforcement Learning. Nature Machine Intelligence 2026. DOI: 10.1038/s42256-026-01262-4. https://www.nature.com/articles/s42256-026-01262-4</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[R54] Egg, Thomas, Sullivan, Harry Winston, Tadmor, Ellad B., Martiniani, Stefano. OMatG-flash: An All-Atom Flow Map with Reinforce Adjoint Matching for Scalable Materials Discovery. arXiv 预印本 2026. https://arxiv.org/html/2609.26402v1</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路线A侧重信息利用与联合推断；B侧重组合泛化；C侧重物理关系迁移；D侧重未知成功集合的获得与保持。任务输入输出不同，四方向各自可以构成独立论文。</a:t>
            </a:r>
          </a:p>
          <a:p xmlns:a="http://schemas.openxmlformats.org/drawingml/2006/main">
            <a:r>
              <a:t/>
            </a:r>
          </a:p>
          <a:p xmlns:a="http://schemas.openxmlformats.org/drawingml/2006/main">
            <a:r>
              <a:t>参考文献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接继承：FlowMM采用DiffCSP网络；FlowLLM结合Crystal-LLM式LLaMA先验与FlowMM；CrysLLMGen复用Crystal-LLM提示及DiffCSP式连续模型。GenMS将语言到公式和公式到结构分解。MatterGen、OMatG、MCFlow属于联合/多模态分支，不写成FlowLLM的单线后继。</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[R13] Rui Jiao, Wenbing Huang, Peijia Lin, Jiaqi Han, Pin Chen, Yutong Lu, Yang Liu. Crystal Structure Prediction by Joint Equivariant Diffusion. NeurIPS 2023. https://arxiv.org/abs/2309.04475</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[R21] Nate Gruver, Anuroop Sriram, Andrea Madotto, Andrew Gordon Wilson, C. Lawrence Zitnick, Zachary Ulissi. Fine-Tuned Language Models Generate Stable Inorganic Materials as Text. ICLR 2024. https://arxiv.org/abs/2402.04379</a:t>
            </a:r>
          </a:p>
          <a:p xmlns:a="http://schemas.openxmlformats.org/drawingml/2006/main">
            <a:r>
              <a:t/>
            </a:r>
          </a:p>
          <a:p xmlns:a="http://schemas.openxmlformats.org/drawingml/2006/main">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p>
          <a:p xmlns:a="http://schemas.openxmlformats.org/drawingml/2006/main">
            <a:r>
              <a:t/>
            </a:r>
          </a:p>
          <a:p xmlns:a="http://schemas.openxmlformats.org/drawingml/2006/main">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xmlns:a="http://schemas.openxmlformats.org/drawingml/2006/main">
            <a:r>
              <a:t/>
            </a:r>
          </a:p>
          <a:p xmlns:a="http://schemas.openxmlformats.org/drawingml/2006/main">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NextStep-1是连续token AR的图像方法，SFD主实验证据为ImageNet类别条件。迁移点是信息组织和方法接口。晶体需要保留元素、位置、晶胞及周期约束。双向信息的增量需与强分阶段和纯混合SI比较。</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xmlns:a="http://schemas.openxmlformats.org/drawingml/2006/main">
            <a:r>
              <a:t/>
            </a:r>
          </a:p>
          <a:p xmlns:a="http://schemas.openxmlformats.org/drawingml/2006/main">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[R33] Wu, Hanlin, Song, Yuxuan, Gong, Jingjing, Cao, Ziyao, Ouyang, Yawen, Zhang, Jianbing, Zhou, Hao, Ma, Wei-Ying, Liu, Jingjing. A Periodic Bayesian Flow for Material Generation. ICLR 2025. https://arxiv.org/abs/2502.02016</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[T02] NextStep Team. NextStep-1: Toward Autoregressive Image Generation with Continuous Tokens at Scale. ICLR 2026. https://arxiv.org/abs/2508.10711</a:t>
            </a:r>
          </a:p>
          <a:p xmlns:a="http://schemas.openxmlformats.org/drawingml/2006/main">
            <a:r>
              <a:t/>
            </a:r>
          </a:p>
          <a:p xmlns:a="http://schemas.openxmlformats.org/drawingml/2006/main">
            <a:r>
              <a:t>[T01] Yueming Pan, Ruoyu Feng, Qi Dai, Yuqi Wang, Wenfeng Lin, Mingyu Guo, Chong Luo, Nanning Zheng. Semantics Lead the Way: Harmonizing Semantic and Texture Modeling with Asynchronous Latent Diffusion. CVPR 2026. https://arxiv.org/abs/2512.04926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研究主张待验证：几何内容应能解释有益修订，而非仅依赖更多采样。互条件完成源于MCFlow，混合模型参照源于FlowLLM/CrysLLMGen，组成搜索参照源于ANCHOR。最终主结果是全独立DNG严格SUN，条件任务用于解释能力。</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p>
          <a:p xmlns:a="http://schemas.openxmlformats.org/drawingml/2006/main">
            <a:r>
              <a:t/>
            </a:r>
          </a:p>
          <a:p xmlns:a="http://schemas.openxmlformats.org/drawingml/2006/main">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阶段表示问题推进，不声称所有工作直接继承。SLICES采用周期商图；Wyckoff Transformer的几何实现包括DiffCSP++解码；SCIGEN实际包装DiffCSP。Composable将邻域concept组合后交给条件DDPM。UFO-MGen采用离散配置与连续flow分工。预测知识的可生成性需要实验建立。</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[R05] Tian Xie, Jeffrey C. Grossman. Crystal Graph Convolutional Neural Networks for an Accurate and Interpretable Prediction of Material Properties. Physical Review Letters 120, 145301. DOI: 10.1103/PhysRevLett.120.145301. https://journals.aps.org/prl/abstract/10.1103/PhysRevLett.120.145301</a:t>
            </a:r>
          </a:p>
          <a:p xmlns:a="http://schemas.openxmlformats.org/drawingml/2006/main">
            <a:r>
              <a:t/>
            </a:r>
          </a:p>
          <a:p xmlns:a="http://schemas.openxmlformats.org/drawingml/2006/main">
            <a:r>
              <a:t>[R10] Chi Chen, Shyue Ping Ong. A universal graph deep learning interatomic potential for the periodic table. Nature Computational Science 2, 718–728. DOI: 10.1038/s43588-022-00349-3. https://www.nature.com/articles/s43588-022-00349-3</a:t>
            </a:r>
          </a:p>
          <a:p xmlns:a="http://schemas.openxmlformats.org/drawingml/2006/main">
            <a:r>
              <a:t/>
            </a:r>
          </a:p>
          <a:p xmlns:a="http://schemas.openxmlformats.org/drawingml/2006/main">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xmlns:a="http://schemas.openxmlformats.org/drawingml/2006/main">
            <a:r>
              <a:t/>
            </a:r>
          </a:p>
          <a:p xmlns:a="http://schemas.openxmlformats.org/drawingml/2006/main">
            <a:r>
              <a:t>[R35] Levy, Daniel, Panigrahi, Siba Smarak, Kaba, Sékou-Oumar, Zhu, Qiang, Lee, Kin Long Kelvin, Galkin, Mikhail, Miret, Santiago, Ravanbakhsh, Siamak. SymmCD: Symmetry-Preserving Crystal Generation with Diffusion Models. ICLR 2025. https://arxiv.org/abs/2502.03638</a:t>
            </a:r>
          </a:p>
          <a:p xmlns:a="http://schemas.openxmlformats.org/drawingml/2006/main">
            <a:r>
              <a:t/>
            </a:r>
          </a:p>
          <a:p xmlns:a="http://schemas.openxmlformats.org/drawingml/2006/main">
            <a:r>
              <a:t>[R36] Kelvinius, Filip Ekström, Andersson, Oskar B., Parackal, Abhijith S., Qian, Dong, Armiento, Rickard, Lindsten, Fredrik. WyckoffDiff – A Generative Diffusion Model for Crystal Symmetry. ICML 2025, PMLR 267. https://proceedings.mlr.press/v267/ekstrom-kelvinius25a.html</a:t>
            </a:r>
          </a:p>
          <a:p xmlns:a="http://schemas.openxmlformats.org/drawingml/2006/main">
            <a:r>
              <a:t/>
            </a:r>
          </a:p>
          <a:p xmlns:a="http://schemas.openxmlformats.org/drawingml/2006/main">
            <a:r>
              <a:t>[R38] Kazeev, Nikita, Nong, Wei, Romanov, Ignat, Zhu, Ruiming, Ustyuzhanin, Andrey, Yamazaki, Shuya, Hippalgaonkar, Kedar. Wyckoff Transformer: Generation of Symmetric Crystals. ICML 2025, PMLR 267, 29495–29526. https://arxiv.org/abs/2503.02407</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xmlns:a="http://schemas.openxmlformats.org/drawingml/2006/main">
            <a:r>
              <a:t/>
            </a:r>
          </a:p>
          <a:p xmlns:a="http://schemas.openxmlformats.org/drawingml/2006/main">
            <a:r>
              <a:t>[R55] Jingyi Zhou, Oyshee Chowdhury, Noah Oyeniran, Chongze Hu. Topology-Stratified Materials Discovery with A Flow-Based Generative Model. arXiv 预印本 2026. https://arxiv.org/html/2609.26547v1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DynFusion §3.2从当前噪声状态预测条件mask，§4.1比较多个空间、主体及混合视觉条件。Bradley的理论针对特定条件组合结构，原实验为CLEVR长度泛化及自然图像探索。晶体中邻域重叠、原子共享、周期晶格与相竞争需要新的条件。方法贡献需说明共享关系怎样改变组合泛化。</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xmlns:a="http://schemas.openxmlformats.org/drawingml/2006/main">
            <a:r>
              <a:t/>
            </a:r>
          </a:p>
          <a:p xmlns:a="http://schemas.openxmlformats.org/drawingml/2006/main">
            <a:r>
              <a:t>[R35] Levy, Daniel, Panigrahi, Siba Smarak, Kaba, Sékou-Oumar, Zhu, Qiang, Lee, Kin Long Kelvin, Galkin, Mikhail, Miret, Santiago, Ravanbakhsh, Siamak. SymmCD: Symmetry-Preserving Crystal Generation with Diffusion Models. ICLR 2025. https://arxiv.org/abs/2502.03638</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[R55] Jingyi Zhou, Oyshee Chowdhury, Noah Oyeniran, Chongze Hu. Topology-Stratified Materials Discovery with A Flow-Based Generative Model. arXiv 预印本 2026. https://arxiv.org/html/2609.26547v1</a:t>
            </a:r>
          </a:p>
          <a:p xmlns:a="http://schemas.openxmlformats.org/drawingml/2006/main">
            <a:r>
              <a:t/>
            </a:r>
          </a:p>
          <a:p xmlns:a="http://schemas.openxmlformats.org/drawingml/2006/main">
            <a:r>
              <a:t>[T03] Arwen Bradley. Local Mechanisms of Compositional Generalization in Conditional Diffusion. ICML 2026, PMLR 306:9531–9565. https://proceedings.mlr.press/v306/bradley26a.html</a:t>
            </a:r>
          </a:p>
          <a:p xmlns:a="http://schemas.openxmlformats.org/drawingml/2006/main">
            <a:r>
              <a:t/>
            </a:r>
          </a:p>
          <a:p xmlns:a="http://schemas.openxmlformats.org/drawingml/2006/main">
            <a:r>
              <a:t>[T07] Zheng Fang, Lichuan Xiang, Xu Cai, Bing Wang, Bo Yang, Hongkai Wen. DynFusion: Rethinking Condition Fusion for Adaptive Multi-Conditional Text-to-Image Generation. CVPR 2026, 29103–29113. https://wrap.warwick.ac.uk/id/eprint/197869/8/WRAP-DynFusion-rethinking-condition-fusion-multi-conditional-text-to-image-generation-26.pdf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局部关系以统一邻接定义具体化。熟悉原型中的新稳定化学继续计入成功。复制超胞仅改变表示规模，不能当新整体结构。路线B主张待验证，不预设局部约束越多越好。各条件任务需在后处理后检查是否仍成立。</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[R31] Nathan J. Szymanski, Christopher J. Bartel. Establishing baselines for generative discovery of inorganic crystals. Materials Horizons 2025. DOI: 10.1039/D5MH00010F. https://pubs.rsc.org/en/content/articlehtml/2025/mh/d5mh00010f</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a:p xmlns:a="http://schemas.openxmlformats.org/drawingml/2006/main">
            <a:r>
              <a:t/>
            </a:r>
          </a:p>
          <a:p xmlns:a="http://schemas.openxmlformats.org/drawingml/2006/main">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xmlns:a="http://schemas.openxmlformats.org/drawingml/2006/main">
            <a:r>
              <a:t/>
            </a:r>
          </a:p>
          <a:p xmlns:a="http://schemas.openxmlformats.org/drawingml/2006/main">
            <a:r>
              <a:t>[R52] Negishi, Masahiro, Walsh, Aron. Substitution-Based Analysis of Structural Novelty for Generative Models of Materials. arXiv 预印本 2026. https://arxiv.org/html/2606.23166v1</a:t>
            </a:r>
          </a:p>
          <a:p xmlns:a="http://schemas.openxmlformats.org/drawingml/2006/main">
            <a:r>
              <a:t/>
            </a:r>
          </a:p>
          <a:p xmlns:a="http://schemas.openxmlformats.org/drawingml/2006/main">
            <a:r>
              <a:t>[R55] Jingyi Zhou, Oyshee Chowdhury, Noah Oyeniran, Chongze Hu. Topology-Stratified Materials Discovery with A Flow-Based Generative Model. arXiv 预印本 2026. https://arxiv.org/html/2609.26547v1</a:t>
            </a:r>
          </a:p>
          <a:p xmlns:a="http://schemas.openxmlformats.org/drawingml/2006/main">
            <a:r>
              <a:t/>
            </a:r>
          </a:p>
          <a:p xmlns:a="http://schemas.openxmlformats.org/drawingml/2006/main">
            <a:r>
              <a:t>[T03] Arwen Bradley. Local Mechanisms of Compositional Generalization in Conditional Diffusion. ICML 2026, PMLR 306:9531–9565. https://proceedings.mlr.press/v306/bradley26a.html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OpenCSP基于物理数据与并发学习研究压力CSP，截至原资料为2025预印本。MatInvent默认MatterGen，PLaID++是结构语言偏好训练，Chemeleon2是latent RL。OMatG-IRL基于SI，flash直接采用RAM。GSS主要是生成先验与物理势的混合搜索，不将其写作同一种生成器后训练。</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[R01] Chris J. Pickard, R. J. Needs. High-Pressure Phases of Silane. Physical Review Letters 97, 045504. DOI: 10.1103/PhysRevLett.97.045504. https://journals.aps.org/prl/abstract/10.1103/PhysRevLett.97.045504</a:t>
            </a:r>
          </a:p>
          <a:p xmlns:a="http://schemas.openxmlformats.org/drawingml/2006/main">
            <a:r>
              <a:t/>
            </a:r>
          </a:p>
          <a:p xmlns:a="http://schemas.openxmlformats.org/drawingml/2006/main">
            <a:r>
              <a:t>[R02] Artem R. Oganov, Colin W. Glass. Crystal structure prediction using ab initio evolutionary techniques: Principles and applications. Journal of Chemical Physics 124, 244704 (2006). DOI: 10.1063/1.2210932. https://doi.org/10.1063/1.2210932</a:t>
            </a:r>
          </a:p>
          <a:p xmlns:a="http://schemas.openxmlformats.org/drawingml/2006/main">
            <a:r>
              <a:t/>
            </a:r>
          </a:p>
          <a:p xmlns:a="http://schemas.openxmlformats.org/drawingml/2006/main">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xmlns:a="http://schemas.openxmlformats.org/drawingml/2006/main">
            <a:r>
              <a:t/>
            </a:r>
          </a:p>
          <a:p xmlns:a="http://schemas.openxmlformats.org/drawingml/2006/main">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xmlns:a="http://schemas.openxmlformats.org/drawingml/2006/main">
            <a:r>
              <a:t/>
            </a:r>
          </a:p>
          <a:p xmlns:a="http://schemas.openxmlformats.org/drawingml/2006/main">
            <a:r>
              <a:t>[R18] Amil Merchant, Simon Batzner, Samuel S. Schoenholz, Muratahan Aykol, Gowoon Cheon, Ekin Dogus Cubuk. Scaling deep learning for materials discovery. Nature 2023. DOI: 10.1038/s41586-023-06735-9. https://www.nature.com/articles/s41586-023-06735-9</a:t>
            </a:r>
          </a:p>
          <a:p xmlns:a="http://schemas.openxmlformats.org/drawingml/2006/main">
            <a:r>
              <a:t/>
            </a:r>
          </a:p>
          <a:p xmlns:a="http://schemas.openxmlformats.org/drawingml/2006/main">
            <a:r>
              <a:t>[R41] Wang, Yinan, Wang, Xiaoyang, Wang, Zhenyu, Wu, Jing, Lv, Jian, Wang, Han. OpenCSP: A Deep Learning Framework for Crystal Structure Prediction from Ambient to High Pressure. arXiv 预印本 2025. https://arxiv.org/html/2509.10293v1</a:t>
            </a:r>
          </a:p>
          <a:p xmlns:a="http://schemas.openxmlformats.org/drawingml/2006/main">
            <a:r>
              <a:t/>
            </a:r>
          </a:p>
          <a:p xmlns:a="http://schemas.openxmlformats.org/drawingml/2006/main">
            <a:r>
              <a:t>[R44] Chen, Junwu, Guo, Jeff, Fako, Edvin, Schwaller, Philippe. Accelerating inverse materials design using generative diffusion models with reinforcement learning. arXiv 预印本 2025. https://arxiv.org/html/2511.03112v1</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[R45] Hyunsoo Park, Aron Walsh. Guiding Generative Models to Uncover Diverse and Novel Crystals via Reinforcement Learning. Nature Machine Intelligence 2026. DOI: 10.1038/s42256-026-01262-4. https://www.nature.com/articles/s42256-026-01262-4</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[R54] Egg, Thomas, Sullivan, Harry Winston, Tadmor, Ellad B., Martiniani, Stefano. OMatG-flash: An All-Atom Flow Map with Reinforce Adjoint Matching for Scalable Materials Discovery. arXiv 预印本 2026. https://arxiv.org/html/2609.26402v1</a:t>
            </a:r>
          </a:p>
          <a:p xmlns:a="http://schemas.openxmlformats.org/drawingml/2006/main">
            <a:r>
              <a:t/>
            </a:r>
          </a:p>
          <a:p xmlns:a="http://schemas.openxmlformats.org/drawingml/2006/main">
            <a:r>
              <a:t>[R50] Qin, Yifang, Shi, Yu, Tan, Junfu, Liu, Chang, Zhang, Ming, Lu, Ziheng. Generative structure search for efficient and diverse discovery of molecular and crystal structures. arXiv 预印本 2026. https://arxiv.org/html/2604.27636v2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响应关系学习是当前路线的研究命题，而不是这些原工作已得出的共同结论。Flow-GRPO用在线策略梯度，RAM保持解析加噪回归形式并由终点奖励修正。CrystAF原对象是分子晶体，不用其packing结果充当无机SUN。</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[T08] Michael Albergo, Nicholas M. Boffi, Eric Vanden-Eijnden. Stochastic Interpolants: A Unifying Framework for Flows and Diffusions. JMLR 26(209):1–80 (2025)，首稿2023. https://jmlr.org/papers/v26/23-1605.html</a:t>
            </a:r>
          </a:p>
          <a:p xmlns:a="http://schemas.openxmlformats.org/drawingml/2006/main">
            <a:r>
              <a:t/>
            </a:r>
          </a:p>
          <a:p xmlns:a="http://schemas.openxmlformats.org/drawingml/2006/main">
            <a:r>
              <a:t>[R44] Chen, Junwu, Guo, Jeff, Fako, Edvin, Schwaller, Philippe. Accelerating inverse materials design using generative diffusion models with reinforcement learning. arXiv 预印本 2025. https://arxiv.org/html/2511.03112v1</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[T04] Jie Liu, Gongye Liu, Jiajun Liang, Yangguang Li, Jiaheng Liu, Xintao Wang, Pengfei Wan, Di Zhang, Wanli Ouyang. Flow-GRPO: Training Flow Matching Models via Online RL. NeurIPS 2025. https://proceedings.neurips.cc/paper_files/paper/2025/hash/3a10c46572628d58cb44fb705f25cbbf-Abstract-Conference.html</a:t>
            </a:r>
          </a:p>
          <a:p xmlns:a="http://schemas.openxmlformats.org/drawingml/2006/main">
            <a:r>
              <a:t/>
            </a:r>
          </a:p>
          <a:p xmlns:a="http://schemas.openxmlformats.org/drawingml/2006/main">
            <a:r>
              <a:t>[T05] Andreas Bergmeister, Stefanie Jegelka, Nikolas Nüsken, Carles Domingo-Enrich, Jakiw Pidstrigach. Reinforce Adjoint Matching: Scaling RL Post-Training of Diffusion and Flow-Matching Models. arXiv 2605.10759v2 (2026). https://arxiv.org/abs/2605.10759</a:t>
            </a:r>
          </a:p>
          <a:p xmlns:a="http://schemas.openxmlformats.org/drawingml/2006/main">
            <a:r>
              <a:t/>
            </a:r>
          </a:p>
          <a:p xmlns:a="http://schemas.openxmlformats.org/drawingml/2006/main">
            <a:r>
              <a:t>[R54] Egg, Thomas, Sullivan, Harry Winston, Tadmor, Ellad B., Martiniani, Stefano. OMatG-flash: An All-Atom Flow Map with Reinforce Adjoint Matching for Scalable Materials Discovery. arXiv 预印本 2026. https://arxiv.org/html/2609.26402v1</a:t>
            </a:r>
          </a:p>
          <a:p xmlns:a="http://schemas.openxmlformats.org/drawingml/2006/main">
            <a:r>
              <a:t/>
            </a:r>
          </a:p>
          <a:p xmlns:a="http://schemas.openxmlformats.org/drawingml/2006/main">
            <a:r>
              <a:t>[R50] Qin, Yifang, Shi, Yu, Tan, Junfu, Liu, Chang, Zhang, Ming, Lu, Ziheng. Generative structure search for efficient and diverse discovery of molecular and crystal structures. arXiv 预印本 2026. https://arxiv.org/html/2604.27636v2</a:t>
            </a:r>
          </a:p>
          <a:p xmlns:a="http://schemas.openxmlformats.org/drawingml/2006/main">
            <a:r>
              <a:t/>
            </a:r>
          </a:p>
          <a:p xmlns:a="http://schemas.openxmlformats.org/drawingml/2006/main">
            <a:r>
              <a:t>[R57] Tang, Haocheng, Wang, Junmei, Jin, Wengong. Where Should Physics Enter a Molecular Crystal Generator?. arXiv 预印本 2026. https://arxiv.org/html/2609.36398v1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对比保持终点池与物理投入可比，关系学习额外使用来源与实际变化的对应。模型需在新的请求中获益，不能仅重现训练终点。数值弛豫路径保留求解器依赖，生成模型可学习更一般的分布关系。</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xmlns:a="http://schemas.openxmlformats.org/drawingml/2006/main">
            <a:r>
              <a:t/>
            </a:r>
          </a:p>
          <a:p xmlns:a="http://schemas.openxmlformats.org/drawingml/2006/main">
            <a:r>
              <a:t>[R18] Amil Merchant, Simon Batzner, Samuel S. Schoenholz, Muratahan Aykol, Gowoon Cheon, Ekin Dogus Cubuk. Scaling deep learning for materials discovery. Nature 2023. DOI: 10.1038/s41586-023-06735-9. https://www.nature.com/articles/s41586-023-06735-9</a:t>
            </a:r>
          </a:p>
          <a:p xmlns:a="http://schemas.openxmlformats.org/drawingml/2006/main">
            <a:r>
              <a:t/>
            </a:r>
          </a:p>
          <a:p xmlns:a="http://schemas.openxmlformats.org/drawingml/2006/main">
            <a:r>
              <a:t>[R41] Wang, Yinan, Wang, Xiaoyang, Wang, Zhenyu, Wu, Jing, Lv, Jian, Wang, Han. OpenCSP: A Deep Learning Framework for Crystal Structure Prediction from Ambient to High Pressure. arXiv 预印本 2025. https://arxiv.org/html/2509.10293v1</a:t>
            </a:r>
          </a:p>
          <a:p xmlns:a="http://schemas.openxmlformats.org/drawingml/2006/main">
            <a:r>
              <a:t/>
            </a:r>
          </a:p>
          <a:p xmlns:a="http://schemas.openxmlformats.org/drawingml/2006/main">
            <a:r>
              <a:t>[R44] Chen, Junwu, Guo, Jeff, Fako, Edvin, Schwaller, Philippe. Accelerating inverse materials design using generative diffusion models with reinforcement learning. arXiv 预印本 2025. https://arxiv.org/html/2511.03112v1</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[R54] Egg, Thomas, Sullivan, Harry Winston, Tadmor, Ellad B., Martiniani, Stefano. OMatG-flash: An All-Atom Flow Map with Reinforce Adjoint Matching for Scalable Materials Discovery. arXiv 预印本 2026. https://arxiv.org/html/2609.26402v1</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GFlowNet为通用基础，QD与SHAFT任务不同。强基线研究在分别选出的500个MP新颖候选上作DFT，上游提出成本不同。ANCHOR在冻结CSP条件下调节组成策略。其语料重放不必是成功结构，保持原数据定义。</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[R09] Bengio, Yoshua, Lahlou, Salem, Deleu, Tristan, Hu, Edward J., Tiwari, Mo, Bengio, Emmanuel. GFlowNet Foundations. Journal of Machine Learning Research 2023. https://jmlr.org/papers/v24/22-0364.html</a:t>
            </a:r>
          </a:p>
          <a:p xmlns:a="http://schemas.openxmlformats.org/drawingml/2006/main">
            <a:r>
              <a:t/>
            </a:r>
          </a:p>
          <a:p xmlns:a="http://schemas.openxmlformats.org/drawingml/2006/main">
            <a:r>
              <a:t>[R23] Marta Wolinska, Aron Walsh, Antoine Cully. Illuminating the property space in crystal structure prediction using Quality-Diversity algorithms. Digital Discovery 2024. DOI: 10.1039/D4DD00054D. https://arxiv.org/html/2403.03511v1</a:t>
            </a:r>
          </a:p>
          <a:p xmlns:a="http://schemas.openxmlformats.org/drawingml/2006/main">
            <a:r>
              <a:t/>
            </a:r>
          </a:p>
          <a:p xmlns:a="http://schemas.openxmlformats.org/drawingml/2006/main">
            <a:r>
              <a:t>[R30] Nguyen, Tri Minh, Tawfik, Sherif Abdulkader, Tran, Truyen, Gupta, Sunil, Rana, Santu, Venkatesh, Svetha. Efficient Symmetry-Aware Materials Generation via Hierarchical Generative Flow Networks. Digital Discovery 2026. DOI: 10.1039/D4DD00392F. https://arxiv.org/html/2411.04323v1</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[R45] Hyunsoo Park, Aron Walsh. Guiding Generative Models to Uncover Diverse and Novel Crystals via Reinforcement Learning. Nature Machine Intelligence 2026. DOI: 10.1038/s42256-026-01262-4. https://www.nature.com/articles/s42256-026-01262-4</a:t>
            </a:r>
          </a:p>
          <a:p xmlns:a="http://schemas.openxmlformats.org/drawingml/2006/main">
            <a:r>
              <a:t/>
            </a:r>
          </a:p>
          <a:p xmlns:a="http://schemas.openxmlformats.org/drawingml/2006/main">
            <a:r>
              <a:t>[R44] Chen, Junwu, Guo, Jeff, Fako, Edvin, Schwaller, Philippe. Accelerating inverse materials design using generative diffusion models with reinforcement learning. arXiv 预印本 2025. https://arxiv.org/html/2511.03112v1</a:t>
            </a:r>
          </a:p>
          <a:p xmlns:a="http://schemas.openxmlformats.org/drawingml/2006/main">
            <a:r>
              <a:t/>
            </a:r>
          </a:p>
          <a:p xmlns:a="http://schemas.openxmlformats.org/drawingml/2006/main">
            <a:r>
              <a:t>[R31] Nathan J. Szymanski, Christopher J. Bartel. Establishing baselines for generative discovery of inorganic crystals. Materials Horizons 2025. DOI: 10.1039/D5MH00010F. https://pubs.rsc.org/en/content/articlehtml/2025/mh/d5mh00010f</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Max@K原任务的目标模式预定义，当前arXiv v2注记WACV2027接收。这里仅用其集合贡献分配机制作迁移参照。Structure Matches的多晶型目标与LeMat的统一框架帮助定义能力，但不替代生成方法。D可以固定低层先研究上层探索，也可研究联合更新。</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[R09] Bengio, Yoshua, Lahlou, Salem, Deleu, Tristan, Hu, Edward J., Tiwari, Mo, Bengio, Emmanuel. GFlowNet Foundations. Journal of Machine Learning Research 2023. https://jmlr.org/papers/v24/22-0364.html</a:t>
            </a:r>
          </a:p>
          <a:p xmlns:a="http://schemas.openxmlformats.org/drawingml/2006/main">
            <a:r>
              <a:t/>
            </a:r>
          </a:p>
          <a:p xmlns:a="http://schemas.openxmlformats.org/drawingml/2006/main">
            <a:r>
              <a:t>[R30] Nguyen, Tri Minh, Tawfik, Sherif Abdulkader, Tran, Truyen, Gupta, Sunil, Rana, Santu, Venkatesh, Svetha. Efficient Symmetry-Aware Materials Generation via Hierarchical Generative Flow Networks. Digital Discovery 2026. DOI: 10.1039/D4DD00392F. https://arxiv.org/html/2411.04323v1</a:t>
            </a:r>
          </a:p>
          <a:p xmlns:a="http://schemas.openxmlformats.org/drawingml/2006/main">
            <a:r>
              <a:t/>
            </a:r>
          </a:p>
          <a:p xmlns:a="http://schemas.openxmlformats.org/drawingml/2006/main">
            <a:r>
              <a:t>[R23] Marta Wolinska, Aron Walsh, Antoine Cully. Illuminating the property space in crystal structure prediction using Quality-Diversity algorithms. Digital Discovery 2024. DOI: 10.1039/D4DD00054D. https://arxiv.org/html/2403.03511v1</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a:p xmlns:a="http://schemas.openxmlformats.org/drawingml/2006/main">
            <a:r>
              <a:t/>
            </a:r>
          </a:p>
          <a:p xmlns:a="http://schemas.openxmlformats.org/drawingml/2006/main">
            <a:r>
              <a:t>[T06] Ku Onoda, Paavo Parmas, Hiroki Furuta, Soichiro Nishimori, Yuta Oshima, Shohei Taniguchi, Yutaka Matsuo. Multi-Axis Max@K Reinforcement Learning for Representative Diversity in Text-to-Image Generation. arXiv 2607.14962v2 (2026)，原文注记WACV 2027接收. https://arxiv.org/abs/2607.14962</a:t>
            </a:r>
          </a:p>
          <a:p xmlns:a="http://schemas.openxmlformats.org/drawingml/2006/main">
            <a:r>
              <a:t/>
            </a:r>
          </a:p>
          <a:p xmlns:a="http://schemas.openxmlformats.org/drawingml/2006/main">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xmlns:a="http://schemas.openxmlformats.org/drawingml/2006/main">
            <a:r>
              <a:t/>
            </a:r>
          </a:p>
          <a:p xmlns:a="http://schemas.openxmlformats.org/drawingml/2006/main">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次发现、新颖于固定参考库、新颖于本项目更新集分别记录。已经学入训练的自发现材料，在下一轮生成时可计入参考库外SUN与保持能力，但不能再次计为研究过程中的首次发现。熟悉框架的新稳定化学仍计有效结果。</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[R09] Bengio, Yoshua, Lahlou, Salem, Deleu, Tristan, Hu, Edward J., Tiwari, Mo, Bengio, Emmanuel. GFlowNet Foundations. Journal of Machine Learning Research 2023. https://jmlr.org/papers/v24/22-0364.html</a:t>
            </a:r>
          </a:p>
          <a:p xmlns:a="http://schemas.openxmlformats.org/drawingml/2006/main">
            <a:r>
              <a:t/>
            </a:r>
          </a:p>
          <a:p xmlns:a="http://schemas.openxmlformats.org/drawingml/2006/main">
            <a:r>
              <a:t>[R23] Marta Wolinska, Aron Walsh, Antoine Cully. Illuminating the property space in crystal structure prediction using Quality-Diversity algorithms. Digital Discovery 2024. DOI: 10.1039/D4DD00054D. https://arxiv.org/html/2403.03511v1</a:t>
            </a:r>
          </a:p>
          <a:p xmlns:a="http://schemas.openxmlformats.org/drawingml/2006/main">
            <a:r>
              <a:t/>
            </a:r>
          </a:p>
          <a:p xmlns:a="http://schemas.openxmlformats.org/drawingml/2006/main">
            <a:r>
              <a:t>[R30] Nguyen, Tri Minh, Tawfik, Sherif Abdulkader, Tran, Truyen, Gupta, Sunil, Rana, Santu, Venkatesh, Svetha. Efficient Symmetry-Aware Materials Generation via Hierarchical Generative Flow Networks. Digital Discovery 2026. DOI: 10.1039/D4DD00392F. https://arxiv.org/html/2411.04323v1</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[R45] Hyunsoo Park, Aron Walsh. Guiding Generative Models to Uncover Diverse and Novel Crystals via Reinforcement Learning. Nature Machine Intelligence 2026. DOI: 10.1038/s42256-026-01262-4. https://www.nature.com/articles/s42256-026-01262-4</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a:p xmlns:a="http://schemas.openxmlformats.org/drawingml/2006/main">
            <a:r>
              <a:t/>
            </a:r>
          </a:p>
          <a:p xmlns:a="http://schemas.openxmlformats.org/drawingml/2006/main">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xmlns:a="http://schemas.openxmlformats.org/drawingml/2006/main">
            <a:r>
              <a:t/>
            </a:r>
          </a:p>
          <a:p xmlns:a="http://schemas.openxmlformats.org/drawingml/2006/main">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证据来源：https://github.com/YWDDLiang/Research/blob/main/crystal/evidence/historical-evidence.md 。第一行每臂24个能量未知，组成固定，晶胞和位置仍演化。第二行是每个DEV父来源四个未来形成的512配对。第三行为同一项目队列的分解，不能当作通用领域损失比例。</a:t>
            </a:r>
          </a:p>
          <a:p xmlns:a="http://schemas.openxmlformats.org/drawingml/2006/main">
            <a:r>
              <a:t/>
            </a:r>
          </a:p>
          <a:p xmlns:a="http://schemas.openxmlformats.org/drawingml/2006/main">
            <a:r>
              <a:t>参考文献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[R08] Tian Xie, Xiang Fu, Octavian-Eugen Ganea, Regina Barzilay, Tommi Jaakkola. Crystal Diffusion Variational Autoencoder for Periodic Material Generation. ICLR 2022. https://arxiv.org/abs/2110.06197</a:t>
            </a:r>
          </a:p>
          <a:p xmlns:a="http://schemas.openxmlformats.org/drawingml/2006/main">
            <a:r>
              <a:t/>
            </a:r>
          </a:p>
          <a:p xmlns:a="http://schemas.openxmlformats.org/drawingml/2006/main">
            <a:r>
              <a:t>[R13] Rui Jiao, Wenbing Huang, Peijia Lin, Jiaqi Han, Pin Chen, Yutong Lu, Yang Liu. Crystal Structure Prediction by Joint Equivariant Diffusion. NeurIPS 2023. https://arxiv.org/abs/2309.04475</a:t>
            </a:r>
          </a:p>
          <a:p xmlns:a="http://schemas.openxmlformats.org/drawingml/2006/main">
            <a:r>
              <a:t/>
            </a:r>
          </a:p>
          <a:p xmlns:a="http://schemas.openxmlformats.org/drawingml/2006/main">
            <a:r>
              <a:t>[R26] Miller, Benjamin Kurt, Chen, Ricky T. Q., Sriram, Anuroop, Wood, Brandon M. FlowMM: Generating Materials with Riemannian Flow Matching. ICML 2024, PMLR 235. https://proceedings.mlr.press/v235/miller24a.html</a:t>
            </a:r>
          </a:p>
          <a:p xmlns:a="http://schemas.openxmlformats.org/drawingml/2006/main">
            <a:r>
              <a:t/>
            </a:r>
          </a:p>
          <a:p xmlns:a="http://schemas.openxmlformats.org/drawingml/2006/main">
            <a:r>
              <a:t>[R21] Nate Gruver, Anuroop Sriram, Andrea Madotto, Andrew Gordon Wilson, C. Lawrence Zitnick, Zachary Ulissi. Fine-Tuned Language Models Generate Stable Inorganic Materials as Text. ICLR 2024. https://arxiv.org/abs/2402.04379</a:t>
            </a:r>
          </a:p>
          <a:p xmlns:a="http://schemas.openxmlformats.org/drawingml/2006/main">
            <a:r>
              <a:t/>
            </a:r>
          </a:p>
          <a:p xmlns:a="http://schemas.openxmlformats.org/drawingml/2006/main">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p>
          <a:p xmlns:a="http://schemas.openxmlformats.org/drawingml/2006/main">
            <a:r>
              <a:t/>
            </a:r>
          </a:p>
          <a:p xmlns:a="http://schemas.openxmlformats.org/drawingml/2006/main">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xmlns:a="http://schemas.openxmlformats.org/drawingml/2006/main">
            <a:r>
              <a:t/>
            </a:r>
          </a:p>
          <a:p xmlns:a="http://schemas.openxmlformats.org/drawingml/2006/main">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xmlns:a="http://schemas.openxmlformats.org/drawingml/2006/main">
            <a:r>
              <a:t/>
            </a:r>
          </a:p>
          <a:p xmlns:a="http://schemas.openxmlformats.org/drawingml/2006/main">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xmlns:a="http://schemas.openxmlformats.org/drawingml/2006/main">
            <a:r>
              <a:t/>
            </a:r>
          </a:p>
          <a:p xmlns:a="http://schemas.openxmlformats.org/drawingml/2006/main">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xmlns:a="http://schemas.openxmlformats.org/drawingml/2006/main">
            <a:r>
              <a:t/>
            </a:r>
          </a:p>
          <a:p xmlns:a="http://schemas.openxmlformats.org/drawingml/2006/main">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xmlns:a="http://schemas.openxmlformats.org/drawingml/2006/main">
            <a:r>
              <a:t/>
            </a:r>
          </a:p>
          <a:p xmlns:a="http://schemas.openxmlformats.org/drawingml/2006/main">
            <a:r>
              <a:t>[R35] Levy, Daniel, Panigrahi, Siba Smarak, Kaba, Sékou-Oumar, Zhu, Qiang, Lee, Kin Long Kelvin, Galkin, Mikhail, Miret, Santiago, Ravanbakhsh, Siamak. SymmCD: Symmetry-Preserving Crystal Generation with Diffusion Models. ICLR 2025. https://arxiv.org/abs/2502.03638</a:t>
            </a:r>
          </a:p>
          <a:p xmlns:a="http://schemas.openxmlformats.org/drawingml/2006/main">
            <a:r>
              <a:t/>
            </a:r>
          </a:p>
          <a:p xmlns:a="http://schemas.openxmlformats.org/drawingml/2006/main">
            <a:r>
              <a:t>[R38] Kazeev, Nikita, Nong, Wei, Romanov, Ignat, Zhu, Ruiming, Ustyuzhanin, Andrey, Yamazaki, Shuya, Hippalgaonkar, Kedar. Wyckoff Transformer: Generation of Symmetric Crystals. ICML 2025, PMLR 267, 29495–29526. https://arxiv.org/abs/2503.02407</a:t>
            </a:r>
          </a:p>
          <a:p xmlns:a="http://schemas.openxmlformats.org/drawingml/2006/main">
            <a:r>
              <a:t/>
            </a:r>
          </a:p>
          <a:p xmlns:a="http://schemas.openxmlformats.org/drawingml/2006/main">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xmlns:a="http://schemas.openxmlformats.org/drawingml/2006/main">
            <a:r>
              <a:t/>
            </a:r>
          </a:p>
          <a:p xmlns:a="http://schemas.openxmlformats.org/drawingml/2006/main">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xmlns:a="http://schemas.openxmlformats.org/drawingml/2006/main">
            <a:r>
              <a:t/>
            </a:r>
          </a:p>
          <a:p xmlns:a="http://schemas.openxmlformats.org/drawingml/2006/main">
            <a:r>
              <a:t>[R55] Jingyi Zhou, Oyshee Chowdhury, Noah Oyeniran, Chongze Hu. Topology-Stratified Materials Discovery with A Flow-Based Generative Model. arXiv 预印本 2026. https://arxiv.org/html/2609.26547v1</a:t>
            </a:r>
          </a:p>
          <a:p xmlns:a="http://schemas.openxmlformats.org/drawingml/2006/main">
            <a:r>
              <a:t/>
            </a:r>
          </a:p>
          <a:p xmlns:a="http://schemas.openxmlformats.org/drawingml/2006/main">
            <a:r>
              <a:t>[T01] Yueming Pan, Ruoyu Feng, Qi Dai, Yuqi Wang, Wenfeng Lin, Mingyu Guo, Chong Luo, Nanning Zheng. Semantics Lead the Way: Harmonizing Semantic and Texture Modeling with Asynchronous Latent Diffusion. CVPR 2026. https://arxiv.org/abs/2512.04926</a:t>
            </a:r>
          </a:p>
          <a:p xmlns:a="http://schemas.openxmlformats.org/drawingml/2006/main">
            <a:r>
              <a:t/>
            </a:r>
          </a:p>
          <a:p xmlns:a="http://schemas.openxmlformats.org/drawingml/2006/main">
            <a:r>
              <a:t>[T03] Arwen Bradley. Local Mechanisms of Compositional Generalization in Conditional Diffusion. ICML 2026, PMLR 306:9531–9565. https://proceedings.mlr.press/v306/bradley26a.html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参考文献</a:t>
            </a:r>
          </a:p>
          <a:p xmlns:a="http://schemas.openxmlformats.org/drawingml/2006/main">
            <a:r>
              <a:t/>
            </a:r>
          </a:p>
          <a:p xmlns:a="http://schemas.openxmlformats.org/drawingml/2006/main">
            <a:r>
              <a:t>[R40] Xu, Andy, Desai, Rohan, Wang, Larry, Ritz, Ethan, Hope, Gabriel. PLaID++: A Preference Aligned Language Model for Targeted Inorganic Materials Design. ICML 2026. https://arxiv.org/html/2509.07150v4</a:t>
            </a:r>
          </a:p>
          <a:p xmlns:a="http://schemas.openxmlformats.org/drawingml/2006/main">
            <a:r>
              <a:t/>
            </a:r>
          </a:p>
          <a:p xmlns:a="http://schemas.openxmlformats.org/drawingml/2006/main">
            <a:r>
              <a:t>[R45] Hyunsoo Park, Aron Walsh. Guiding Generative Models to Uncover Diverse and Novel Crystals via Reinforcement Learning. Nature Machine Intelligence 2026. DOI: 10.1038/s42256-026-01262-4. https://www.nature.com/articles/s42256-026-01262-4</a:t>
            </a:r>
          </a:p>
          <a:p xmlns:a="http://schemas.openxmlformats.org/drawingml/2006/main">
            <a:r>
              <a:t/>
            </a:r>
          </a:p>
          <a:p xmlns:a="http://schemas.openxmlformats.org/drawingml/2006/main">
            <a:r>
              <a:t>[R48] Hoellmer, Philipp, Martiniani, Stefano. Open Materials Generation with Inference-Time Reinforcement Learning. ICML 2026. https://arxiv.org/html/2602.00424v2</a:t>
            </a:r>
          </a:p>
          <a:p xmlns:a="http://schemas.openxmlformats.org/drawingml/2006/main">
            <a:r>
              <a:t/>
            </a:r>
          </a:p>
          <a:p xmlns:a="http://schemas.openxmlformats.org/drawingml/2006/main">
            <a:r>
              <a:t>[R54] Egg, Thomas, Sullivan, Harry Winston, Tadmor, Ellad B., Martiniani, Stefano. OMatG-flash: An All-Atom Flow Map with Reinforce Adjoint Matching for Scalable Materials Discovery. arXiv 预印本 2026. https://arxiv.org/html/2609.26402v1</a:t>
            </a:r>
          </a:p>
          <a:p xmlns:a="http://schemas.openxmlformats.org/drawingml/2006/main">
            <a:r>
              <a:t/>
            </a:r>
          </a:p>
          <a:p xmlns:a="http://schemas.openxmlformats.org/drawingml/2006/main">
            <a:r>
              <a:t>[R56] Hovmand, Emma Lei, Elsborg, Jonas, Kandemir, Melih, Bhowmik, Arghya. Let CSP Be Your ANCHOR: Adaptive Crystal Search over Frozen Structure Priors. arXiv 预印本 2026. https://arxiv.org/html/2609.33407v2</a:t>
            </a:r>
          </a:p>
          <a:p xmlns:a="http://schemas.openxmlformats.org/drawingml/2006/main">
            <a:r>
              <a:t/>
            </a:r>
          </a:p>
          <a:p xmlns:a="http://schemas.openxmlformats.org/drawingml/2006/main">
            <a:r>
              <a:t>[R23] Marta Wolinska, Aron Walsh, Antoine Cully. Illuminating the property space in crystal structure prediction using Quality-Diversity algorithms. Digital Discovery 2024. DOI: 10.1039/D4DD00054D. https://arxiv.org/html/2403.03511v1</a:t>
            </a:r>
          </a:p>
          <a:p xmlns:a="http://schemas.openxmlformats.org/drawingml/2006/main">
            <a:r>
              <a:t/>
            </a:r>
          </a:p>
          <a:p xmlns:a="http://schemas.openxmlformats.org/drawingml/2006/main">
            <a:r>
              <a:t>[T04] Jie Liu, Gongye Liu, Jiajun Liang, Yangguang Li, Jiaheng Liu, Xintao Wang, Pengfei Wan, Di Zhang, Wanli Ouyang. Flow-GRPO: Training Flow Matching Models via Online RL. NeurIPS 2025. https://proceedings.neurips.cc/paper_files/paper/2025/hash/3a10c46572628d58cb44fb705f25cbbf-Abstract-Conference.html</a:t>
            </a:r>
          </a:p>
          <a:p xmlns:a="http://schemas.openxmlformats.org/drawingml/2006/main">
            <a:r>
              <a:t/>
            </a:r>
          </a:p>
          <a:p xmlns:a="http://schemas.openxmlformats.org/drawingml/2006/main">
            <a:r>
              <a:t>[T05] Andreas Bergmeister, Stefanie Jegelka, Nikolas Nüsken, Carles Domingo-Enrich, Jakiw Pidstrigach. Reinforce Adjoint Matching: Scaling RL Post-Training of Diffusion and Flow-Matching Models. arXiv 2605.10759v2 (2026). https://arxiv.org/abs/2605.10759</a:t>
            </a:r>
          </a:p>
          <a:p xmlns:a="http://schemas.openxmlformats.org/drawingml/2006/main">
            <a:r>
              <a:t/>
            </a:r>
          </a:p>
          <a:p xmlns:a="http://schemas.openxmlformats.org/drawingml/2006/main">
            <a:r>
              <a:t>[T06] Ku Onoda, Paavo Parmas, Hiroki Furuta, Soichiro Nishimori, Yuta Oshima, Shohei Taniguchi, Yutaka Matsuo. Multi-Axis Max@K Reinforcement Learning for Representative Diversity in Text-to-Image Generation. arXiv 2607.14962v2 (2026)，原文注记WACV 2027接收. https://arxiv.org/abs/2607.14962</a:t>
            </a:r>
          </a:p>
          <a:p xmlns:a="http://schemas.openxmlformats.org/drawingml/2006/main">
            <a:br/>
            <a:br/>
            <a:r>
              <a:t>完整文献表（65项）</a:t>
            </a:r>
            <a:br/>
            <a:br/>
            <a:r>
              <a:t>[R01] Chris J. Pickard, R. J. Needs. High-Pressure Phases of Silane. Physical Review Letters 97, 045504. DOI: 10.1103/PhysRevLett.97.045504. https://journals.aps.org/prl/abstract/10.1103/PhysRevLett.97.045504</a:t>
            </a:r>
            <a:br/>
            <a:br/>
            <a:r>
              <a:t>[R02] Artem R. Oganov, Colin W. Glass. Crystal structure prediction using ab initio evolutionary techniques: Principles and applications. Journal of Chemical Physics 124, 244704 (2006). DOI: 10.1063/1.2210932. https://doi.org/10.1063/1.2210932</a:t>
            </a:r>
            <a:br/>
            <a:br/>
            <a:r>
              <a:t>[R03] Chris J Pickard, R J Needs. Ab initio Random Structure Searching. Journal of Physics: Condensed Matter 2011. DOI: 10.1088/0953-8984/23/5/053201. https://arxiv.org/abs/1101.3987</a:t>
            </a:r>
            <a:br/>
            <a:br/>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br/>
            <a:br/>
            <a:r>
              <a:t>[R05] Tian Xie, Jeffrey C. Grossman. Crystal Graph Convolutional Neural Networks for an Accurate and Interpretable Prediction of Material Properties. Physical Review Letters 120, 145301. DOI: 10.1103/PhysRevLett.120.145301. https://journals.aps.org/prl/abstract/10.1103/PhysRevLett.120.145301</a:t>
            </a:r>
            <a:br/>
            <a:br/>
            <a:r>
              <a:t>[R06] Juhwan Noh, Jaehoon Kim, Helge S. Stein, Benjamin Sanchez-Lengeling, John M. Gregoire, Alan Aspuru-Guzik, Yousung Jung. Inverse Design of Solid-State Materials via a Continuous Representation. Matter 1(5), 1370–1384. DOI: 10.1016/j.matt.2019.08.017. https://doi.org/10.1016/j.matt.2019.08.017</a:t>
            </a:r>
            <a:br/>
            <a:br/>
            <a:r>
              <a:t>[R07] Zekun Ren, Siyu Isaac Parker Tian, Juhwan Noh, Felipe Oviedo, Guangzong Xing, Jiali Li, Qiaohao Liang, Ruiming Zhu, Armin G. Aberle, Shijing Sun, Xiaonan Wang, Yi Liu, Qianxiao Li, Senthilnath Jayavelu, Kedar Hippalgaonkar, Yousung Jung, Tonio Buonassisi. An invertible crystallographic representation for general inverse design of inorganic crystals with targeted properties. Matter 5, 314–335 2022. DOI: 10.1016/j.matt.2021.11.032. https://arxiv.org/pdf/2005.07609v3</a:t>
            </a:r>
            <a:br/>
            <a:br/>
            <a:r>
              <a:t>[R08] Tian Xie, Xiang Fu, Octavian-Eugen Ganea, Regina Barzilay, Tommi Jaakkola. Crystal Diffusion Variational Autoencoder for Periodic Material Generation. ICLR 2022. https://arxiv.org/abs/2110.06197</a:t>
            </a:r>
            <a:br/>
            <a:br/>
            <a:r>
              <a:t>[R09] Bengio, Yoshua, Lahlou, Salem, Deleu, Tristan, Hu, Edward J., Tiwari, Mo, Bengio, Emmanuel. GFlowNet Foundations. Journal of Machine Learning Research 2023. https://jmlr.org/papers/v24/22-0364.html</a:t>
            </a:r>
            <a:br/>
            <a:br/>
            <a:r>
              <a:t>[R10] Chi Chen, Shyue Ping Ong. A universal graph deep learning interatomic potential for the periodic table. Nature Computational Science 2, 718–728. DOI: 10.1038/s43588-022-00349-3. https://www.nature.com/articles/s43588-022-00349-3</a:t>
            </a:r>
            <a:br/>
            <a:br/>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br/>
            <a:br/>
            <a:r>
              <a:t>[R12] Luis M. Antunes, Keith T. Butler, Ricardo Grau-Crespo. Crystal structure generation with autoregressive large language modeling. Nature Communications 15, 10570 2024. DOI: 10.1038/s41467-024-54639-7. https://www.nature.com/articles/s41467-024-54639-7</a:t>
            </a:r>
            <a:br/>
            <a:br/>
            <a:r>
              <a:t>[R13] Rui Jiao, Wenbing Huang, Peijia Lin, Jiaqi Han, Pin Chen, Yutong Lu, Yang Liu. Crystal Structure Prediction by Joint Equivariant Diffusion. NeurIPS 2023. https://arxiv.org/abs/2309.04475</a:t>
            </a:r>
            <a:br/>
            <a:br/>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br/>
            <a:br/>
            <a:r>
              <a:t>[R15] Yang, Sherry, Cho, KwangHwan, Merchant, Amil, Abbeel, Pieter, Schuurmans, Dale, Mordatch, Igor, Cubuk, Ekin Dogus. Scalable Diffusion for Materials Generation. ICLR 2024. https://arxiv.org/abs/2311.09235</a:t>
            </a:r>
            <a:br/>
            <a:br/>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br/>
            <a:br/>
            <a:r>
              <a:t>[R17] Nathan J. Szymanski, Bernardus Rendy, Yuxing Fei, Rishi E. Kumar, Tanjin He, David Milsted, Matthew J. McDermott, Max Gallant, Ekin Dogus Cubuk, Amil Merchant, Haegyeom Kim, Anubhav Jain, Christopher J. Bartel, Kristin Persson, Yan Zeng, Gerbrand Ceder. Author Correction: An autonomous laboratory for the accelerated synthesis of inorganic materials. Nature 650, E1 (2026). DOI: 10.1038/s41586-025-09992-y. https://www.nature.com/articles/s41586-025-09992-y</a:t>
            </a:r>
            <a:br/>
            <a:br/>
            <a:r>
              <a:t>[R18] Amil Merchant, Simon Batzner, Samuel S. Schoenholz, Muratahan Aykol, Gowoon Cheon, Ekin Dogus Cubuk. Scaling deep learning for materials discovery. Nature 2023. DOI: 10.1038/s41586-023-06735-9. https://www.nature.com/articles/s41586-023-06735-9</a:t>
            </a:r>
            <a:br/>
            <a:br/>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br/>
            <a:br/>
            <a:r>
              <a:t>[R20] Yan, Keqiang, Li, Xiner, Ling, Hongyi, Ashen, Kenna, Edwards, Carl, Arróyave, Raymundo, Zitnik, Marinka, Ji, Heng, Qian, Xiaofeng, Qian, Xiaoning, Ji, Shuiwang. Invariant Tokenization of Crystalline Materials for Language Model Enabled Generation. NeurIPS 2024. https://papers.nips.cc/paper_files/paper/2024/hash/e23133d34964a0a09f6d076fc4b922a4-Abstract-Conference.html</a:t>
            </a:r>
            <a:br/>
            <a:br/>
            <a:r>
              <a:t>[R21] Nate Gruver, Anuroop Sriram, Andrea Madotto, Andrew Gordon Wilson, C. Lawrence Zitnick, Zachary Ulissi. Fine-Tuned Language Models Generate Stable Inorganic Materials as Text. ICLR 2024. https://arxiv.org/abs/2402.04379</a:t>
            </a:r>
            <a:br/>
            <a:br/>
            <a:r>
              <a:t>[R22] Jiao, Rui, Huang, Wenbing, Liu, Yu, Zhao, Deli, Liu, Yang. Space Group Constrained Crystal Generation. ICLR 2024. https://arxiv.org/abs/2402.03992</a:t>
            </a:r>
            <a:br/>
            <a:br/>
            <a:r>
              <a:t>[R23] Marta Wolinska, Aron Walsh, Antoine Cully. Illuminating the property space in crystal structure prediction using Quality-Diversity algorithms. Digital Discovery 2024. DOI: 10.1039/D4DD00054D. https://arxiv.org/html/2403.03511v1</a:t>
            </a:r>
            <a:br/>
            <a:br/>
            <a:r>
              <a:t>[R24] Cai-Yuan Ye, Hong-Ming Weng, Quan-Sheng Wu. Con-CDVAE: A method for the conditional generation of crystal structures. Computational Materials Today 1, 100003 2024. DOI: 10.1016/j.commt.2024.100003. https://arxiv.org/html/2403.12478v1</a:t>
            </a:r>
            <a:br/>
            <a:br/>
            <a:r>
              <a:t>[R25] Zhendong Cao, Xiaoshan Luo, Jian Lv, Lei Wang. Space group informed transformer for crystalline materials generation. Science Bulletin 70, 3522–3533 2025. DOI: 10.1016/j.scib.2025.09.035. https://arxiv.org/abs/2403.15734</a:t>
            </a:r>
            <a:br/>
            <a:br/>
            <a:r>
              <a:t>[R26] Miller, Benjamin Kurt, Chen, Ricky T. Q., Sriram, Anuroop, Wood, Brandon M. FlowMM: Generating Materials with Riemannian Flow Matching. ICML 2024, PMLR 235. https://proceedings.mlr.press/v235/miller24a.html</a:t>
            </a:r>
            <a:br/>
            <a:br/>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br/>
            <a:br/>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br/>
            <a:br/>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br/>
            <a:br/>
            <a:r>
              <a:t>[R30] Nguyen, Tri Minh, Tawfik, Sherif Abdulkader, Tran, Truyen, Gupta, Sunil, Rana, Santu, Venkatesh, Svetha. Efficient Symmetry-Aware Materials Generation via Hierarchical Generative Flow Networks. Digital Discovery 2026. DOI: 10.1039/D4DD00392F. https://arxiv.org/html/2411.04323v1</a:t>
            </a:r>
            <a:br/>
            <a:br/>
            <a:r>
              <a:t>[R31] Nathan J. Szymanski, Christopher J. Bartel. Establishing baselines for generative discovery of inorganic crystals. Materials Horizons 2025. DOI: 10.1039/D5MH00010F. https://pubs.rsc.org/en/content/articlehtml/2025/mh/d5mh00010f</a:t>
            </a:r>
            <a:br/>
            <a:br/>
            <a:r>
              <a:t>[R32] Pierre-Paul De Breuck, Hashim A. Piracha, Gian-Marco Rignanese, Miguel A. L. Marques. A generative material transformer using Wyckoff representation. npj Computational Materials 12, 60 2026. DOI: 10.1038/s41524-025-01940-8. https://www.nature.com/articles/s41524-025-01940-8</a:t>
            </a:r>
            <a:br/>
            <a:br/>
            <a:r>
              <a:t>[R33] Wu, Hanlin, Song, Yuxuan, Gong, Jingjing, Cao, Ziyao, Ouyang, Yawen, Zhang, Jianbing, Zhou, Hao, Ma, Wei-Ying, Liu, Jingjing. A Periodic Bayesian Flow for Material Generation. ICLR 2025. https://arxiv.org/abs/2502.02016</a:t>
            </a:r>
            <a:br/>
            <a:br/>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br/>
            <a:br/>
            <a:r>
              <a:t>[R35] Levy, Daniel, Panigrahi, Siba Smarak, Kaba, Sékou-Oumar, Zhu, Qiang, Lee, Kin Long Kelvin, Galkin, Mikhail, Miret, Santiago, Ravanbakhsh, Siamak. SymmCD: Symmetry-Preserving Crystal Generation with Diffusion Models. ICLR 2025. https://arxiv.org/abs/2502.03638</a:t>
            </a:r>
            <a:br/>
            <a:br/>
            <a:r>
              <a:t>[R36] Kelvinius, Filip Ekström, Andersson, Oskar B., Parackal, Abhijith S., Qian, Dong, Armiento, Rickard, Lindsten, Fredrik. WyckoffDiff – A Generative Diffusion Model for Crystal Symmetry. ICML 2025, PMLR 267. https://proceedings.mlr.press/v267/ekstrom-kelvinius25a.html</a:t>
            </a:r>
            <a:br/>
            <a:br/>
            <a:r>
              <a:t>[R37] Kishalay Das, Subhojyoti Khastagir, Pawan Goyal, Seung-Cheol Lee, Satadeep Bhattacharjee, Niloy Ganguly. Periodic Materials Generation using Text-Guided Joint Diffusion Model. ICLR 2025. https://proceedings.iclr.cc/paper_files/paper/2025/hash/24e4e3234178a836b70e0aa48827e0ff-Abstract-Conference.html</a:t>
            </a:r>
            <a:br/>
            <a:br/>
            <a:r>
              <a:t>[R38] Kazeev, Nikita, Nong, Wei, Romanov, Ignat, Zhu, Ruiming, Ustyuzhanin, Andrey, Yamazaki, Shuya, Hippalgaonkar, Kedar. Wyckoff Transformer: Generation of Symmetric Crystals. ICML 2025, PMLR 267, 29495–29526. https://arxiv.org/abs/2503.02407</a:t>
            </a:r>
            <a:br/>
            <a:br/>
            <a:r>
              <a:t>[R39] Hyunsoo Park, Anthony Onwuli, Aron Walsh. Exploration of crystal chemical space using text-guided generative artificial intelligence. Nature Communications 16, 4379 2025. DOI: 10.1038/s41467-025-59636-y. https://www.nature.com/articles/s41467-025-59636-y</a:t>
            </a:r>
            <a:br/>
            <a:br/>
            <a:r>
              <a:t>[R40] Xu, Andy, Desai, Rohan, Wang, Larry, Ritz, Ethan, Hope, Gabriel. PLaID++: A Preference Aligned Language Model for Targeted Inorganic Materials Design. ICML 2026. https://arxiv.org/html/2509.07150v4</a:t>
            </a:r>
            <a:br/>
            <a:br/>
            <a:r>
              <a:t>[R41] Wang, Yinan, Wang, Xiaoyang, Wang, Zhenyu, Wu, Jing, Lv, Jian, Wang, Han. OpenCSP: A Deep Learning Framework for Crystal Structure Prediction from Ambient to High Pressure. arXiv 预印本 2025. https://arxiv.org/html/2509.10293v1</a:t>
            </a:r>
            <a:br/>
            <a:br/>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br/>
            <a:br/>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br/>
            <a:br/>
            <a:r>
              <a:t>[R44] Chen, Junwu, Guo, Jeff, Fako, Edvin, Schwaller, Philippe. Accelerating inverse materials design using generative diffusion models with reinforcement learning. arXiv 预印本 2025. https://arxiv.org/html/2511.03112v1</a:t>
            </a:r>
            <a:br/>
            <a:br/>
            <a:r>
              <a:t>[R45] Hyunsoo Park, Aron Walsh. Guiding Generative Models to Uncover Diverse and Novel Crystals via Reinforcement Learning. Nature Machine Intelligence 2026. DOI: 10.1038/s42256-026-01262-4. https://www.nature.com/articles/s42256-026-01262-4</a:t>
            </a:r>
            <a:br/>
            <a:br/>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br/>
            <a:br/>
            <a:r>
              <a:t>[R47] Peijia Lin, Zihan Zhang, Zhangrui Zhao, Shaohao Rui, Junyi An, Yun-Fei Shi, Fenglei Cao, Weijie Ma, Yutong Lu. Periodic Bayesian Flow Networks with Additive Accuracy. ICML 2026, PMLR 306, 75161–75176. https://proceedings.mlr.press/v306/lin26ar.html</a:t>
            </a:r>
            <a:br/>
            <a:br/>
            <a:r>
              <a:t>[R48] Hoellmer, Philipp, Martiniani, Stefano. Open Materials Generation with Inference-Time Reinforcement Learning. ICML 2026. https://arxiv.org/html/2602.00424v2</a:t>
            </a:r>
            <a:br/>
            <a:br/>
            <a:r>
              <a:t>[R49] Kiyoung Seong, Sungsoo Ahn, Sehui Han, Changyoung Park. Multimodal Crystal Flow: Any-to-Any Modality Generation for Unified Crystal Modeling. ICML2026, PMLR306:109105–109131. https://proceedings.mlr.press/v306/seong26a.html</a:t>
            </a:r>
            <a:br/>
            <a:br/>
            <a:r>
              <a:t>[R50] Qin, Yifang, Shi, Yu, Tan, Junfu, Liu, Chang, Zhang, Ming, Lu, Ziheng. Generative structure search for efficient and diverse discovery of molecular and crystal structures. arXiv 预印本 2026. https://arxiv.org/html/2604.27636v2</a:t>
            </a:r>
            <a:br/>
            <a:br/>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br/>
            <a:br/>
            <a:r>
              <a:t>[R52] Negishi, Masahiro, Walsh, Aron. Substitution-Based Analysis of Structural Novelty for Generative Models of Materials. arXiv 预印本 2026. https://arxiv.org/html/2606.23166v1</a:t>
            </a:r>
            <a:br/>
            <a:br/>
            <a:r>
              <a:t>[R53] Wentao Li. Text-guided flow matching enables sample-efficient crystal structure generation. arXiv 预印本 2026. https://arxiv.org/html/2609.01076v2</a:t>
            </a:r>
            <a:br/>
            <a:br/>
            <a:r>
              <a:t>[R54] Egg, Thomas, Sullivan, Harry Winston, Tadmor, Ellad B., Martiniani, Stefano. OMatG-flash: An All-Atom Flow Map with Reinforce Adjoint Matching for Scalable Materials Discovery. arXiv 预印本 2026. https://arxiv.org/html/2609.26402v1</a:t>
            </a:r>
            <a:br/>
            <a:br/>
            <a:r>
              <a:t>[R55] Jingyi Zhou, Oyshee Chowdhury, Noah Oyeniran, Chongze Hu. Topology-Stratified Materials Discovery with A Flow-Based Generative Model. arXiv 预印本 2026. https://arxiv.org/html/2609.26547v1</a:t>
            </a:r>
            <a:br/>
            <a:br/>
            <a:r>
              <a:t>[R56] Hovmand, Emma Lei, Elsborg, Jonas, Kandemir, Melih, Bhowmik, Arghya. Let CSP Be Your ANCHOR: Adaptive Crystal Search over Frozen Structure Priors. arXiv 预印本 2026. https://arxiv.org/html/2609.33407v2</a:t>
            </a:r>
            <a:br/>
            <a:br/>
            <a:r>
              <a:t>[R57] Tang, Haocheng, Wang, Junmei, Jin, Wengong. Where Should Physics Enter a Molecular Crystal Generator?. arXiv 预印本 2026. https://arxiv.org/html/2609.36398v1</a:t>
            </a:r>
            <a:br/>
            <a:br/>
            <a:r>
              <a:t>[T01] Yueming Pan, Ruoyu Feng, Qi Dai, Yuqi Wang, Wenfeng Lin, Mingyu Guo, Chong Luo, Nanning Zheng. Semantics Lead the Way: Harmonizing Semantic and Texture Modeling with Asynchronous Latent Diffusion. CVPR 2026. https://arxiv.org/abs/2512.04926</a:t>
            </a:r>
            <a:br/>
            <a:br/>
            <a:r>
              <a:t>[T02] NextStep Team. NextStep-1: Toward Autoregressive Image Generation with Continuous Tokens at Scale. ICLR 2026. https://arxiv.org/abs/2508.10711</a:t>
            </a:r>
            <a:br/>
            <a:br/>
            <a:r>
              <a:t>[T03] Arwen Bradley. Local Mechanisms of Compositional Generalization in Conditional Diffusion. ICML 2026, PMLR 306:9531–9565. https://proceedings.mlr.press/v306/bradley26a.html</a:t>
            </a:r>
            <a:br/>
            <a:br/>
            <a:r>
              <a:t>[T04] Jie Liu, Gongye Liu, Jiajun Liang, Yangguang Li, Jiaheng Liu, Xintao Wang, Pengfei Wan, Di Zhang, Wanli Ouyang. Flow-GRPO: Training Flow Matching Models via Online RL. NeurIPS 2025. https://proceedings.neurips.cc/paper_files/paper/2025/hash/3a10c46572628d58cb44fb705f25cbbf-Abstract-Conference.html</a:t>
            </a:r>
            <a:br/>
            <a:br/>
            <a:r>
              <a:t>[T05] Andreas Bergmeister, Stefanie Jegelka, Nikolas Nüsken, Carles Domingo-Enrich, Jakiw Pidstrigach. Reinforce Adjoint Matching: Scaling RL Post-Training of Diffusion and Flow-Matching Models. arXiv 2605.10759v2 (2026). https://arxiv.org/abs/2605.10759</a:t>
            </a:r>
            <a:br/>
            <a:br/>
            <a:r>
              <a:t>[T06] Ku Onoda, Paavo Parmas, Hiroki Furuta, Soichiro Nishimori, Yuta Oshima, Shohei Taniguchi, Yutaka Matsuo. Multi-Axis Max@K Reinforcement Learning for Representative Diversity in Text-to-Image Generation. arXiv 2607.14962v2 (2026)，原文注记WACV 2027接收. https://arxiv.org/abs/2607.14962</a:t>
            </a:r>
            <a:br/>
            <a:br/>
            <a:r>
              <a:t>[T07] Zheng Fang, Lichuan Xiang, Xu Cai, Bing Wang, Bo Yang, Hongkai Wen. DynFusion: Rethinking Condition Fusion for Adaptive Multi-Conditional Text-to-Image Generation. CVPR 2026, 29103–29113. https://wrap.warwick.ac.uk/id/eprint/197869/8/WRAP-DynFusion-rethinking-condition-fusion-multi-conditional-text-to-image-generation-26.pdf</a:t>
            </a:r>
            <a:br/>
            <a:br/>
            <a:r>
              <a:t>[T08] Michael Albergo, Nicholas M. Boffi, Eric Vanden-Eijnden. Stochastic Interpolants: A Unifying Framework for Flows and Diffusions. JMLR 26(209):1–80 (2025)，首稿2023. https://jmlr.org/papers/v26/23-1605.html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ddcd851a754d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e4280d419f4e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c5213b235f49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b7c2b059df4d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92c440789548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1b7b08ed6a42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CEA75A-CDBC-44B5-8270-D2F7199615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A7393F-23C3-494E-8A29-184BBAEAC2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0B41D5-01C7-48BF-A93B-6E7E5BDE0C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EA67C1-EDE2-4459-97A6-AFA63CA1A2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089369-A550-42AC-A090-F64639AB8F5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19C49A-7262-4956-BEB5-9338ABE227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AF50E6-BC16-4EB8-8777-E96BBA0302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C5E0D6-21C4-495E-B24E-8E2E3E0655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CD4024-6C56-4CDF-97F0-4FF7326CEE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EB0EED-D643-473A-A2D3-27D7DEFFDC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00c274b214414f" /><Relationship Type="http://schemas.openxmlformats.org/officeDocument/2006/relationships/slideLayout" Target="/ppt/slideLayouts/slideLayout1.xml" Id="R0d5d0fbb0e364067" /><Relationship Type="http://schemas.openxmlformats.org/officeDocument/2006/relationships/slideLayout" Target="/ppt/slideLayouts/slideLayout2.xml" Id="R1ed93cbebb3e4de2" /><Relationship Type="http://schemas.openxmlformats.org/officeDocument/2006/relationships/slideLayout" Target="/ppt/slideLayouts/slideLayout3.xml" Id="R0deb7c55d5ab4b14" /><Relationship Type="http://schemas.openxmlformats.org/officeDocument/2006/relationships/slideLayout" Target="/ppt/slideLayouts/slideLayout4.xml" Id="R4a66036e8607499e" /><Relationship Type="http://schemas.openxmlformats.org/officeDocument/2006/relationships/slideLayout" Target="/ppt/slideLayouts/slideLayout5.xml" Id="R7daa4ee515234358" /><Relationship Type="http://schemas.openxmlformats.org/officeDocument/2006/relationships/slideLayout" Target="/ppt/slideLayouts/slideLayout6.xml" Id="Rc77eed24f4f446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5d0fbb0e364067"/>
    <p:sldLayoutId xmlns:r="http://schemas.openxmlformats.org/officeDocument/2006/relationships" id="2147483650" r:id="R1ed93cbebb3e4de2"/>
    <p:sldLayoutId xmlns:r="http://schemas.openxmlformats.org/officeDocument/2006/relationships" id="2147483651" r:id="R0deb7c55d5ab4b14"/>
    <p:sldLayoutId xmlns:r="http://schemas.openxmlformats.org/officeDocument/2006/relationships" id="2147483652" r:id="R4a66036e8607499e"/>
    <p:sldLayoutId xmlns:r="http://schemas.openxmlformats.org/officeDocument/2006/relationships" id="2147483653" r:id="R7daa4ee515234358"/>
    <p:sldLayoutId xmlns:r="http://schemas.openxmlformats.org/officeDocument/2006/relationships" id="2147483654" r:id="Rc77eed24f4f446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bb293b45184366" /><Relationship Type="http://schemas.openxmlformats.org/officeDocument/2006/relationships/notesSlide" Target="/ppt/notesSlides/notesSlide1.xml" Id="R7f5b168720ef41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50962a494d4b11" /><Relationship Type="http://schemas.openxmlformats.org/officeDocument/2006/relationships/notesSlide" Target="/ppt/notesSlides/notesSlide2.xml" Id="R8c40cbdd09f842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58123f52e44c22" /><Relationship Type="http://schemas.openxmlformats.org/officeDocument/2006/relationships/notesSlide" Target="/ppt/notesSlides/notesSlide3.xml" Id="R7170d847f91d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b2790116b64668" /><Relationship Type="http://schemas.openxmlformats.org/officeDocument/2006/relationships/notesSlide" Target="/ppt/notesSlides/notesSlide4.xml" Id="Rb21be6baf35748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0b792af7854bbb" /><Relationship Type="http://schemas.openxmlformats.org/officeDocument/2006/relationships/notesSlide" Target="/ppt/notesSlides/notesSlide5.xml" Id="R0715043405da41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852e7dd7714053" /><Relationship Type="http://schemas.openxmlformats.org/officeDocument/2006/relationships/chart" Target="/ppt/slides/charts/chart1.xml" Id="Rbb97fc9f9a8740c9" /><Relationship Type="http://schemas.openxmlformats.org/officeDocument/2006/relationships/notesSlide" Target="/ppt/notesSlides/notesSlide6.xml" Id="Raa2b82a01e4042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232fd8fae7425f" /><Relationship Type="http://schemas.openxmlformats.org/officeDocument/2006/relationships/notesSlide" Target="/ppt/notesSlides/notesSlide7.xml" Id="R99fef27d2e8445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9d4e5241aa42e3" /><Relationship Type="http://schemas.openxmlformats.org/officeDocument/2006/relationships/notesSlide" Target="/ppt/notesSlides/notesSlide8.xml" Id="R6b56097b679243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1bee2042ee4640" /><Relationship Type="http://schemas.openxmlformats.org/officeDocument/2006/relationships/notesSlide" Target="/ppt/notesSlides/notesSlide9.xml" Id="R0561a867ef604a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d20c6ba1e44867" /><Relationship Type="http://schemas.openxmlformats.org/officeDocument/2006/relationships/notesSlide" Target="/ppt/notesSlides/notesSlide10.xml" Id="R68ed17e905324b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19df97949d942ce" /><Relationship Type="http://schemas.openxmlformats.org/officeDocument/2006/relationships/notesSlide" Target="/ppt/notesSlides/notesSlide11.xml" Id="Rc1f041a624bc48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1e77185dda443e" /><Relationship Type="http://schemas.openxmlformats.org/officeDocument/2006/relationships/notesSlide" Target="/ppt/notesSlides/notesSlide12.xml" Id="R43e1510241974a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08163cc9e8544c6" /><Relationship Type="http://schemas.openxmlformats.org/officeDocument/2006/relationships/notesSlide" Target="/ppt/notesSlides/notesSlide13.xml" Id="R20e5caf5129a4a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01a08dc49fb4a70" /><Relationship Type="http://schemas.openxmlformats.org/officeDocument/2006/relationships/notesSlide" Target="/ppt/notesSlides/notesSlide14.xml" Id="Re213a5293bf440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d13f061338c4191" /><Relationship Type="http://schemas.openxmlformats.org/officeDocument/2006/relationships/notesSlide" Target="/ppt/notesSlides/notesSlide15.xml" Id="Rfa2d3c4311a94b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29f21a8ff7849de" /><Relationship Type="http://schemas.openxmlformats.org/officeDocument/2006/relationships/notesSlide" Target="/ppt/notesSlides/notesSlide16.xml" Id="R6760ab948da24d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1702bf10154801" /><Relationship Type="http://schemas.openxmlformats.org/officeDocument/2006/relationships/notesSlide" Target="/ppt/notesSlides/notesSlide17.xml" Id="R0cc2b407f58f4a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d21a632784046de" /><Relationship Type="http://schemas.openxmlformats.org/officeDocument/2006/relationships/notesSlide" Target="/ppt/notesSlides/notesSlide18.xml" Id="R57d04db684e04f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d455c02d9374a46" /><Relationship Type="http://schemas.openxmlformats.org/officeDocument/2006/relationships/notesSlide" Target="/ppt/notesSlides/notesSlide19.xml" Id="R9a968195bb6347d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a554fc088b14164" /><Relationship Type="http://schemas.openxmlformats.org/officeDocument/2006/relationships/notesSlide" Target="/ppt/notesSlides/notesSlide20.xml" Id="Ra9b269d9c90942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e0cd7bbdff943fe" /><Relationship Type="http://schemas.openxmlformats.org/officeDocument/2006/relationships/notesSlide" Target="/ppt/notesSlides/notesSlide21.xml" Id="Rc3bb8480fe8347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a5d63b52fdd4e8b" /><Relationship Type="http://schemas.openxmlformats.org/officeDocument/2006/relationships/notesSlide" Target="/ppt/notesSlides/notesSlide22.xml" Id="R423119e731e64eb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d0e1918d8184cea" /><Relationship Type="http://schemas.openxmlformats.org/officeDocument/2006/relationships/notesSlide" Target="/ppt/notesSlides/notesSlide23.xml" Id="R59a96fd865654f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804fb58c2134473" /><Relationship Type="http://schemas.openxmlformats.org/officeDocument/2006/relationships/notesSlide" Target="/ppt/notesSlides/notesSlide24.xml" Id="Rd0df19d3f41d46c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7df3b9e35104c07" /><Relationship Type="http://schemas.openxmlformats.org/officeDocument/2006/relationships/notesSlide" Target="/ppt/notesSlides/notesSlide25.xml" Id="R3c8d889a440640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ac8cd8a64bf473c" /><Relationship Type="http://schemas.openxmlformats.org/officeDocument/2006/relationships/notesSlide" Target="/ppt/notesSlides/notesSlide26.xml" Id="R147f40ef45134a8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804d8c383cf4bdb" /><Relationship Type="http://schemas.openxmlformats.org/officeDocument/2006/relationships/notesSlide" Target="/ppt/notesSlides/notesSlide27.xml" Id="Rb0af952b1db4479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effa2b971504987" /><Relationship Type="http://schemas.openxmlformats.org/officeDocument/2006/relationships/notesSlide" Target="/ppt/notesSlides/notesSlide28.xml" Id="Re26a051d07874e9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2784932c9ed4410" /><Relationship Type="http://schemas.openxmlformats.org/officeDocument/2006/relationships/notesSlide" Target="/ppt/notesSlides/notesSlide29.xml" Id="R63da20ff033e463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b88fd5797434602" /><Relationship Type="http://schemas.openxmlformats.org/officeDocument/2006/relationships/notesSlide" Target="/ppt/notesSlides/notesSlide30.xml" Id="R11511364e071486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稳定率 S</c:v>
          </c:tx>
          <c:spPr>
            <a:ln xmlns:a="http://schemas.openxmlformats.org/drawingml/2006/main" w="28575">
              <a:solidFill>
                <a:srgbClr val="173E67"/>
              </a:solidFill>
            </a:ln>
          </c:spPr>
          <c:marker>
            <c:symbol val="circle"/>
            <c:size val="8"/>
            <c:spPr>
              <a:solidFill xmlns:a="http://schemas.openxmlformats.org/drawingml/2006/main">
                <a:srgbClr val="173E67"/>
              </a:solidFill>
            </c:spPr>
          </c:marker>
          <c:cat>
            <c:strRef>
              <c:f>'Chart Data'!$A$2:$A$4</c:f>
              <c:strCache>
                <c:ptCount val="3"/>
                <c:pt idx="0">
                  <c:v>第1轮</c:v>
                </c:pt>
                <c:pt idx="1">
                  <c:v>第2轮</c:v>
                </c:pt>
                <c:pt idx="2">
                  <c:v>第3轮</c:v>
                </c:pt>
              </c:strCache>
            </c:strRef>
          </c:cat>
          <c:val>
            <c:numRef>
              <c:f>'Chart Data'!$B$2:$B$4</c:f>
              <c:numCache>
                <c:formatCode>0</c:formatCode>
                <c:ptCount val="3"/>
                <c:pt idx="0">
                  <c:v>10.35</c:v>
                </c:pt>
                <c:pt idx="1">
                  <c:v>13.47</c:v>
                </c:pt>
                <c:pt idx="2">
                  <c:v>15.94</c:v>
                </c:pt>
              </c:numCache>
            </c:numRef>
          </c:val>
          <c:smooth val="0"/>
        </c:ser>
        <c:ser>
          <c:idx val="1"/>
          <c:order val="1"/>
          <c:tx>
            <c:v>SUN</c:v>
          </c:tx>
          <c:spPr>
            <a:ln xmlns:a="http://schemas.openxmlformats.org/drawingml/2006/main" w="28575">
              <a:solidFill>
                <a:srgbClr val="8C564B"/>
              </a:solidFill>
            </a:ln>
          </c:spPr>
          <c:marker>
            <c:symbol val="square"/>
            <c:size val="8"/>
            <c:spPr>
              <a:solidFill xmlns:a="http://schemas.openxmlformats.org/drawingml/2006/main">
                <a:srgbClr val="8C564B"/>
              </a:solidFill>
            </c:spPr>
          </c:marker>
          <c:cat>
            <c:strRef>
              <c:f>'Chart Data'!$C$2:$C$4</c:f>
              <c:strCache>
                <c:ptCount val="3"/>
                <c:pt idx="0">
                  <c:v>第1轮</c:v>
                </c:pt>
                <c:pt idx="1">
                  <c:v>第2轮</c:v>
                </c:pt>
                <c:pt idx="2">
                  <c:v>第3轮</c:v>
                </c:pt>
              </c:strCache>
            </c:strRef>
          </c:cat>
          <c:val>
            <c:numRef>
              <c:f>'Chart Data'!$D$2:$D$4</c:f>
              <c:numCache>
                <c:formatCode>0</c:formatCode>
                <c:ptCount val="3"/>
                <c:pt idx="0">
                  <c:v>2.93</c:v>
                </c:pt>
                <c:pt idx="1">
                  <c:v>2.23</c:v>
                </c:pt>
                <c:pt idx="2">
                  <c:v>1.69</c:v>
                </c:pt>
              </c:numCache>
            </c:numRef>
          </c:val>
          <c:smooth val="0"/>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533"/>
                  </a:solidFill>
                  <a:latin typeface="Microsoft YaHei"/>
                  <a:ea typeface="Microsoft YaHei"/>
                  <a:cs typeface="Microsoft YaHei"/>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26170"/>
            </a:solidFill>
          </a:ln>
        </c:spPr>
        <c:txPr>
          <a:bodyPr xmlns:a="http://schemas.openxmlformats.org/drawingml/2006/main" anchorCtr="1"/>
          <a:lstStyle xmlns:a="http://schemas.openxmlformats.org/drawingml/2006/main"/>
          <a:p xmlns:a="http://schemas.openxmlformats.org/drawingml/2006/main">
            <a:pPr>
              <a:defRPr sz="1500">
                <a:solidFill>
                  <a:srgbClr val="1B2533"/>
                </a:solidFill>
                <a:latin typeface="Microsoft YaHei"/>
                <a:ea typeface="Microsoft YaHei"/>
                <a:cs typeface="Microsoft YaHei"/>
              </a:defRPr>
            </a:pPr>
          </a:p>
        </c:txPr>
        <c:crossAx val="48672768"/>
      </c:catAx>
      <c:valAx>
        <c:axId val="48672768"/>
        <c:scaling>
          <c:orientation val="minMax"/>
          <c:max val="18"/>
          <c:min val="0"/>
        </c:scaling>
        <c:delete val="0"/>
        <c:axPos val="l"/>
        <c:majorGridlines>
          <c:spPr>
            <a:ln xmlns:a="http://schemas.openxmlformats.org/drawingml/2006/main" w="9525">
              <a:solidFill>
                <a:srgbClr val="E2E7E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B2533"/>
                </a:solidFill>
                <a:latin typeface="Microsoft YaHei"/>
                <a:ea typeface="Microsoft YaHei"/>
                <a:cs typeface="Microsoft YaHei"/>
              </a:defRPr>
            </a:pPr>
          </a:p>
        </c:txPr>
        <c:crossAx val="48650112"/>
        <c:crossBetween val="between"/>
        <c:majorUnit val="3"/>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B2533"/>
              </a:solidFill>
              <a:latin typeface="Microsoft YaHei"/>
              <a:ea typeface="Microsoft YaHei"/>
              <a:cs typeface="Microsoft YaHe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FA41CCA5-89E7-444B-AEB0-69645E760EEF}"/>
              </a:ext>
            </a:extLst>
          </p:cNvPr>
          <p:cNvSpPr>
            <a:spLocks xmlns:a="http://schemas.openxmlformats.org/drawingml/2006/main" noGrp="1"/>
          </p:cNvSpPr>
          <p:nvPr/>
        </p:nvSpPr>
        <p:spPr>
          <a:xfrm xmlns:a="http://schemas.openxmlformats.org/drawingml/2006/main">
            <a:off x="609600" y="17049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73E67"/>
                </a:solidFill>
                <a:latin typeface="Microsoft YaHei"/>
                <a:ea typeface="Microsoft YaHei"/>
                <a:cs typeface="Microsoft YaHei"/>
              </a:defRPr>
            </a:defPPr>
          </a:lstStyle>
          <a:p xmlns:a="http://schemas.openxmlformats.org/drawingml/2006/main">
            <a:pPr algn="l">
              <a:lnSpc>
                <a:spcPct val="118000"/>
              </a:lnSpc>
              <a:buNone/>
              <a:defRPr sz="4650" b="1">
                <a:solidFill>
                  <a:srgbClr val="173E67"/>
                </a:solidFill>
                <a:latin typeface="Microsoft YaHei"/>
                <a:ea typeface="Microsoft YaHei"/>
                <a:cs typeface="Microsoft YaHei"/>
              </a:defRPr>
            </a:pPr>
            <a:r>
              <a:rPr sz="4650" b="1">
                <a:solidFill>
                  <a:srgbClr val="173E67"/>
                </a:solidFill>
                <a:latin typeface="Microsoft YaHei"/>
                <a:ea typeface="Microsoft YaHei"/>
                <a:cs typeface="Microsoft YaHei"/>
              </a:rPr>
              <a:t>晶体生成的研究演化</a:t>
            </a:r>
          </a:p>
        </p:txBody>
      </p:sp>
      <p:sp>
        <p:nvSpPr>
          <p:cNvPr id="2" name="text">
            <a:extLst xmlns:a="http://schemas.openxmlformats.org/drawingml/2006/main">
              <a:ext uri="{FF2B5EF4-FFF2-40B4-BE49-F238E27FC236}">
                <a16:creationId xmlns:a16="http://schemas.microsoft.com/office/drawing/2014/main" id="{93AF98BC-DC15-46A7-8A3E-B491DD8EA727}"/>
              </a:ext>
            </a:extLst>
          </p:cNvPr>
          <p:cNvSpPr>
            <a:spLocks xmlns:a="http://schemas.openxmlformats.org/drawingml/2006/main" noGrp="1"/>
          </p:cNvSpPr>
          <p:nvPr/>
        </p:nvSpPr>
        <p:spPr>
          <a:xfrm xmlns:a="http://schemas.openxmlformats.org/drawingml/2006/main">
            <a:off x="609600" y="2800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B2533"/>
                </a:solidFill>
                <a:latin typeface="Microsoft YaHei"/>
                <a:ea typeface="Microsoft YaHei"/>
                <a:cs typeface="Microsoft YaHei"/>
              </a:defRPr>
            </a:defPPr>
          </a:lstStyle>
          <a:p xmlns:a="http://schemas.openxmlformats.org/drawingml/2006/main">
            <a:pPr algn="l">
              <a:lnSpc>
                <a:spcPct val="118000"/>
              </a:lnSpc>
              <a:buNone/>
              <a:defRPr sz="2550" b="0">
                <a:solidFill>
                  <a:srgbClr val="1B2533"/>
                </a:solidFill>
                <a:latin typeface="Microsoft YaHei"/>
                <a:ea typeface="Microsoft YaHei"/>
                <a:cs typeface="Microsoft YaHei"/>
              </a:defRPr>
            </a:pPr>
            <a:r>
              <a:rPr sz="2550" b="0">
                <a:solidFill>
                  <a:srgbClr val="1B2533"/>
                </a:solidFill>
                <a:latin typeface="Microsoft YaHei"/>
                <a:ea typeface="Microsoft YaHei"/>
                <a:cs typeface="Microsoft YaHei"/>
              </a:rPr>
              <a:t>任务、文献演化与四个研究方向</a:t>
            </a:r>
          </a:p>
        </p:txBody>
      </p:sp>
      <p:sp>
        <p:nvSpPr>
          <p:cNvPr id="3" name="text">
            <a:extLst xmlns:a="http://schemas.openxmlformats.org/drawingml/2006/main">
              <a:ext uri="{FF2B5EF4-FFF2-40B4-BE49-F238E27FC236}">
                <a16:creationId xmlns:a16="http://schemas.microsoft.com/office/drawing/2014/main" id="{C1E6D38A-53D7-4A4D-AEDC-C33E95F013C9}"/>
              </a:ext>
            </a:extLst>
          </p:cNvPr>
          <p:cNvSpPr>
            <a:spLocks xmlns:a="http://schemas.openxmlformats.org/drawingml/2006/main" noGrp="1"/>
          </p:cNvSpPr>
          <p:nvPr/>
        </p:nvSpPr>
        <p:spPr>
          <a:xfrm xmlns:a="http://schemas.openxmlformats.org/drawingml/2006/main">
            <a:off x="609600" y="38766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170"/>
                </a:solidFill>
                <a:latin typeface="Microsoft YaHei"/>
                <a:ea typeface="Microsoft YaHei"/>
                <a:cs typeface="Microsoft YaHei"/>
              </a:defRPr>
            </a:defPPr>
          </a:lstStyle>
          <a:p xmlns:a="http://schemas.openxmlformats.org/drawingml/2006/main">
            <a:pPr algn="l">
              <a:lnSpc>
                <a:spcPct val="118000"/>
              </a:lnSpc>
              <a:buNone/>
              <a:defRPr sz="2025" b="0">
                <a:solidFill>
                  <a:srgbClr val="526170"/>
                </a:solidFill>
                <a:latin typeface="Microsoft YaHei"/>
                <a:ea typeface="Microsoft YaHei"/>
                <a:cs typeface="Microsoft YaHei"/>
              </a:defRPr>
            </a:pPr>
            <a:r>
              <a:rPr sz="2025" b="0">
                <a:solidFill>
                  <a:srgbClr val="526170"/>
                </a:solidFill>
                <a:latin typeface="Microsoft YaHei"/>
                <a:ea typeface="Microsoft YaHei"/>
                <a:cs typeface="Microsoft YaHei"/>
              </a:rPr>
              <a:t>目标：生成更多低 Eₕᵤₗₗ、独特且新颖的晶体</a:t>
            </a:r>
          </a:p>
        </p:txBody>
      </p:sp>
      <p:sp>
        <p:nvSpPr>
          <p:cNvPr id="4" name="text">
            <a:extLst xmlns:a="http://schemas.openxmlformats.org/drawingml/2006/main">
              <a:ext uri="{FF2B5EF4-FFF2-40B4-BE49-F238E27FC236}">
                <a16:creationId xmlns:a16="http://schemas.microsoft.com/office/drawing/2014/main" id="{15725B54-E087-4124-A0EE-54B6F58BC549}"/>
              </a:ext>
            </a:extLst>
          </p:cNvPr>
          <p:cNvSpPr>
            <a:spLocks xmlns:a="http://schemas.openxmlformats.org/drawingml/2006/main" noGrp="1"/>
          </p:cNvSpPr>
          <p:nvPr/>
        </p:nvSpPr>
        <p:spPr>
          <a:xfrm xmlns:a="http://schemas.openxmlformats.org/drawingml/2006/main">
            <a:off x="609600" y="5638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170"/>
                </a:solidFill>
                <a:latin typeface="Microsoft YaHei"/>
                <a:ea typeface="Microsoft YaHei"/>
                <a:cs typeface="Microsoft YaHei"/>
              </a:defRPr>
            </a:defPPr>
          </a:lstStyle>
          <a:p xmlns:a="http://schemas.openxmlformats.org/drawingml/2006/main">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2026年10月12日修订</a:t>
            </a:r>
          </a:p>
        </p:txBody>
      </p:sp>
    </p:spTree>
    <p:extLst>
      <p:ext uri="{BB962C8B-B14F-4D97-AF65-F5344CB8AC3E}">
        <p14:creationId xmlns:p14="http://schemas.microsoft.com/office/powerpoint/2010/main" val="10918246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941394F-140B-4847-ACEC-4D263B71DBB5}"/>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研究目标与科学价值</a:t>
            </a:r>
          </a:p>
        </p:txBody>
      </p:sp>
      <p:sp>
        <p:nvSpPr>
          <p:cNvPr id="2" name="lead">
            <a:extLst xmlns:a="http://schemas.openxmlformats.org/drawingml/2006/main">
              <a:ext uri="{FF2B5EF4-FFF2-40B4-BE49-F238E27FC236}">
                <a16:creationId xmlns:a16="http://schemas.microsoft.com/office/drawing/2014/main" id="{290B8B76-9F76-4F36-ADF0-B058BB5D7B2E}"/>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在相同计算投入下，获得更多稳定、独特且新颖的材料。</a:t>
            </a:r>
          </a:p>
        </p:txBody>
      </p:sp>
      <p:sp>
        <p:nvSpPr>
          <p:cNvPr id="3" name="text">
            <a:extLst xmlns:a="http://schemas.openxmlformats.org/drawingml/2006/main">
              <a:ext uri="{FF2B5EF4-FFF2-40B4-BE49-F238E27FC236}">
                <a16:creationId xmlns:a16="http://schemas.microsoft.com/office/drawing/2014/main" id="{2E60B62E-FC40-42D0-8BBD-27CC225F92C7}"/>
              </a:ext>
            </a:extLst>
          </p:cNvPr>
          <p:cNvSpPr>
            <a:spLocks xmlns:a="http://schemas.openxmlformats.org/drawingml/2006/main" noGrp="1"/>
          </p:cNvSpPr>
          <p:nvPr/>
        </p:nvSpPr>
        <p:spPr>
          <a:xfrm xmlns:a="http://schemas.openxmlformats.org/drawingml/2006/main">
            <a:off x="609600" y="209550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稳定性 S</a:t>
            </a:r>
          </a:p>
        </p:txBody>
      </p:sp>
      <p:sp>
        <p:nvSpPr>
          <p:cNvPr id="4" name="text">
            <a:extLst xmlns:a="http://schemas.openxmlformats.org/drawingml/2006/main">
              <a:ext uri="{FF2B5EF4-FFF2-40B4-BE49-F238E27FC236}">
                <a16:creationId xmlns:a16="http://schemas.microsoft.com/office/drawing/2014/main" id="{107B1062-7CF2-4FEB-BB71-3137C1C5996E}"/>
              </a:ext>
            </a:extLst>
          </p:cNvPr>
          <p:cNvSpPr>
            <a:spLocks xmlns:a="http://schemas.openxmlformats.org/drawingml/2006/main" noGrp="1"/>
          </p:cNvSpPr>
          <p:nvPr/>
        </p:nvSpPr>
        <p:spPr>
          <a:xfrm xmlns:a="http://schemas.openxmlformats.org/drawingml/2006/main">
            <a:off x="2514600" y="209550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相对声明的竞争相集合计算能量，严格稳定阈值为 Eₕᵤₗₗ ≤ 0</a:t>
            </a:r>
          </a:p>
        </p:txBody>
      </p:sp>
      <p:sp>
        <p:nvSpPr>
          <p:cNvPr id="5" name="text">
            <a:extLst xmlns:a="http://schemas.openxmlformats.org/drawingml/2006/main">
              <a:ext uri="{FF2B5EF4-FFF2-40B4-BE49-F238E27FC236}">
                <a16:creationId xmlns:a16="http://schemas.microsoft.com/office/drawing/2014/main" id="{DA56BBDB-233C-44FC-81FF-D0C9CD0F4CC9}"/>
              </a:ext>
            </a:extLst>
          </p:cNvPr>
          <p:cNvSpPr>
            <a:spLocks xmlns:a="http://schemas.openxmlformats.org/drawingml/2006/main" noGrp="1"/>
          </p:cNvSpPr>
          <p:nvPr/>
        </p:nvSpPr>
        <p:spPr>
          <a:xfrm xmlns:a="http://schemas.openxmlformats.org/drawingml/2006/main">
            <a:off x="609600" y="303847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独特与新颖</a:t>
            </a:r>
          </a:p>
        </p:txBody>
      </p:sp>
      <p:sp>
        <p:nvSpPr>
          <p:cNvPr id="6" name="text">
            <a:extLst xmlns:a="http://schemas.openxmlformats.org/drawingml/2006/main">
              <a:ext uri="{FF2B5EF4-FFF2-40B4-BE49-F238E27FC236}">
                <a16:creationId xmlns:a16="http://schemas.microsoft.com/office/drawing/2014/main" id="{66FAC251-73A2-4268-9D68-342432188843}"/>
              </a:ext>
            </a:extLst>
          </p:cNvPr>
          <p:cNvSpPr>
            <a:spLocks xmlns:a="http://schemas.openxmlformats.org/drawingml/2006/main" noGrp="1"/>
          </p:cNvSpPr>
          <p:nvPr/>
        </p:nvSpPr>
        <p:spPr>
          <a:xfrm xmlns:a="http://schemas.openxmlformats.org/drawingml/2006/main">
            <a:off x="2514600" y="303847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U衡量集合内去重，N衡量相对参考库的新颖性。SUN同时满足S、U和N</a:t>
            </a:r>
          </a:p>
        </p:txBody>
      </p:sp>
      <p:sp>
        <p:nvSpPr>
          <p:cNvPr id="7" name="text">
            <a:extLst xmlns:a="http://schemas.openxmlformats.org/drawingml/2006/main">
              <a:ext uri="{FF2B5EF4-FFF2-40B4-BE49-F238E27FC236}">
                <a16:creationId xmlns:a16="http://schemas.microsoft.com/office/drawing/2014/main" id="{D873750B-1C82-42FD-807C-FD95C2A30620}"/>
              </a:ext>
            </a:extLst>
          </p:cNvPr>
          <p:cNvSpPr>
            <a:spLocks xmlns:a="http://schemas.openxmlformats.org/drawingml/2006/main" noGrp="1"/>
          </p:cNvSpPr>
          <p:nvPr/>
        </p:nvSpPr>
        <p:spPr>
          <a:xfrm xmlns:a="http://schemas.openxmlformats.org/drawingml/2006/main">
            <a:off x="609600" y="398145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条件生成</a:t>
            </a:r>
          </a:p>
        </p:txBody>
      </p:sp>
      <p:sp>
        <p:nvSpPr>
          <p:cNvPr id="8" name="text">
            <a:extLst xmlns:a="http://schemas.openxmlformats.org/drawingml/2006/main">
              <a:ext uri="{FF2B5EF4-FFF2-40B4-BE49-F238E27FC236}">
                <a16:creationId xmlns:a16="http://schemas.microsoft.com/office/drawing/2014/main" id="{1C56F6B6-6542-4DB7-ADD4-B2A11800C3B8}"/>
              </a:ext>
            </a:extLst>
          </p:cNvPr>
          <p:cNvSpPr>
            <a:spLocks xmlns:a="http://schemas.openxmlformats.org/drawingml/2006/main" noGrp="1"/>
          </p:cNvSpPr>
          <p:nvPr/>
        </p:nvSpPr>
        <p:spPr>
          <a:xfrm xmlns:a="http://schemas.openxmlformats.org/drawingml/2006/main">
            <a:off x="2514600" y="398145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在稳定发现的基础上，控制组成、结构关系或目标性质</a:t>
            </a:r>
          </a:p>
        </p:txBody>
      </p:sp>
      <p:sp>
        <p:nvSpPr>
          <p:cNvPr id="9" name="text">
            <a:extLst xmlns:a="http://schemas.openxmlformats.org/drawingml/2006/main">
              <a:ext uri="{FF2B5EF4-FFF2-40B4-BE49-F238E27FC236}">
                <a16:creationId xmlns:a16="http://schemas.microsoft.com/office/drawing/2014/main" id="{5841CB9B-82A2-40BF-B6A5-543DEFB8C3D5}"/>
              </a:ext>
            </a:extLst>
          </p:cNvPr>
          <p:cNvSpPr>
            <a:spLocks xmlns:a="http://schemas.openxmlformats.org/drawingml/2006/main" noGrp="1"/>
          </p:cNvSpPr>
          <p:nvPr/>
        </p:nvSpPr>
        <p:spPr>
          <a:xfrm xmlns:a="http://schemas.openxmlformats.org/drawingml/2006/main">
            <a:off x="609600" y="49244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科学价值</a:t>
            </a:r>
          </a:p>
        </p:txBody>
      </p:sp>
      <p:sp>
        <p:nvSpPr>
          <p:cNvPr id="10" name="text">
            <a:extLst xmlns:a="http://schemas.openxmlformats.org/drawingml/2006/main">
              <a:ext uri="{FF2B5EF4-FFF2-40B4-BE49-F238E27FC236}">
                <a16:creationId xmlns:a16="http://schemas.microsoft.com/office/drawing/2014/main" id="{8001D265-DD19-4133-B232-45AC56E43C3B}"/>
              </a:ext>
            </a:extLst>
          </p:cNvPr>
          <p:cNvSpPr>
            <a:spLocks xmlns:a="http://schemas.openxmlformats.org/drawingml/2006/main" noGrp="1"/>
          </p:cNvSpPr>
          <p:nvPr/>
        </p:nvSpPr>
        <p:spPr>
          <a:xfrm xmlns:a="http://schemas.openxmlformats.org/drawingml/2006/main">
            <a:off x="2514600" y="492442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材料空间远大于数据库。生成模型需要把已有知识用于尚未记录的材料</a:t>
            </a:r>
          </a:p>
        </p:txBody>
      </p:sp>
      <p:sp>
        <p:nvSpPr>
          <p:cNvPr id="11" name="separator">
            <a:extLst xmlns:a="http://schemas.openxmlformats.org/drawingml/2006/main">
              <a:ext uri="{FF2B5EF4-FFF2-40B4-BE49-F238E27FC236}">
                <a16:creationId xmlns:a16="http://schemas.microsoft.com/office/drawing/2014/main" id="{326FE542-E816-4A8A-BF8D-D9DE05A6929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EC4BC886-BD24-49B3-A246-AA92E9FC6709}"/>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Materials Project (2013)；GNoME (Nature 2023)；MatterGen (Nature 2025)；强基线研究 (2025)</a:t>
            </a:r>
          </a:p>
        </p:txBody>
      </p:sp>
      <p:sp>
        <p:nvSpPr>
          <p:cNvPr id="13" name="page-number">
            <a:extLst xmlns:a="http://schemas.openxmlformats.org/drawingml/2006/main">
              <a:ext uri="{FF2B5EF4-FFF2-40B4-BE49-F238E27FC236}">
                <a16:creationId xmlns:a16="http://schemas.microsoft.com/office/drawing/2014/main" id="{92AC2C89-E9F7-44CC-A2D1-59383974BD67}"/>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02</a:t>
            </a:r>
          </a:p>
        </p:txBody>
      </p:sp>
    </p:spTree>
    <p:extLst>
      <p:ext uri="{BB962C8B-B14F-4D97-AF65-F5344CB8AC3E}">
        <p14:creationId xmlns:p14="http://schemas.microsoft.com/office/powerpoint/2010/main" val="18833463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F03CA3D-9EBF-448D-835D-A58A7DEFFE64}"/>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论文中的任务决定了证据的含义</a:t>
            </a:r>
          </a:p>
        </p:txBody>
      </p:sp>
      <p:graphicFrame>
        <p:nvGraphicFramePr>
          <p:cNvPr id="2" name="">
            <a:extLst xmlns:a="http://schemas.openxmlformats.org/drawingml/2006/main">
              <a:ext uri="{FF2B5EF4-FFF2-40B4-BE49-F238E27FC236}">
                <a16:creationId xmlns:a16="http://schemas.microsoft.com/office/drawing/2014/main" id="{AD766357-EBB6-4C83-894A-217580E68E0A}"/>
              </a:ext>
            </a:extLst>
          </p:cNvPr>
          <p:cNvGraphicFramePr/>
          <p:nvPr/>
        </p:nvGraphicFramePr>
        <p:xfrm>
          <a:off xmlns:a="http://schemas.openxmlformats.org/drawingml/2006/main" x="609600" y="1400175"/>
          <a:ext xmlns:a="http://schemas.openxmlformats.org/drawingml/2006/main" cx="10972800" cy="4467225"/>
        </p:xfrm>
        <a:graphic xmlns:a="http://schemas.openxmlformats.org/drawingml/2006/main">
          <a:graphicData uri="http://schemas.openxmlformats.org/drawingml/2006/table">
            <a:tbl>
              <a:tblPr firstRow="0" bandRow="0"/>
              <a:tblGrid>
                <a:gridCol w="2524125"/>
                <a:gridCol w="5095875"/>
                <a:gridCol w="33528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输入与输出</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对应工作</a:t>
                      </a:r>
                    </a:p>
                  </a:txBody>
                  <a:tcPr marL="91440" marR="91440" marT="45720" marB="45720" anchor="ctr">
                    <a:solidFill>
                      <a:srgbClr val="EDF2F6"/>
                    </a:solidFill>
                  </a:tcPr>
                </a:tc>
              </a:tr>
              <a:tr h="655638">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组成条件CSP</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已知组成，生成晶胞和原子位置</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DiffCSP、FlowMM</a:t>
                      </a:r>
                    </a:p>
                  </a:txBody>
                  <a:tcPr marL="91440" marR="91440" marT="45720" marB="45720" anchor="ctr">
                    <a:solidFill>
                      <a:srgbClr val="FFFFFF"/>
                    </a:solidFill>
                  </a:tcPr>
                </a:tc>
              </a:tr>
              <a:tr h="655638">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自主生成DNG</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同时提出组成与完整晶体</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CDVAE、MatterGen</a:t>
                      </a:r>
                    </a:p>
                    <a:p>
                      <a:pPr algn="l">
                        <a:lnSpc>
                          <a:spcPct val="108000"/>
                        </a:lnSpc>
                        <a:buNone/>
                      </a:pPr>
                      <a:r>
                        <a:rPr sz="1725" b="0">
                          <a:solidFill>
                            <a:srgbClr val="1B2533"/>
                          </a:solidFill>
                          <a:latin typeface="Microsoft YaHei"/>
                          <a:ea typeface="Microsoft YaHei"/>
                          <a:cs typeface="Microsoft YaHei"/>
                        </a:rPr>
                        <a:t>OMatG</a:t>
                      </a:r>
                    </a:p>
                  </a:txBody>
                  <a:tcPr marL="91440" marR="91440" marT="45720" marB="45720" anchor="ctr">
                    <a:solidFill>
                      <a:srgbClr val="FFFFFF"/>
                    </a:solidFill>
                  </a:tcPr>
                </a:tc>
              </a:tr>
              <a:tr h="655638">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 / 文本条件生成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目标性质或描述，生成候选结构</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MatterGen、TGDMat</a:t>
                      </a:r>
                    </a:p>
                    <a:p>
                      <a:pPr algn="l">
                        <a:lnSpc>
                          <a:spcPct val="108000"/>
                        </a:lnSpc>
                        <a:buNone/>
                      </a:pPr>
                      <a:r>
                        <a:rPr sz="1725" b="0">
                          <a:solidFill>
                            <a:srgbClr val="1B2533"/>
                          </a:solidFill>
                          <a:latin typeface="Microsoft YaHei"/>
                          <a:ea typeface="Microsoft YaHei"/>
                          <a:cs typeface="Microsoft YaHei"/>
                        </a:rPr>
                        <a:t>PLaID++</a:t>
                      </a:r>
                    </a:p>
                  </a:txBody>
                  <a:tcPr marL="91440" marR="91440" marT="45720" marB="45720" anchor="ctr">
                    <a:solidFill>
                      <a:srgbClr val="FFFFFF"/>
                    </a:solidFill>
                  </a:tcPr>
                </a:tc>
              </a:tr>
              <a:tr h="655638">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结构条件生成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对称配置或局部图案，补全晶体</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SymmCD、SCIGEN</a:t>
                      </a:r>
                    </a:p>
                  </a:txBody>
                  <a:tcPr marL="91440" marR="91440" marT="45720" marB="45720" anchor="ctr">
                    <a:solidFill>
                      <a:srgbClr val="FFFFFF"/>
                    </a:solidFill>
                  </a:tcPr>
                </a:tc>
              </a:tr>
              <a:tr h="655638">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互条件生成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给定组成生成几何，或反向生成元素</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MCFlow</a:t>
                      </a:r>
                    </a:p>
                  </a:txBody>
                  <a:tcPr marL="91440" marR="91440" marT="45720" marB="45720" anchor="ctr">
                    <a:solidFill>
                      <a:srgbClr val="FFFFFF"/>
                    </a:solidFill>
                  </a:tcPr>
                </a:tc>
              </a:tr>
              <a:tr h="655638">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物理搜索与模型更新</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计算结构结果，改进行动或生成分布</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RL-CSP、GNoME</a:t>
                      </a:r>
                    </a:p>
                    <a:p>
                      <a:pPr algn="l">
                        <a:lnSpc>
                          <a:spcPct val="108000"/>
                        </a:lnSpc>
                        <a:buNone/>
                      </a:pPr>
                      <a:r>
                        <a:rPr sz="1725" b="0">
                          <a:solidFill>
                            <a:srgbClr val="1B2533"/>
                          </a:solidFill>
                          <a:latin typeface="Microsoft YaHei"/>
                          <a:ea typeface="Microsoft YaHei"/>
                          <a:cs typeface="Microsoft YaHei"/>
                        </a:rPr>
                        <a:t>OMatG-IRL</a:t>
                      </a:r>
                    </a:p>
                  </a:txBody>
                  <a:tcPr marL="91440" marR="91440" marT="45720" marB="45720" anchor="ctr">
                    <a:solidFill>
                      <a:srgbClr val="FFFFFF"/>
                    </a:solidFill>
                  </a:tcPr>
                </a:tc>
              </a:tr>
            </a:tbl>
          </a:graphicData>
        </a:graphic>
      </p:graphicFrame>
      <p:sp>
        <p:nvSpPr>
          <p:cNvPr id="3" name="separator">
            <a:extLst xmlns:a="http://schemas.openxmlformats.org/drawingml/2006/main">
              <a:ext uri="{FF2B5EF4-FFF2-40B4-BE49-F238E27FC236}">
                <a16:creationId xmlns:a16="http://schemas.microsoft.com/office/drawing/2014/main" id="{525513FC-0D25-4D33-9C34-3192B9E51B4D}"/>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4" name="sources">
            <a:extLst xmlns:a="http://schemas.openxmlformats.org/drawingml/2006/main">
              <a:ext uri="{FF2B5EF4-FFF2-40B4-BE49-F238E27FC236}">
                <a16:creationId xmlns:a16="http://schemas.microsoft.com/office/drawing/2014/main" id="{903296DF-813C-4379-9A03-7E1B179209F9}"/>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任务按原文输入与输出区分。CSP匹配、条件命中、DNG发现和预测模型改善分别呈现。</a:t>
            </a:r>
          </a:p>
        </p:txBody>
      </p:sp>
      <p:sp>
        <p:nvSpPr>
          <p:cNvPr id="5" name="page-number">
            <a:extLst xmlns:a="http://schemas.openxmlformats.org/drawingml/2006/main">
              <a:ext uri="{FF2B5EF4-FFF2-40B4-BE49-F238E27FC236}">
                <a16:creationId xmlns:a16="http://schemas.microsoft.com/office/drawing/2014/main" id="{34BD988E-6271-41F3-8CF1-36BD13C8565D}"/>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03</a:t>
            </a:r>
          </a:p>
        </p:txBody>
      </p:sp>
    </p:spTree>
    <p:extLst>
      <p:ext uri="{BB962C8B-B14F-4D97-AF65-F5344CB8AC3E}">
        <p14:creationId xmlns:p14="http://schemas.microsoft.com/office/powerpoint/2010/main" val="17987777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2918FB7-B6CB-4E5E-AED7-22E77D979F36}"/>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领域沿三条研究线并行发展</a:t>
            </a:r>
          </a:p>
        </p:txBody>
      </p:sp>
      <p:sp>
        <p:nvSpPr>
          <p:cNvPr id="2" name="lead">
            <a:extLst xmlns:a="http://schemas.openxmlformats.org/drawingml/2006/main">
              <a:ext uri="{FF2B5EF4-FFF2-40B4-BE49-F238E27FC236}">
                <a16:creationId xmlns:a16="http://schemas.microsoft.com/office/drawing/2014/main" id="{61463640-1435-4734-B88C-BA5829814086}"/>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新方法不断扩展可表达的结构、可接受的条件和可利用的物理信息。</a:t>
            </a:r>
          </a:p>
        </p:txBody>
      </p:sp>
      <p:graphicFrame>
        <p:nvGraphicFramePr>
          <p:cNvPr id="3" name="">
            <a:extLst xmlns:a="http://schemas.openxmlformats.org/drawingml/2006/main">
              <a:ext uri="{FF2B5EF4-FFF2-40B4-BE49-F238E27FC236}">
                <a16:creationId xmlns:a16="http://schemas.microsoft.com/office/drawing/2014/main" id="{5B3BACF7-F4F7-430B-9054-B07F6F097F39}"/>
              </a:ext>
            </a:extLst>
          </p:cNvPr>
          <p:cNvGraphicFramePr/>
          <p:nvPr/>
        </p:nvGraphicFramePr>
        <p:xfrm>
          <a:off xmlns:a="http://schemas.openxmlformats.org/drawingml/2006/main" x="609600" y="1990725"/>
          <a:ext xmlns:a="http://schemas.openxmlformats.org/drawingml/2006/main" cx="10972800" cy="3419475"/>
        </p:xfrm>
        <a:graphic xmlns:a="http://schemas.openxmlformats.org/drawingml/2006/main">
          <a:graphicData uri="http://schemas.openxmlformats.org/drawingml/2006/table">
            <a:tbl>
              <a:tblPr firstRow="0" bandRow="0"/>
              <a:tblGrid>
                <a:gridCol w="1857375"/>
                <a:gridCol w="2571750"/>
                <a:gridCol w="2714625"/>
                <a:gridCol w="382905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研究线</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早期基础</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2023—2024</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2025—2026</a:t>
                      </a:r>
                    </a:p>
                  </a:txBody>
                  <a:tcPr marL="91440" marR="91440" marT="45720" marB="45720" anchor="ctr">
                    <a:solidFill>
                      <a:srgbClr val="EDF2F6"/>
                    </a:solidFill>
                  </a:tcPr>
                </a:tc>
              </a:tr>
              <a:tr h="96202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结构表示与生成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iMatGen、FTCP</a:t>
                      </a:r>
                    </a:p>
                    <a:p>
                      <a:pPr algn="l">
                        <a:lnSpc>
                          <a:spcPct val="108000"/>
                        </a:lnSpc>
                        <a:buNone/>
                      </a:pPr>
                      <a:r>
                        <a:rPr sz="1725" b="0">
                          <a:solidFill>
                            <a:srgbClr val="1B2533"/>
                          </a:solidFill>
                          <a:latin typeface="Microsoft YaHei"/>
                          <a:ea typeface="Microsoft YaHei"/>
                          <a:cs typeface="Microsoft YaHei"/>
                        </a:rPr>
                        <a:t>CDVAE</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DiffCSP、FlowMM</a:t>
                      </a:r>
                    </a:p>
                    <a:p>
                      <a:pPr algn="l">
                        <a:lnSpc>
                          <a:spcPct val="108000"/>
                        </a:lnSpc>
                        <a:buNone/>
                      </a:pPr>
                      <a:r>
                        <a:rPr sz="1725" b="0">
                          <a:solidFill>
                            <a:srgbClr val="1B2533"/>
                          </a:solidFill>
                          <a:latin typeface="Microsoft YaHei"/>
                          <a:ea typeface="Microsoft YaHei"/>
                          <a:cs typeface="Microsoft YaHei"/>
                        </a:rPr>
                        <a:t>晶体语言模型</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OMatG、SymmCD</a:t>
                      </a:r>
                    </a:p>
                    <a:p>
                      <a:pPr algn="l">
                        <a:lnSpc>
                          <a:spcPct val="108000"/>
                        </a:lnSpc>
                        <a:buNone/>
                      </a:pPr>
                      <a:r>
                        <a:rPr sz="1725" b="0">
                          <a:solidFill>
                            <a:srgbClr val="1B2533"/>
                          </a:solidFill>
                          <a:latin typeface="Microsoft YaHei"/>
                          <a:ea typeface="Microsoft YaHei"/>
                          <a:cs typeface="Microsoft YaHei"/>
                        </a:rPr>
                        <a:t>CrysLLMGen、MCFlow</a:t>
                      </a:r>
                    </a:p>
                  </a:txBody>
                  <a:tcPr marL="91440" marR="91440" marT="45720" marB="45720" anchor="ctr">
                    <a:solidFill>
                      <a:srgbClr val="FFFFFF"/>
                    </a:solidFill>
                  </a:tcPr>
                </a:tc>
              </a:tr>
              <a:tr h="96202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条件与科学知识</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性质潜空间</a:t>
                      </a:r>
                    </a:p>
                    <a:p>
                      <a:pPr algn="l">
                        <a:lnSpc>
                          <a:spcPct val="108000"/>
                        </a:lnSpc>
                        <a:buNone/>
                      </a:pPr>
                      <a:r>
                        <a:rPr sz="1725" b="0">
                          <a:solidFill>
                            <a:srgbClr val="1B2533"/>
                          </a:solidFill>
                          <a:latin typeface="Microsoft YaHei"/>
                          <a:ea typeface="Microsoft YaHei"/>
                          <a:cs typeface="Microsoft YaHei"/>
                        </a:rPr>
                        <a:t>给定组成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对称约束</a:t>
                      </a:r>
                    </a:p>
                    <a:p>
                      <a:pPr algn="l">
                        <a:lnSpc>
                          <a:spcPct val="108000"/>
                        </a:lnSpc>
                        <a:buNone/>
                      </a:pPr>
                      <a:r>
                        <a:rPr sz="1725" b="0">
                          <a:solidFill>
                            <a:srgbClr val="1B2533"/>
                          </a:solidFill>
                          <a:latin typeface="Microsoft YaHei"/>
                          <a:ea typeface="Microsoft YaHei"/>
                          <a:cs typeface="Microsoft YaHei"/>
                        </a:rPr>
                        <a:t>语言条件与连续精修</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MatterGen、SCIGEN</a:t>
                      </a:r>
                    </a:p>
                    <a:p>
                      <a:pPr algn="l">
                        <a:lnSpc>
                          <a:spcPct val="108000"/>
                        </a:lnSpc>
                        <a:buNone/>
                      </a:pPr>
                      <a:r>
                        <a:rPr sz="1725" b="0">
                          <a:solidFill>
                            <a:srgbClr val="1B2533"/>
                          </a:solidFill>
                          <a:latin typeface="Microsoft YaHei"/>
                          <a:ea typeface="Microsoft YaHei"/>
                          <a:cs typeface="Microsoft YaHei"/>
                        </a:rPr>
                        <a:t>PLaID++、组合条件</a:t>
                      </a:r>
                    </a:p>
                  </a:txBody>
                  <a:tcPr marL="91440" marR="91440" marT="45720" marB="45720" anchor="ctr">
                    <a:solidFill>
                      <a:srgbClr val="FFFFFF"/>
                    </a:solidFill>
                  </a:tcPr>
                </a:tc>
              </a:tr>
              <a:tr h="96202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物理与多解发现</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AIRSS、USPEX</a:t>
                      </a:r>
                    </a:p>
                    <a:p>
                      <a:pPr algn="l">
                        <a:lnSpc>
                          <a:spcPct val="108000"/>
                        </a:lnSpc>
                        <a:buNone/>
                      </a:pPr>
                      <a:r>
                        <a:rPr sz="1725" b="0">
                          <a:solidFill>
                            <a:srgbClr val="1B2533"/>
                          </a:solidFill>
                          <a:latin typeface="Microsoft YaHei"/>
                          <a:ea typeface="Microsoft YaHei"/>
                          <a:cs typeface="Microsoft YaHei"/>
                        </a:rPr>
                        <a:t>材料数据库</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通用势、GNoME</a:t>
                      </a:r>
                    </a:p>
                    <a:p>
                      <a:pPr algn="l">
                        <a:lnSpc>
                          <a:spcPct val="108000"/>
                        </a:lnSpc>
                        <a:buNone/>
                      </a:pPr>
                      <a:r>
                        <a:rPr sz="1725" b="0">
                          <a:solidFill>
                            <a:srgbClr val="1B2533"/>
                          </a:solidFill>
                          <a:latin typeface="Microsoft YaHei"/>
                          <a:ea typeface="Microsoft YaHei"/>
                          <a:cs typeface="Microsoft YaHei"/>
                        </a:rPr>
                        <a:t>RL搜索与晶体QD</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物理后训练</a:t>
                      </a:r>
                    </a:p>
                    <a:p>
                      <a:pPr algn="l">
                        <a:lnSpc>
                          <a:spcPct val="108000"/>
                        </a:lnSpc>
                        <a:buNone/>
                      </a:pPr>
                      <a:r>
                        <a:rPr sz="1725" b="0">
                          <a:solidFill>
                            <a:srgbClr val="1B2533"/>
                          </a:solidFill>
                          <a:latin typeface="Microsoft YaHei"/>
                          <a:ea typeface="Microsoft YaHei"/>
                          <a:cs typeface="Microsoft YaHei"/>
                        </a:rPr>
                        <a:t>层级探索与数据回流</a:t>
                      </a:r>
                    </a:p>
                  </a:txBody>
                  <a:tcPr marL="91440" marR="91440" marT="45720" marB="45720" anchor="ctr">
                    <a:solidFill>
                      <a:srgbClr val="FFFFFF"/>
                    </a:solidFill>
                  </a:tcPr>
                </a:tc>
              </a:tr>
            </a:tbl>
          </a:graphicData>
        </a:graphic>
      </p:graphicFrame>
      <p:sp>
        <p:nvSpPr>
          <p:cNvPr id="4" name="conclusion">
            <a:extLst xmlns:a="http://schemas.openxmlformats.org/drawingml/2006/main">
              <a:ext uri="{FF2B5EF4-FFF2-40B4-BE49-F238E27FC236}">
                <a16:creationId xmlns:a16="http://schemas.microsoft.com/office/drawing/2014/main" id="{9E77FB08-1D38-4AE9-A961-95F474308BE9}"/>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时间按代表工作首次公开或正式发表概括。三条线之间不断交换方法。</a:t>
            </a:r>
          </a:p>
        </p:txBody>
      </p:sp>
      <p:sp>
        <p:nvSpPr>
          <p:cNvPr id="5" name="separator">
            <a:extLst xmlns:a="http://schemas.openxmlformats.org/drawingml/2006/main">
              <a:ext uri="{FF2B5EF4-FFF2-40B4-BE49-F238E27FC236}">
                <a16:creationId xmlns:a16="http://schemas.microsoft.com/office/drawing/2014/main" id="{EA4425FC-C5B2-4F35-84FD-5D442AA58C0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6" name="sources">
            <a:extLst xmlns:a="http://schemas.openxmlformats.org/drawingml/2006/main">
              <a:ext uri="{FF2B5EF4-FFF2-40B4-BE49-F238E27FC236}">
                <a16:creationId xmlns:a16="http://schemas.microsoft.com/office/drawing/2014/main" id="{08C6D7D9-8F30-4A44-9E65-78150DC24922}"/>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代表文献见本报告备注及文献年表。并行关系为综述归纳。</a:t>
            </a:r>
          </a:p>
        </p:txBody>
      </p:sp>
      <p:sp>
        <p:nvSpPr>
          <p:cNvPr id="7" name="page-number">
            <a:extLst xmlns:a="http://schemas.openxmlformats.org/drawingml/2006/main">
              <a:ext uri="{FF2B5EF4-FFF2-40B4-BE49-F238E27FC236}">
                <a16:creationId xmlns:a16="http://schemas.microsoft.com/office/drawing/2014/main" id="{49E13456-85A6-4699-AFD8-D5CCA3E98AB8}"/>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04</a:t>
            </a:r>
          </a:p>
        </p:txBody>
      </p:sp>
    </p:spTree>
    <p:extLst>
      <p:ext uri="{BB962C8B-B14F-4D97-AF65-F5344CB8AC3E}">
        <p14:creationId xmlns:p14="http://schemas.microsoft.com/office/powerpoint/2010/main" val="8321326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BA537A3-27F2-48DF-A2D1-A1DA3FC2BFCF}"/>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周期生成开始直接建模晶体几何</a:t>
            </a:r>
          </a:p>
        </p:txBody>
      </p:sp>
      <p:graphicFrame>
        <p:nvGraphicFramePr>
          <p:cNvPr id="2" name="">
            <a:extLst xmlns:a="http://schemas.openxmlformats.org/drawingml/2006/main">
              <a:ext uri="{FF2B5EF4-FFF2-40B4-BE49-F238E27FC236}">
                <a16:creationId xmlns:a16="http://schemas.microsoft.com/office/drawing/2014/main" id="{D8F4F470-0573-4118-80C6-046938A2808C}"/>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2714625"/>
                <a:gridCol w="3476625"/>
                <a:gridCol w="478155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工作</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解决的主要困难</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方法与已建立的能力</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CDVAE</a:t>
                      </a:r>
                    </a:p>
                    <a:p>
                      <a:pPr algn="l">
                        <a:lnSpc>
                          <a:spcPct val="108000"/>
                        </a:lnSpc>
                        <a:buNone/>
                      </a:pPr>
                      <a:r>
                        <a:rPr sz="1725" b="0">
                          <a:solidFill>
                            <a:srgbClr val="1B2533"/>
                          </a:solidFill>
                          <a:latin typeface="Microsoft YaHei"/>
                          <a:ea typeface="Microsoft YaHei"/>
                          <a:cs typeface="Microsoft YaHei"/>
                        </a:rPr>
                        <a:t>ICLR 2022</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周期结构的可学习生成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潜变量组织结构属性，周期去噪生成坐标</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DiffCSP</a:t>
                      </a:r>
                    </a:p>
                    <a:p>
                      <a:pPr algn="l">
                        <a:lnSpc>
                          <a:spcPct val="108000"/>
                        </a:lnSpc>
                        <a:buNone/>
                      </a:pPr>
                      <a:r>
                        <a:rPr sz="1725" b="0">
                          <a:solidFill>
                            <a:srgbClr val="1B2533"/>
                          </a:solidFill>
                          <a:latin typeface="Microsoft YaHei"/>
                          <a:ea typeface="Microsoft YaHei"/>
                          <a:cs typeface="Microsoft YaHei"/>
                        </a:rPr>
                        <a:t>NeurIPS 2023</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给定组成下晶胞与坐标耦合</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联合等变扩散，提高参考结构预测能力</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FlowMM</a:t>
                      </a:r>
                    </a:p>
                    <a:p>
                      <a:pPr algn="l">
                        <a:lnSpc>
                          <a:spcPct val="108000"/>
                        </a:lnSpc>
                        <a:buNone/>
                      </a:pPr>
                      <a:r>
                        <a:rPr sz="1725" b="0">
                          <a:solidFill>
                            <a:srgbClr val="1B2533"/>
                          </a:solidFill>
                          <a:latin typeface="Microsoft YaHei"/>
                          <a:ea typeface="Microsoft YaHei"/>
                          <a:cs typeface="Microsoft YaHei"/>
                        </a:rPr>
                        <a:t>ICML 2024</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周期变量的连续生成路径</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在晶体流形上进行 flow matching</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OMatG</a:t>
                      </a:r>
                    </a:p>
                    <a:p>
                      <a:pPr algn="l">
                        <a:lnSpc>
                          <a:spcPct val="108000"/>
                        </a:lnSpc>
                        <a:buNone/>
                      </a:pPr>
                      <a:r>
                        <a:rPr sz="1725" b="0">
                          <a:solidFill>
                            <a:srgbClr val="1B2533"/>
                          </a:solidFill>
                          <a:latin typeface="Microsoft YaHei"/>
                          <a:ea typeface="Microsoft YaHei"/>
                          <a:cs typeface="Microsoft YaHei"/>
                        </a:rPr>
                        <a:t>ICML 2025</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离散元素与连续几何联合生成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随机插值（SI）结合连续几何与离散元素过程</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F6C03239-D35A-4712-B34E-E8443C5574C6}"/>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这些方法提供了联合生成工具。新的问题是它们如何学到未见化学与几何的正确配对。</a:t>
            </a:r>
          </a:p>
        </p:txBody>
      </p:sp>
      <p:sp>
        <p:nvSpPr>
          <p:cNvPr id="4" name="separator">
            <a:extLst xmlns:a="http://schemas.openxmlformats.org/drawingml/2006/main">
              <a:ext uri="{FF2B5EF4-FFF2-40B4-BE49-F238E27FC236}">
                <a16:creationId xmlns:a16="http://schemas.microsoft.com/office/drawing/2014/main" id="{B9169647-FE01-450F-A2BE-9F66E7AC57FE}"/>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C65D9FFA-6466-41BB-80FC-227114B35C37}"/>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CDVAE [R08]；DiffCSP [R13]；FlowMM [R26]；OMatG [R34]</a:t>
            </a:r>
          </a:p>
        </p:txBody>
      </p:sp>
      <p:sp>
        <p:nvSpPr>
          <p:cNvPr id="6" name="page-number">
            <a:extLst xmlns:a="http://schemas.openxmlformats.org/drawingml/2006/main">
              <a:ext uri="{FF2B5EF4-FFF2-40B4-BE49-F238E27FC236}">
                <a16:creationId xmlns:a16="http://schemas.microsoft.com/office/drawing/2014/main" id="{25815A94-DB1D-4002-9E7F-2E19AF3A27FF}"/>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05</a:t>
            </a:r>
          </a:p>
        </p:txBody>
      </p:sp>
    </p:spTree>
    <p:extLst>
      <p:ext uri="{BB962C8B-B14F-4D97-AF65-F5344CB8AC3E}">
        <p14:creationId xmlns:p14="http://schemas.microsoft.com/office/powerpoint/2010/main" val="3480359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E7E59C4-60E3-4424-A7D2-0BF7891ACBF0}"/>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稳定率提高时，SUN仍可能下降</a:t>
            </a:r>
          </a:p>
        </p:txBody>
      </p:sp>
      <p:sp>
        <p:nvSpPr>
          <p:cNvPr id="2" name="lead">
            <a:extLst xmlns:a="http://schemas.openxmlformats.org/drawingml/2006/main">
              <a:ext uri="{FF2B5EF4-FFF2-40B4-BE49-F238E27FC236}">
                <a16:creationId xmlns:a16="http://schemas.microsoft.com/office/drawing/2014/main" id="{4DE5FDA5-42DF-40D4-8E65-958757F090B3}"/>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PLaID++的坐标表示对照说明，稳定性收益可能同时伴随发现数量损失。</a:t>
            </a:r>
          </a:p>
        </p:txBody>
      </p:sp>
      <p:graphicFrame>
        <p:nvGraphicFramePr>
          <p:cNvPr id="3" name="Chart">
            <a:extLst xmlns:a="http://schemas.openxmlformats.org/drawingml/2006/main">
              <a:ext uri="{FF2B5EF4-FFF2-40B4-BE49-F238E27FC236}">
                <a16:creationId xmlns:a16="http://schemas.microsoft.com/office/drawing/2014/main" id="{E79D702B-E0B6-4FBA-846D-41FDE918F46C}"/>
              </a:ext>
            </a:extLst>
          </p:cNvPr>
          <p:cNvGraphicFramePr/>
          <p:nvPr/>
        </p:nvGraphicFramePr>
        <p:xfrm>
          <a:off xmlns:a="http://schemas.openxmlformats.org/drawingml/2006/main" x="609600" y="1943100"/>
          <a:ext xmlns:a="http://schemas.openxmlformats.org/drawingml/2006/main" cx="6334125" cy="3667125"/>
        </p:xfrm>
        <a:graphic xmlns:a="http://schemas.openxmlformats.org/drawingml/2006/main">
          <a:graphicData uri="http://schemas.openxmlformats.org/drawingml/2006/chart">
            <c:chart xmlns:r="http://schemas.openxmlformats.org/officeDocument/2006/relationships" xmlns:c="http://schemas.openxmlformats.org/drawingml/2006/chart" r:id="Rbb97fc9f9a8740c9"/>
          </a:graphicData>
        </a:graphic>
      </p:graphicFrame>
      <p:sp>
        <p:nvSpPr>
          <p:cNvPr id="4" name="text">
            <a:extLst xmlns:a="http://schemas.openxmlformats.org/drawingml/2006/main">
              <a:ext uri="{FF2B5EF4-FFF2-40B4-BE49-F238E27FC236}">
                <a16:creationId xmlns:a16="http://schemas.microsoft.com/office/drawing/2014/main" id="{33CE8C85-AFF1-4F35-8DA2-352590520712}"/>
              </a:ext>
            </a:extLst>
          </p:cNvPr>
          <p:cNvSpPr>
            <a:spLocks xmlns:a="http://schemas.openxmlformats.org/drawingml/2006/main" noGrp="1"/>
          </p:cNvSpPr>
          <p:nvPr/>
        </p:nvSpPr>
        <p:spPr>
          <a:xfrm xmlns:a="http://schemas.openxmlformats.org/drawingml/2006/main">
            <a:off x="685800" y="17430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170"/>
                </a:solidFill>
                <a:latin typeface="Microsoft YaHei"/>
                <a:ea typeface="Microsoft YaHei"/>
                <a:cs typeface="Microsoft YaHei"/>
              </a:defRPr>
            </a:defPPr>
          </a:lstStyle>
          <a:p xmlns:a="http://schemas.openxmlformats.org/drawingml/2006/main">
            <a:pPr algn="l">
              <a:lnSpc>
                <a:spcPct val="118000"/>
              </a:lnSpc>
              <a:buNone/>
              <a:defRPr sz="1500" b="0">
                <a:solidFill>
                  <a:srgbClr val="526170"/>
                </a:solidFill>
                <a:latin typeface="Microsoft YaHei"/>
                <a:ea typeface="Microsoft YaHei"/>
                <a:cs typeface="Microsoft YaHei"/>
              </a:defRPr>
            </a:pPr>
            <a:r>
              <a:rPr sz="1500" b="0">
                <a:solidFill>
                  <a:srgbClr val="526170"/>
                </a:solidFill>
                <a:latin typeface="Microsoft YaHei"/>
                <a:ea typeface="Microsoft YaHei"/>
                <a:cs typeface="Microsoft YaHei"/>
              </a:rPr>
              <a:t>比例（%）</a:t>
            </a:r>
          </a:p>
        </p:txBody>
      </p:sp>
      <p:sp>
        <p:nvSpPr>
          <p:cNvPr id="5" name="text">
            <a:extLst xmlns:a="http://schemas.openxmlformats.org/drawingml/2006/main">
              <a:ext uri="{FF2B5EF4-FFF2-40B4-BE49-F238E27FC236}">
                <a16:creationId xmlns:a16="http://schemas.microsoft.com/office/drawing/2014/main" id="{4447DA39-9295-40F8-B4EA-F202C67ED7B8}"/>
              </a:ext>
            </a:extLst>
          </p:cNvPr>
          <p:cNvSpPr>
            <a:spLocks xmlns:a="http://schemas.openxmlformats.org/drawingml/2006/main" noGrp="1"/>
          </p:cNvSpPr>
          <p:nvPr/>
        </p:nvSpPr>
        <p:spPr>
          <a:xfrm xmlns:a="http://schemas.openxmlformats.org/drawingml/2006/main">
            <a:off x="7391400" y="20383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3E67"/>
                </a:solidFill>
                <a:latin typeface="Microsoft YaHei"/>
                <a:ea typeface="Microsoft YaHei"/>
                <a:cs typeface="Microsoft YaHei"/>
              </a:defRPr>
            </a:defPPr>
          </a:lstStyle>
          <a:p xmlns:a="http://schemas.openxmlformats.org/drawingml/2006/main">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同一对照</a:t>
            </a:r>
          </a:p>
        </p:txBody>
      </p:sp>
      <p:sp>
        <p:nvSpPr>
          <p:cNvPr id="6" name="text">
            <a:extLst xmlns:a="http://schemas.openxmlformats.org/drawingml/2006/main">
              <a:ext uri="{FF2B5EF4-FFF2-40B4-BE49-F238E27FC236}">
                <a16:creationId xmlns:a16="http://schemas.microsoft.com/office/drawing/2014/main" id="{50964A82-253A-46E2-B61E-F6F6FEC24A85}"/>
              </a:ext>
            </a:extLst>
          </p:cNvPr>
          <p:cNvSpPr>
            <a:spLocks xmlns:a="http://schemas.openxmlformats.org/drawingml/2006/main" noGrp="1"/>
          </p:cNvSpPr>
          <p:nvPr/>
        </p:nvSpPr>
        <p:spPr>
          <a:xfrm xmlns:a="http://schemas.openxmlformats.org/drawingml/2006/main">
            <a:off x="7391400" y="2419350"/>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B2533"/>
                </a:solidFill>
                <a:latin typeface="Microsoft YaHei"/>
                <a:ea typeface="Microsoft YaHei"/>
                <a:cs typeface="Microsoft YaHei"/>
              </a:defRPr>
            </a:defPPr>
          </a:lstStyle>
          <a:p xmlns:a="http://schemas.openxmlformats.org/drawingml/2006/main">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稳定率由10.35%升至15.94%，SUN由2.93%降至1.69%。</a:t>
            </a:r>
          </a:p>
        </p:txBody>
      </p:sp>
      <p:sp>
        <p:nvSpPr>
          <p:cNvPr id="7" name="text">
            <a:extLst xmlns:a="http://schemas.openxmlformats.org/drawingml/2006/main">
              <a:ext uri="{FF2B5EF4-FFF2-40B4-BE49-F238E27FC236}">
                <a16:creationId xmlns:a16="http://schemas.microsoft.com/office/drawing/2014/main" id="{331106CD-0319-41F4-B83A-078310174913}"/>
              </a:ext>
            </a:extLst>
          </p:cNvPr>
          <p:cNvSpPr>
            <a:spLocks xmlns:a="http://schemas.openxmlformats.org/drawingml/2006/main" noGrp="1"/>
          </p:cNvSpPr>
          <p:nvPr/>
        </p:nvSpPr>
        <p:spPr>
          <a:xfrm xmlns:a="http://schemas.openxmlformats.org/drawingml/2006/main">
            <a:off x="7391400" y="32670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3E67"/>
                </a:solidFill>
                <a:latin typeface="Microsoft YaHei"/>
                <a:ea typeface="Microsoft YaHei"/>
                <a:cs typeface="Microsoft YaHei"/>
              </a:defRPr>
            </a:defPPr>
          </a:lstStyle>
          <a:p xmlns:a="http://schemas.openxmlformats.org/drawingml/2006/main">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科学问题</a:t>
            </a:r>
          </a:p>
        </p:txBody>
      </p:sp>
      <p:sp>
        <p:nvSpPr>
          <p:cNvPr id="8" name="text">
            <a:extLst xmlns:a="http://schemas.openxmlformats.org/drawingml/2006/main">
              <a:ext uri="{FF2B5EF4-FFF2-40B4-BE49-F238E27FC236}">
                <a16:creationId xmlns:a16="http://schemas.microsoft.com/office/drawing/2014/main" id="{6B6E6EE6-5065-48D9-80CE-C30D4AB4B3E6}"/>
              </a:ext>
            </a:extLst>
          </p:cNvPr>
          <p:cNvSpPr>
            <a:spLocks xmlns:a="http://schemas.openxmlformats.org/drawingml/2006/main" noGrp="1"/>
          </p:cNvSpPr>
          <p:nvPr/>
        </p:nvSpPr>
        <p:spPr>
          <a:xfrm xmlns:a="http://schemas.openxmlformats.org/drawingml/2006/main">
            <a:off x="7391400" y="3648075"/>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B2533"/>
                </a:solidFill>
                <a:latin typeface="Microsoft YaHei"/>
                <a:ea typeface="Microsoft YaHei"/>
                <a:cs typeface="Microsoft YaHei"/>
              </a:defRPr>
            </a:defPPr>
          </a:lstStyle>
          <a:p xmlns:a="http://schemas.openxmlformats.org/drawingml/2006/main">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怎样让稳定性优化增加不同的新结构？</a:t>
            </a:r>
          </a:p>
        </p:txBody>
      </p:sp>
      <p:sp>
        <p:nvSpPr>
          <p:cNvPr id="9" name="text">
            <a:extLst xmlns:a="http://schemas.openxmlformats.org/drawingml/2006/main">
              <a:ext uri="{FF2B5EF4-FFF2-40B4-BE49-F238E27FC236}">
                <a16:creationId xmlns:a16="http://schemas.microsoft.com/office/drawing/2014/main" id="{DB8EAAF1-C34B-4664-B406-D05A9A18C4FF}"/>
              </a:ext>
            </a:extLst>
          </p:cNvPr>
          <p:cNvSpPr>
            <a:spLocks xmlns:a="http://schemas.openxmlformats.org/drawingml/2006/main" noGrp="1"/>
          </p:cNvSpPr>
          <p:nvPr/>
        </p:nvSpPr>
        <p:spPr>
          <a:xfrm xmlns:a="http://schemas.openxmlformats.org/drawingml/2006/main">
            <a:off x="7391400" y="449580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3E67"/>
                </a:solidFill>
                <a:latin typeface="Microsoft YaHei"/>
                <a:ea typeface="Microsoft YaHei"/>
                <a:cs typeface="Microsoft YaHei"/>
              </a:defRPr>
            </a:defPPr>
          </a:lstStyle>
          <a:p xmlns:a="http://schemas.openxmlformats.org/drawingml/2006/main">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结果范围</a:t>
            </a:r>
          </a:p>
        </p:txBody>
      </p:sp>
      <p:sp>
        <p:nvSpPr>
          <p:cNvPr id="10" name="text">
            <a:extLst xmlns:a="http://schemas.openxmlformats.org/drawingml/2006/main">
              <a:ext uri="{FF2B5EF4-FFF2-40B4-BE49-F238E27FC236}">
                <a16:creationId xmlns:a16="http://schemas.microsoft.com/office/drawing/2014/main" id="{5A7A2115-1903-448F-A4B3-5A8FD7AA30D3}"/>
              </a:ext>
            </a:extLst>
          </p:cNvPr>
          <p:cNvSpPr>
            <a:spLocks xmlns:a="http://schemas.openxmlformats.org/drawingml/2006/main" noGrp="1"/>
          </p:cNvSpPr>
          <p:nvPr/>
        </p:nvSpPr>
        <p:spPr>
          <a:xfrm xmlns:a="http://schemas.openxmlformats.org/drawingml/2006/main">
            <a:off x="7391400" y="4876800"/>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B2533"/>
                </a:solidFill>
                <a:latin typeface="Microsoft YaHei"/>
                <a:ea typeface="Microsoft YaHei"/>
                <a:cs typeface="Microsoft YaHei"/>
              </a:defRPr>
            </a:defPPr>
          </a:lstStyle>
          <a:p xmlns:a="http://schemas.openxmlformats.org/drawingml/2006/main">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该现象来自坐标表示消融。论文主方法研究表示与偏好学习。</a:t>
            </a:r>
          </a:p>
        </p:txBody>
      </p:sp>
      <p:sp>
        <p:nvSpPr>
          <p:cNvPr id="11" name="separator">
            <a:extLst xmlns:a="http://schemas.openxmlformats.org/drawingml/2006/main">
              <a:ext uri="{FF2B5EF4-FFF2-40B4-BE49-F238E27FC236}">
                <a16:creationId xmlns:a16="http://schemas.microsoft.com/office/drawing/2014/main" id="{52324F95-F477-4D1B-B1FC-D6910A0CF04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4B2BDBE4-10C5-4A0B-806A-FA2CAC309301}"/>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PLaID++, ICML 2026，arXiv v4。每轮10,000个可解析CIF，eSEN评价，Eₕᵤₗₗ ≤ 0。</a:t>
            </a:r>
          </a:p>
        </p:txBody>
      </p:sp>
      <p:sp>
        <p:nvSpPr>
          <p:cNvPr id="13" name="page-number">
            <a:extLst xmlns:a="http://schemas.openxmlformats.org/drawingml/2006/main">
              <a:ext uri="{FF2B5EF4-FFF2-40B4-BE49-F238E27FC236}">
                <a16:creationId xmlns:a16="http://schemas.microsoft.com/office/drawing/2014/main" id="{1B2C3475-54F9-4647-92D1-0A260C724A7D}"/>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06</a:t>
            </a:r>
          </a:p>
        </p:txBody>
      </p:sp>
    </p:spTree>
    <p:extLst>
      <p:ext uri="{BB962C8B-B14F-4D97-AF65-F5344CB8AC3E}">
        <p14:creationId xmlns:p14="http://schemas.microsoft.com/office/powerpoint/2010/main" val="2163316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93D9173-DD96-4E56-ADC1-F5589255D136}"/>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稳定发现的评价需要共同口径</a:t>
            </a:r>
          </a:p>
        </p:txBody>
      </p:sp>
      <p:graphicFrame>
        <p:nvGraphicFramePr>
          <p:cNvPr id="2" name="">
            <a:extLst xmlns:a="http://schemas.openxmlformats.org/drawingml/2006/main">
              <a:ext uri="{FF2B5EF4-FFF2-40B4-BE49-F238E27FC236}">
                <a16:creationId xmlns:a16="http://schemas.microsoft.com/office/drawing/2014/main" id="{248107CD-7FD1-4188-BF56-58CF9338521E}"/>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667125"/>
                <a:gridCol w="7305675"/>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必须说明的条件</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为什么影响结论</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稳定阈值与参考相集合</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Eₕᵤₗₗ ≤ 0 与 ≤ 0.1 eV/atom对应不同的合格范围</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物理层级与弛豫流程</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DFT和MLIP提供不同证据。弛豫可能改变能量和结构身份</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分母与完整费用</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全部请求、可解析结构和完成评价的样本数需要分别保留</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新颖性与独特性</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参照集合和匹配阶段决定N与U，原型新颖性可作为额外分析</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A318FC36-76FA-41F0-B92C-B2512FB0BC01}"/>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本项目主结果采用严格SUN。熟悉原型中的新稳定化学仍属于有效发现。</a:t>
            </a:r>
          </a:p>
        </p:txBody>
      </p:sp>
      <p:sp>
        <p:nvSpPr>
          <p:cNvPr id="4" name="separator">
            <a:extLst xmlns:a="http://schemas.openxmlformats.org/drawingml/2006/main">
              <a:ext uri="{FF2B5EF4-FFF2-40B4-BE49-F238E27FC236}">
                <a16:creationId xmlns:a16="http://schemas.microsoft.com/office/drawing/2014/main" id="{DE46D410-05FD-464A-B427-D7F1FEC3F05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AA143E7C-2409-4250-9148-0C3BCF40C4D7}"/>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强基线研究 (2025)；Structure Matches (NeurIPS 2025)；LeMat-GenBench v2；替换新颖性分析 (2026)</a:t>
            </a:r>
          </a:p>
        </p:txBody>
      </p:sp>
      <p:sp>
        <p:nvSpPr>
          <p:cNvPr id="6" name="page-number">
            <a:extLst xmlns:a="http://schemas.openxmlformats.org/drawingml/2006/main">
              <a:ext uri="{FF2B5EF4-FFF2-40B4-BE49-F238E27FC236}">
                <a16:creationId xmlns:a16="http://schemas.microsoft.com/office/drawing/2014/main" id="{2CDE4833-B11A-4790-B043-894DB869E5EA}"/>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07</a:t>
            </a:r>
          </a:p>
        </p:txBody>
      </p:sp>
    </p:spTree>
    <p:extLst>
      <p:ext uri="{BB962C8B-B14F-4D97-AF65-F5344CB8AC3E}">
        <p14:creationId xmlns:p14="http://schemas.microsoft.com/office/powerpoint/2010/main" val="4889817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BE0E64C-9F52-439B-A5CF-38AF12ECF912}"/>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C1：科学条件怎样得到正确结构</a:t>
            </a:r>
          </a:p>
        </p:txBody>
      </p:sp>
      <p:graphicFrame>
        <p:nvGraphicFramePr>
          <p:cNvPr id="2" name="">
            <a:extLst xmlns:a="http://schemas.openxmlformats.org/drawingml/2006/main">
              <a:ext uri="{FF2B5EF4-FFF2-40B4-BE49-F238E27FC236}">
                <a16:creationId xmlns:a16="http://schemas.microsoft.com/office/drawing/2014/main" id="{4131F453-AB71-4613-98ED-0FAAAA2FC84C}"/>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352800"/>
                <a:gridCol w="2667000"/>
                <a:gridCol w="49530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演化阶段与论文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2019–2022</a:t>
                      </a:r>
                    </a:p>
                    <a:p>
                      <a:pPr algn="l">
                        <a:lnSpc>
                          <a:spcPct val="108000"/>
                        </a:lnSpc>
                        <a:buNone/>
                      </a:pPr>
                      <a:r>
                        <a:rPr sz="1725" b="0">
                          <a:solidFill>
                            <a:srgbClr val="1B2533"/>
                          </a:solidFill>
                          <a:latin typeface="Microsoft YaHei"/>
                          <a:ea typeface="Microsoft YaHei"/>
                          <a:cs typeface="Microsoft YaHei"/>
                        </a:rPr>
                        <a:t>iMatGen、FTCP、CDVAE</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性质逆设计、结构重构</a:t>
                      </a:r>
                    </a:p>
                    <a:p>
                      <a:pPr algn="l">
                        <a:lnSpc>
                          <a:spcPct val="108000"/>
                        </a:lnSpc>
                        <a:buNone/>
                      </a:pPr>
                      <a:r>
                        <a:rPr sz="1725" b="0">
                          <a:solidFill>
                            <a:srgbClr val="1B2533"/>
                          </a:solidFill>
                          <a:latin typeface="Microsoft YaHei"/>
                          <a:ea typeface="Microsoft YaHei"/>
                          <a:cs typeface="Microsoft YaHei"/>
                        </a:rPr>
                        <a:t>目标性质或潜变量输入</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建立可解码的周期表示。问题转向目标条件能否在完整结构中实现</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2024–2025</a:t>
                      </a:r>
                    </a:p>
                    <a:p>
                      <a:pPr algn="l">
                        <a:lnSpc>
                          <a:spcPct val="108000"/>
                        </a:lnSpc>
                        <a:buNone/>
                      </a:pPr>
                      <a:r>
                        <a:rPr sz="1725" b="0">
                          <a:solidFill>
                            <a:srgbClr val="1B2533"/>
                          </a:solidFill>
                          <a:latin typeface="Microsoft YaHei"/>
                          <a:ea typeface="Microsoft YaHei"/>
                          <a:cs typeface="Microsoft YaHei"/>
                        </a:rPr>
                        <a:t>Crystal-LLM、TGDMat</a:t>
                      </a:r>
                    </a:p>
                    <a:p>
                      <a:pPr algn="l">
                        <a:lnSpc>
                          <a:spcPct val="108000"/>
                        </a:lnSpc>
                        <a:buNone/>
                      </a:pPr>
                      <a:r>
                        <a:rPr sz="1725" b="0">
                          <a:solidFill>
                            <a:srgbClr val="1B2533"/>
                          </a:solidFill>
                          <a:latin typeface="Microsoft YaHei"/>
                          <a:ea typeface="Microsoft YaHei"/>
                          <a:cs typeface="Microsoft YaHei"/>
                        </a:rPr>
                        <a:t>Chemeleon</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文本 / 描述条件生成</a:t>
                      </a:r>
                    </a:p>
                    <a:p>
                      <a:pPr algn="l">
                        <a:lnSpc>
                          <a:spcPct val="108000"/>
                        </a:lnSpc>
                        <a:buNone/>
                      </a:pPr>
                      <a:r>
                        <a:rPr sz="1725" b="0">
                          <a:solidFill>
                            <a:srgbClr val="1B2533"/>
                          </a:solidFill>
                          <a:latin typeface="Microsoft YaHei"/>
                          <a:ea typeface="Microsoft YaHei"/>
                          <a:cs typeface="Microsoft YaHei"/>
                        </a:rPr>
                        <a:t>描述输入，晶体输出</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把化学及结构描述接入生成。条件中哪些关系得到落实成为新问题</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MatterGen、SCIGEN</a:t>
                      </a:r>
                    </a:p>
                    <a:p>
                      <a:pPr algn="l">
                        <a:lnSpc>
                          <a:spcPct val="108000"/>
                        </a:lnSpc>
                        <a:buNone/>
                      </a:pPr>
                      <a:r>
                        <a:rPr sz="1725" b="0">
                          <a:solidFill>
                            <a:srgbClr val="1B2533"/>
                          </a:solidFill>
                          <a:latin typeface="Microsoft YaHei"/>
                          <a:ea typeface="Microsoft YaHei"/>
                          <a:cs typeface="Microsoft YaHei"/>
                        </a:rPr>
                        <a:t>PLaID++</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性质或结构图案约束</a:t>
                      </a:r>
                    </a:p>
                    <a:p>
                      <a:pPr algn="l">
                        <a:lnSpc>
                          <a:spcPct val="108000"/>
                        </a:lnSpc>
                        <a:buNone/>
                      </a:pPr>
                      <a:r>
                        <a:rPr sz="1725" b="0">
                          <a:solidFill>
                            <a:srgbClr val="1B2533"/>
                          </a:solidFill>
                          <a:latin typeface="Microsoft YaHei"/>
                          <a:ea typeface="Microsoft YaHei"/>
                          <a:cs typeface="Microsoft YaHei"/>
                        </a:rPr>
                        <a:t>生成并进行物理评价</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获得条件候选及物理验证。多种要求的兼容与未见组合继续限制发现</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F928AE08-25D1-4850-8478-DDF5A1DEECB5}"/>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当前任务：同时检验条件命中与稳定新结构数量。主要导向A，并支持B。</a:t>
            </a:r>
          </a:p>
        </p:txBody>
      </p:sp>
      <p:sp>
        <p:nvSpPr>
          <p:cNvPr id="4" name="separator">
            <a:extLst xmlns:a="http://schemas.openxmlformats.org/drawingml/2006/main">
              <a:ext uri="{FF2B5EF4-FFF2-40B4-BE49-F238E27FC236}">
                <a16:creationId xmlns:a16="http://schemas.microsoft.com/office/drawing/2014/main" id="{29FFECAD-8CFB-4E6F-8918-841B35781D0E}"/>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442AFE48-133F-4906-8FAB-3123BF8B7E3A}"/>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FTCP / CDVAE；Crystal-LLM / TGDMat / Chemeleon；MatterGen / SCIGEN / PLaID++。</a:t>
            </a:r>
          </a:p>
        </p:txBody>
      </p:sp>
      <p:sp>
        <p:nvSpPr>
          <p:cNvPr id="6" name="page-number">
            <a:extLst xmlns:a="http://schemas.openxmlformats.org/drawingml/2006/main">
              <a:ext uri="{FF2B5EF4-FFF2-40B4-BE49-F238E27FC236}">
                <a16:creationId xmlns:a16="http://schemas.microsoft.com/office/drawing/2014/main" id="{F425F78F-5379-418E-8CB9-68BA95E6844E}"/>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08</a:t>
            </a:r>
          </a:p>
        </p:txBody>
      </p:sp>
    </p:spTree>
    <p:extLst>
      <p:ext uri="{BB962C8B-B14F-4D97-AF65-F5344CB8AC3E}">
        <p14:creationId xmlns:p14="http://schemas.microsoft.com/office/powerpoint/2010/main" val="8104556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0ACC36C-D337-4FDD-A55B-179964DAC7AA}"/>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C2：耦合选择怎样形成和修订</a:t>
            </a:r>
          </a:p>
        </p:txBody>
      </p:sp>
      <p:graphicFrame>
        <p:nvGraphicFramePr>
          <p:cNvPr id="2" name="">
            <a:extLst xmlns:a="http://schemas.openxmlformats.org/drawingml/2006/main">
              <a:ext uri="{FF2B5EF4-FFF2-40B4-BE49-F238E27FC236}">
                <a16:creationId xmlns:a16="http://schemas.microsoft.com/office/drawing/2014/main" id="{038611DC-B714-4424-91AF-99363E23CC92}"/>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352800"/>
                <a:gridCol w="2667000"/>
                <a:gridCol w="49530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演化阶段与论文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2022–2024</a:t>
                      </a:r>
                    </a:p>
                    <a:p>
                      <a:pPr algn="l">
                        <a:lnSpc>
                          <a:spcPct val="108000"/>
                        </a:lnSpc>
                        <a:buNone/>
                      </a:pPr>
                      <a:r>
                        <a:rPr sz="1725" b="0">
                          <a:solidFill>
                            <a:srgbClr val="1B2533"/>
                          </a:solidFill>
                          <a:latin typeface="Microsoft YaHei"/>
                          <a:ea typeface="Microsoft YaHei"/>
                          <a:cs typeface="Microsoft YaHei"/>
                        </a:rPr>
                        <a:t>CDVAE、DiffCSP、FlowMM</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周期生成与组成CSP</a:t>
                      </a:r>
                    </a:p>
                    <a:p>
                      <a:pPr algn="l">
                        <a:lnSpc>
                          <a:spcPct val="108000"/>
                        </a:lnSpc>
                        <a:buNone/>
                      </a:pPr>
                      <a:r>
                        <a:rPr sz="1725" b="0">
                          <a:solidFill>
                            <a:srgbClr val="1B2533"/>
                          </a:solidFill>
                          <a:latin typeface="Microsoft YaHei"/>
                          <a:ea typeface="Microsoft YaHei"/>
                          <a:cs typeface="Microsoft YaHei"/>
                        </a:rPr>
                        <a:t>联合生成晶胞和坐标</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学习几何变量之间的依赖。进一步需要处理元素与几何的相互依赖</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2024–2025</a:t>
                      </a:r>
                    </a:p>
                    <a:p>
                      <a:pPr algn="l">
                        <a:lnSpc>
                          <a:spcPct val="108000"/>
                        </a:lnSpc>
                        <a:buNone/>
                      </a:pPr>
                      <a:r>
                        <a:rPr sz="1725" b="0">
                          <a:solidFill>
                            <a:srgbClr val="1B2533"/>
                          </a:solidFill>
                          <a:latin typeface="Microsoft YaHei"/>
                          <a:ea typeface="Microsoft YaHei"/>
                          <a:cs typeface="Microsoft YaHei"/>
                        </a:rPr>
                        <a:t>FlowLLM、MatterGen</a:t>
                      </a:r>
                    </a:p>
                    <a:p>
                      <a:pPr algn="l">
                        <a:lnSpc>
                          <a:spcPct val="108000"/>
                        </a:lnSpc>
                        <a:buNone/>
                      </a:pPr>
                      <a:r>
                        <a:rPr sz="1725" b="0">
                          <a:solidFill>
                            <a:srgbClr val="1B2533"/>
                          </a:solidFill>
                          <a:latin typeface="Microsoft YaHei"/>
                          <a:ea typeface="Microsoft YaHei"/>
                          <a:cs typeface="Microsoft YaHei"/>
                        </a:rPr>
                        <a:t>OMatG</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DNG及分阶段生成</a:t>
                      </a:r>
                    </a:p>
                    <a:p>
                      <a:pPr algn="l">
                        <a:lnSpc>
                          <a:spcPct val="108000"/>
                        </a:lnSpc>
                        <a:buNone/>
                      </a:pPr>
                      <a:r>
                        <a:rPr sz="1725" b="0">
                          <a:solidFill>
                            <a:srgbClr val="1B2533"/>
                          </a:solidFill>
                          <a:latin typeface="Microsoft YaHei"/>
                          <a:ea typeface="Microsoft YaHei"/>
                          <a:cs typeface="Microsoft YaHei"/>
                        </a:rPr>
                        <a:t>同时提出化学和结构</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联合生成与组成先行都有效。问题转为两种组织何时各有优势</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CrysBFN、MCFlow</a:t>
                      </a:r>
                    </a:p>
                    <a:p>
                      <a:pPr algn="l">
                        <a:lnSpc>
                          <a:spcPct val="108000"/>
                        </a:lnSpc>
                        <a:buNone/>
                      </a:pPr>
                      <a:r>
                        <a:rPr sz="1725" b="0">
                          <a:solidFill>
                            <a:srgbClr val="1B2533"/>
                          </a:solidFill>
                          <a:latin typeface="Microsoft YaHei"/>
                          <a:ea typeface="Microsoft YaHei"/>
                          <a:cs typeface="Microsoft YaHei"/>
                        </a:rPr>
                        <a:t>ANCHOR</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组成CSP、互条件完成</a:t>
                      </a:r>
                    </a:p>
                    <a:p>
                      <a:pPr algn="l">
                        <a:lnSpc>
                          <a:spcPct val="108000"/>
                        </a:lnSpc>
                        <a:buNone/>
                      </a:pPr>
                      <a:r>
                        <a:rPr sz="1725" b="0">
                          <a:solidFill>
                            <a:srgbClr val="1B2533"/>
                          </a:solidFill>
                          <a:latin typeface="Microsoft YaHei"/>
                          <a:ea typeface="Microsoft YaHei"/>
                          <a:cs typeface="Microsoft YaHei"/>
                        </a:rPr>
                        <a:t>冻结CSP的组成探索</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独立信息进度与组成策略均能改善任务。需要辨认哪类决定值得回改</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9B1505C4-68E8-4D28-B89F-7D8CBAFBBFBE}"/>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当前任务：在相同组成和数据条件下，判断几何信息是否改善化学选择。导向A。</a:t>
            </a:r>
          </a:p>
        </p:txBody>
      </p:sp>
      <p:sp>
        <p:nvSpPr>
          <p:cNvPr id="4" name="separator">
            <a:extLst xmlns:a="http://schemas.openxmlformats.org/drawingml/2006/main">
              <a:ext uri="{FF2B5EF4-FFF2-40B4-BE49-F238E27FC236}">
                <a16:creationId xmlns:a16="http://schemas.microsoft.com/office/drawing/2014/main" id="{C520A9EB-0E1A-497B-B872-A88E17F31443}"/>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B6650C67-8EC1-4080-9E07-9E2010988339}"/>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DiffCSP / FlowMM；FlowLLM / MatterGen / OMatG；CrysBFN / MCFlow；ANCHOR（2026预印本）。</a:t>
            </a:r>
          </a:p>
        </p:txBody>
      </p:sp>
      <p:sp>
        <p:nvSpPr>
          <p:cNvPr id="6" name="page-number">
            <a:extLst xmlns:a="http://schemas.openxmlformats.org/drawingml/2006/main">
              <a:ext uri="{FF2B5EF4-FFF2-40B4-BE49-F238E27FC236}">
                <a16:creationId xmlns:a16="http://schemas.microsoft.com/office/drawing/2014/main" id="{1194F05E-075C-4A1C-B17B-12578925720C}"/>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09</a:t>
            </a:r>
          </a:p>
        </p:txBody>
      </p:sp>
    </p:spTree>
    <p:extLst>
      <p:ext uri="{BB962C8B-B14F-4D97-AF65-F5344CB8AC3E}">
        <p14:creationId xmlns:p14="http://schemas.microsoft.com/office/powerpoint/2010/main" val="20202134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6BA8928-2C05-4D0C-BFF6-E0DF668CB357}"/>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C3：局部化学怎样组成周期整体</a:t>
            </a:r>
          </a:p>
        </p:txBody>
      </p:sp>
      <p:graphicFrame>
        <p:nvGraphicFramePr>
          <p:cNvPr id="2" name="">
            <a:extLst xmlns:a="http://schemas.openxmlformats.org/drawingml/2006/main">
              <a:ext uri="{FF2B5EF4-FFF2-40B4-BE49-F238E27FC236}">
                <a16:creationId xmlns:a16="http://schemas.microsoft.com/office/drawing/2014/main" id="{5816315D-7FF6-4FC1-B8F4-DF8F25F207C6}"/>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352800"/>
                <a:gridCol w="2667000"/>
                <a:gridCol w="49530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演化阶段与论文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2018–2023</a:t>
                      </a:r>
                    </a:p>
                    <a:p>
                      <a:pPr algn="l">
                        <a:lnSpc>
                          <a:spcPct val="108000"/>
                        </a:lnSpc>
                        <a:buNone/>
                      </a:pPr>
                      <a:r>
                        <a:rPr sz="1725" b="0">
                          <a:solidFill>
                            <a:srgbClr val="1B2533"/>
                          </a:solidFill>
                          <a:latin typeface="Microsoft YaHei"/>
                          <a:ea typeface="Microsoft YaHei"/>
                          <a:cs typeface="Microsoft YaHei"/>
                        </a:rPr>
                        <a:t>CGCNN、M3GNet、CHGNet</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性质、能量、力的预测</a:t>
                      </a:r>
                    </a:p>
                    <a:p>
                      <a:pPr algn="l">
                        <a:lnSpc>
                          <a:spcPct val="108000"/>
                        </a:lnSpc>
                        <a:buNone/>
                      </a:pPr>
                      <a:r>
                        <a:rPr sz="1725" b="0">
                          <a:solidFill>
                            <a:srgbClr val="1B2533"/>
                          </a:solidFill>
                          <a:latin typeface="Microsoft YaHei"/>
                          <a:ea typeface="Microsoft YaHei"/>
                          <a:cs typeface="Microsoft YaHei"/>
                        </a:rPr>
                        <a:t>完整结构输入</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局部环境能支持物理预测。需要进一步研究如何用这些知识构造结构</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2023–2025</a:t>
                      </a:r>
                    </a:p>
                    <a:p>
                      <a:pPr algn="l">
                        <a:lnSpc>
                          <a:spcPct val="108000"/>
                        </a:lnSpc>
                        <a:buNone/>
                      </a:pPr>
                      <a:r>
                        <a:rPr sz="1725" b="0">
                          <a:solidFill>
                            <a:srgbClr val="1B2533"/>
                          </a:solidFill>
                          <a:latin typeface="Microsoft YaHei"/>
                          <a:ea typeface="Microsoft YaHei"/>
                          <a:cs typeface="Microsoft YaHei"/>
                        </a:rPr>
                        <a:t>SLICES、SymmCD</a:t>
                      </a:r>
                    </a:p>
                    <a:p>
                      <a:pPr algn="l">
                        <a:lnSpc>
                          <a:spcPct val="108000"/>
                        </a:lnSpc>
                        <a:buNone/>
                      </a:pPr>
                      <a:r>
                        <a:rPr sz="1725" b="0">
                          <a:solidFill>
                            <a:srgbClr val="1B2533"/>
                          </a:solidFill>
                          <a:latin typeface="Microsoft YaHei"/>
                          <a:ea typeface="Microsoft YaHei"/>
                          <a:cs typeface="Microsoft YaHei"/>
                        </a:rPr>
                        <a:t>Wyckoff</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周期图解码、对称DNG</a:t>
                      </a:r>
                    </a:p>
                    <a:p>
                      <a:pPr algn="l">
                        <a:lnSpc>
                          <a:spcPct val="108000"/>
                        </a:lnSpc>
                        <a:buNone/>
                      </a:pPr>
                      <a:r>
                        <a:rPr sz="1725" b="0">
                          <a:solidFill>
                            <a:srgbClr val="1B2533"/>
                          </a:solidFill>
                          <a:latin typeface="Microsoft YaHei"/>
                          <a:ea typeface="Microsoft YaHei"/>
                          <a:cs typeface="Microsoft YaHei"/>
                        </a:rPr>
                        <a:t>关系或非等价位点输入</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把周期连接和对称关系纳入生成。多个局部要求仍共享原子与晶胞</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SCIGEN、Composable</a:t>
                      </a:r>
                    </a:p>
                    <a:p>
                      <a:pPr algn="l">
                        <a:lnSpc>
                          <a:spcPct val="108000"/>
                        </a:lnSpc>
                        <a:buNone/>
                      </a:pPr>
                      <a:r>
                        <a:rPr sz="1725" b="0">
                          <a:solidFill>
                            <a:srgbClr val="1B2533"/>
                          </a:solidFill>
                          <a:latin typeface="Microsoft YaHei"/>
                          <a:ea typeface="Microsoft YaHei"/>
                          <a:cs typeface="Microsoft YaHei"/>
                        </a:rPr>
                        <a:t>UFO-MGen</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图案约束、概念组合</a:t>
                      </a:r>
                    </a:p>
                    <a:p>
                      <a:pPr algn="l">
                        <a:lnSpc>
                          <a:spcPct val="108000"/>
                        </a:lnSpc>
                        <a:buNone/>
                      </a:pPr>
                      <a:r>
                        <a:rPr sz="1725" b="0">
                          <a:solidFill>
                            <a:srgbClr val="1B2533"/>
                          </a:solidFill>
                          <a:latin typeface="Microsoft YaHei"/>
                          <a:ea typeface="Microsoft YaHei"/>
                          <a:cs typeface="Microsoft YaHei"/>
                        </a:rPr>
                        <a:t>给定配置的结构完成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已能组合概念并完成条件结构。下一步区分局部知识与模板信息，识别必要的全局条件</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52ED3881-1E08-45A8-9F6E-268F6FFA773D}"/>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当前任务：固定已学局部环境，改变化学或连接组合，检验整体稳定性。导向B。</a:t>
            </a:r>
          </a:p>
        </p:txBody>
      </p:sp>
      <p:sp>
        <p:nvSpPr>
          <p:cNvPr id="4" name="separator">
            <a:extLst xmlns:a="http://schemas.openxmlformats.org/drawingml/2006/main">
              <a:ext uri="{FF2B5EF4-FFF2-40B4-BE49-F238E27FC236}">
                <a16:creationId xmlns:a16="http://schemas.microsoft.com/office/drawing/2014/main" id="{002D8467-BBDD-419E-98B5-5289A854285B}"/>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4C7EC437-4E78-4A11-B330-6E07F653BC2E}"/>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预测背景、生成能力和组合条件任务分列。Composable Crystals / UFO-MGen为2026预印本。</a:t>
            </a:r>
          </a:p>
        </p:txBody>
      </p:sp>
      <p:sp>
        <p:nvSpPr>
          <p:cNvPr id="6" name="page-number">
            <a:extLst xmlns:a="http://schemas.openxmlformats.org/drawingml/2006/main">
              <a:ext uri="{FF2B5EF4-FFF2-40B4-BE49-F238E27FC236}">
                <a16:creationId xmlns:a16="http://schemas.microsoft.com/office/drawing/2014/main" id="{64DB7A61-6B6B-48B7-9B0E-A75C2054D605}"/>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10</a:t>
            </a:r>
          </a:p>
        </p:txBody>
      </p:sp>
    </p:spTree>
    <p:extLst>
      <p:ext uri="{BB962C8B-B14F-4D97-AF65-F5344CB8AC3E}">
        <p14:creationId xmlns:p14="http://schemas.microsoft.com/office/powerpoint/2010/main" val="17532119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CAFC5C8-16C4-4E3F-A5B3-3FD14F3A503F}"/>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C4：物理反馈怎样改变有效的决定</a:t>
            </a:r>
          </a:p>
        </p:txBody>
      </p:sp>
      <p:graphicFrame>
        <p:nvGraphicFramePr>
          <p:cNvPr id="2" name="">
            <a:extLst xmlns:a="http://schemas.openxmlformats.org/drawingml/2006/main">
              <a:ext uri="{FF2B5EF4-FFF2-40B4-BE49-F238E27FC236}">
                <a16:creationId xmlns:a16="http://schemas.microsoft.com/office/drawing/2014/main" id="{A7505A99-A8BC-4368-A86A-3DCA1A6D9BFC}"/>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352800"/>
                <a:gridCol w="2667000"/>
                <a:gridCol w="49530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演化阶段与论文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2006起</a:t>
                      </a:r>
                    </a:p>
                    <a:p>
                      <a:pPr algn="l">
                        <a:lnSpc>
                          <a:spcPct val="108000"/>
                        </a:lnSpc>
                        <a:buNone/>
                      </a:pPr>
                      <a:r>
                        <a:rPr sz="1725" b="0">
                          <a:solidFill>
                            <a:srgbClr val="1B2533"/>
                          </a:solidFill>
                          <a:latin typeface="Microsoft YaHei"/>
                          <a:ea typeface="Microsoft YaHei"/>
                          <a:cs typeface="Microsoft YaHei"/>
                        </a:rPr>
                        <a:t>USPEX、AIRSS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指定体系的结构搜索</a:t>
                      </a:r>
                    </a:p>
                    <a:p>
                      <a:pPr algn="l">
                        <a:lnSpc>
                          <a:spcPct val="108000"/>
                        </a:lnSpc>
                        <a:buNone/>
                      </a:pPr>
                      <a:r>
                        <a:rPr sz="1725" b="0">
                          <a:solidFill>
                            <a:srgbClr val="1B2533"/>
                          </a:solidFill>
                          <a:latin typeface="Microsoft YaHei"/>
                          <a:ea typeface="Microsoft YaHei"/>
                          <a:cs typeface="Microsoft YaHei"/>
                        </a:rPr>
                        <a:t>提案后进行物理弛豫</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能量评价帮助寻找低能结构。每个新体系仍需搜索，经验复用有限</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2023</a:t>
                      </a:r>
                    </a:p>
                    <a:p>
                      <a:pPr algn="l">
                        <a:lnSpc>
                          <a:spcPct val="108000"/>
                        </a:lnSpc>
                        <a:buNone/>
                      </a:pPr>
                      <a:r>
                        <a:rPr sz="1725" b="0">
                          <a:solidFill>
                            <a:srgbClr val="1B2533"/>
                          </a:solidFill>
                          <a:latin typeface="Microsoft YaHei"/>
                          <a:ea typeface="Microsoft YaHei"/>
                          <a:cs typeface="Microsoft YaHei"/>
                        </a:rPr>
                        <a:t>RL-CSP</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组成条件的搜索决策</a:t>
                      </a:r>
                    </a:p>
                    <a:p>
                      <a:pPr algn="l">
                        <a:lnSpc>
                          <a:spcPct val="108000"/>
                        </a:lnSpc>
                        <a:buNone/>
                      </a:pPr>
                      <a:r>
                        <a:rPr sz="1725" b="0">
                          <a:solidFill>
                            <a:srgbClr val="1B2533"/>
                          </a:solidFill>
                          <a:latin typeface="Microsoft YaHei"/>
                          <a:ea typeface="Microsoft YaHei"/>
                          <a:cs typeface="Microsoft YaHei"/>
                        </a:rPr>
                        <a:t>学习basin-hopping动作</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根据结果改进动作分布。问题扩展到预训练生成器中的有效选择</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MatInvent、OMatG-IRL</a:t>
                      </a:r>
                    </a:p>
                    <a:p>
                      <a:pPr algn="l">
                        <a:lnSpc>
                          <a:spcPct val="108000"/>
                        </a:lnSpc>
                        <a:buNone/>
                      </a:pPr>
                      <a:r>
                        <a:rPr sz="1725" b="0">
                          <a:solidFill>
                            <a:srgbClr val="1B2533"/>
                          </a:solidFill>
                          <a:latin typeface="Microsoft YaHei"/>
                          <a:ea typeface="Microsoft YaHei"/>
                          <a:cs typeface="Microsoft YaHei"/>
                        </a:rPr>
                        <a:t>GSS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性质DNG、CSP后训练</a:t>
                      </a:r>
                    </a:p>
                    <a:p>
                      <a:pPr algn="l">
                        <a:lnSpc>
                          <a:spcPct val="108000"/>
                        </a:lnSpc>
                        <a:buNone/>
                      </a:pPr>
                      <a:r>
                        <a:rPr sz="1725" b="0">
                          <a:solidFill>
                            <a:srgbClr val="1B2533"/>
                          </a:solidFill>
                          <a:latin typeface="Microsoft YaHei"/>
                          <a:ea typeface="Microsoft YaHei"/>
                          <a:cs typeface="Microsoft YaHei"/>
                        </a:rPr>
                        <a:t>生成先验结合物理力</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奖励或力能改变生成过程。还需理解什么反馈在何种状态下改变终点</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0CEFFBD8-9DE9-4E86-86F7-5F70C1705CED}"/>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当前任务：比较具体结构变化及其完整后果，建立反馈与终点增益的联系。导向C。</a:t>
            </a:r>
          </a:p>
        </p:txBody>
      </p:sp>
      <p:sp>
        <p:nvSpPr>
          <p:cNvPr id="4" name="separator">
            <a:extLst xmlns:a="http://schemas.openxmlformats.org/drawingml/2006/main">
              <a:ext uri="{FF2B5EF4-FFF2-40B4-BE49-F238E27FC236}">
                <a16:creationId xmlns:a16="http://schemas.microsoft.com/office/drawing/2014/main" id="{30946D52-FF0A-48EF-83F0-9667D717F60F}"/>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879BA4DE-868B-4AF3-99C6-D85B08159503}"/>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USPEX / AIRSS；RL-CSP (2023)；OMatG-IRL (ICML 2026)；MatInvent / GSS为预印本。</a:t>
            </a:r>
          </a:p>
        </p:txBody>
      </p:sp>
      <p:sp>
        <p:nvSpPr>
          <p:cNvPr id="6" name="page-number">
            <a:extLst xmlns:a="http://schemas.openxmlformats.org/drawingml/2006/main">
              <a:ext uri="{FF2B5EF4-FFF2-40B4-BE49-F238E27FC236}">
                <a16:creationId xmlns:a16="http://schemas.microsoft.com/office/drawing/2014/main" id="{BCC621DC-6961-4189-8977-351AEE144F9F}"/>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11</a:t>
            </a:r>
          </a:p>
        </p:txBody>
      </p:sp>
    </p:spTree>
    <p:extLst>
      <p:ext uri="{BB962C8B-B14F-4D97-AF65-F5344CB8AC3E}">
        <p14:creationId xmlns:p14="http://schemas.microsoft.com/office/powerpoint/2010/main" val="4945098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841A7F6-8F69-4C31-B022-27F901C33432}"/>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C5：怎样发现并保留不同的合格结果</a:t>
            </a:r>
          </a:p>
        </p:txBody>
      </p:sp>
      <p:graphicFrame>
        <p:nvGraphicFramePr>
          <p:cNvPr id="2" name="">
            <a:extLst xmlns:a="http://schemas.openxmlformats.org/drawingml/2006/main">
              <a:ext uri="{FF2B5EF4-FFF2-40B4-BE49-F238E27FC236}">
                <a16:creationId xmlns:a16="http://schemas.microsoft.com/office/drawing/2014/main" id="{3038D176-AEC6-4FE0-AA6B-10949089B318}"/>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352800"/>
                <a:gridCol w="2667000"/>
                <a:gridCol w="49530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演化阶段与论文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2021–2023</a:t>
                      </a:r>
                    </a:p>
                    <a:p>
                      <a:pPr algn="l">
                        <a:lnSpc>
                          <a:spcPct val="108000"/>
                        </a:lnSpc>
                        <a:buNone/>
                      </a:pPr>
                      <a:r>
                        <a:rPr sz="1725" b="0">
                          <a:solidFill>
                            <a:srgbClr val="1B2533"/>
                          </a:solidFill>
                          <a:latin typeface="Microsoft YaHei"/>
                          <a:ea typeface="Microsoft YaHei"/>
                          <a:cs typeface="Microsoft YaHei"/>
                        </a:rPr>
                        <a:t>GFlowNet Foundations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通用多模态奖励采样</a:t>
                      </a:r>
                    </a:p>
                    <a:p>
                      <a:pPr algn="l">
                        <a:lnSpc>
                          <a:spcPct val="108000"/>
                        </a:lnSpc>
                        <a:buNone/>
                      </a:pPr>
                      <a:r>
                        <a:rPr sz="1725" b="0">
                          <a:solidFill>
                            <a:srgbClr val="1B2533"/>
                          </a:solidFill>
                          <a:latin typeface="Microsoft YaHei"/>
                          <a:ea typeface="Microsoft YaHei"/>
                          <a:cs typeface="Microsoft YaHei"/>
                        </a:rPr>
                        <a:t>奖励定义的终态空间</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学习按奖励比例采样多个结果。晶体中还需要定义物理资格和身份</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2024–2026</a:t>
                      </a:r>
                    </a:p>
                    <a:p>
                      <a:pPr algn="l">
                        <a:lnSpc>
                          <a:spcPct val="108000"/>
                        </a:lnSpc>
                        <a:buNone/>
                      </a:pPr>
                      <a:r>
                        <a:rPr sz="1725" b="0">
                          <a:solidFill>
                            <a:srgbClr val="1B2533"/>
                          </a:solidFill>
                          <a:latin typeface="Microsoft YaHei"/>
                          <a:ea typeface="Microsoft YaHei"/>
                          <a:cs typeface="Microsoft YaHei"/>
                        </a:rPr>
                        <a:t>晶体QD、SHAFT</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固定组成的性质覆盖</a:t>
                      </a:r>
                    </a:p>
                    <a:p>
                      <a:pPr algn="l">
                        <a:lnSpc>
                          <a:spcPct val="108000"/>
                        </a:lnSpc>
                        <a:buNone/>
                      </a:pPr>
                      <a:r>
                        <a:rPr sz="1725" b="0">
                          <a:solidFill>
                            <a:srgbClr val="1B2533"/>
                          </a:solidFill>
                          <a:latin typeface="Microsoft YaHei"/>
                          <a:ea typeface="Microsoft YaHei"/>
                          <a:cs typeface="Microsoft YaHei"/>
                        </a:rPr>
                        <a:t>层级对称材料生成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用档案或层级策略保留多解。开放化学空间的成功类别继续增加</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PLaID++、Chemeleon2</a:t>
                      </a:r>
                    </a:p>
                    <a:p>
                      <a:pPr algn="l">
                        <a:lnSpc>
                          <a:spcPct val="108000"/>
                        </a:lnSpc>
                        <a:buNone/>
                      </a:pPr>
                      <a:r>
                        <a:rPr sz="1725" b="0">
                          <a:solidFill>
                            <a:srgbClr val="1B2533"/>
                          </a:solidFill>
                          <a:latin typeface="Microsoft YaHei"/>
                          <a:ea typeface="Microsoft YaHei"/>
                          <a:cs typeface="Microsoft YaHei"/>
                        </a:rPr>
                        <a:t>ANCHOR</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稳定 / 新颖后训练</a:t>
                      </a:r>
                    </a:p>
                    <a:p>
                      <a:pPr algn="l">
                        <a:lnSpc>
                          <a:spcPct val="108000"/>
                        </a:lnSpc>
                        <a:buNone/>
                      </a:pPr>
                      <a:r>
                        <a:rPr sz="1725" b="0">
                          <a:solidFill>
                            <a:srgbClr val="1B2533"/>
                          </a:solidFill>
                          <a:latin typeface="Microsoft YaHei"/>
                          <a:ea typeface="Microsoft YaHei"/>
                          <a:cs typeface="Microsoft YaHei"/>
                        </a:rPr>
                        <a:t>依发现历史探索组成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开始联合改变资格与搜索分布。新增成功、重复及遗忘需要分别解释</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C57F8CE2-E709-4C88-BFD4-34ED6D3E5309}"/>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当前任务：按弛豫后的结构身份，统计首次发现、学会再生成和后续新发现。导向D。</a:t>
            </a:r>
          </a:p>
        </p:txBody>
      </p:sp>
      <p:sp>
        <p:nvSpPr>
          <p:cNvPr id="4" name="separator">
            <a:extLst xmlns:a="http://schemas.openxmlformats.org/drawingml/2006/main">
              <a:ext uri="{FF2B5EF4-FFF2-40B4-BE49-F238E27FC236}">
                <a16:creationId xmlns:a16="http://schemas.microsoft.com/office/drawing/2014/main" id="{4412E309-9149-4AF6-9E99-A188196A1023}"/>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AF494C33-2CD2-4715-A14B-2B02D23E6A06}"/>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GFlowNet为通用基础；QD / SHAFT为晶体多解先行；PLaID++ / Chemeleon2 / ANCHOR为近期进展。</a:t>
            </a:r>
          </a:p>
        </p:txBody>
      </p:sp>
      <p:sp>
        <p:nvSpPr>
          <p:cNvPr id="6" name="page-number">
            <a:extLst xmlns:a="http://schemas.openxmlformats.org/drawingml/2006/main">
              <a:ext uri="{FF2B5EF4-FFF2-40B4-BE49-F238E27FC236}">
                <a16:creationId xmlns:a16="http://schemas.microsoft.com/office/drawing/2014/main" id="{C0CEB612-828E-479E-8DE5-75A5C681DFE7}"/>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12</a:t>
            </a:r>
          </a:p>
        </p:txBody>
      </p:sp>
    </p:spTree>
    <p:extLst>
      <p:ext uri="{BB962C8B-B14F-4D97-AF65-F5344CB8AC3E}">
        <p14:creationId xmlns:p14="http://schemas.microsoft.com/office/powerpoint/2010/main" val="1854353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15E4362-D563-4669-B05C-E4B2493A43AD}"/>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C6：物理计算怎样积累成生成能力</a:t>
            </a:r>
          </a:p>
        </p:txBody>
      </p:sp>
      <p:graphicFrame>
        <p:nvGraphicFramePr>
          <p:cNvPr id="2" name="">
            <a:extLst xmlns:a="http://schemas.openxmlformats.org/drawingml/2006/main">
              <a:ext uri="{FF2B5EF4-FFF2-40B4-BE49-F238E27FC236}">
                <a16:creationId xmlns:a16="http://schemas.microsoft.com/office/drawing/2014/main" id="{3113270B-B1B9-4EFD-AA22-7CBABA52BCBE}"/>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352800"/>
                <a:gridCol w="2667000"/>
                <a:gridCol w="49530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演化阶段与论文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2013–2023</a:t>
                      </a:r>
                    </a:p>
                    <a:p>
                      <a:pPr algn="l">
                        <a:lnSpc>
                          <a:spcPct val="108000"/>
                        </a:lnSpc>
                        <a:buNone/>
                      </a:pPr>
                      <a:r>
                        <a:rPr sz="1725" b="0">
                          <a:solidFill>
                            <a:srgbClr val="1B2533"/>
                          </a:solidFill>
                          <a:latin typeface="Microsoft YaHei"/>
                          <a:ea typeface="Microsoft YaHei"/>
                          <a:cs typeface="Microsoft YaHei"/>
                        </a:rPr>
                        <a:t>Materials Project</a:t>
                      </a:r>
                    </a:p>
                    <a:p>
                      <a:pPr algn="l">
                        <a:lnSpc>
                          <a:spcPct val="108000"/>
                        </a:lnSpc>
                        <a:buNone/>
                      </a:pPr>
                      <a:r>
                        <a:rPr sz="1725" b="0">
                          <a:solidFill>
                            <a:srgbClr val="1B2533"/>
                          </a:solidFill>
                          <a:latin typeface="Microsoft YaHei"/>
                          <a:ea typeface="Microsoft YaHei"/>
                          <a:cs typeface="Microsoft YaHei"/>
                        </a:rPr>
                        <a:t>GNoME</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数据库积累、主动学习</a:t>
                      </a:r>
                    </a:p>
                    <a:p>
                      <a:pPr algn="l">
                        <a:lnSpc>
                          <a:spcPct val="108000"/>
                        </a:lnSpc>
                        <a:buNone/>
                      </a:pPr>
                      <a:r>
                        <a:rPr sz="1725" b="0">
                          <a:solidFill>
                            <a:srgbClr val="1B2533"/>
                          </a:solidFill>
                          <a:latin typeface="Microsoft YaHei"/>
                          <a:ea typeface="Microsoft YaHei"/>
                          <a:cs typeface="Microsoft YaHei"/>
                        </a:rPr>
                        <a:t>新计算更新预测模型</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计算结果跨材料复用。下一步是让信息直接帮助生成选择</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MatInvent、PLaID++</a:t>
                      </a:r>
                    </a:p>
                    <a:p>
                      <a:pPr algn="l">
                        <a:lnSpc>
                          <a:spcPct val="108000"/>
                        </a:lnSpc>
                        <a:buNone/>
                      </a:pPr>
                      <a:r>
                        <a:rPr sz="1725" b="0">
                          <a:solidFill>
                            <a:srgbClr val="1B2533"/>
                          </a:solidFill>
                          <a:latin typeface="Microsoft YaHei"/>
                          <a:ea typeface="Microsoft YaHei"/>
                          <a:cs typeface="Microsoft YaHei"/>
                        </a:rPr>
                        <a:t>Chemeleon2</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性质或物理资格后训练</a:t>
                      </a:r>
                    </a:p>
                    <a:p>
                      <a:pPr algn="l">
                        <a:lnSpc>
                          <a:spcPct val="108000"/>
                        </a:lnSpc>
                        <a:buNone/>
                      </a:pPr>
                      <a:r>
                        <a:rPr sz="1725" b="0">
                          <a:solidFill>
                            <a:srgbClr val="1B2533"/>
                          </a:solidFill>
                          <a:latin typeface="Microsoft YaHei"/>
                          <a:ea typeface="Microsoft YaHei"/>
                          <a:cs typeface="Microsoft YaHei"/>
                        </a:rPr>
                        <a:t>终点评价更新生成器</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计算开始进入模型权重。需要分辨端点记忆与可迁移的结构知识</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2026</a:t>
                      </a:r>
                    </a:p>
                    <a:p>
                      <a:pPr algn="l">
                        <a:lnSpc>
                          <a:spcPct val="108000"/>
                        </a:lnSpc>
                        <a:buNone/>
                      </a:pPr>
                      <a:r>
                        <a:rPr sz="1725" b="0">
                          <a:solidFill>
                            <a:srgbClr val="1B2533"/>
                          </a:solidFill>
                          <a:latin typeface="Microsoft YaHei"/>
                          <a:ea typeface="Microsoft YaHei"/>
                          <a:cs typeface="Microsoft YaHei"/>
                        </a:rPr>
                        <a:t>OMatG-IRL、flash</a:t>
                      </a:r>
                    </a:p>
                    <a:p>
                      <a:pPr algn="l">
                        <a:lnSpc>
                          <a:spcPct val="108000"/>
                        </a:lnSpc>
                        <a:buNone/>
                      </a:pPr>
                      <a:r>
                        <a:rPr sz="1725" b="0">
                          <a:solidFill>
                            <a:srgbClr val="1B2533"/>
                          </a:solidFill>
                          <a:latin typeface="Microsoft YaHei"/>
                          <a:ea typeface="Microsoft YaHei"/>
                          <a:cs typeface="Microsoft YaHei"/>
                        </a:rPr>
                        <a:t>ANCHOR</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条件训练后的DNG</a:t>
                      </a:r>
                    </a:p>
                    <a:p>
                      <a:pPr algn="l">
                        <a:lnSpc>
                          <a:spcPct val="108000"/>
                        </a:lnSpc>
                        <a:buNone/>
                      </a:pPr>
                      <a:r>
                        <a:rPr sz="1725" b="0">
                          <a:solidFill>
                            <a:srgbClr val="1B2533"/>
                          </a:solidFill>
                          <a:latin typeface="Microsoft YaHei"/>
                          <a:ea typeface="Microsoft YaHei"/>
                          <a:cs typeface="Microsoft YaHei"/>
                        </a:rPr>
                        <a:t>少步生成、结构语料学习</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能力可跨任务或采样阶段使用。仍需辨认哪些信息改善新的材料请求</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2FC77D45-122E-4A59-A69C-A74B3C2FF127}"/>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当前任务：控制终点数据与物理投入，检验额外关系信息的迁移价值。导向C和D。</a:t>
            </a:r>
          </a:p>
        </p:txBody>
      </p:sp>
      <p:sp>
        <p:nvSpPr>
          <p:cNvPr id="4" name="separator">
            <a:extLst xmlns:a="http://schemas.openxmlformats.org/drawingml/2006/main">
              <a:ext uri="{FF2B5EF4-FFF2-40B4-BE49-F238E27FC236}">
                <a16:creationId xmlns:a16="http://schemas.microsoft.com/office/drawing/2014/main" id="{A5F4C9C0-3940-41AF-AB6F-2960FB5EDBB9}"/>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CC1F0CE3-7410-495A-B396-0D1925FB2CBC}"/>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GNoME更新预测器；后训练更新生成器；ANCHOR还研究组成重放形成的结构语料。</a:t>
            </a:r>
          </a:p>
        </p:txBody>
      </p:sp>
      <p:sp>
        <p:nvSpPr>
          <p:cNvPr id="6" name="page-number">
            <a:extLst xmlns:a="http://schemas.openxmlformats.org/drawingml/2006/main">
              <a:ext uri="{FF2B5EF4-FFF2-40B4-BE49-F238E27FC236}">
                <a16:creationId xmlns:a16="http://schemas.microsoft.com/office/drawing/2014/main" id="{3765FE39-9F5A-4A66-B814-71BF566FD516}"/>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13</a:t>
            </a:r>
          </a:p>
        </p:txBody>
      </p:sp>
    </p:spTree>
    <p:extLst>
      <p:ext uri="{BB962C8B-B14F-4D97-AF65-F5344CB8AC3E}">
        <p14:creationId xmlns:p14="http://schemas.microsoft.com/office/powerpoint/2010/main" val="3939130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3DCC7EF-13AB-40AC-90D2-BDBEF33F873B}"/>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四条路线分别回答什么任务问题</a:t>
            </a:r>
          </a:p>
        </p:txBody>
      </p:sp>
      <p:graphicFrame>
        <p:nvGraphicFramePr>
          <p:cNvPr id="2" name="">
            <a:extLst xmlns:a="http://schemas.openxmlformats.org/drawingml/2006/main">
              <a:ext uri="{FF2B5EF4-FFF2-40B4-BE49-F238E27FC236}">
                <a16:creationId xmlns:a16="http://schemas.microsoft.com/office/drawing/2014/main" id="{2CF71A49-6E14-4198-A7A3-1D1E7DABDE9B}"/>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2667000"/>
                <a:gridCol w="4238625"/>
                <a:gridCol w="4067175"/>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路线与挑战</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主要科学问题</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直接研究任务</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A 化学与几何</a:t>
                      </a:r>
                    </a:p>
                    <a:p>
                      <a:pPr algn="l">
                        <a:lnSpc>
                          <a:spcPct val="108000"/>
                        </a:lnSpc>
                        <a:buNone/>
                      </a:pPr>
                      <a:r>
                        <a:rPr sz="1725" b="0">
                          <a:solidFill>
                            <a:srgbClr val="1B2533"/>
                          </a:solidFill>
                          <a:latin typeface="Microsoft YaHei"/>
                          <a:ea typeface="Microsoft YaHei"/>
                          <a:cs typeface="Microsoft YaHei"/>
                        </a:rPr>
                        <a:t>C1、C2</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双向信息何时改善化学与结构的配对？</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主任务：自主DNG</a:t>
                      </a:r>
                    </a:p>
                    <a:p>
                      <a:pPr algn="l">
                        <a:lnSpc>
                          <a:spcPct val="108000"/>
                        </a:lnSpc>
                        <a:buNone/>
                      </a:pPr>
                      <a:r>
                        <a:rPr sz="1725" b="0">
                          <a:solidFill>
                            <a:srgbClr val="1B2533"/>
                          </a:solidFill>
                          <a:latin typeface="Microsoft YaHei"/>
                          <a:ea typeface="Microsoft YaHei"/>
                          <a:cs typeface="Microsoft YaHei"/>
                        </a:rPr>
                        <a:t>定位任务：CSP / 互条件完成</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B 局部知识组合</a:t>
                      </a:r>
                    </a:p>
                    <a:p>
                      <a:pPr algn="l">
                        <a:lnSpc>
                          <a:spcPct val="108000"/>
                        </a:lnSpc>
                        <a:buNone/>
                      </a:pPr>
                      <a:r>
                        <a:rPr sz="1725" b="0">
                          <a:solidFill>
                            <a:srgbClr val="1B2533"/>
                          </a:solidFill>
                          <a:latin typeface="Microsoft YaHei"/>
                          <a:ea typeface="Microsoft YaHei"/>
                          <a:cs typeface="Microsoft YaHei"/>
                        </a:rPr>
                        <a:t>C3，联系C1</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局部要求怎样在同一周期结构中成立？</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主任务：自主DNG</a:t>
                      </a:r>
                    </a:p>
                    <a:p>
                      <a:pPr algn="l">
                        <a:lnSpc>
                          <a:spcPct val="108000"/>
                        </a:lnSpc>
                        <a:buNone/>
                      </a:pPr>
                      <a:r>
                        <a:rPr sz="1725" b="0">
                          <a:solidFill>
                            <a:srgbClr val="1B2533"/>
                          </a:solidFill>
                          <a:latin typeface="Microsoft YaHei"/>
                          <a:ea typeface="Microsoft YaHei"/>
                          <a:cs typeface="Microsoft YaHei"/>
                        </a:rPr>
                        <a:t>定位任务：图案 / 新连接生成</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C 从物理反馈学习</a:t>
                      </a:r>
                    </a:p>
                    <a:p>
                      <a:pPr algn="l">
                        <a:lnSpc>
                          <a:spcPct val="108000"/>
                        </a:lnSpc>
                        <a:buNone/>
                      </a:pPr>
                      <a:r>
                        <a:rPr sz="1725" b="0">
                          <a:solidFill>
                            <a:srgbClr val="1B2533"/>
                          </a:solidFill>
                          <a:latin typeface="Microsoft YaHei"/>
                          <a:ea typeface="Microsoft YaHei"/>
                          <a:cs typeface="Microsoft YaHei"/>
                        </a:rPr>
                        <a:t>C4、C6</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哪些结构响应可以帮助新的材料？</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物理数据学习后的独立生成</a:t>
                      </a:r>
                    </a:p>
                    <a:p>
                      <a:pPr algn="l">
                        <a:lnSpc>
                          <a:spcPct val="108000"/>
                        </a:lnSpc>
                        <a:buNone/>
                      </a:pPr>
                      <a:r>
                        <a:rPr sz="1725" b="0">
                          <a:solidFill>
                            <a:srgbClr val="1B2533"/>
                          </a:solidFill>
                          <a:latin typeface="Microsoft YaHei"/>
                          <a:ea typeface="Microsoft YaHei"/>
                          <a:cs typeface="Microsoft YaHei"/>
                        </a:rPr>
                        <a:t>跨组成与条件迁移</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 持续多解发现</a:t>
                      </a:r>
                    </a:p>
                    <a:p>
                      <a:pPr algn="l">
                        <a:lnSpc>
                          <a:spcPct val="108000"/>
                        </a:lnSpc>
                        <a:buNone/>
                      </a:pPr>
                      <a:r>
                        <a:rPr sz="1725" b="0">
                          <a:solidFill>
                            <a:srgbClr val="1B2533"/>
                          </a:solidFill>
                          <a:latin typeface="Microsoft YaHei"/>
                          <a:ea typeface="Microsoft YaHei"/>
                          <a:cs typeface="Microsoft YaHei"/>
                        </a:rPr>
                        <a:t>C5、C6</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新成功怎样学入模型并支持进一步发现？</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多轮预算内DNG</a:t>
                      </a:r>
                    </a:p>
                    <a:p>
                      <a:pPr algn="l">
                        <a:lnSpc>
                          <a:spcPct val="108000"/>
                        </a:lnSpc>
                        <a:buNone/>
                      </a:pPr>
                      <a:r>
                        <a:rPr sz="1725" b="0">
                          <a:solidFill>
                            <a:srgbClr val="1B2533"/>
                          </a:solidFill>
                          <a:latin typeface="Microsoft YaHei"/>
                          <a:ea typeface="Microsoft YaHei"/>
                          <a:cs typeface="Microsoft YaHei"/>
                        </a:rPr>
                        <a:t>新结果保持与继续发现</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0E24CEFE-14D6-4496-B750-B50C30F15150}"/>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共同主目标是严格SUN。条件任务分别定位四条路线要学习的能力。</a:t>
            </a:r>
          </a:p>
        </p:txBody>
      </p:sp>
      <p:sp>
        <p:nvSpPr>
          <p:cNvPr id="4" name="separator">
            <a:extLst xmlns:a="http://schemas.openxmlformats.org/drawingml/2006/main">
              <a:ext uri="{FF2B5EF4-FFF2-40B4-BE49-F238E27FC236}">
                <a16:creationId xmlns:a16="http://schemas.microsoft.com/office/drawing/2014/main" id="{DD80403A-BEB1-4FB4-8B00-D347EFB7E0DD}"/>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06C091AF-DD33-4DB8-BAB6-F99AF185EDED}"/>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以下每条路线分别展开文献演化、技术依据与研究任务。研究方案及所需结果均待验证。</a:t>
            </a:r>
          </a:p>
        </p:txBody>
      </p:sp>
      <p:sp>
        <p:nvSpPr>
          <p:cNvPr id="6" name="page-number">
            <a:extLst xmlns:a="http://schemas.openxmlformats.org/drawingml/2006/main">
              <a:ext uri="{FF2B5EF4-FFF2-40B4-BE49-F238E27FC236}">
                <a16:creationId xmlns:a16="http://schemas.microsoft.com/office/drawing/2014/main" id="{33E844FF-8923-4E66-9C2B-BA369FB3E457}"/>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14</a:t>
            </a:r>
          </a:p>
        </p:txBody>
      </p:sp>
    </p:spTree>
    <p:extLst>
      <p:ext uri="{BB962C8B-B14F-4D97-AF65-F5344CB8AC3E}">
        <p14:creationId xmlns:p14="http://schemas.microsoft.com/office/powerpoint/2010/main" val="9970143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DFB85B7-E814-42B9-928F-74723C82A450}"/>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A的演化：联合几何到化学与几何协作</a:t>
            </a:r>
          </a:p>
        </p:txBody>
      </p:sp>
      <p:graphicFrame>
        <p:nvGraphicFramePr>
          <p:cNvPr id="2" name="">
            <a:extLst xmlns:a="http://schemas.openxmlformats.org/drawingml/2006/main">
              <a:ext uri="{FF2B5EF4-FFF2-40B4-BE49-F238E27FC236}">
                <a16:creationId xmlns:a16="http://schemas.microsoft.com/office/drawing/2014/main" id="{30A1A3C8-369F-4554-A881-8D84D8EAA1EA}"/>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429000"/>
                <a:gridCol w="2667000"/>
                <a:gridCol w="48768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时间与支持论文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为路线A提供的能力</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2022–2024</a:t>
                      </a:r>
                    </a:p>
                    <a:p>
                      <a:pPr algn="l">
                        <a:lnSpc>
                          <a:spcPct val="108000"/>
                        </a:lnSpc>
                        <a:buNone/>
                      </a:pPr>
                      <a:r>
                        <a:rPr sz="1725" b="0">
                          <a:solidFill>
                            <a:srgbClr val="1B2533"/>
                          </a:solidFill>
                          <a:latin typeface="Microsoft YaHei"/>
                          <a:ea typeface="Microsoft YaHei"/>
                          <a:cs typeface="Microsoft YaHei"/>
                        </a:rPr>
                        <a:t>CDVAE、DiffCSP、FlowMM</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DNG、组成条件CSP</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联合建模晶胞与位置，支持周期连续生成</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2024</a:t>
                      </a:r>
                    </a:p>
                    <a:p>
                      <a:pPr algn="l">
                        <a:lnSpc>
                          <a:spcPct val="108000"/>
                        </a:lnSpc>
                        <a:buNone/>
                      </a:pPr>
                      <a:r>
                        <a:rPr sz="1725" b="0">
                          <a:solidFill>
                            <a:srgbClr val="1B2533"/>
                          </a:solidFill>
                          <a:latin typeface="Microsoft YaHei"/>
                          <a:ea typeface="Microsoft YaHei"/>
                          <a:cs typeface="Microsoft YaHei"/>
                        </a:rPr>
                        <a:t>Crystal-LLM、GenMS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晶体文本生成</a:t>
                      </a:r>
                    </a:p>
                    <a:p>
                      <a:pPr algn="l">
                        <a:lnSpc>
                          <a:spcPct val="108000"/>
                        </a:lnSpc>
                        <a:buNone/>
                      </a:pPr>
                      <a:r>
                        <a:rPr sz="1725" b="0">
                          <a:solidFill>
                            <a:srgbClr val="1B2533"/>
                          </a:solidFill>
                          <a:latin typeface="Microsoft YaHei"/>
                          <a:ea typeface="Microsoft YaHei"/>
                          <a:cs typeface="Microsoft YaHei"/>
                        </a:rPr>
                        <a:t>语言条件的层级搜索</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语言组织化学提案，连续模型实现几何</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2024–2025</a:t>
                      </a:r>
                    </a:p>
                    <a:p>
                      <a:pPr algn="l">
                        <a:lnSpc>
                          <a:spcPct val="108000"/>
                        </a:lnSpc>
                        <a:buNone/>
                      </a:pPr>
                      <a:r>
                        <a:rPr sz="1725" b="0">
                          <a:solidFill>
                            <a:srgbClr val="1B2533"/>
                          </a:solidFill>
                          <a:latin typeface="Microsoft YaHei"/>
                          <a:ea typeface="Microsoft YaHei"/>
                          <a:cs typeface="Microsoft YaHei"/>
                        </a:rPr>
                        <a:t>FlowLLM、CrysLLMGen</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LLM提案后的几何精修</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连续模型改善语言提案。连续阶段固定元素，为双向修订提供明确参照</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MatterGen、OMatG</a:t>
                      </a:r>
                    </a:p>
                    <a:p>
                      <a:pPr algn="l">
                        <a:lnSpc>
                          <a:spcPct val="108000"/>
                        </a:lnSpc>
                        <a:buNone/>
                      </a:pPr>
                      <a:r>
                        <a:rPr sz="1725" b="0">
                          <a:solidFill>
                            <a:srgbClr val="1B2533"/>
                          </a:solidFill>
                          <a:latin typeface="Microsoft YaHei"/>
                          <a:ea typeface="Microsoft YaHei"/>
                          <a:cs typeface="Microsoft YaHei"/>
                        </a:rPr>
                        <a:t>MCFlow</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联合DNG、互条件生成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建立化学与几何共同建模及多条件路径，支持比较不同信息组织</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651DC203-33D4-42D9-AE69-29B9D7F29A63}"/>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演化留下的问题：何时只需更好提案，何时几何证据能帮助改变化学选择？</a:t>
            </a:r>
          </a:p>
        </p:txBody>
      </p:sp>
      <p:sp>
        <p:nvSpPr>
          <p:cNvPr id="4" name="separator">
            <a:extLst xmlns:a="http://schemas.openxmlformats.org/drawingml/2006/main">
              <a:ext uri="{FF2B5EF4-FFF2-40B4-BE49-F238E27FC236}">
                <a16:creationId xmlns:a16="http://schemas.microsoft.com/office/drawing/2014/main" id="{EE8B0B7F-491E-4EB0-BAD9-0B0BA42D52A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1A5AEC6B-30FE-40E3-A234-22558B72A885}"/>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10篇晶体工作。FlowLLM结合Crystal-LLM与FlowMM；其余分支按问题演化组织。</a:t>
            </a:r>
          </a:p>
        </p:txBody>
      </p:sp>
      <p:sp>
        <p:nvSpPr>
          <p:cNvPr id="6" name="page-number">
            <a:extLst xmlns:a="http://schemas.openxmlformats.org/drawingml/2006/main">
              <a:ext uri="{FF2B5EF4-FFF2-40B4-BE49-F238E27FC236}">
                <a16:creationId xmlns:a16="http://schemas.microsoft.com/office/drawing/2014/main" id="{E2CE22FE-0F1C-4B26-8633-D8EF49E53448}"/>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15</a:t>
            </a:r>
          </a:p>
        </p:txBody>
      </p:sp>
    </p:spTree>
    <p:extLst>
      <p:ext uri="{BB962C8B-B14F-4D97-AF65-F5344CB8AC3E}">
        <p14:creationId xmlns:p14="http://schemas.microsoft.com/office/powerpoint/2010/main" val="8722581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F533EE4-42A1-412B-8E34-4488311A2CF5}"/>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A的技术依据与具体选择</a:t>
            </a:r>
          </a:p>
        </p:txBody>
      </p:sp>
      <p:graphicFrame>
        <p:nvGraphicFramePr>
          <p:cNvPr id="2" name="">
            <a:extLst xmlns:a="http://schemas.openxmlformats.org/drawingml/2006/main">
              <a:ext uri="{FF2B5EF4-FFF2-40B4-BE49-F238E27FC236}">
                <a16:creationId xmlns:a16="http://schemas.microsoft.com/office/drawing/2014/main" id="{72D22382-0548-4CF8-A742-8B33C3A0EC0E}"/>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286125"/>
                <a:gridCol w="3714750"/>
                <a:gridCol w="3971925"/>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方法支撑</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原任务中解决什么</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在晶体中承担什么</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FlowLLM、CrysLLMGen</a:t>
                      </a:r>
                    </a:p>
                    <a:p>
                      <a:pPr algn="l">
                        <a:lnSpc>
                          <a:spcPct val="108000"/>
                        </a:lnSpc>
                        <a:buNone/>
                      </a:pPr>
                      <a:r>
                        <a:rPr sz="1725" b="0">
                          <a:solidFill>
                            <a:srgbClr val="1B2533"/>
                          </a:solidFill>
                          <a:latin typeface="Microsoft YaHei"/>
                          <a:ea typeface="Microsoft YaHei"/>
                          <a:cs typeface="Microsoft YaHei"/>
                        </a:rPr>
                        <a:t>晶体混合模型</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把语言提案接到连续几何生成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LLM提出可修改的化学 / 占位选择，连续模型构造周期结构</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OMatG、CrysBFN、MCFlow</a:t>
                      </a:r>
                    </a:p>
                    <a:p>
                      <a:pPr algn="l">
                        <a:lnSpc>
                          <a:spcPct val="108000"/>
                        </a:lnSpc>
                        <a:buNone/>
                      </a:pPr>
                      <a:r>
                        <a:rPr sz="1725" b="0">
                          <a:solidFill>
                            <a:srgbClr val="1B2533"/>
                          </a:solidFill>
                          <a:latin typeface="Microsoft YaHei"/>
                          <a:ea typeface="Microsoft YaHei"/>
                          <a:cs typeface="Microsoft YaHei"/>
                        </a:rPr>
                        <a:t>混合变量生成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联合表示变量及其当前信息状态</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让几何与元素更新读取共同状态，比较纯SI与LLM混合方案</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NextStep-1 [T02]</a:t>
                      </a:r>
                    </a:p>
                    <a:p>
                      <a:pPr algn="l">
                        <a:lnSpc>
                          <a:spcPct val="108000"/>
                        </a:lnSpc>
                        <a:buNone/>
                      </a:pPr>
                      <a:r>
                        <a:rPr sz="1725" b="0">
                          <a:solidFill>
                            <a:srgbClr val="1B2533"/>
                          </a:solidFill>
                          <a:latin typeface="Microsoft YaHei"/>
                          <a:ea typeface="Microsoft YaHei"/>
                          <a:cs typeface="Microsoft YaHei"/>
                        </a:rPr>
                        <a:t>文生图与编辑</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AR上下文预测连续token，flow输出细节</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借鉴离散上下文与连续输出的分工，设计可交换的科学状态</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SFD [T01]</a:t>
                      </a:r>
                    </a:p>
                    <a:p>
                      <a:pPr algn="l">
                        <a:lnSpc>
                          <a:spcPct val="108000"/>
                        </a:lnSpc>
                        <a:buNone/>
                      </a:pPr>
                      <a:r>
                        <a:rPr sz="1725" b="0">
                          <a:solidFill>
                            <a:srgbClr val="1B2533"/>
                          </a:solidFill>
                          <a:latin typeface="Microsoft YaHei"/>
                          <a:ea typeface="Microsoft YaHei"/>
                          <a:cs typeface="Microsoft YaHei"/>
                        </a:rPr>
                        <a:t>ImageNet类别条件</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分别推进语义与纹理的信息进度</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借鉴相关变量的信息组织，研究化学和几何何时交换信息</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5CA1AF36-FEDD-4BA8-8AC5-8EB2A6323118}"/>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候选基座：LLM + Diffusion / SI。要新增的能力是内容相关的双向修订。</a:t>
            </a:r>
          </a:p>
        </p:txBody>
      </p:sp>
      <p:sp>
        <p:nvSpPr>
          <p:cNvPr id="4" name="separator">
            <a:extLst xmlns:a="http://schemas.openxmlformats.org/drawingml/2006/main">
              <a:ext uri="{FF2B5EF4-FFF2-40B4-BE49-F238E27FC236}">
                <a16:creationId xmlns:a16="http://schemas.microsoft.com/office/drawing/2014/main" id="{2B6B6CD3-7C2B-477C-9A76-C1F819A4679D}"/>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4786B2DF-5E5F-44C7-A29E-321029B39442}"/>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晶体论文支持任务可行性。NextStep-1 / SFD提供跨领域方法依据，原任务在表中标明。</a:t>
            </a:r>
          </a:p>
        </p:txBody>
      </p:sp>
      <p:sp>
        <p:nvSpPr>
          <p:cNvPr id="6" name="page-number">
            <a:extLst xmlns:a="http://schemas.openxmlformats.org/drawingml/2006/main">
              <a:ext uri="{FF2B5EF4-FFF2-40B4-BE49-F238E27FC236}">
                <a16:creationId xmlns:a16="http://schemas.microsoft.com/office/drawing/2014/main" id="{49B922A6-84D5-45F6-A34B-84CFB91E2541}"/>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16</a:t>
            </a:r>
          </a:p>
        </p:txBody>
      </p:sp>
    </p:spTree>
    <p:extLst>
      <p:ext uri="{BB962C8B-B14F-4D97-AF65-F5344CB8AC3E}">
        <p14:creationId xmlns:p14="http://schemas.microsoft.com/office/powerpoint/2010/main" val="18711681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40E39B12-07A0-4448-96AE-D6F9E6D5ADB3}"/>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A的研究任务与可检验主张</a:t>
            </a:r>
          </a:p>
        </p:txBody>
      </p:sp>
      <p:sp>
        <p:nvSpPr>
          <p:cNvPr id="2" name="lead">
            <a:extLst xmlns:a="http://schemas.openxmlformats.org/drawingml/2006/main">
              <a:ext uri="{FF2B5EF4-FFF2-40B4-BE49-F238E27FC236}">
                <a16:creationId xmlns:a16="http://schemas.microsoft.com/office/drawing/2014/main" id="{DF81E7A7-A780-4D55-9C8C-57A3BD5B4239}"/>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中心问题：逐渐形成的几何，能否帮助模型选择更合适的化学？</a:t>
            </a:r>
          </a:p>
        </p:txBody>
      </p:sp>
      <p:sp>
        <p:nvSpPr>
          <p:cNvPr id="3" name="text">
            <a:extLst xmlns:a="http://schemas.openxmlformats.org/drawingml/2006/main">
              <a:ext uri="{FF2B5EF4-FFF2-40B4-BE49-F238E27FC236}">
                <a16:creationId xmlns:a16="http://schemas.microsoft.com/office/drawing/2014/main" id="{22B6D28E-F135-4EB4-BC8D-17B35484CA9D}"/>
              </a:ext>
            </a:extLst>
          </p:cNvPr>
          <p:cNvSpPr>
            <a:spLocks xmlns:a="http://schemas.openxmlformats.org/drawingml/2006/main" noGrp="1"/>
          </p:cNvSpPr>
          <p:nvPr/>
        </p:nvSpPr>
        <p:spPr>
          <a:xfrm xmlns:a="http://schemas.openxmlformats.org/drawingml/2006/main">
            <a:off x="609600" y="209550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主任务DNG</a:t>
            </a:r>
          </a:p>
        </p:txBody>
      </p:sp>
      <p:sp>
        <p:nvSpPr>
          <p:cNvPr id="4" name="text">
            <a:extLst xmlns:a="http://schemas.openxmlformats.org/drawingml/2006/main">
              <a:ext uri="{FF2B5EF4-FFF2-40B4-BE49-F238E27FC236}">
                <a16:creationId xmlns:a16="http://schemas.microsoft.com/office/drawing/2014/main" id="{ECFEF60F-09B5-4A7C-A0C9-232EF7582934}"/>
              </a:ext>
            </a:extLst>
          </p:cNvPr>
          <p:cNvSpPr>
            <a:spLocks xmlns:a="http://schemas.openxmlformats.org/drawingml/2006/main" noGrp="1"/>
          </p:cNvSpPr>
          <p:nvPr/>
        </p:nvSpPr>
        <p:spPr>
          <a:xfrm xmlns:a="http://schemas.openxmlformats.org/drawingml/2006/main">
            <a:off x="2514600" y="209550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模型自主提出组成与结构。用同一弛豫和新颖性规则比较不同生成组织的SUN</a:t>
            </a:r>
          </a:p>
        </p:txBody>
      </p:sp>
      <p:sp>
        <p:nvSpPr>
          <p:cNvPr id="5" name="text">
            <a:extLst xmlns:a="http://schemas.openxmlformats.org/drawingml/2006/main">
              <a:ext uri="{FF2B5EF4-FFF2-40B4-BE49-F238E27FC236}">
                <a16:creationId xmlns:a16="http://schemas.microsoft.com/office/drawing/2014/main" id="{81AEF40E-262E-4340-A739-DDA15E788D1D}"/>
              </a:ext>
            </a:extLst>
          </p:cNvPr>
          <p:cNvSpPr>
            <a:spLocks xmlns:a="http://schemas.openxmlformats.org/drawingml/2006/main" noGrp="1"/>
          </p:cNvSpPr>
          <p:nvPr/>
        </p:nvSpPr>
        <p:spPr>
          <a:xfrm xmlns:a="http://schemas.openxmlformats.org/drawingml/2006/main">
            <a:off x="609600" y="303847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能力定位</a:t>
            </a:r>
          </a:p>
        </p:txBody>
      </p:sp>
      <p:sp>
        <p:nvSpPr>
          <p:cNvPr id="6" name="text">
            <a:extLst xmlns:a="http://schemas.openxmlformats.org/drawingml/2006/main">
              <a:ext uri="{FF2B5EF4-FFF2-40B4-BE49-F238E27FC236}">
                <a16:creationId xmlns:a16="http://schemas.microsoft.com/office/drawing/2014/main" id="{7C875B6D-FF2A-4CFA-A955-41B117DBC811}"/>
              </a:ext>
            </a:extLst>
          </p:cNvPr>
          <p:cNvSpPr>
            <a:spLocks xmlns:a="http://schemas.openxmlformats.org/drawingml/2006/main" noGrp="1"/>
          </p:cNvSpPr>
          <p:nvPr/>
        </p:nvSpPr>
        <p:spPr>
          <a:xfrm xmlns:a="http://schemas.openxmlformats.org/drawingml/2006/main">
            <a:off x="2514600" y="303847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给定部分组成或结构，补全另一部分。测试未见的化学与结构组合，观察修订是否改善配对</a:t>
            </a:r>
          </a:p>
        </p:txBody>
      </p:sp>
      <p:sp>
        <p:nvSpPr>
          <p:cNvPr id="7" name="text">
            <a:extLst xmlns:a="http://schemas.openxmlformats.org/drawingml/2006/main">
              <a:ext uri="{FF2B5EF4-FFF2-40B4-BE49-F238E27FC236}">
                <a16:creationId xmlns:a16="http://schemas.microsoft.com/office/drawing/2014/main" id="{C6EDA5E8-AA23-4B29-910F-D1580370E23B}"/>
              </a:ext>
            </a:extLst>
          </p:cNvPr>
          <p:cNvSpPr>
            <a:spLocks xmlns:a="http://schemas.openxmlformats.org/drawingml/2006/main" noGrp="1"/>
          </p:cNvSpPr>
          <p:nvPr/>
        </p:nvSpPr>
        <p:spPr>
          <a:xfrm xmlns:a="http://schemas.openxmlformats.org/drawingml/2006/main">
            <a:off x="609600" y="398145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xmlns:a="http://schemas.openxmlformats.org/drawingml/2006/main">
              <a:ext uri="{FF2B5EF4-FFF2-40B4-BE49-F238E27FC236}">
                <a16:creationId xmlns:a16="http://schemas.microsoft.com/office/drawing/2014/main" id="{7D78E6D8-6DE1-4F04-A03C-947337058ACD}"/>
              </a:ext>
            </a:extLst>
          </p:cNvPr>
          <p:cNvSpPr>
            <a:spLocks xmlns:a="http://schemas.openxmlformats.org/drawingml/2006/main" noGrp="1"/>
          </p:cNvSpPr>
          <p:nvPr/>
        </p:nvSpPr>
        <p:spPr>
          <a:xfrm xmlns:a="http://schemas.openxmlformats.org/drawingml/2006/main">
            <a:off x="2514600" y="398145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强组成模型+CSP、纯联合Diffusion / SI、LLM与连续模型双向交互。保持数据与总费用可比</a:t>
            </a:r>
          </a:p>
        </p:txBody>
      </p:sp>
      <p:sp>
        <p:nvSpPr>
          <p:cNvPr id="9" name="text">
            <a:extLst xmlns:a="http://schemas.openxmlformats.org/drawingml/2006/main">
              <a:ext uri="{FF2B5EF4-FFF2-40B4-BE49-F238E27FC236}">
                <a16:creationId xmlns:a16="http://schemas.microsoft.com/office/drawing/2014/main" id="{29919CC8-DC15-40E5-926C-8C7E81812778}"/>
              </a:ext>
            </a:extLst>
          </p:cNvPr>
          <p:cNvSpPr>
            <a:spLocks xmlns:a="http://schemas.openxmlformats.org/drawingml/2006/main" noGrp="1"/>
          </p:cNvSpPr>
          <p:nvPr/>
        </p:nvSpPr>
        <p:spPr>
          <a:xfrm xmlns:a="http://schemas.openxmlformats.org/drawingml/2006/main">
            <a:off x="609600" y="49244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xmlns:a="http://schemas.openxmlformats.org/drawingml/2006/main">
              <a:ext uri="{FF2B5EF4-FFF2-40B4-BE49-F238E27FC236}">
                <a16:creationId xmlns:a16="http://schemas.microsoft.com/office/drawing/2014/main" id="{335051BA-EDCC-4867-A9BF-9C7A3CC0DFBE}"/>
              </a:ext>
            </a:extLst>
          </p:cNvPr>
          <p:cNvSpPr>
            <a:spLocks xmlns:a="http://schemas.openxmlformats.org/drawingml/2006/main" noGrp="1"/>
          </p:cNvSpPr>
          <p:nvPr/>
        </p:nvSpPr>
        <p:spPr>
          <a:xfrm xmlns:a="http://schemas.openxmlformats.org/drawingml/2006/main">
            <a:off x="2514600" y="492442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建立信息交换何时有用的规律，并在独立新组合和DNG中保留收益</a:t>
            </a:r>
          </a:p>
        </p:txBody>
      </p:sp>
      <p:sp>
        <p:nvSpPr>
          <p:cNvPr id="11" name="separator">
            <a:extLst xmlns:a="http://schemas.openxmlformats.org/drawingml/2006/main">
              <a:ext uri="{FF2B5EF4-FFF2-40B4-BE49-F238E27FC236}">
                <a16:creationId xmlns:a16="http://schemas.microsoft.com/office/drawing/2014/main" id="{B3E0B85C-E941-433A-B72D-E974D90824DE}"/>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C825E26B-0D9C-4BBF-9468-76E2E494EBEC}"/>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任务先行：CSP / 互条件生成定位能力，DNG建立发现结果。ANCHOR提供组成分配的强参照。</a:t>
            </a:r>
          </a:p>
        </p:txBody>
      </p:sp>
      <p:sp>
        <p:nvSpPr>
          <p:cNvPr id="13" name="page-number">
            <a:extLst xmlns:a="http://schemas.openxmlformats.org/drawingml/2006/main">
              <a:ext uri="{FF2B5EF4-FFF2-40B4-BE49-F238E27FC236}">
                <a16:creationId xmlns:a16="http://schemas.microsoft.com/office/drawing/2014/main" id="{E96DCF8F-D12F-4934-923B-88953FAFF6C0}"/>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17</a:t>
            </a:r>
          </a:p>
        </p:txBody>
      </p:sp>
    </p:spTree>
    <p:extLst>
      <p:ext uri="{BB962C8B-B14F-4D97-AF65-F5344CB8AC3E}">
        <p14:creationId xmlns:p14="http://schemas.microsoft.com/office/powerpoint/2010/main" val="2572526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01152CA-A289-48C6-9D99-40314F371E1F}"/>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B的演化：局部环境到新整体组合</a:t>
            </a:r>
          </a:p>
        </p:txBody>
      </p:sp>
      <p:graphicFrame>
        <p:nvGraphicFramePr>
          <p:cNvPr id="2" name="">
            <a:extLst xmlns:a="http://schemas.openxmlformats.org/drawingml/2006/main">
              <a:ext uri="{FF2B5EF4-FFF2-40B4-BE49-F238E27FC236}">
                <a16:creationId xmlns:a16="http://schemas.microsoft.com/office/drawing/2014/main" id="{51672556-236A-462F-A412-F3C5BD1126BC}"/>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429000"/>
                <a:gridCol w="2667000"/>
                <a:gridCol w="48768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时间与支持论文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为路线B提供的能力</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2018–2023</a:t>
                      </a:r>
                    </a:p>
                    <a:p>
                      <a:pPr algn="l">
                        <a:lnSpc>
                          <a:spcPct val="108000"/>
                        </a:lnSpc>
                        <a:buNone/>
                      </a:pPr>
                      <a:r>
                        <a:rPr sz="1725" b="0">
                          <a:solidFill>
                            <a:srgbClr val="1B2533"/>
                          </a:solidFill>
                          <a:latin typeface="Microsoft YaHei"/>
                          <a:ea typeface="Microsoft YaHei"/>
                          <a:cs typeface="Microsoft YaHei"/>
                        </a:rPr>
                        <a:t>CGCNN、M3GNet、CHGNet</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完整晶体的物理预测</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说明局部环境包含可复用物理信息，提供知识来源与评价工具</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2022–2023</a:t>
                      </a:r>
                    </a:p>
                    <a:p>
                      <a:pPr algn="l">
                        <a:lnSpc>
                          <a:spcPct val="108000"/>
                        </a:lnSpc>
                        <a:buNone/>
                      </a:pPr>
                      <a:r>
                        <a:rPr sz="1725" b="0">
                          <a:solidFill>
                            <a:srgbClr val="1B2533"/>
                          </a:solidFill>
                          <a:latin typeface="Microsoft YaHei"/>
                          <a:ea typeface="Microsoft YaHei"/>
                          <a:cs typeface="Microsoft YaHei"/>
                        </a:rPr>
                        <a:t>CDVAE、SLICES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生成及可逆周期表示</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支持整体结构生成和周期连接表达，使知识可以落实到结构</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a:t>
                      </a:r>
                    </a:p>
                    <a:p>
                      <a:pPr algn="l">
                        <a:lnSpc>
                          <a:spcPct val="108000"/>
                        </a:lnSpc>
                        <a:buNone/>
                      </a:pPr>
                      <a:r>
                        <a:rPr sz="1725" b="0">
                          <a:solidFill>
                            <a:srgbClr val="1B2533"/>
                          </a:solidFill>
                          <a:latin typeface="Microsoft YaHei"/>
                          <a:ea typeface="Microsoft YaHei"/>
                          <a:cs typeface="Microsoft YaHei"/>
                        </a:rPr>
                        <a:t>SymmCD</a:t>
                      </a:r>
                    </a:p>
                    <a:p>
                      <a:pPr algn="l">
                        <a:lnSpc>
                          <a:spcPct val="108000"/>
                        </a:lnSpc>
                        <a:buNone/>
                      </a:pPr>
                      <a:r>
                        <a:rPr sz="1725" b="0">
                          <a:solidFill>
                            <a:srgbClr val="1B2533"/>
                          </a:solidFill>
                          <a:latin typeface="Microsoft YaHei"/>
                          <a:ea typeface="Microsoft YaHei"/>
                          <a:cs typeface="Microsoft YaHei"/>
                        </a:rPr>
                        <a:t>WyckoffDiff / Transformer</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对称配置生成与几何解码</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用非等价位点组织共享约束，减少需要独立生成的自由度</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SCIGEN、Composable</a:t>
                      </a:r>
                    </a:p>
                    <a:p>
                      <a:pPr algn="l">
                        <a:lnSpc>
                          <a:spcPct val="108000"/>
                        </a:lnSpc>
                        <a:buNone/>
                      </a:pPr>
                      <a:r>
                        <a:rPr sz="1725" b="0">
                          <a:solidFill>
                            <a:srgbClr val="1B2533"/>
                          </a:solidFill>
                          <a:latin typeface="Microsoft YaHei"/>
                          <a:ea typeface="Microsoft YaHei"/>
                          <a:cs typeface="Microsoft YaHei"/>
                        </a:rPr>
                        <a:t>UFO-MGen</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图案嵌入、概念组合</a:t>
                      </a:r>
                    </a:p>
                    <a:p>
                      <a:pPr algn="l">
                        <a:lnSpc>
                          <a:spcPct val="108000"/>
                        </a:lnSpc>
                        <a:buNone/>
                      </a:pPr>
                      <a:r>
                        <a:rPr sz="1725" b="0">
                          <a:solidFill>
                            <a:srgbClr val="1B2533"/>
                          </a:solidFill>
                          <a:latin typeface="Microsoft YaHei"/>
                          <a:ea typeface="Microsoft YaHei"/>
                          <a:cs typeface="Microsoft YaHei"/>
                        </a:rPr>
                        <a:t>新配置条件完成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把指定关系嵌入晶体。进一步需要辨认组合成功所需的共同条件</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AD74A0D9-B52D-4F70-9B49-7CCC4266853C}"/>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演化留下的问题：学到的局部规律，在改变连接、化学和晶胞后何时仍成立？</a:t>
            </a:r>
          </a:p>
        </p:txBody>
      </p:sp>
      <p:sp>
        <p:nvSpPr>
          <p:cNvPr id="4" name="separator">
            <a:extLst xmlns:a="http://schemas.openxmlformats.org/drawingml/2006/main">
              <a:ext uri="{FF2B5EF4-FFF2-40B4-BE49-F238E27FC236}">
                <a16:creationId xmlns:a16="http://schemas.microsoft.com/office/drawing/2014/main" id="{AE33A9AE-A11D-4403-9704-9302C8D1D052}"/>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B2DE6130-2C98-4FA9-8208-25C628D0ABA7}"/>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11篇工作，依次承担预测背景、表示、对称生成和直接组合任务的支撑。</a:t>
            </a:r>
          </a:p>
        </p:txBody>
      </p:sp>
      <p:sp>
        <p:nvSpPr>
          <p:cNvPr id="6" name="page-number">
            <a:extLst xmlns:a="http://schemas.openxmlformats.org/drawingml/2006/main">
              <a:ext uri="{FF2B5EF4-FFF2-40B4-BE49-F238E27FC236}">
                <a16:creationId xmlns:a16="http://schemas.microsoft.com/office/drawing/2014/main" id="{7B7AEF8D-0A6C-4CB2-A87F-E84DC096F6A7}"/>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18</a:t>
            </a:r>
          </a:p>
        </p:txBody>
      </p:sp>
    </p:spTree>
    <p:extLst>
      <p:ext uri="{BB962C8B-B14F-4D97-AF65-F5344CB8AC3E}">
        <p14:creationId xmlns:p14="http://schemas.microsoft.com/office/powerpoint/2010/main" val="11771904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E934453-DE12-4A5D-849F-2147BD24322D}"/>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B的技术依据与具体选择</a:t>
            </a:r>
          </a:p>
        </p:txBody>
      </p:sp>
      <p:graphicFrame>
        <p:nvGraphicFramePr>
          <p:cNvPr id="2" name="">
            <a:extLst xmlns:a="http://schemas.openxmlformats.org/drawingml/2006/main">
              <a:ext uri="{FF2B5EF4-FFF2-40B4-BE49-F238E27FC236}">
                <a16:creationId xmlns:a16="http://schemas.microsoft.com/office/drawing/2014/main" id="{5F978B5F-3E6F-49F8-9C75-BBA69FFF8AF3}"/>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286125"/>
                <a:gridCol w="3714750"/>
                <a:gridCol w="3971925"/>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方法支撑</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原任务中解决什么</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在晶体中承担什么</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SLICES、SymmCD</a:t>
                      </a:r>
                    </a:p>
                    <a:p>
                      <a:pPr algn="l">
                        <a:lnSpc>
                          <a:spcPct val="108000"/>
                        </a:lnSpc>
                        <a:buNone/>
                      </a:pPr>
                      <a:r>
                        <a:rPr sz="1725" b="0">
                          <a:solidFill>
                            <a:srgbClr val="1B2533"/>
                          </a:solidFill>
                          <a:latin typeface="Microsoft YaHei"/>
                          <a:ea typeface="Microsoft YaHei"/>
                          <a:cs typeface="Microsoft YaHei"/>
                        </a:rPr>
                        <a:t>周期关系与对称表示</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表示周期连接与非等价位点</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让多个局部条件指向同一组原子和晶胞</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SCIGEN</a:t>
                      </a:r>
                    </a:p>
                    <a:p>
                      <a:pPr algn="l">
                        <a:lnSpc>
                          <a:spcPct val="108000"/>
                        </a:lnSpc>
                        <a:buNone/>
                      </a:pPr>
                      <a:r>
                        <a:rPr sz="1725" b="0">
                          <a:solidFill>
                            <a:srgbClr val="1B2533"/>
                          </a:solidFill>
                          <a:latin typeface="Microsoft YaHei"/>
                          <a:ea typeface="Microsoft YaHei"/>
                          <a:cs typeface="Microsoft YaHei"/>
                        </a:rPr>
                        <a:t>Composable Crystals</a:t>
                      </a:r>
                    </a:p>
                    <a:p>
                      <a:pPr algn="l">
                        <a:lnSpc>
                          <a:spcPct val="108000"/>
                        </a:lnSpc>
                        <a:buNone/>
                      </a:pPr>
                      <a:r>
                        <a:rPr sz="1725" b="0">
                          <a:solidFill>
                            <a:srgbClr val="1B2533"/>
                          </a:solidFill>
                          <a:latin typeface="Microsoft YaHei"/>
                          <a:ea typeface="Microsoft YaHei"/>
                          <a:cs typeface="Microsoft YaHei"/>
                        </a:rPr>
                        <a:t>条件扩散生成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把图案或concept接入全结构生成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组成多个结构要求，并通过周期Diffusion实现</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MCFlow、UFO-MGen</a:t>
                      </a:r>
                    </a:p>
                    <a:p>
                      <a:pPr algn="l">
                        <a:lnSpc>
                          <a:spcPct val="108000"/>
                        </a:lnSpc>
                        <a:buNone/>
                      </a:pPr>
                      <a:r>
                        <a:rPr sz="1725" b="0">
                          <a:solidFill>
                            <a:srgbClr val="1B2533"/>
                          </a:solidFill>
                          <a:latin typeface="Microsoft YaHei"/>
                          <a:ea typeface="Microsoft YaHei"/>
                          <a:cs typeface="Microsoft YaHei"/>
                        </a:rPr>
                        <a:t>条件flow生成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互条件完成，或给定配置生成几何</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提供flow替代基座与新配置完成的比较</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DynFusion / Local Mechanisms</a:t>
                      </a:r>
                    </a:p>
                    <a:p>
                      <a:pPr algn="l">
                        <a:lnSpc>
                          <a:spcPct val="108000"/>
                        </a:lnSpc>
                        <a:buNone/>
                      </a:pPr>
                      <a:r>
                        <a:rPr sz="1725" b="0">
                          <a:solidFill>
                            <a:srgbClr val="1B2533"/>
                          </a:solidFill>
                          <a:latin typeface="Microsoft YaHei"/>
                          <a:ea typeface="Microsoft YaHei"/>
                          <a:cs typeface="Microsoft YaHei"/>
                        </a:rPr>
                        <a:t>多条件融合 / 组合泛化</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融合不同视觉条件，或干预局部条件依赖</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按条件内容组织交互，在晶体中保留共享原子和晶格关系</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4F5B67D6-7556-4306-BF96-175B94022C55}"/>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候选基座：显式周期关系的条件Diffusion。新增能力是跨连接方式的稳定组合。</a:t>
            </a:r>
          </a:p>
        </p:txBody>
      </p:sp>
      <p:sp>
        <p:nvSpPr>
          <p:cNvPr id="4" name="separator">
            <a:extLst xmlns:a="http://schemas.openxmlformats.org/drawingml/2006/main">
              <a:ext uri="{FF2B5EF4-FFF2-40B4-BE49-F238E27FC236}">
                <a16:creationId xmlns:a16="http://schemas.microsoft.com/office/drawing/2014/main" id="{5EACB65F-47F6-4262-B2C2-C643793A4472}"/>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F0E2F9F1-9F72-4268-9EB8-C44DF66D4074}"/>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晶体条件生成给出直接方法先例。图像组合理论提供可干预的研究方式。</a:t>
            </a:r>
          </a:p>
        </p:txBody>
      </p:sp>
      <p:sp>
        <p:nvSpPr>
          <p:cNvPr id="6" name="page-number">
            <a:extLst xmlns:a="http://schemas.openxmlformats.org/drawingml/2006/main">
              <a:ext uri="{FF2B5EF4-FFF2-40B4-BE49-F238E27FC236}">
                <a16:creationId xmlns:a16="http://schemas.microsoft.com/office/drawing/2014/main" id="{9AEDEB10-0519-4824-88E1-3470B4896B04}"/>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19</a:t>
            </a:r>
          </a:p>
        </p:txBody>
      </p:sp>
    </p:spTree>
    <p:extLst>
      <p:ext uri="{BB962C8B-B14F-4D97-AF65-F5344CB8AC3E}">
        <p14:creationId xmlns:p14="http://schemas.microsoft.com/office/powerpoint/2010/main" val="1536308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ADDD600-DF5C-40A6-A11F-6715BB471475}"/>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B的研究任务与可检验主张</a:t>
            </a:r>
          </a:p>
        </p:txBody>
      </p:sp>
      <p:sp>
        <p:nvSpPr>
          <p:cNvPr id="2" name="lead">
            <a:extLst xmlns:a="http://schemas.openxmlformats.org/drawingml/2006/main">
              <a:ext uri="{FF2B5EF4-FFF2-40B4-BE49-F238E27FC236}">
                <a16:creationId xmlns:a16="http://schemas.microsoft.com/office/drawing/2014/main" id="{C850B373-186B-4239-9273-66C6CB3AE4BA}"/>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中心问题：熟悉的局部环境能否构成训练中未见的稳定整体？</a:t>
            </a:r>
          </a:p>
        </p:txBody>
      </p:sp>
      <p:sp>
        <p:nvSpPr>
          <p:cNvPr id="3" name="text">
            <a:extLst xmlns:a="http://schemas.openxmlformats.org/drawingml/2006/main">
              <a:ext uri="{FF2B5EF4-FFF2-40B4-BE49-F238E27FC236}">
                <a16:creationId xmlns:a16="http://schemas.microsoft.com/office/drawing/2014/main" id="{C36EFB99-EBA4-4854-A291-A21729EF14D7}"/>
              </a:ext>
            </a:extLst>
          </p:cNvPr>
          <p:cNvSpPr>
            <a:spLocks xmlns:a="http://schemas.openxmlformats.org/drawingml/2006/main" noGrp="1"/>
          </p:cNvSpPr>
          <p:nvPr/>
        </p:nvSpPr>
        <p:spPr>
          <a:xfrm xmlns:a="http://schemas.openxmlformats.org/drawingml/2006/main">
            <a:off x="609600" y="209550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主任务DNG</a:t>
            </a:r>
          </a:p>
        </p:txBody>
      </p:sp>
      <p:sp>
        <p:nvSpPr>
          <p:cNvPr id="4" name="text">
            <a:extLst xmlns:a="http://schemas.openxmlformats.org/drawingml/2006/main">
              <a:ext uri="{FF2B5EF4-FFF2-40B4-BE49-F238E27FC236}">
                <a16:creationId xmlns:a16="http://schemas.microsoft.com/office/drawing/2014/main" id="{99EE63FE-E821-4EA6-A26B-2D3B8EE084A1}"/>
              </a:ext>
            </a:extLst>
          </p:cNvPr>
          <p:cNvSpPr>
            <a:spLocks xmlns:a="http://schemas.openxmlformats.org/drawingml/2006/main" noGrp="1"/>
          </p:cNvSpPr>
          <p:nvPr/>
        </p:nvSpPr>
        <p:spPr>
          <a:xfrm xmlns:a="http://schemas.openxmlformats.org/drawingml/2006/main">
            <a:off x="2514600" y="209550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模型自主提出组合方案并完成几何。评价严格稳定性和不同新结构数量</a:t>
            </a:r>
          </a:p>
        </p:txBody>
      </p:sp>
      <p:sp>
        <p:nvSpPr>
          <p:cNvPr id="5" name="text">
            <a:extLst xmlns:a="http://schemas.openxmlformats.org/drawingml/2006/main">
              <a:ext uri="{FF2B5EF4-FFF2-40B4-BE49-F238E27FC236}">
                <a16:creationId xmlns:a16="http://schemas.microsoft.com/office/drawing/2014/main" id="{4C5C582A-9EF9-4212-8833-4B348B1C2455}"/>
              </a:ext>
            </a:extLst>
          </p:cNvPr>
          <p:cNvSpPr>
            <a:spLocks xmlns:a="http://schemas.openxmlformats.org/drawingml/2006/main" noGrp="1"/>
          </p:cNvSpPr>
          <p:nvPr/>
        </p:nvSpPr>
        <p:spPr>
          <a:xfrm xmlns:a="http://schemas.openxmlformats.org/drawingml/2006/main">
            <a:off x="609600" y="303847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能力定位</a:t>
            </a:r>
          </a:p>
        </p:txBody>
      </p:sp>
      <p:sp>
        <p:nvSpPr>
          <p:cNvPr id="6" name="text">
            <a:extLst xmlns:a="http://schemas.openxmlformats.org/drawingml/2006/main">
              <a:ext uri="{FF2B5EF4-FFF2-40B4-BE49-F238E27FC236}">
                <a16:creationId xmlns:a16="http://schemas.microsoft.com/office/drawing/2014/main" id="{377E925E-7423-4DBC-9596-4252F7274BD6}"/>
              </a:ext>
            </a:extLst>
          </p:cNvPr>
          <p:cNvSpPr>
            <a:spLocks xmlns:a="http://schemas.openxmlformats.org/drawingml/2006/main" noGrp="1"/>
          </p:cNvSpPr>
          <p:nvPr/>
        </p:nvSpPr>
        <p:spPr>
          <a:xfrm xmlns:a="http://schemas.openxmlformats.org/drawingml/2006/main">
            <a:off x="2514600" y="303847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给定多个配位或连接要求，生成同一周期结构。分别留出化学组合、连接方式或原胞复杂度</a:t>
            </a:r>
          </a:p>
        </p:txBody>
      </p:sp>
      <p:sp>
        <p:nvSpPr>
          <p:cNvPr id="7" name="text">
            <a:extLst xmlns:a="http://schemas.openxmlformats.org/drawingml/2006/main">
              <a:ext uri="{FF2B5EF4-FFF2-40B4-BE49-F238E27FC236}">
                <a16:creationId xmlns:a16="http://schemas.microsoft.com/office/drawing/2014/main" id="{009079B2-B116-42FA-B570-01E2C9369FD6}"/>
              </a:ext>
            </a:extLst>
          </p:cNvPr>
          <p:cNvSpPr>
            <a:spLocks xmlns:a="http://schemas.openxmlformats.org/drawingml/2006/main" noGrp="1"/>
          </p:cNvSpPr>
          <p:nvPr/>
        </p:nvSpPr>
        <p:spPr>
          <a:xfrm xmlns:a="http://schemas.openxmlformats.org/drawingml/2006/main">
            <a:off x="609600" y="398145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xmlns:a="http://schemas.openxmlformats.org/drawingml/2006/main">
              <a:ext uri="{FF2B5EF4-FFF2-40B4-BE49-F238E27FC236}">
                <a16:creationId xmlns:a16="http://schemas.microsoft.com/office/drawing/2014/main" id="{E8405710-CDB2-400B-A174-7A1EBB489F3C}"/>
              </a:ext>
            </a:extLst>
          </p:cNvPr>
          <p:cNvSpPr>
            <a:spLocks xmlns:a="http://schemas.openxmlformats.org/drawingml/2006/main" noGrp="1"/>
          </p:cNvSpPr>
          <p:nvPr/>
        </p:nvSpPr>
        <p:spPr>
          <a:xfrm xmlns:a="http://schemas.openxmlformats.org/drawingml/2006/main">
            <a:off x="2514600" y="398145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离子替换 / 整结构检索、条件CSP、独立条件组合、共享周期关系建模</a:t>
            </a:r>
          </a:p>
        </p:txBody>
      </p:sp>
      <p:sp>
        <p:nvSpPr>
          <p:cNvPr id="9" name="text">
            <a:extLst xmlns:a="http://schemas.openxmlformats.org/drawingml/2006/main">
              <a:ext uri="{FF2B5EF4-FFF2-40B4-BE49-F238E27FC236}">
                <a16:creationId xmlns:a16="http://schemas.microsoft.com/office/drawing/2014/main" id="{CB6B48C8-7665-4BA5-B1DE-D86A61846B6A}"/>
              </a:ext>
            </a:extLst>
          </p:cNvPr>
          <p:cNvSpPr>
            <a:spLocks xmlns:a="http://schemas.openxmlformats.org/drawingml/2006/main" noGrp="1"/>
          </p:cNvSpPr>
          <p:nvPr/>
        </p:nvSpPr>
        <p:spPr>
          <a:xfrm xmlns:a="http://schemas.openxmlformats.org/drawingml/2006/main">
            <a:off x="609600" y="49244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xmlns:a="http://schemas.openxmlformats.org/drawingml/2006/main">
              <a:ext uri="{FF2B5EF4-FFF2-40B4-BE49-F238E27FC236}">
                <a16:creationId xmlns:a16="http://schemas.microsoft.com/office/drawing/2014/main" id="{B61189F3-5782-43B0-A7E9-4CDD237A8459}"/>
              </a:ext>
            </a:extLst>
          </p:cNvPr>
          <p:cNvSpPr>
            <a:spLocks xmlns:a="http://schemas.openxmlformats.org/drawingml/2006/main" noGrp="1"/>
          </p:cNvSpPr>
          <p:nvPr/>
        </p:nvSpPr>
        <p:spPr>
          <a:xfrm xmlns:a="http://schemas.openxmlformats.org/drawingml/2006/main">
            <a:off x="2514600" y="492442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说明共享条件怎样支持知识迁移，在未见组合与DNG中增加稳定新结构</a:t>
            </a:r>
          </a:p>
        </p:txBody>
      </p:sp>
      <p:sp>
        <p:nvSpPr>
          <p:cNvPr id="11" name="separator">
            <a:extLst xmlns:a="http://schemas.openxmlformats.org/drawingml/2006/main">
              <a:ext uri="{FF2B5EF4-FFF2-40B4-BE49-F238E27FC236}">
                <a16:creationId xmlns:a16="http://schemas.microsoft.com/office/drawing/2014/main" id="{E0C97713-266E-4DC7-8B61-A2C173EF37B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E6133036-F30D-49BA-8507-C982E7F0FE37}"/>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直接任务对应SCIGEN / Composable / MCFlow / UFO-MGen；强基线及替换分析定位知识来源。</a:t>
            </a:r>
          </a:p>
        </p:txBody>
      </p:sp>
      <p:sp>
        <p:nvSpPr>
          <p:cNvPr id="13" name="page-number">
            <a:extLst xmlns:a="http://schemas.openxmlformats.org/drawingml/2006/main">
              <a:ext uri="{FF2B5EF4-FFF2-40B4-BE49-F238E27FC236}">
                <a16:creationId xmlns:a16="http://schemas.microsoft.com/office/drawing/2014/main" id="{9E489FC2-9066-4E47-9C35-145AE3E61552}"/>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20</a:t>
            </a:r>
          </a:p>
        </p:txBody>
      </p:sp>
    </p:spTree>
    <p:extLst>
      <p:ext uri="{BB962C8B-B14F-4D97-AF65-F5344CB8AC3E}">
        <p14:creationId xmlns:p14="http://schemas.microsoft.com/office/powerpoint/2010/main" val="147610142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3C0D359-4B75-452D-B45B-CEE62920F523}"/>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C的演化：物理搜索到生成器学习</a:t>
            </a:r>
          </a:p>
        </p:txBody>
      </p:sp>
      <p:graphicFrame>
        <p:nvGraphicFramePr>
          <p:cNvPr id="2" name="">
            <a:extLst xmlns:a="http://schemas.openxmlformats.org/drawingml/2006/main">
              <a:ext uri="{FF2B5EF4-FFF2-40B4-BE49-F238E27FC236}">
                <a16:creationId xmlns:a16="http://schemas.microsoft.com/office/drawing/2014/main" id="{63E5AA1F-0DB9-4F0A-B955-A8401BD61BC5}"/>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429000"/>
                <a:gridCol w="2667000"/>
                <a:gridCol w="48768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时间与支持论文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物理反馈改变的对象</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2006–2023</a:t>
                      </a:r>
                    </a:p>
                    <a:p>
                      <a:pPr algn="l">
                        <a:lnSpc>
                          <a:spcPct val="108000"/>
                        </a:lnSpc>
                        <a:buNone/>
                      </a:pPr>
                      <a:r>
                        <a:rPr sz="1725" b="0">
                          <a:solidFill>
                            <a:srgbClr val="1B2533"/>
                          </a:solidFill>
                          <a:latin typeface="Microsoft YaHei"/>
                          <a:ea typeface="Microsoft YaHei"/>
                          <a:cs typeface="Microsoft YaHei"/>
                        </a:rPr>
                        <a:t>AIRSS、USPEX、RL-CSP</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指定体系的低能结构搜索</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先评价候选，再选择搜索动作。RL-CSP进一步学习动作分布</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2022–2025</a:t>
                      </a:r>
                    </a:p>
                    <a:p>
                      <a:pPr algn="l">
                        <a:lnSpc>
                          <a:spcPct val="108000"/>
                        </a:lnSpc>
                        <a:buNone/>
                      </a:pPr>
                      <a:r>
                        <a:rPr sz="1725" b="0">
                          <a:solidFill>
                            <a:srgbClr val="1B2533"/>
                          </a:solidFill>
                          <a:latin typeface="Microsoft YaHei"/>
                          <a:ea typeface="Microsoft YaHei"/>
                          <a:cs typeface="Microsoft YaHei"/>
                        </a:rPr>
                        <a:t>CHGNet、GNoME、OpenCSP</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物理预测及压力CSP</a:t>
                      </a:r>
                    </a:p>
                    <a:p>
                      <a:pPr algn="l">
                        <a:lnSpc>
                          <a:spcPct val="108000"/>
                        </a:lnSpc>
                        <a:buNone/>
                      </a:pPr>
                      <a:r>
                        <a:rPr sz="1725" b="0">
                          <a:solidFill>
                            <a:srgbClr val="1B2533"/>
                          </a:solidFill>
                          <a:latin typeface="Microsoft YaHei"/>
                          <a:ea typeface="Microsoft YaHei"/>
                          <a:cs typeface="Microsoft YaHei"/>
                        </a:rPr>
                        <a:t>新物理数据采集</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计算扩展模型适用的结构和物理环境，主要改善预测与搜索基础</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MatInvent、PLaID++</a:t>
                      </a:r>
                    </a:p>
                    <a:p>
                      <a:pPr algn="l">
                        <a:lnSpc>
                          <a:spcPct val="108000"/>
                        </a:lnSpc>
                        <a:buNone/>
                      </a:pPr>
                      <a:r>
                        <a:rPr sz="1725" b="0">
                          <a:solidFill>
                            <a:srgbClr val="1B2533"/>
                          </a:solidFill>
                          <a:latin typeface="Microsoft YaHei"/>
                          <a:ea typeface="Microsoft YaHei"/>
                          <a:cs typeface="Microsoft YaHei"/>
                        </a:rPr>
                        <a:t>Chemeleon2</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性质DNG与物理资格优化</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终点奖励或偏好开始更新生成器，而非仅筛选当前候选</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2026</a:t>
                      </a:r>
                    </a:p>
                    <a:p>
                      <a:pPr algn="l">
                        <a:lnSpc>
                          <a:spcPct val="108000"/>
                        </a:lnSpc>
                        <a:buNone/>
                      </a:pPr>
                      <a:r>
                        <a:rPr sz="1725" b="0">
                          <a:solidFill>
                            <a:srgbClr val="1B2533"/>
                          </a:solidFill>
                          <a:latin typeface="Microsoft YaHei"/>
                          <a:ea typeface="Microsoft YaHei"/>
                          <a:cs typeface="Microsoft YaHei"/>
                        </a:rPr>
                        <a:t>OMatG-IRL、flash、GSS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CSP / DNG及少步生成</a:t>
                      </a:r>
                    </a:p>
                    <a:p>
                      <a:pPr algn="l">
                        <a:lnSpc>
                          <a:spcPct val="108000"/>
                        </a:lnSpc>
                        <a:buNone/>
                      </a:pPr>
                      <a:r>
                        <a:rPr sz="1725" b="0">
                          <a:solidFill>
                            <a:srgbClr val="1B2533"/>
                          </a:solidFill>
                          <a:latin typeface="Microsoft YaHei"/>
                          <a:ea typeface="Microsoft YaHei"/>
                          <a:cs typeface="Microsoft YaHei"/>
                        </a:rPr>
                        <a:t>生成先验结合物理搜索</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IRL / flash更新生成场或映射，GSS在搜索中结合先验与物理力</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D2C4B61C-3756-4DA4-BC92-6836017C2F60}"/>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演化留下的问题：除了终点分数，哪些响应内容值得学入模型并迁移到新材料？</a:t>
            </a:r>
          </a:p>
        </p:txBody>
      </p:sp>
      <p:sp>
        <p:nvSpPr>
          <p:cNvPr id="4" name="separator">
            <a:extLst xmlns:a="http://schemas.openxmlformats.org/drawingml/2006/main">
              <a:ext uri="{FF2B5EF4-FFF2-40B4-BE49-F238E27FC236}">
                <a16:creationId xmlns:a16="http://schemas.microsoft.com/office/drawing/2014/main" id="{3E3155AC-626D-4A9B-8861-7F6FE9B5919E}"/>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96A26C8D-34D6-4CB6-B110-BE5527C42501}"/>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12篇工作分为动作、物理数据、生成器权重及连续过程四类，任务和更新对象分别保留。</a:t>
            </a:r>
          </a:p>
        </p:txBody>
      </p:sp>
      <p:sp>
        <p:nvSpPr>
          <p:cNvPr id="6" name="page-number">
            <a:extLst xmlns:a="http://schemas.openxmlformats.org/drawingml/2006/main">
              <a:ext uri="{FF2B5EF4-FFF2-40B4-BE49-F238E27FC236}">
                <a16:creationId xmlns:a16="http://schemas.microsoft.com/office/drawing/2014/main" id="{00841565-5F34-4CFC-A21D-5180FA2CE217}"/>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21</a:t>
            </a:r>
          </a:p>
        </p:txBody>
      </p:sp>
    </p:spTree>
    <p:extLst>
      <p:ext uri="{BB962C8B-B14F-4D97-AF65-F5344CB8AC3E}">
        <p14:creationId xmlns:p14="http://schemas.microsoft.com/office/powerpoint/2010/main" val="16498387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8EDC219-189D-4934-9DAF-FF84F46434B4}"/>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C的技术依据与具体选择</a:t>
            </a:r>
          </a:p>
        </p:txBody>
      </p:sp>
      <p:graphicFrame>
        <p:nvGraphicFramePr>
          <p:cNvPr id="2" name="">
            <a:extLst xmlns:a="http://schemas.openxmlformats.org/drawingml/2006/main">
              <a:ext uri="{FF2B5EF4-FFF2-40B4-BE49-F238E27FC236}">
                <a16:creationId xmlns:a16="http://schemas.microsoft.com/office/drawing/2014/main" id="{0CC0EB47-FA55-4E52-B5B4-1BF7A79FD1D8}"/>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286125"/>
                <a:gridCol w="3714750"/>
                <a:gridCol w="3971925"/>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方法支撑</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原任务中解决什么</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在晶体中承担什么</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SI理论 [T08]、OMatG、FlowMM</a:t>
                      </a:r>
                    </a:p>
                    <a:p>
                      <a:pPr algn="l">
                        <a:lnSpc>
                          <a:spcPct val="108000"/>
                        </a:lnSpc>
                        <a:buNone/>
                      </a:pPr>
                      <a:r>
                        <a:rPr sz="1725" b="0">
                          <a:solidFill>
                            <a:srgbClr val="1B2533"/>
                          </a:solidFill>
                          <a:latin typeface="Microsoft YaHei"/>
                          <a:ea typeface="Microsoft YaHei"/>
                          <a:cs typeface="Microsoft YaHei"/>
                        </a:rPr>
                        <a:t>连续分布与路径学习</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学习连接分布的速度场，在周期空间生成结构</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提供SI / flow基座，保留相同来源的多种可能终点</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MatInvent、OMatG-IRL</a:t>
                      </a:r>
                    </a:p>
                    <a:p>
                      <a:pPr algn="l">
                        <a:lnSpc>
                          <a:spcPct val="108000"/>
                        </a:lnSpc>
                        <a:buNone/>
                      </a:pPr>
                      <a:r>
                        <a:rPr sz="1725" b="0">
                          <a:solidFill>
                            <a:srgbClr val="1B2533"/>
                          </a:solidFill>
                          <a:latin typeface="Microsoft YaHei"/>
                          <a:ea typeface="Microsoft YaHei"/>
                          <a:cs typeface="Microsoft YaHei"/>
                        </a:rPr>
                        <a:t>晶体物理奖励后训练</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用终点物理效用更新生成器</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作为标量反馈的强参照，明确额外响应信息增加了什么</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Flow-GRPO / RAM [T04–05]</a:t>
                      </a:r>
                    </a:p>
                    <a:p>
                      <a:pPr algn="l">
                        <a:lnSpc>
                          <a:spcPct val="108000"/>
                        </a:lnSpc>
                        <a:buNone/>
                      </a:pPr>
                      <a:r>
                        <a:rPr sz="1725" b="0">
                          <a:solidFill>
                            <a:srgbClr val="1B2533"/>
                          </a:solidFill>
                          <a:latin typeface="Microsoft YaHei"/>
                          <a:ea typeface="Microsoft YaHei"/>
                          <a:cs typeface="Microsoft YaHei"/>
                        </a:rPr>
                        <a:t>图像生成后训练</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用终点奖励训练flow / diffusion</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提供可实施的后训练目标。RAM已由OMatG-flash采用</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GSS、CrystAF</a:t>
                      </a:r>
                    </a:p>
                    <a:p>
                      <a:pPr algn="l">
                        <a:lnSpc>
                          <a:spcPct val="108000"/>
                        </a:lnSpc>
                        <a:buNone/>
                      </a:pPr>
                      <a:r>
                        <a:rPr sz="1725" b="0">
                          <a:solidFill>
                            <a:srgbClr val="1B2533"/>
                          </a:solidFill>
                          <a:latin typeface="Microsoft YaHei"/>
                          <a:ea typeface="Microsoft YaHei"/>
                          <a:cs typeface="Microsoft YaHei"/>
                        </a:rPr>
                        <a:t>物理引导 / 分子晶体packing</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比较生成先验、物理介入与修复</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帮助区分当前样本修复与模型长期学习的作用</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605BF060-45AB-4B80-8F19-AE90267D5B7E}"/>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候选基座：SI / flow。新增学习对象是结构变化、响应和终点之间的关系。</a:t>
            </a:r>
          </a:p>
        </p:txBody>
      </p:sp>
      <p:sp>
        <p:nvSpPr>
          <p:cNvPr id="4" name="separator">
            <a:extLst xmlns:a="http://schemas.openxmlformats.org/drawingml/2006/main">
              <a:ext uri="{FF2B5EF4-FFF2-40B4-BE49-F238E27FC236}">
                <a16:creationId xmlns:a16="http://schemas.microsoft.com/office/drawing/2014/main" id="{DA9E7680-05FB-454A-AE83-C7501DC2CA5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8DED9E80-3CEC-40A1-A0CB-6C8F357B7448}"/>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Flow-GRPO / RAM为图像方法基础；CrystAF研究分子晶体packing，作为相邻领域参照。</a:t>
            </a:r>
          </a:p>
        </p:txBody>
      </p:sp>
      <p:sp>
        <p:nvSpPr>
          <p:cNvPr id="6" name="page-number">
            <a:extLst xmlns:a="http://schemas.openxmlformats.org/drawingml/2006/main">
              <a:ext uri="{FF2B5EF4-FFF2-40B4-BE49-F238E27FC236}">
                <a16:creationId xmlns:a16="http://schemas.microsoft.com/office/drawing/2014/main" id="{36B509F1-7051-4A90-B9F8-63257FBAA45A}"/>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22</a:t>
            </a:r>
          </a:p>
        </p:txBody>
      </p:sp>
    </p:spTree>
    <p:extLst>
      <p:ext uri="{BB962C8B-B14F-4D97-AF65-F5344CB8AC3E}">
        <p14:creationId xmlns:p14="http://schemas.microsoft.com/office/powerpoint/2010/main" val="174946092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B23FD585-21AA-4636-9B12-77A703D09D5E}"/>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C的研究任务与可检验主张</a:t>
            </a:r>
          </a:p>
        </p:txBody>
      </p:sp>
      <p:sp>
        <p:nvSpPr>
          <p:cNvPr id="2" name="lead">
            <a:extLst xmlns:a="http://schemas.openxmlformats.org/drawingml/2006/main">
              <a:ext uri="{FF2B5EF4-FFF2-40B4-BE49-F238E27FC236}">
                <a16:creationId xmlns:a16="http://schemas.microsoft.com/office/drawing/2014/main" id="{4F31EFC9-097F-462E-8A75-6F0826F23480}"/>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中心问题：同样的物理投入，怎样帮助更多后续材料请求？</a:t>
            </a:r>
          </a:p>
        </p:txBody>
      </p:sp>
      <p:sp>
        <p:nvSpPr>
          <p:cNvPr id="3" name="text">
            <a:extLst xmlns:a="http://schemas.openxmlformats.org/drawingml/2006/main">
              <a:ext uri="{FF2B5EF4-FFF2-40B4-BE49-F238E27FC236}">
                <a16:creationId xmlns:a16="http://schemas.microsoft.com/office/drawing/2014/main" id="{4412B646-7319-45F0-BF49-E174DDDC01BB}"/>
              </a:ext>
            </a:extLst>
          </p:cNvPr>
          <p:cNvSpPr>
            <a:spLocks xmlns:a="http://schemas.openxmlformats.org/drawingml/2006/main" noGrp="1"/>
          </p:cNvSpPr>
          <p:nvPr/>
        </p:nvSpPr>
        <p:spPr>
          <a:xfrm xmlns:a="http://schemas.openxmlformats.org/drawingml/2006/main">
            <a:off x="609600" y="209550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主任务DNG</a:t>
            </a:r>
          </a:p>
        </p:txBody>
      </p:sp>
      <p:sp>
        <p:nvSpPr>
          <p:cNvPr id="4" name="text">
            <a:extLst xmlns:a="http://schemas.openxmlformats.org/drawingml/2006/main">
              <a:ext uri="{FF2B5EF4-FFF2-40B4-BE49-F238E27FC236}">
                <a16:creationId xmlns:a16="http://schemas.microsoft.com/office/drawing/2014/main" id="{BA089E43-C964-4B39-8508-09EE9F1762A7}"/>
              </a:ext>
            </a:extLst>
          </p:cNvPr>
          <p:cNvSpPr>
            <a:spLocks xmlns:a="http://schemas.openxmlformats.org/drawingml/2006/main" noGrp="1"/>
          </p:cNvSpPr>
          <p:nvPr/>
        </p:nvSpPr>
        <p:spPr>
          <a:xfrm xmlns:a="http://schemas.openxmlformats.org/drawingml/2006/main">
            <a:off x="2514600" y="209550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用物理数据训练后独立生成，检验新的材料请求能否受益。数据采集和训练成本同时计入</a:t>
            </a:r>
          </a:p>
        </p:txBody>
      </p:sp>
      <p:sp>
        <p:nvSpPr>
          <p:cNvPr id="5" name="text">
            <a:extLst xmlns:a="http://schemas.openxmlformats.org/drawingml/2006/main">
              <a:ext uri="{FF2B5EF4-FFF2-40B4-BE49-F238E27FC236}">
                <a16:creationId xmlns:a16="http://schemas.microsoft.com/office/drawing/2014/main" id="{847D1865-7369-4588-A28B-7937FD1207C5}"/>
              </a:ext>
            </a:extLst>
          </p:cNvPr>
          <p:cNvSpPr>
            <a:spLocks xmlns:a="http://schemas.openxmlformats.org/drawingml/2006/main" noGrp="1"/>
          </p:cNvSpPr>
          <p:nvPr/>
        </p:nvSpPr>
        <p:spPr>
          <a:xfrm xmlns:a="http://schemas.openxmlformats.org/drawingml/2006/main">
            <a:off x="609600" y="303847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关系与迁移</a:t>
            </a:r>
          </a:p>
        </p:txBody>
      </p:sp>
      <p:sp>
        <p:nvSpPr>
          <p:cNvPr id="6" name="text">
            <a:extLst xmlns:a="http://schemas.openxmlformats.org/drawingml/2006/main">
              <a:ext uri="{FF2B5EF4-FFF2-40B4-BE49-F238E27FC236}">
                <a16:creationId xmlns:a16="http://schemas.microsoft.com/office/drawing/2014/main" id="{E81F35D5-40BF-40B3-BFC8-64E0983CFC38}"/>
              </a:ext>
            </a:extLst>
          </p:cNvPr>
          <p:cNvSpPr>
            <a:spLocks xmlns:a="http://schemas.openxmlformats.org/drawingml/2006/main" noGrp="1"/>
          </p:cNvSpPr>
          <p:nvPr/>
        </p:nvSpPr>
        <p:spPr>
          <a:xfrm xmlns:a="http://schemas.openxmlformats.org/drawingml/2006/main">
            <a:off x="2514600" y="303847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学习同源结构改变的响应与后果，并在未见组成或条件上检验</a:t>
            </a:r>
          </a:p>
        </p:txBody>
      </p:sp>
      <p:sp>
        <p:nvSpPr>
          <p:cNvPr id="7" name="text">
            <a:extLst xmlns:a="http://schemas.openxmlformats.org/drawingml/2006/main">
              <a:ext uri="{FF2B5EF4-FFF2-40B4-BE49-F238E27FC236}">
                <a16:creationId xmlns:a16="http://schemas.microsoft.com/office/drawing/2014/main" id="{A35C6353-0C46-4AD7-90AB-5864620131E7}"/>
              </a:ext>
            </a:extLst>
          </p:cNvPr>
          <p:cNvSpPr>
            <a:spLocks xmlns:a="http://schemas.openxmlformats.org/drawingml/2006/main" noGrp="1"/>
          </p:cNvSpPr>
          <p:nvPr/>
        </p:nvSpPr>
        <p:spPr>
          <a:xfrm xmlns:a="http://schemas.openxmlformats.org/drawingml/2006/main">
            <a:off x="609600" y="398145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xmlns:a="http://schemas.openxmlformats.org/drawingml/2006/main">
              <a:ext uri="{FF2B5EF4-FFF2-40B4-BE49-F238E27FC236}">
                <a16:creationId xmlns:a16="http://schemas.microsoft.com/office/drawing/2014/main" id="{096DA441-21C3-441D-BF80-8A55EE300050}"/>
              </a:ext>
            </a:extLst>
          </p:cNvPr>
          <p:cNvSpPr>
            <a:spLocks xmlns:a="http://schemas.openxmlformats.org/drawingml/2006/main" noGrp="1"/>
          </p:cNvSpPr>
          <p:nvPr/>
        </p:nvSpPr>
        <p:spPr>
          <a:xfrm xmlns:a="http://schemas.openxmlformats.org/drawingml/2006/main">
            <a:off x="2514600" y="398145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在线物理引导、成功端点训练、标量奖励后训练、保留变化与响应关系的训练</a:t>
            </a:r>
          </a:p>
        </p:txBody>
      </p:sp>
      <p:sp>
        <p:nvSpPr>
          <p:cNvPr id="9" name="text">
            <a:extLst xmlns:a="http://schemas.openxmlformats.org/drawingml/2006/main">
              <a:ext uri="{FF2B5EF4-FFF2-40B4-BE49-F238E27FC236}">
                <a16:creationId xmlns:a16="http://schemas.microsoft.com/office/drawing/2014/main" id="{8E7D6701-704E-462C-98B0-B053332403F9}"/>
              </a:ext>
            </a:extLst>
          </p:cNvPr>
          <p:cNvSpPr>
            <a:spLocks xmlns:a="http://schemas.openxmlformats.org/drawingml/2006/main" noGrp="1"/>
          </p:cNvSpPr>
          <p:nvPr/>
        </p:nvSpPr>
        <p:spPr>
          <a:xfrm xmlns:a="http://schemas.openxmlformats.org/drawingml/2006/main">
            <a:off x="609600" y="49244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xmlns:a="http://schemas.openxmlformats.org/drawingml/2006/main">
              <a:ext uri="{FF2B5EF4-FFF2-40B4-BE49-F238E27FC236}">
                <a16:creationId xmlns:a16="http://schemas.microsoft.com/office/drawing/2014/main" id="{CD481BD6-FF6A-4EDE-A428-D5EBE3B429A2}"/>
              </a:ext>
            </a:extLst>
          </p:cNvPr>
          <p:cNvSpPr>
            <a:spLocks xmlns:a="http://schemas.openxmlformats.org/drawingml/2006/main" noGrp="1"/>
          </p:cNvSpPr>
          <p:nvPr/>
        </p:nvSpPr>
        <p:spPr>
          <a:xfrm xmlns:a="http://schemas.openxmlformats.org/drawingml/2006/main">
            <a:off x="2514600" y="492442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辨认哪些物理信息可以迁移，并在计入数据采集和训练费用后提高SUN发现量</a:t>
            </a:r>
          </a:p>
        </p:txBody>
      </p:sp>
      <p:sp>
        <p:nvSpPr>
          <p:cNvPr id="11" name="separator">
            <a:extLst xmlns:a="http://schemas.openxmlformats.org/drawingml/2006/main">
              <a:ext uri="{FF2B5EF4-FFF2-40B4-BE49-F238E27FC236}">
                <a16:creationId xmlns:a16="http://schemas.microsoft.com/office/drawing/2014/main" id="{38C5D0EC-8CFB-4D89-8C24-1CE2066A6E0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564117D2-1B4A-424D-BAE3-6DAFBB0E48C6}"/>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研究任务由物理动作学习、数据回流和生成后训练推进而来。响应关系的增量待验证。</a:t>
            </a:r>
          </a:p>
        </p:txBody>
      </p:sp>
      <p:sp>
        <p:nvSpPr>
          <p:cNvPr id="13" name="page-number">
            <a:extLst xmlns:a="http://schemas.openxmlformats.org/drawingml/2006/main">
              <a:ext uri="{FF2B5EF4-FFF2-40B4-BE49-F238E27FC236}">
                <a16:creationId xmlns:a16="http://schemas.microsoft.com/office/drawing/2014/main" id="{87E35C4B-06F5-41D0-9439-FE6749D6A47B}"/>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23</a:t>
            </a:r>
          </a:p>
        </p:txBody>
      </p:sp>
    </p:spTree>
    <p:extLst>
      <p:ext uri="{BB962C8B-B14F-4D97-AF65-F5344CB8AC3E}">
        <p14:creationId xmlns:p14="http://schemas.microsoft.com/office/powerpoint/2010/main" val="11824994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AF2C2AD-35FD-466F-A8D7-4F99787FF4D2}"/>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D的演化：多解优化到持续发现</a:t>
            </a:r>
          </a:p>
        </p:txBody>
      </p:sp>
      <p:graphicFrame>
        <p:nvGraphicFramePr>
          <p:cNvPr id="2" name="">
            <a:extLst xmlns:a="http://schemas.openxmlformats.org/drawingml/2006/main">
              <a:ext uri="{FF2B5EF4-FFF2-40B4-BE49-F238E27FC236}">
                <a16:creationId xmlns:a16="http://schemas.microsoft.com/office/drawing/2014/main" id="{D7D518CE-6A75-4979-831F-267F47EE7B9B}"/>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429000"/>
                <a:gridCol w="2667000"/>
                <a:gridCol w="48768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时间与支持论文</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原文任务</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为路线D提供的能力</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2021–2023</a:t>
                      </a:r>
                    </a:p>
                    <a:p>
                      <a:pPr algn="l">
                        <a:lnSpc>
                          <a:spcPct val="108000"/>
                        </a:lnSpc>
                        <a:buNone/>
                      </a:pPr>
                      <a:r>
                        <a:rPr sz="1725" b="0">
                          <a:solidFill>
                            <a:srgbClr val="1B2533"/>
                          </a:solidFill>
                          <a:latin typeface="Microsoft YaHei"/>
                          <a:ea typeface="Microsoft YaHei"/>
                          <a:cs typeface="Microsoft YaHei"/>
                        </a:rPr>
                        <a:t>GFlowNet Foundations</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通用奖励比例采样</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用生成分布表达多个高质量结果，提供多路径采样基础</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2024–2026</a:t>
                      </a:r>
                    </a:p>
                    <a:p>
                      <a:pPr algn="l">
                        <a:lnSpc>
                          <a:spcPct val="108000"/>
                        </a:lnSpc>
                        <a:buNone/>
                      </a:pPr>
                      <a:r>
                        <a:rPr sz="1725" b="0">
                          <a:solidFill>
                            <a:srgbClr val="1B2533"/>
                          </a:solidFill>
                          <a:latin typeface="Microsoft YaHei"/>
                          <a:ea typeface="Microsoft YaHei"/>
                          <a:cs typeface="Microsoft YaHei"/>
                        </a:rPr>
                        <a:t>晶体QD、SHAFT</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固定组成的性质档案</a:t>
                      </a:r>
                    </a:p>
                    <a:p>
                      <a:pPr algn="l">
                        <a:lnSpc>
                          <a:spcPct val="108000"/>
                        </a:lnSpc>
                        <a:buNone/>
                      </a:pPr>
                      <a:r>
                        <a:rPr sz="1725" b="0">
                          <a:solidFill>
                            <a:srgbClr val="1B2533"/>
                          </a:solidFill>
                          <a:latin typeface="Microsoft YaHei"/>
                          <a:ea typeface="Microsoft YaHei"/>
                          <a:cs typeface="Microsoft YaHei"/>
                        </a:rPr>
                        <a:t>层级对称材料生成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在不同性质或对称选择中探索多解，说明可以显式组织成功集合</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PLaID++、Chemeleon2</a:t>
                      </a:r>
                    </a:p>
                    <a:p>
                      <a:pPr algn="l">
                        <a:lnSpc>
                          <a:spcPct val="108000"/>
                        </a:lnSpc>
                        <a:buNone/>
                      </a:pPr>
                      <a:r>
                        <a:rPr sz="1725" b="0">
                          <a:solidFill>
                            <a:srgbClr val="1B2533"/>
                          </a:solidFill>
                          <a:latin typeface="Microsoft YaHei"/>
                          <a:ea typeface="Microsoft YaHei"/>
                          <a:cs typeface="Microsoft YaHei"/>
                        </a:rPr>
                        <a:t>MatInvent</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物理或性质目标后训练</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奖励与表示共同改变稳定性、新颖性和概率集中</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强基线研究、ANCHOR</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替换候选发现</a:t>
                      </a:r>
                    </a:p>
                    <a:p>
                      <a:pPr algn="l">
                        <a:lnSpc>
                          <a:spcPct val="108000"/>
                        </a:lnSpc>
                        <a:buNone/>
                      </a:pPr>
                      <a:r>
                        <a:rPr sz="1725" b="0">
                          <a:solidFill>
                            <a:srgbClr val="1B2533"/>
                          </a:solidFill>
                          <a:latin typeface="Microsoft YaHei"/>
                          <a:ea typeface="Microsoft YaHei"/>
                          <a:cs typeface="Microsoft YaHei"/>
                        </a:rPr>
                        <a:t>冻结CSP下的组成探索</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强替换和化学访问已能贡献发现，需要分开分配变化与新结构能力</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392FB744-DB27-4F66-894A-2E199CE25CE0}"/>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演化留下的问题：搜索遇到的新成功，怎样变成持续可用且能继续扩展的生成能力？</a:t>
            </a:r>
          </a:p>
        </p:txBody>
      </p:sp>
      <p:sp>
        <p:nvSpPr>
          <p:cNvPr id="4" name="separator">
            <a:extLst xmlns:a="http://schemas.openxmlformats.org/drawingml/2006/main">
              <a:ext uri="{FF2B5EF4-FFF2-40B4-BE49-F238E27FC236}">
                <a16:creationId xmlns:a16="http://schemas.microsoft.com/office/drawing/2014/main" id="{1D67CCCD-A1C5-4DC0-9CAC-BC7F68812CA0}"/>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4E413F9F-532F-4C03-B3D8-E2E62278FBCC}"/>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8篇直接基础与发现论文。后页补充结果身份、统一评价和集合学习方法。</a:t>
            </a:r>
          </a:p>
        </p:txBody>
      </p:sp>
      <p:sp>
        <p:nvSpPr>
          <p:cNvPr id="6" name="page-number">
            <a:extLst xmlns:a="http://schemas.openxmlformats.org/drawingml/2006/main">
              <a:ext uri="{FF2B5EF4-FFF2-40B4-BE49-F238E27FC236}">
                <a16:creationId xmlns:a16="http://schemas.microsoft.com/office/drawing/2014/main" id="{CD87D747-A96E-4E10-BED8-8AD7FC4CC429}"/>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24</a:t>
            </a:r>
          </a:p>
        </p:txBody>
      </p:sp>
    </p:spTree>
    <p:extLst>
      <p:ext uri="{BB962C8B-B14F-4D97-AF65-F5344CB8AC3E}">
        <p14:creationId xmlns:p14="http://schemas.microsoft.com/office/powerpoint/2010/main" val="73535105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7A9B589-8BC8-4DB3-B530-3F5AA154122B}"/>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D的技术依据与具体选择</a:t>
            </a:r>
          </a:p>
        </p:txBody>
      </p:sp>
      <p:graphicFrame>
        <p:nvGraphicFramePr>
          <p:cNvPr id="2" name="">
            <a:extLst xmlns:a="http://schemas.openxmlformats.org/drawingml/2006/main">
              <a:ext uri="{FF2B5EF4-FFF2-40B4-BE49-F238E27FC236}">
                <a16:creationId xmlns:a16="http://schemas.microsoft.com/office/drawing/2014/main" id="{1474C55B-0952-4A07-A9CC-716DBC7A7FDD}"/>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3286125"/>
                <a:gridCol w="3714750"/>
                <a:gridCol w="3971925"/>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方法支撑</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原任务中解决什么</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在晶体中承担什么</a:t>
                      </a:r>
                    </a:p>
                  </a:txBody>
                  <a:tcPr marL="91440" marR="91440" marT="45720" marB="45720" anchor="ctr">
                    <a:solidFill>
                      <a:srgbClr val="EDF2F6"/>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GFlowNet、SHAFT</a:t>
                      </a:r>
                    </a:p>
                    <a:p>
                      <a:pPr algn="l">
                        <a:lnSpc>
                          <a:spcPct val="108000"/>
                        </a:lnSpc>
                        <a:buNone/>
                      </a:pPr>
                      <a:r>
                        <a:rPr sz="1725" b="0">
                          <a:solidFill>
                            <a:srgbClr val="1B2533"/>
                          </a:solidFill>
                          <a:latin typeface="Microsoft YaHei"/>
                          <a:ea typeface="Microsoft YaHei"/>
                          <a:cs typeface="Microsoft YaHei"/>
                        </a:rPr>
                        <a:t>层级多解生成</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按奖励保留多个结果和科学选择</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AR / GFlowNet选择组成或对称配置，条件生成器给出多种几何实现</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晶体QD、ANCHOR</a:t>
                      </a:r>
                    </a:p>
                    <a:p>
                      <a:pPr algn="l">
                        <a:lnSpc>
                          <a:spcPct val="108000"/>
                        </a:lnSpc>
                        <a:buNone/>
                      </a:pPr>
                      <a:r>
                        <a:rPr sz="1725" b="0">
                          <a:solidFill>
                            <a:srgbClr val="1B2533"/>
                          </a:solidFill>
                          <a:latin typeface="Microsoft YaHei"/>
                          <a:ea typeface="Microsoft YaHei"/>
                          <a:cs typeface="Microsoft YaHei"/>
                        </a:rPr>
                        <a:t>档案与历史相关探索</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保存不同结果，改变下一轮探索分配</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根据已发现结构选择新区域，并研究固定或更新低层生成器</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Max@K [T06]</a:t>
                      </a:r>
                    </a:p>
                    <a:p>
                      <a:pPr algn="l">
                        <a:lnSpc>
                          <a:spcPct val="108000"/>
                        </a:lnSpc>
                        <a:buNone/>
                      </a:pPr>
                      <a:r>
                        <a:rPr sz="1725" b="0">
                          <a:solidFill>
                            <a:srgbClr val="1B2533"/>
                          </a:solidFill>
                          <a:latin typeface="Microsoft YaHei"/>
                          <a:ea typeface="Microsoft YaHei"/>
                          <a:cs typeface="Microsoft YaHei"/>
                        </a:rPr>
                        <a:t>文生图的预定义模式覆盖</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按样本对集合覆盖的贡献分配奖励</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借鉴集合层面学习，晶体类别和资格由物理评价逐步确认</a:t>
                      </a:r>
                    </a:p>
                  </a:txBody>
                  <a:tcPr marL="91440" marR="91440" marT="45720" marB="45720" anchor="ctr">
                    <a:solidFill>
                      <a:srgbClr val="FFFFFF"/>
                    </a:solidFill>
                  </a:tcPr>
                </a:tc>
              </a:tr>
              <a:tr h="869156">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Structure Matches</a:t>
                      </a:r>
                    </a:p>
                    <a:p>
                      <a:pPr algn="l">
                        <a:lnSpc>
                          <a:spcPct val="108000"/>
                        </a:lnSpc>
                        <a:buNone/>
                      </a:pPr>
                      <a:r>
                        <a:rPr sz="1725" b="0">
                          <a:solidFill>
                            <a:srgbClr val="1B2533"/>
                          </a:solidFill>
                          <a:latin typeface="Microsoft YaHei"/>
                          <a:ea typeface="Microsoft YaHei"/>
                          <a:cs typeface="Microsoft YaHei"/>
                        </a:rPr>
                        <a:t>LeMat</a:t>
                      </a:r>
                    </a:p>
                    <a:p>
                      <a:pPr algn="l">
                        <a:lnSpc>
                          <a:spcPct val="108000"/>
                        </a:lnSpc>
                        <a:buNone/>
                      </a:pPr>
                      <a:r>
                        <a:rPr sz="1725" b="0">
                          <a:solidFill>
                            <a:srgbClr val="1B2533"/>
                          </a:solidFill>
                          <a:latin typeface="Microsoft YaHei"/>
                          <a:ea typeface="Microsoft YaHei"/>
                          <a:cs typeface="Microsoft YaHei"/>
                        </a:rPr>
                        <a:t>多晶型与生成评价</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统一结果身份和资格的观察</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在弛豫后统计不同合格结果，区分首次发现、再生成和进一步发现</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A9609F76-0A63-4BEA-ACD5-6AD0C6EC112D}"/>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候选基座：层级LLM / AR + 条件Diffusion。新增能力是学会新成功并继续发现。</a:t>
            </a:r>
          </a:p>
        </p:txBody>
      </p:sp>
      <p:sp>
        <p:nvSpPr>
          <p:cNvPr id="4" name="separator">
            <a:extLst xmlns:a="http://schemas.openxmlformats.org/drawingml/2006/main">
              <a:ext uri="{FF2B5EF4-FFF2-40B4-BE49-F238E27FC236}">
                <a16:creationId xmlns:a16="http://schemas.microsoft.com/office/drawing/2014/main" id="{D65FF660-9EE0-44A1-818D-EEBDEE02490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2BABE0DC-6712-4132-9953-DC9D37AE929A}"/>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方法基础、探索机制和评价依据各有作用。评价论文支持结果定义，不承担生成算法贡献。</a:t>
            </a:r>
          </a:p>
        </p:txBody>
      </p:sp>
      <p:sp>
        <p:nvSpPr>
          <p:cNvPr id="6" name="page-number">
            <a:extLst xmlns:a="http://schemas.openxmlformats.org/drawingml/2006/main">
              <a:ext uri="{FF2B5EF4-FFF2-40B4-BE49-F238E27FC236}">
                <a16:creationId xmlns:a16="http://schemas.microsoft.com/office/drawing/2014/main" id="{BE8D17BD-AD4B-4F26-BACC-956ED8515F51}"/>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25</a:t>
            </a:r>
          </a:p>
        </p:txBody>
      </p:sp>
    </p:spTree>
    <p:extLst>
      <p:ext uri="{BB962C8B-B14F-4D97-AF65-F5344CB8AC3E}">
        <p14:creationId xmlns:p14="http://schemas.microsoft.com/office/powerpoint/2010/main" val="5659887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40064CF-951D-4B1A-BB44-EEDEC9997FB5}"/>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D的研究任务与可检验主张</a:t>
            </a:r>
          </a:p>
        </p:txBody>
      </p:sp>
      <p:sp>
        <p:nvSpPr>
          <p:cNvPr id="2" name="lead">
            <a:extLst xmlns:a="http://schemas.openxmlformats.org/drawingml/2006/main">
              <a:ext uri="{FF2B5EF4-FFF2-40B4-BE49-F238E27FC236}">
                <a16:creationId xmlns:a16="http://schemas.microsoft.com/office/drawing/2014/main" id="{89FA0A67-39FF-4852-80D1-6C235D53D0E8}"/>
              </a:ext>
            </a:extLst>
          </p:cNvPr>
          <p:cNvSpPr>
            <a:spLocks xmlns:a="http://schemas.openxmlformats.org/drawingml/2006/main" noGrp="1"/>
          </p:cNvSpPr>
          <p:nvPr/>
        </p:nvSpPr>
        <p:spPr>
          <a:xfrm xmlns:a="http://schemas.openxmlformats.org/drawingml/2006/main">
            <a:off x="609600" y="1104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B2533"/>
                </a:solidFill>
                <a:latin typeface="Microsoft YaHei"/>
                <a:ea typeface="Microsoft YaHei"/>
                <a:cs typeface="Microsoft YaHei"/>
              </a:defRPr>
            </a:defPPr>
          </a:lstStyle>
          <a:p xmlns:a="http://schemas.openxmlformats.org/drawingml/2006/main">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中心问题：多轮发现能否让模型持续获得不同的稳定新结构？</a:t>
            </a:r>
          </a:p>
        </p:txBody>
      </p:sp>
      <p:sp>
        <p:nvSpPr>
          <p:cNvPr id="3" name="text">
            <a:extLst xmlns:a="http://schemas.openxmlformats.org/drawingml/2006/main">
              <a:ext uri="{FF2B5EF4-FFF2-40B4-BE49-F238E27FC236}">
                <a16:creationId xmlns:a16="http://schemas.microsoft.com/office/drawing/2014/main" id="{55E8037C-3D4D-4D96-B1EA-43A8C4CA3870}"/>
              </a:ext>
            </a:extLst>
          </p:cNvPr>
          <p:cNvSpPr>
            <a:spLocks xmlns:a="http://schemas.openxmlformats.org/drawingml/2006/main" noGrp="1"/>
          </p:cNvSpPr>
          <p:nvPr/>
        </p:nvSpPr>
        <p:spPr>
          <a:xfrm xmlns:a="http://schemas.openxmlformats.org/drawingml/2006/main">
            <a:off x="609600" y="209550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多轮DNG</a:t>
            </a:r>
          </a:p>
        </p:txBody>
      </p:sp>
      <p:sp>
        <p:nvSpPr>
          <p:cNvPr id="4" name="text">
            <a:extLst xmlns:a="http://schemas.openxmlformats.org/drawingml/2006/main">
              <a:ext uri="{FF2B5EF4-FFF2-40B4-BE49-F238E27FC236}">
                <a16:creationId xmlns:a16="http://schemas.microsoft.com/office/drawing/2014/main" id="{BC7D8599-EF0E-412B-A1D4-70D9B87E31B4}"/>
              </a:ext>
            </a:extLst>
          </p:cNvPr>
          <p:cNvSpPr>
            <a:spLocks xmlns:a="http://schemas.openxmlformats.org/drawingml/2006/main" noGrp="1"/>
          </p:cNvSpPr>
          <p:nvPr/>
        </p:nvSpPr>
        <p:spPr>
          <a:xfrm xmlns:a="http://schemas.openxmlformats.org/drawingml/2006/main">
            <a:off x="2514600" y="209550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在开放化学空间连续生成、弛豫和更新模型。每轮保留完整费用与不同合格结构集合</a:t>
            </a:r>
          </a:p>
        </p:txBody>
      </p:sp>
      <p:sp>
        <p:nvSpPr>
          <p:cNvPr id="5" name="text">
            <a:extLst xmlns:a="http://schemas.openxmlformats.org/drawingml/2006/main">
              <a:ext uri="{FF2B5EF4-FFF2-40B4-BE49-F238E27FC236}">
                <a16:creationId xmlns:a16="http://schemas.microsoft.com/office/drawing/2014/main" id="{93A4001D-2081-4B66-8320-DCB775D33E9E}"/>
              </a:ext>
            </a:extLst>
          </p:cNvPr>
          <p:cNvSpPr>
            <a:spLocks xmlns:a="http://schemas.openxmlformats.org/drawingml/2006/main" noGrp="1"/>
          </p:cNvSpPr>
          <p:nvPr/>
        </p:nvSpPr>
        <p:spPr>
          <a:xfrm xmlns:a="http://schemas.openxmlformats.org/drawingml/2006/main">
            <a:off x="609600" y="303847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保持与迁移</a:t>
            </a:r>
          </a:p>
        </p:txBody>
      </p:sp>
      <p:sp>
        <p:nvSpPr>
          <p:cNvPr id="6" name="text">
            <a:extLst xmlns:a="http://schemas.openxmlformats.org/drawingml/2006/main">
              <a:ext uri="{FF2B5EF4-FFF2-40B4-BE49-F238E27FC236}">
                <a16:creationId xmlns:a16="http://schemas.microsoft.com/office/drawing/2014/main" id="{2C15CEEA-989C-4075-8677-51F25A6354B5}"/>
              </a:ext>
            </a:extLst>
          </p:cNvPr>
          <p:cNvSpPr>
            <a:spLocks xmlns:a="http://schemas.openxmlformats.org/drawingml/2006/main" noGrp="1"/>
          </p:cNvSpPr>
          <p:nvPr/>
        </p:nvSpPr>
        <p:spPr>
          <a:xfrm xmlns:a="http://schemas.openxmlformats.org/drawingml/2006/main">
            <a:off x="2514600" y="303847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分别测量新成功的再生成、旧成功的保留，以及未用于更新的新发现</a:t>
            </a:r>
          </a:p>
        </p:txBody>
      </p:sp>
      <p:sp>
        <p:nvSpPr>
          <p:cNvPr id="7" name="text">
            <a:extLst xmlns:a="http://schemas.openxmlformats.org/drawingml/2006/main">
              <a:ext uri="{FF2B5EF4-FFF2-40B4-BE49-F238E27FC236}">
                <a16:creationId xmlns:a16="http://schemas.microsoft.com/office/drawing/2014/main" id="{9DB5079B-78B9-4011-948A-020F768F6044}"/>
              </a:ext>
            </a:extLst>
          </p:cNvPr>
          <p:cNvSpPr>
            <a:spLocks xmlns:a="http://schemas.openxmlformats.org/drawingml/2006/main" noGrp="1"/>
          </p:cNvSpPr>
          <p:nvPr/>
        </p:nvSpPr>
        <p:spPr>
          <a:xfrm xmlns:a="http://schemas.openxmlformats.org/drawingml/2006/main">
            <a:off x="609600" y="398145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xmlns:a="http://schemas.openxmlformats.org/drawingml/2006/main">
              <a:ext uri="{FF2B5EF4-FFF2-40B4-BE49-F238E27FC236}">
                <a16:creationId xmlns:a16="http://schemas.microsoft.com/office/drawing/2014/main" id="{C2DB62E5-6042-40F3-A33B-372E089EB8A2}"/>
              </a:ext>
            </a:extLst>
          </p:cNvPr>
          <p:cNvSpPr>
            <a:spLocks xmlns:a="http://schemas.openxmlformats.org/drawingml/2006/main" noGrp="1"/>
          </p:cNvSpPr>
          <p:nvPr/>
        </p:nvSpPr>
        <p:spPr>
          <a:xfrm xmlns:a="http://schemas.openxmlformats.org/drawingml/2006/main">
            <a:off x="2514600" y="3981450"/>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固定采样、组成重分配、QD / GFlowNet探索、加入生成器持续学习</a:t>
            </a:r>
          </a:p>
        </p:txBody>
      </p:sp>
      <p:sp>
        <p:nvSpPr>
          <p:cNvPr id="9" name="text">
            <a:extLst xmlns:a="http://schemas.openxmlformats.org/drawingml/2006/main">
              <a:ext uri="{FF2B5EF4-FFF2-40B4-BE49-F238E27FC236}">
                <a16:creationId xmlns:a16="http://schemas.microsoft.com/office/drawing/2014/main" id="{FC444A62-C5D8-4D6B-B826-F6DF3617D5CE}"/>
              </a:ext>
            </a:extLst>
          </p:cNvPr>
          <p:cNvSpPr>
            <a:spLocks xmlns:a="http://schemas.openxmlformats.org/drawingml/2006/main" noGrp="1"/>
          </p:cNvSpPr>
          <p:nvPr/>
        </p:nvSpPr>
        <p:spPr>
          <a:xfrm xmlns:a="http://schemas.openxmlformats.org/drawingml/2006/main">
            <a:off x="609600" y="49244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67"/>
                </a:solidFill>
                <a:latin typeface="Microsoft YaHei"/>
                <a:ea typeface="Microsoft YaHei"/>
                <a:cs typeface="Microsoft YaHei"/>
              </a:defRPr>
            </a:defPPr>
          </a:lstStyle>
          <a:p xmlns:a="http://schemas.openxmlformats.org/drawingml/2006/main">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xmlns:a="http://schemas.openxmlformats.org/drawingml/2006/main">
              <a:ext uri="{FF2B5EF4-FFF2-40B4-BE49-F238E27FC236}">
                <a16:creationId xmlns:a16="http://schemas.microsoft.com/office/drawing/2014/main" id="{EF8F6DE5-4306-4A76-8DE4-5813478A643B}"/>
              </a:ext>
            </a:extLst>
          </p:cNvPr>
          <p:cNvSpPr>
            <a:spLocks xmlns:a="http://schemas.openxmlformats.org/drawingml/2006/main" noGrp="1"/>
          </p:cNvSpPr>
          <p:nvPr/>
        </p:nvSpPr>
        <p:spPr>
          <a:xfrm xmlns:a="http://schemas.openxmlformats.org/drawingml/2006/main">
            <a:off x="2514600" y="4924425"/>
            <a:ext cx="906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B2533"/>
                </a:solidFill>
                <a:latin typeface="Microsoft YaHei"/>
                <a:ea typeface="Microsoft YaHei"/>
                <a:cs typeface="Microsoft YaHei"/>
              </a:defRPr>
            </a:defPPr>
          </a:lstStyle>
          <a:p xmlns:a="http://schemas.openxmlformats.org/drawingml/2006/main">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解释何时只需改变探索分配，何时必须学习新结构关系，并改善同预算下累计SUN数量</a:t>
            </a:r>
          </a:p>
        </p:txBody>
      </p:sp>
      <p:sp>
        <p:nvSpPr>
          <p:cNvPr id="11" name="separator">
            <a:extLst xmlns:a="http://schemas.openxmlformats.org/drawingml/2006/main">
              <a:ext uri="{FF2B5EF4-FFF2-40B4-BE49-F238E27FC236}">
                <a16:creationId xmlns:a16="http://schemas.microsoft.com/office/drawing/2014/main" id="{11268179-F9CA-4FBB-8C67-A0C68A935F7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D7306DE4-2B10-49A0-A8B1-1CF345B1CA40}"/>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主任务为多轮DNG。条件采样定位具体化学区域中的能力变化。研究主张待验证。</a:t>
            </a:r>
          </a:p>
        </p:txBody>
      </p:sp>
      <p:sp>
        <p:nvSpPr>
          <p:cNvPr id="13" name="page-number">
            <a:extLst xmlns:a="http://schemas.openxmlformats.org/drawingml/2006/main">
              <a:ext uri="{FF2B5EF4-FFF2-40B4-BE49-F238E27FC236}">
                <a16:creationId xmlns:a16="http://schemas.microsoft.com/office/drawing/2014/main" id="{D997659A-A973-4925-88D5-75C6A2C0B831}"/>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26</a:t>
            </a:r>
          </a:p>
        </p:txBody>
      </p:sp>
    </p:spTree>
    <p:extLst>
      <p:ext uri="{BB962C8B-B14F-4D97-AF65-F5344CB8AC3E}">
        <p14:creationId xmlns:p14="http://schemas.microsoft.com/office/powerpoint/2010/main" val="3480372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DAB3952-BFD3-4198-ABC8-A5A08E570995}"/>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项目历史现象怎样进入四条路线</a:t>
            </a:r>
          </a:p>
        </p:txBody>
      </p:sp>
      <p:graphicFrame>
        <p:nvGraphicFramePr>
          <p:cNvPr id="2" name="">
            <a:extLst xmlns:a="http://schemas.openxmlformats.org/drawingml/2006/main">
              <a:ext uri="{FF2B5EF4-FFF2-40B4-BE49-F238E27FC236}">
                <a16:creationId xmlns:a16="http://schemas.microsoft.com/office/drawing/2014/main" id="{54797108-6BCE-49D0-968A-92A443F16679}"/>
              </a:ext>
            </a:extLst>
          </p:cNvPr>
          <p:cNvGraphicFramePr/>
          <p:nvPr/>
        </p:nvGraphicFramePr>
        <p:xfrm>
          <a:off xmlns:a="http://schemas.openxmlformats.org/drawingml/2006/main" x="609600" y="1400175"/>
          <a:ext xmlns:a="http://schemas.openxmlformats.org/drawingml/2006/main" cx="10972800" cy="4010025"/>
        </p:xfrm>
        <a:graphic xmlns:a="http://schemas.openxmlformats.org/drawingml/2006/main">
          <a:graphicData uri="http://schemas.openxmlformats.org/drawingml/2006/table">
            <a:tbl>
              <a:tblPr firstRow="0" bandRow="0"/>
              <a:tblGrid>
                <a:gridCol w="2428875"/>
                <a:gridCol w="4238625"/>
                <a:gridCol w="4305300"/>
              </a:tblGrid>
              <a:tr h="533400">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历史观察</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已完成结果</a:t>
                      </a:r>
                    </a:p>
                  </a:txBody>
                  <a:tcPr marL="91440" marR="91440" marT="45720" marB="45720" anchor="ctr">
                    <a:solidFill>
                      <a:srgbClr val="EDF2F6"/>
                    </a:solidFill>
                  </a:tcPr>
                </a:tc>
                <a:tc>
                  <a:txBody>
                    <a:bodyPr wrap="square" lIns="114300" tIns="47625" rIns="95250" bIns="47625">
                      <a:noAutofit/>
                    </a:bodyPr>
                    <a:lstStyle/>
                    <a:p>
                      <a:pPr algn="l">
                        <a:lnSpc>
                          <a:spcPct val="108000"/>
                        </a:lnSpc>
                        <a:buNone/>
                      </a:pPr>
                      <a:r>
                        <a:rPr sz="1800" b="1">
                          <a:solidFill>
                            <a:srgbClr val="173E67"/>
                          </a:solidFill>
                          <a:latin typeface="Microsoft YaHei"/>
                          <a:ea typeface="Microsoft YaHei"/>
                          <a:cs typeface="Microsoft YaHei"/>
                        </a:rPr>
                        <a:t>对应的研究问题</a:t>
                      </a:r>
                    </a:p>
                  </a:txBody>
                  <a:tcPr marL="91440" marR="91440" marT="45720" marB="45720" anchor="ctr">
                    <a:solidFill>
                      <a:srgbClr val="EDF2F6"/>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几何反馈增加稳定终点</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同512来源已知稳定数</a:t>
                      </a:r>
                    </a:p>
                    <a:p>
                      <a:pPr algn="l">
                        <a:lnSpc>
                          <a:spcPct val="108000"/>
                        </a:lnSpc>
                        <a:buNone/>
                      </a:pPr>
                      <a:r>
                        <a:rPr sz="1725" b="0">
                          <a:solidFill>
                            <a:srgbClr val="1B2533"/>
                          </a:solidFill>
                          <a:latin typeface="Microsoft YaHei"/>
                          <a:ea typeface="Microsoft YaHei"/>
                          <a:cs typeface="Microsoft YaHei"/>
                        </a:rPr>
                        <a:t>plain / restored / detached为76 / 85 / 86</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A / C：什么信息和变化使化学与结构配对更有效？</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指定动作缺少终点事件</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PDE18：128个DEV父来源</a:t>
                      </a:r>
                    </a:p>
                    <a:p>
                      <a:pPr algn="l">
                        <a:lnSpc>
                          <a:spcPct val="108000"/>
                        </a:lnSpc>
                        <a:buNone/>
                      </a:pPr>
                      <a:r>
                        <a:rPr sz="1725" b="0">
                          <a:solidFill>
                            <a:srgbClr val="1B2533"/>
                          </a:solidFill>
                          <a:latin typeface="Microsoft YaHei"/>
                          <a:ea typeface="Microsoft YaHei"/>
                          <a:cs typeface="Microsoft YaHei"/>
                        </a:rPr>
                        <a:t>512配对严格稳定 gain / loss = 0 / 0</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C：反馈必须支持能够改变完整后果的决定</a:t>
                      </a:r>
                    </a:p>
                  </a:txBody>
                  <a:tcPr marL="91440" marR="91440" marT="45720" marB="45720" anchor="ctr">
                    <a:solidFill>
                      <a:srgbClr val="FFFFFF"/>
                    </a:solidFill>
                  </a:tcPr>
                </a:tc>
              </a:tr>
              <a:tr h="1158875">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稳定性到SUN仍有损失</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PDE22：86个稳定尝试</a:t>
                      </a:r>
                    </a:p>
                    <a:p>
                      <a:pPr algn="l">
                        <a:lnSpc>
                          <a:spcPct val="108000"/>
                        </a:lnSpc>
                        <a:buNone/>
                      </a:pPr>
                      <a:r>
                        <a:rPr sz="1725" b="0">
                          <a:solidFill>
                            <a:srgbClr val="1B2533"/>
                          </a:solidFill>
                          <a:latin typeface="Microsoft YaHei"/>
                          <a:ea typeface="Microsoft YaHei"/>
                          <a:cs typeface="Microsoft YaHei"/>
                        </a:rPr>
                        <a:t>58个稳定新颖，53个独特SUN</a:t>
                      </a:r>
                    </a:p>
                  </a:txBody>
                  <a:tcPr marL="91440" marR="91440" marT="45720" marB="45720" anchor="ctr">
                    <a:solidFill>
                      <a:srgbClr val="FFFFFF"/>
                    </a:solidFill>
                  </a:tcPr>
                </a:tc>
                <a:tc>
                  <a:txBody>
                    <a:bodyPr wrap="square" lIns="114300" tIns="47625" rIns="95250" bIns="47625">
                      <a:noAutofit/>
                    </a:bodyPr>
                    <a:lstStyle/>
                    <a:p>
                      <a:pPr algn="l">
                        <a:lnSpc>
                          <a:spcPct val="108000"/>
                        </a:lnSpc>
                        <a:buNone/>
                      </a:pPr>
                      <a:r>
                        <a:rPr sz="1725" b="0">
                          <a:solidFill>
                            <a:srgbClr val="1B2533"/>
                          </a:solidFill>
                          <a:latin typeface="Microsoft YaHei"/>
                          <a:ea typeface="Microsoft YaHei"/>
                          <a:cs typeface="Microsoft YaHei"/>
                        </a:rPr>
                        <a:t>D：资格、新颖性与重复分别影响最终发现集合</a:t>
                      </a:r>
                    </a:p>
                  </a:txBody>
                  <a:tcPr marL="91440" marR="91440" marT="45720" marB="45720" anchor="ctr">
                    <a:solidFill>
                      <a:srgbClr val="FFFFFF"/>
                    </a:solidFill>
                  </a:tcPr>
                </a:tc>
              </a:tr>
            </a:tbl>
          </a:graphicData>
        </a:graphic>
      </p:graphicFrame>
      <p:sp>
        <p:nvSpPr>
          <p:cNvPr id="3" name="conclusion">
            <a:extLst xmlns:a="http://schemas.openxmlformats.org/drawingml/2006/main">
              <a:ext uri="{FF2B5EF4-FFF2-40B4-BE49-F238E27FC236}">
                <a16:creationId xmlns:a16="http://schemas.microsoft.com/office/drawing/2014/main" id="{F30B8621-7005-4905-B022-10EFE063FECE}"/>
              </a:ext>
            </a:extLst>
          </p:cNvPr>
          <p:cNvSpPr>
            <a:spLocks xmlns:a="http://schemas.openxmlformats.org/drawingml/2006/main" noGrp="1"/>
          </p:cNvSpPr>
          <p:nvPr/>
        </p:nvSpPr>
        <p:spPr>
          <a:xfrm xmlns:a="http://schemas.openxmlformats.org/drawingml/2006/main">
            <a:off x="609600" y="5619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67"/>
                </a:solidFill>
                <a:latin typeface="Microsoft YaHei"/>
                <a:ea typeface="Microsoft YaHei"/>
                <a:cs typeface="Microsoft YaHei"/>
              </a:defRPr>
            </a:defPPr>
          </a:lstStyle>
          <a:p xmlns:a="http://schemas.openxmlformats.org/drawingml/2006/main">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B的依据主要来自局部环境与组合生成文献，其稳定组合能力需要新的直接证据。</a:t>
            </a:r>
          </a:p>
        </p:txBody>
      </p:sp>
      <p:sp>
        <p:nvSpPr>
          <p:cNvPr id="4" name="separator">
            <a:extLst xmlns:a="http://schemas.openxmlformats.org/drawingml/2006/main">
              <a:ext uri="{FF2B5EF4-FFF2-40B4-BE49-F238E27FC236}">
                <a16:creationId xmlns:a16="http://schemas.microsoft.com/office/drawing/2014/main" id="{9D84A363-F2EB-410C-BE18-D583157E4FA9}"/>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5" name="sources">
            <a:extLst xmlns:a="http://schemas.openxmlformats.org/drawingml/2006/main">
              <a:ext uri="{FF2B5EF4-FFF2-40B4-BE49-F238E27FC236}">
                <a16:creationId xmlns:a16="http://schemas.microsoft.com/office/drawing/2014/main" id="{8C410AFA-89A0-48FF-BF61-13C4AE1AF0FD}"/>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项目历史证据：crystal/evidence/historical-evidence.md。每臂能量未知状态保留。</a:t>
            </a:r>
          </a:p>
        </p:txBody>
      </p:sp>
      <p:sp>
        <p:nvSpPr>
          <p:cNvPr id="6" name="page-number">
            <a:extLst xmlns:a="http://schemas.openxmlformats.org/drawingml/2006/main">
              <a:ext uri="{FF2B5EF4-FFF2-40B4-BE49-F238E27FC236}">
                <a16:creationId xmlns:a16="http://schemas.microsoft.com/office/drawing/2014/main" id="{468C4EC4-91A6-4D52-830C-371D7F8B13B0}"/>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27</a:t>
            </a:r>
          </a:p>
        </p:txBody>
      </p:sp>
    </p:spTree>
    <p:extLst>
      <p:ext uri="{BB962C8B-B14F-4D97-AF65-F5344CB8AC3E}">
        <p14:creationId xmlns:p14="http://schemas.microsoft.com/office/powerpoint/2010/main" val="120052755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C6D81C23-A719-4FD4-A1A9-9A488400E4AE}"/>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参考文献：任务与表示</a:t>
            </a:r>
          </a:p>
        </p:txBody>
      </p:sp>
      <p:sp>
        <p:nvSpPr>
          <p:cNvPr id="2" name="bibliography-R08">
            <a:extLst xmlns:a="http://schemas.openxmlformats.org/drawingml/2006/main">
              <a:ext uri="{FF2B5EF4-FFF2-40B4-BE49-F238E27FC236}">
                <a16:creationId xmlns:a16="http://schemas.microsoft.com/office/drawing/2014/main" id="{9BFD347A-51D0-48A9-BFCC-A89D2A11A999}"/>
              </a:ext>
            </a:extLst>
          </p:cNvPr>
          <p:cNvSpPr>
            <a:spLocks xmlns:a="http://schemas.openxmlformats.org/drawingml/2006/main" noGrp="1"/>
          </p:cNvSpPr>
          <p:nvPr/>
        </p:nvSpPr>
        <p:spPr>
          <a:xfrm xmlns:a="http://schemas.openxmlformats.org/drawingml/2006/main">
            <a:off x="609600" y="139065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[R08] Tian Xie et al. Crystal Diffusion Variational Autoencoder for Periodic Material Generation. ICLR 2022.</a:t>
            </a:r>
          </a:p>
        </p:txBody>
      </p:sp>
      <p:sp>
        <p:nvSpPr>
          <p:cNvPr id="3" name="bibliography-R13">
            <a:extLst xmlns:a="http://schemas.openxmlformats.org/drawingml/2006/main">
              <a:ext uri="{FF2B5EF4-FFF2-40B4-BE49-F238E27FC236}">
                <a16:creationId xmlns:a16="http://schemas.microsoft.com/office/drawing/2014/main" id="{3A6BFA70-01BC-4B2E-90D6-40E8080CCCB4}"/>
              </a:ext>
            </a:extLst>
          </p:cNvPr>
          <p:cNvSpPr>
            <a:spLocks xmlns:a="http://schemas.openxmlformats.org/drawingml/2006/main" noGrp="1"/>
          </p:cNvSpPr>
          <p:nvPr/>
        </p:nvSpPr>
        <p:spPr>
          <a:xfrm xmlns:a="http://schemas.openxmlformats.org/drawingml/2006/main">
            <a:off x="609600" y="188806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[R13] Rui Jiao et al. Crystal Structure Prediction by Joint Equivariant Diffusion. NeurIPS 2023.</a:t>
            </a:r>
          </a:p>
        </p:txBody>
      </p:sp>
      <p:sp>
        <p:nvSpPr>
          <p:cNvPr id="4" name="bibliography-R26">
            <a:extLst xmlns:a="http://schemas.openxmlformats.org/drawingml/2006/main">
              <a:ext uri="{FF2B5EF4-FFF2-40B4-BE49-F238E27FC236}">
                <a16:creationId xmlns:a16="http://schemas.microsoft.com/office/drawing/2014/main" id="{7BA83C7A-ECD0-4E91-9583-6CAE89FAD034}"/>
              </a:ext>
            </a:extLst>
          </p:cNvPr>
          <p:cNvSpPr>
            <a:spLocks xmlns:a="http://schemas.openxmlformats.org/drawingml/2006/main" noGrp="1"/>
          </p:cNvSpPr>
          <p:nvPr/>
        </p:nvSpPr>
        <p:spPr>
          <a:xfrm xmlns:a="http://schemas.openxmlformats.org/drawingml/2006/main">
            <a:off x="609600" y="238548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[R26] Benjamin Kurt Miller et al. FlowMM: Generating Materials with Riemannian Flow Matching. ICML 2024, PMLR 235.</a:t>
            </a:r>
          </a:p>
        </p:txBody>
      </p:sp>
      <p:sp>
        <p:nvSpPr>
          <p:cNvPr id="5" name="bibliography-R21">
            <a:extLst xmlns:a="http://schemas.openxmlformats.org/drawingml/2006/main">
              <a:ext uri="{FF2B5EF4-FFF2-40B4-BE49-F238E27FC236}">
                <a16:creationId xmlns:a16="http://schemas.microsoft.com/office/drawing/2014/main" id="{E4661740-BDCD-4210-8695-63E556C8EF22}"/>
              </a:ext>
            </a:extLst>
          </p:cNvPr>
          <p:cNvSpPr>
            <a:spLocks xmlns:a="http://schemas.openxmlformats.org/drawingml/2006/main" noGrp="1"/>
          </p:cNvSpPr>
          <p:nvPr/>
        </p:nvSpPr>
        <p:spPr>
          <a:xfrm xmlns:a="http://schemas.openxmlformats.org/drawingml/2006/main">
            <a:off x="609600" y="288290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[R21] Nate Gruver et al. Fine-Tuned Language Models Generate Stable Inorganic Materials as Text. ICLR 2024.</a:t>
            </a:r>
          </a:p>
        </p:txBody>
      </p:sp>
      <p:sp>
        <p:nvSpPr>
          <p:cNvPr id="6" name="bibliography-R28">
            <a:extLst xmlns:a="http://schemas.openxmlformats.org/drawingml/2006/main">
              <a:ext uri="{FF2B5EF4-FFF2-40B4-BE49-F238E27FC236}">
                <a16:creationId xmlns:a16="http://schemas.microsoft.com/office/drawing/2014/main" id="{5B90F555-6432-4AC7-AD28-B3EB444366DD}"/>
              </a:ext>
            </a:extLst>
          </p:cNvPr>
          <p:cNvSpPr>
            <a:spLocks xmlns:a="http://schemas.openxmlformats.org/drawingml/2006/main" noGrp="1"/>
          </p:cNvSpPr>
          <p:nvPr/>
        </p:nvSpPr>
        <p:spPr>
          <a:xfrm xmlns:a="http://schemas.openxmlformats.org/drawingml/2006/main">
            <a:off x="609600" y="338031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[R28] Sherry Yang et al. Generative Hierarchical Materials Search. NeurIPS 2024.</a:t>
            </a:r>
          </a:p>
        </p:txBody>
      </p:sp>
      <p:sp>
        <p:nvSpPr>
          <p:cNvPr id="7" name="bibliography-R29">
            <a:extLst xmlns:a="http://schemas.openxmlformats.org/drawingml/2006/main">
              <a:ext uri="{FF2B5EF4-FFF2-40B4-BE49-F238E27FC236}">
                <a16:creationId xmlns:a16="http://schemas.microsoft.com/office/drawing/2014/main" id="{50B1B8CA-29CB-405C-89F0-AA997C8FB6F9}"/>
              </a:ext>
            </a:extLst>
          </p:cNvPr>
          <p:cNvSpPr>
            <a:spLocks xmlns:a="http://schemas.openxmlformats.org/drawingml/2006/main" noGrp="1"/>
          </p:cNvSpPr>
          <p:nvPr/>
        </p:nvSpPr>
        <p:spPr>
          <a:xfrm xmlns:a="http://schemas.openxmlformats.org/drawingml/2006/main">
            <a:off x="609600" y="387773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[R29] Anuroop Sriram et al. FlowLLM: Flow Matching for Material Generation with Large Language Models as Base Distributions. NeurIPS 2024.</a:t>
            </a:r>
          </a:p>
        </p:txBody>
      </p:sp>
      <p:sp>
        <p:nvSpPr>
          <p:cNvPr id="8" name="bibliography-R43">
            <a:extLst xmlns:a="http://schemas.openxmlformats.org/drawingml/2006/main">
              <a:ext uri="{FF2B5EF4-FFF2-40B4-BE49-F238E27FC236}">
                <a16:creationId xmlns:a16="http://schemas.microsoft.com/office/drawing/2014/main" id="{F8E49B6D-A21C-414D-9491-04D5962645D2}"/>
              </a:ext>
            </a:extLst>
          </p:cNvPr>
          <p:cNvSpPr>
            <a:spLocks xmlns:a="http://schemas.openxmlformats.org/drawingml/2006/main" noGrp="1"/>
          </p:cNvSpPr>
          <p:nvPr/>
        </p:nvSpPr>
        <p:spPr>
          <a:xfrm xmlns:a="http://schemas.openxmlformats.org/drawingml/2006/main">
            <a:off x="609600" y="437515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[R43] Subhojyoti Khastagir et al. LLM Meets Diffusion: A Hybrid Framework for Crystal Material Generation. NeurIPS 2025.</a:t>
            </a:r>
          </a:p>
        </p:txBody>
      </p:sp>
      <p:sp>
        <p:nvSpPr>
          <p:cNvPr id="9" name="bibliography-R34">
            <a:extLst xmlns:a="http://schemas.openxmlformats.org/drawingml/2006/main">
              <a:ext uri="{FF2B5EF4-FFF2-40B4-BE49-F238E27FC236}">
                <a16:creationId xmlns:a16="http://schemas.microsoft.com/office/drawing/2014/main" id="{26DBC63F-445D-4532-B0E2-419E9B132616}"/>
              </a:ext>
            </a:extLst>
          </p:cNvPr>
          <p:cNvSpPr>
            <a:spLocks xmlns:a="http://schemas.openxmlformats.org/drawingml/2006/main" noGrp="1"/>
          </p:cNvSpPr>
          <p:nvPr/>
        </p:nvSpPr>
        <p:spPr>
          <a:xfrm xmlns:a="http://schemas.openxmlformats.org/drawingml/2006/main">
            <a:off x="609600" y="487256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[R34] Philipp Hoellmer et al. Open Materials Generation with Stochastic Interpolants. ICML 2025, PMLR 267.</a:t>
            </a:r>
          </a:p>
        </p:txBody>
      </p:sp>
      <p:sp>
        <p:nvSpPr>
          <p:cNvPr id="10" name="bibliography-R49">
            <a:extLst xmlns:a="http://schemas.openxmlformats.org/drawingml/2006/main">
              <a:ext uri="{FF2B5EF4-FFF2-40B4-BE49-F238E27FC236}">
                <a16:creationId xmlns:a16="http://schemas.microsoft.com/office/drawing/2014/main" id="{E1F5D481-1C6F-4BBC-997E-5EA9B6375580}"/>
              </a:ext>
            </a:extLst>
          </p:cNvPr>
          <p:cNvSpPr>
            <a:spLocks xmlns:a="http://schemas.openxmlformats.org/drawingml/2006/main" noGrp="1"/>
          </p:cNvSpPr>
          <p:nvPr/>
        </p:nvSpPr>
        <p:spPr>
          <a:xfrm xmlns:a="http://schemas.openxmlformats.org/drawingml/2006/main">
            <a:off x="609600" y="536998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[R49] Kiyoung Seong et al. Multimodal Crystal Flow: Any-to-Any Modality Generation for Unified Crystal Modeling. ICML2026, PMLR306:109105–109131.</a:t>
            </a:r>
          </a:p>
        </p:txBody>
      </p:sp>
      <p:sp>
        <p:nvSpPr>
          <p:cNvPr id="11" name="separator">
            <a:extLst xmlns:a="http://schemas.openxmlformats.org/drawingml/2006/main">
              <a:ext uri="{FF2B5EF4-FFF2-40B4-BE49-F238E27FC236}">
                <a16:creationId xmlns:a16="http://schemas.microsoft.com/office/drawing/2014/main" id="{2D6DC92B-7460-41C7-A8B4-5DFC04F5ECB2}"/>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2A4B1798-09B5-4D0A-8D06-356566917B0F}"/>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正文逐页备注提供完整引文和原文位置。编号沿用综述文献索引。</a:t>
            </a:r>
          </a:p>
        </p:txBody>
      </p:sp>
      <p:sp>
        <p:nvSpPr>
          <p:cNvPr id="13" name="page-number">
            <a:extLst xmlns:a="http://schemas.openxmlformats.org/drawingml/2006/main">
              <a:ext uri="{FF2B5EF4-FFF2-40B4-BE49-F238E27FC236}">
                <a16:creationId xmlns:a16="http://schemas.microsoft.com/office/drawing/2014/main" id="{E8916077-8972-46C1-AAFD-A720DA2F968A}"/>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28</a:t>
            </a:r>
          </a:p>
        </p:txBody>
      </p:sp>
    </p:spTree>
    <p:extLst>
      <p:ext uri="{BB962C8B-B14F-4D97-AF65-F5344CB8AC3E}">
        <p14:creationId xmlns:p14="http://schemas.microsoft.com/office/powerpoint/2010/main" val="78563067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9C5E4EFA-3A0C-4807-8732-08A4C17C2ED6}"/>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参考文献：条件与组合</a:t>
            </a:r>
          </a:p>
        </p:txBody>
      </p:sp>
      <p:sp>
        <p:nvSpPr>
          <p:cNvPr id="2" name="bibliography-R19">
            <a:extLst xmlns:a="http://schemas.openxmlformats.org/drawingml/2006/main">
              <a:ext uri="{FF2B5EF4-FFF2-40B4-BE49-F238E27FC236}">
                <a16:creationId xmlns:a16="http://schemas.microsoft.com/office/drawing/2014/main" id="{0976A950-D1E6-48D5-9CF3-D286B656FAF3}"/>
              </a:ext>
            </a:extLst>
          </p:cNvPr>
          <p:cNvSpPr>
            <a:spLocks xmlns:a="http://schemas.openxmlformats.org/drawingml/2006/main" noGrp="1"/>
          </p:cNvSpPr>
          <p:nvPr/>
        </p:nvSpPr>
        <p:spPr>
          <a:xfrm xmlns:a="http://schemas.openxmlformats.org/drawingml/2006/main">
            <a:off x="609600" y="139065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[R19] Claudio Zeni et al. A generative model for inorganic materials design. Nature 2025.</a:t>
            </a:r>
          </a:p>
        </p:txBody>
      </p:sp>
      <p:sp>
        <p:nvSpPr>
          <p:cNvPr id="3" name="bibliography-R27">
            <a:extLst xmlns:a="http://schemas.openxmlformats.org/drawingml/2006/main">
              <a:ext uri="{FF2B5EF4-FFF2-40B4-BE49-F238E27FC236}">
                <a16:creationId xmlns:a16="http://schemas.microsoft.com/office/drawing/2014/main" id="{FFA6199A-8BA6-4EEB-9FA7-015FFBB75B03}"/>
              </a:ext>
            </a:extLst>
          </p:cNvPr>
          <p:cNvSpPr>
            <a:spLocks xmlns:a="http://schemas.openxmlformats.org/drawingml/2006/main" noGrp="1"/>
          </p:cNvSpPr>
          <p:nvPr/>
        </p:nvSpPr>
        <p:spPr>
          <a:xfrm xmlns:a="http://schemas.openxmlformats.org/drawingml/2006/main">
            <a:off x="609600" y="188806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[R27] Ryotaro Okabe et al. Structural constraint integration in a generative model for the discovery of quantum materials. Nature Materials 25, 223–230 2026.</a:t>
            </a:r>
          </a:p>
        </p:txBody>
      </p:sp>
      <p:sp>
        <p:nvSpPr>
          <p:cNvPr id="4" name="bibliography-R35">
            <a:extLst xmlns:a="http://schemas.openxmlformats.org/drawingml/2006/main">
              <a:ext uri="{FF2B5EF4-FFF2-40B4-BE49-F238E27FC236}">
                <a16:creationId xmlns:a16="http://schemas.microsoft.com/office/drawing/2014/main" id="{D0DE8C04-7BFE-4A58-8777-9505B2E20DBC}"/>
              </a:ext>
            </a:extLst>
          </p:cNvPr>
          <p:cNvSpPr>
            <a:spLocks xmlns:a="http://schemas.openxmlformats.org/drawingml/2006/main" noGrp="1"/>
          </p:cNvSpPr>
          <p:nvPr/>
        </p:nvSpPr>
        <p:spPr>
          <a:xfrm xmlns:a="http://schemas.openxmlformats.org/drawingml/2006/main">
            <a:off x="609600" y="238548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[R35] Daniel Levy et al. SymmCD: Symmetry-Preserving Crystal Generation with Diffusion Models. ICLR 2025.</a:t>
            </a:r>
          </a:p>
        </p:txBody>
      </p:sp>
      <p:sp>
        <p:nvSpPr>
          <p:cNvPr id="5" name="bibliography-R38">
            <a:extLst xmlns:a="http://schemas.openxmlformats.org/drawingml/2006/main">
              <a:ext uri="{FF2B5EF4-FFF2-40B4-BE49-F238E27FC236}">
                <a16:creationId xmlns:a16="http://schemas.microsoft.com/office/drawing/2014/main" id="{77A0E4EA-197A-45EC-98F3-C2AA5A1FE034}"/>
              </a:ext>
            </a:extLst>
          </p:cNvPr>
          <p:cNvSpPr>
            <a:spLocks xmlns:a="http://schemas.openxmlformats.org/drawingml/2006/main" noGrp="1"/>
          </p:cNvSpPr>
          <p:nvPr/>
        </p:nvSpPr>
        <p:spPr>
          <a:xfrm xmlns:a="http://schemas.openxmlformats.org/drawingml/2006/main">
            <a:off x="609600" y="288290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[R38] Nikita Kazeev et al. Wyckoff Transformer: Generation of Symmetric Crystals. ICML 2025, PMLR 267, 29495–29526.</a:t>
            </a:r>
          </a:p>
        </p:txBody>
      </p:sp>
      <p:sp>
        <p:nvSpPr>
          <p:cNvPr id="6" name="bibliography-R16">
            <a:extLst xmlns:a="http://schemas.openxmlformats.org/drawingml/2006/main">
              <a:ext uri="{FF2B5EF4-FFF2-40B4-BE49-F238E27FC236}">
                <a16:creationId xmlns:a16="http://schemas.microsoft.com/office/drawing/2014/main" id="{3EBA2A19-865C-4B0D-89E0-2016F4C1587B}"/>
              </a:ext>
            </a:extLst>
          </p:cNvPr>
          <p:cNvSpPr>
            <a:spLocks xmlns:a="http://schemas.openxmlformats.org/drawingml/2006/main" noGrp="1"/>
          </p:cNvSpPr>
          <p:nvPr/>
        </p:nvSpPr>
        <p:spPr>
          <a:xfrm xmlns:a="http://schemas.openxmlformats.org/drawingml/2006/main">
            <a:off x="609600" y="338031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[R16] Hang Xiao et al. An invertible, invariant crystal representation for inverse design of solid-state materials using generative deep learning. Nature Communications 14, 7027 2023.</a:t>
            </a:r>
          </a:p>
        </p:txBody>
      </p:sp>
      <p:sp>
        <p:nvSpPr>
          <p:cNvPr id="7" name="bibliography-R51">
            <a:extLst xmlns:a="http://schemas.openxmlformats.org/drawingml/2006/main">
              <a:ext uri="{FF2B5EF4-FFF2-40B4-BE49-F238E27FC236}">
                <a16:creationId xmlns:a16="http://schemas.microsoft.com/office/drawing/2014/main" id="{873CC497-AD1E-4476-B72C-C6A9F626BB78}"/>
              </a:ext>
            </a:extLst>
          </p:cNvPr>
          <p:cNvSpPr>
            <a:spLocks xmlns:a="http://schemas.openxmlformats.org/drawingml/2006/main" noGrp="1"/>
          </p:cNvSpPr>
          <p:nvPr/>
        </p:nvSpPr>
        <p:spPr>
          <a:xfrm xmlns:a="http://schemas.openxmlformats.org/drawingml/2006/main">
            <a:off x="609600" y="387773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[R51] Nian Liu et al. Composable Crystals: Controllable Materials Discovery via Concept Learning. arXiv 预印本 2026.</a:t>
            </a:r>
          </a:p>
        </p:txBody>
      </p:sp>
      <p:sp>
        <p:nvSpPr>
          <p:cNvPr id="8" name="bibliography-R55">
            <a:extLst xmlns:a="http://schemas.openxmlformats.org/drawingml/2006/main">
              <a:ext uri="{FF2B5EF4-FFF2-40B4-BE49-F238E27FC236}">
                <a16:creationId xmlns:a16="http://schemas.microsoft.com/office/drawing/2014/main" id="{1A5B9998-DF6A-4537-8B35-30F4D48B2411}"/>
              </a:ext>
            </a:extLst>
          </p:cNvPr>
          <p:cNvSpPr>
            <a:spLocks xmlns:a="http://schemas.openxmlformats.org/drawingml/2006/main" noGrp="1"/>
          </p:cNvSpPr>
          <p:nvPr/>
        </p:nvSpPr>
        <p:spPr>
          <a:xfrm xmlns:a="http://schemas.openxmlformats.org/drawingml/2006/main">
            <a:off x="609600" y="437515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[R55] Jingyi Zhou et al. Topology-Stratified Materials Discovery with A Flow-Based Generative Model. arXiv 预印本 2026.</a:t>
            </a:r>
          </a:p>
        </p:txBody>
      </p:sp>
      <p:sp>
        <p:nvSpPr>
          <p:cNvPr id="9" name="bibliography-T01">
            <a:extLst xmlns:a="http://schemas.openxmlformats.org/drawingml/2006/main">
              <a:ext uri="{FF2B5EF4-FFF2-40B4-BE49-F238E27FC236}">
                <a16:creationId xmlns:a16="http://schemas.microsoft.com/office/drawing/2014/main" id="{4BBDD855-67DD-4517-AB53-FAA067FD7E8A}"/>
              </a:ext>
            </a:extLst>
          </p:cNvPr>
          <p:cNvSpPr>
            <a:spLocks xmlns:a="http://schemas.openxmlformats.org/drawingml/2006/main" noGrp="1"/>
          </p:cNvSpPr>
          <p:nvPr/>
        </p:nvSpPr>
        <p:spPr>
          <a:xfrm xmlns:a="http://schemas.openxmlformats.org/drawingml/2006/main">
            <a:off x="609600" y="487256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[T01] Yueming Pan et al. Semantics Lead the Way: Harmonizing Semantic and Texture Modeling with Asynchronous Latent Diffusion. CVPR 2026.</a:t>
            </a:r>
          </a:p>
        </p:txBody>
      </p:sp>
      <p:sp>
        <p:nvSpPr>
          <p:cNvPr id="10" name="bibliography-T03">
            <a:extLst xmlns:a="http://schemas.openxmlformats.org/drawingml/2006/main">
              <a:ext uri="{FF2B5EF4-FFF2-40B4-BE49-F238E27FC236}">
                <a16:creationId xmlns:a16="http://schemas.microsoft.com/office/drawing/2014/main" id="{0838C115-5EE3-405C-B5E0-0BAD4AD88EAE}"/>
              </a:ext>
            </a:extLst>
          </p:cNvPr>
          <p:cNvSpPr>
            <a:spLocks xmlns:a="http://schemas.openxmlformats.org/drawingml/2006/main" noGrp="1"/>
          </p:cNvSpPr>
          <p:nvPr/>
        </p:nvSpPr>
        <p:spPr>
          <a:xfrm xmlns:a="http://schemas.openxmlformats.org/drawingml/2006/main">
            <a:off x="609600" y="536998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[T03] Arwen Bradley. Local Mechanisms of Compositional Generalization in Conditional Diffusion. ICML 2026, PMLR 306:9531–9565.</a:t>
            </a:r>
          </a:p>
        </p:txBody>
      </p:sp>
      <p:sp>
        <p:nvSpPr>
          <p:cNvPr id="11" name="separator">
            <a:extLst xmlns:a="http://schemas.openxmlformats.org/drawingml/2006/main">
              <a:ext uri="{FF2B5EF4-FFF2-40B4-BE49-F238E27FC236}">
                <a16:creationId xmlns:a16="http://schemas.microsoft.com/office/drawing/2014/main" id="{936569FB-920F-4F56-9E58-E04271D496A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DAFF93A9-B5B6-472C-B7FF-A13B733FA981}"/>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正式发表与预印本分别标明。T编号为从既有跨领域调研补入的方法依据。</a:t>
            </a:r>
          </a:p>
        </p:txBody>
      </p:sp>
      <p:sp>
        <p:nvSpPr>
          <p:cNvPr id="13" name="page-number">
            <a:extLst xmlns:a="http://schemas.openxmlformats.org/drawingml/2006/main">
              <a:ext uri="{FF2B5EF4-FFF2-40B4-BE49-F238E27FC236}">
                <a16:creationId xmlns:a16="http://schemas.microsoft.com/office/drawing/2014/main" id="{CD5E9190-3A2F-46E7-8307-B9CEE64D17B3}"/>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29</a:t>
            </a:r>
          </a:p>
        </p:txBody>
      </p:sp>
    </p:spTree>
    <p:extLst>
      <p:ext uri="{BB962C8B-B14F-4D97-AF65-F5344CB8AC3E}">
        <p14:creationId xmlns:p14="http://schemas.microsoft.com/office/powerpoint/2010/main" val="82885956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5EF22C3D-B8A8-422E-8629-2B59AE2DB446}"/>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E67"/>
                </a:solidFill>
                <a:latin typeface="Microsoft YaHei"/>
                <a:ea typeface="Microsoft YaHei"/>
                <a:cs typeface="Microsoft YaHei"/>
              </a:defRPr>
            </a:defPPr>
          </a:lstStyle>
          <a:p xmlns:a="http://schemas.openxmlformats.org/drawingml/2006/main">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参考文献：反馈与持续发现</a:t>
            </a:r>
          </a:p>
        </p:txBody>
      </p:sp>
      <p:sp>
        <p:nvSpPr>
          <p:cNvPr id="2" name="bibliography-R40">
            <a:extLst xmlns:a="http://schemas.openxmlformats.org/drawingml/2006/main">
              <a:ext uri="{FF2B5EF4-FFF2-40B4-BE49-F238E27FC236}">
                <a16:creationId xmlns:a16="http://schemas.microsoft.com/office/drawing/2014/main" id="{7BF685A4-6A3C-4511-AD7A-C45E1AD93F2D}"/>
              </a:ext>
            </a:extLst>
          </p:cNvPr>
          <p:cNvSpPr>
            <a:spLocks xmlns:a="http://schemas.openxmlformats.org/drawingml/2006/main" noGrp="1"/>
          </p:cNvSpPr>
          <p:nvPr/>
        </p:nvSpPr>
        <p:spPr>
          <a:xfrm xmlns:a="http://schemas.openxmlformats.org/drawingml/2006/main">
            <a:off x="609600" y="139065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[R40] Andy Xu et al. PLaID++: A Preference Aligned Language Model for Targeted Inorganic Materials Design. ICML 2026.</a:t>
            </a:r>
          </a:p>
        </p:txBody>
      </p:sp>
      <p:sp>
        <p:nvSpPr>
          <p:cNvPr id="3" name="bibliography-R45">
            <a:extLst xmlns:a="http://schemas.openxmlformats.org/drawingml/2006/main">
              <a:ext uri="{FF2B5EF4-FFF2-40B4-BE49-F238E27FC236}">
                <a16:creationId xmlns:a16="http://schemas.microsoft.com/office/drawing/2014/main" id="{2004369C-FAE4-42CC-9295-9FF0879F1985}"/>
              </a:ext>
            </a:extLst>
          </p:cNvPr>
          <p:cNvSpPr>
            <a:spLocks xmlns:a="http://schemas.openxmlformats.org/drawingml/2006/main" noGrp="1"/>
          </p:cNvSpPr>
          <p:nvPr/>
        </p:nvSpPr>
        <p:spPr>
          <a:xfrm xmlns:a="http://schemas.openxmlformats.org/drawingml/2006/main">
            <a:off x="609600" y="188806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[R45] Hyunsoo Park et al. Guiding Generative Models to Uncover Diverse and Novel Crystals via Reinforcement Learning. Nature Machine Intelligence 2026.</a:t>
            </a:r>
          </a:p>
        </p:txBody>
      </p:sp>
      <p:sp>
        <p:nvSpPr>
          <p:cNvPr id="4" name="bibliography-R48">
            <a:extLst xmlns:a="http://schemas.openxmlformats.org/drawingml/2006/main">
              <a:ext uri="{FF2B5EF4-FFF2-40B4-BE49-F238E27FC236}">
                <a16:creationId xmlns:a16="http://schemas.microsoft.com/office/drawing/2014/main" id="{D78A3B5C-0EC8-4E2C-99AF-19E41293F3E7}"/>
              </a:ext>
            </a:extLst>
          </p:cNvPr>
          <p:cNvSpPr>
            <a:spLocks xmlns:a="http://schemas.openxmlformats.org/drawingml/2006/main" noGrp="1"/>
          </p:cNvSpPr>
          <p:nvPr/>
        </p:nvSpPr>
        <p:spPr>
          <a:xfrm xmlns:a="http://schemas.openxmlformats.org/drawingml/2006/main">
            <a:off x="609600" y="238548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[R48] Philipp Hoellmer et al. Open Materials Generation with Inference-Time Reinforcement Learning. ICML 2026.</a:t>
            </a:r>
          </a:p>
        </p:txBody>
      </p:sp>
      <p:sp>
        <p:nvSpPr>
          <p:cNvPr id="5" name="bibliography-R54">
            <a:extLst xmlns:a="http://schemas.openxmlformats.org/drawingml/2006/main">
              <a:ext uri="{FF2B5EF4-FFF2-40B4-BE49-F238E27FC236}">
                <a16:creationId xmlns:a16="http://schemas.microsoft.com/office/drawing/2014/main" id="{F5E3038E-271E-407A-8478-42B5645284D0}"/>
              </a:ext>
            </a:extLst>
          </p:cNvPr>
          <p:cNvSpPr>
            <a:spLocks xmlns:a="http://schemas.openxmlformats.org/drawingml/2006/main" noGrp="1"/>
          </p:cNvSpPr>
          <p:nvPr/>
        </p:nvSpPr>
        <p:spPr>
          <a:xfrm xmlns:a="http://schemas.openxmlformats.org/drawingml/2006/main">
            <a:off x="609600" y="288290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[R54] Thomas Egg et al. OMatG-flash: An All-Atom Flow Map with Reinforce Adjoint Matching for Scalable Materials Discovery. arXiv 预印本 2026.</a:t>
            </a:r>
          </a:p>
        </p:txBody>
      </p:sp>
      <p:sp>
        <p:nvSpPr>
          <p:cNvPr id="6" name="bibliography-R56">
            <a:extLst xmlns:a="http://schemas.openxmlformats.org/drawingml/2006/main">
              <a:ext uri="{FF2B5EF4-FFF2-40B4-BE49-F238E27FC236}">
                <a16:creationId xmlns:a16="http://schemas.microsoft.com/office/drawing/2014/main" id="{2CDDCF7D-C0D1-4235-9D20-5AB1C0A21361}"/>
              </a:ext>
            </a:extLst>
          </p:cNvPr>
          <p:cNvSpPr>
            <a:spLocks xmlns:a="http://schemas.openxmlformats.org/drawingml/2006/main" noGrp="1"/>
          </p:cNvSpPr>
          <p:nvPr/>
        </p:nvSpPr>
        <p:spPr>
          <a:xfrm xmlns:a="http://schemas.openxmlformats.org/drawingml/2006/main">
            <a:off x="609600" y="338031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[R56] Emma Lei Hovmand et al. Let CSP Be Your ANCHOR: Adaptive Crystal Search over Frozen Structure Priors. arXiv 预印本 2026.</a:t>
            </a:r>
          </a:p>
        </p:txBody>
      </p:sp>
      <p:sp>
        <p:nvSpPr>
          <p:cNvPr id="7" name="bibliography-R23">
            <a:extLst xmlns:a="http://schemas.openxmlformats.org/drawingml/2006/main">
              <a:ext uri="{FF2B5EF4-FFF2-40B4-BE49-F238E27FC236}">
                <a16:creationId xmlns:a16="http://schemas.microsoft.com/office/drawing/2014/main" id="{93B9548E-D936-4505-94E2-8C546B2BE9A4}"/>
              </a:ext>
            </a:extLst>
          </p:cNvPr>
          <p:cNvSpPr>
            <a:spLocks xmlns:a="http://schemas.openxmlformats.org/drawingml/2006/main" noGrp="1"/>
          </p:cNvSpPr>
          <p:nvPr/>
        </p:nvSpPr>
        <p:spPr>
          <a:xfrm xmlns:a="http://schemas.openxmlformats.org/drawingml/2006/main">
            <a:off x="609600" y="387773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[R23] Marta Wolinska et al. Illuminating the property space in crystal structure prediction using Quality-Diversity algorithms. Digital Discovery 2024.</a:t>
            </a:r>
          </a:p>
        </p:txBody>
      </p:sp>
      <p:sp>
        <p:nvSpPr>
          <p:cNvPr id="8" name="bibliography-T04">
            <a:extLst xmlns:a="http://schemas.openxmlformats.org/drawingml/2006/main">
              <a:ext uri="{FF2B5EF4-FFF2-40B4-BE49-F238E27FC236}">
                <a16:creationId xmlns:a16="http://schemas.microsoft.com/office/drawing/2014/main" id="{9289EA2E-9374-48C5-8DCD-6FFD93BCB682}"/>
              </a:ext>
            </a:extLst>
          </p:cNvPr>
          <p:cNvSpPr>
            <a:spLocks xmlns:a="http://schemas.openxmlformats.org/drawingml/2006/main" noGrp="1"/>
          </p:cNvSpPr>
          <p:nvPr/>
        </p:nvSpPr>
        <p:spPr>
          <a:xfrm xmlns:a="http://schemas.openxmlformats.org/drawingml/2006/main">
            <a:off x="609600" y="4375150"/>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[T04] Jie Liu et al. Flow-GRPO: Training Flow Matching Models via Online RL. NeurIPS 2025.</a:t>
            </a:r>
          </a:p>
        </p:txBody>
      </p:sp>
      <p:sp>
        <p:nvSpPr>
          <p:cNvPr id="9" name="bibliography-T05">
            <a:extLst xmlns:a="http://schemas.openxmlformats.org/drawingml/2006/main">
              <a:ext uri="{FF2B5EF4-FFF2-40B4-BE49-F238E27FC236}">
                <a16:creationId xmlns:a16="http://schemas.microsoft.com/office/drawing/2014/main" id="{6174C68A-FE48-43AD-A0C5-3A67704C6454}"/>
              </a:ext>
            </a:extLst>
          </p:cNvPr>
          <p:cNvSpPr>
            <a:spLocks xmlns:a="http://schemas.openxmlformats.org/drawingml/2006/main" noGrp="1"/>
          </p:cNvSpPr>
          <p:nvPr/>
        </p:nvSpPr>
        <p:spPr>
          <a:xfrm xmlns:a="http://schemas.openxmlformats.org/drawingml/2006/main">
            <a:off x="609600" y="4872567"/>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[T05] Andreas Bergmeister et al. Reinforce Adjoint Matching: Scaling RL Post-Training of Diffusion and Flow-Matching Models. arXiv 2605.10759v2 (2026).</a:t>
            </a:r>
          </a:p>
        </p:txBody>
      </p:sp>
      <p:sp>
        <p:nvSpPr>
          <p:cNvPr id="10" name="bibliography-T06">
            <a:extLst xmlns:a="http://schemas.openxmlformats.org/drawingml/2006/main">
              <a:ext uri="{FF2B5EF4-FFF2-40B4-BE49-F238E27FC236}">
                <a16:creationId xmlns:a16="http://schemas.microsoft.com/office/drawing/2014/main" id="{168992D3-7F51-4507-98B8-573A7751B645}"/>
              </a:ext>
            </a:extLst>
          </p:cNvPr>
          <p:cNvSpPr>
            <a:spLocks xmlns:a="http://schemas.openxmlformats.org/drawingml/2006/main" noGrp="1"/>
          </p:cNvSpPr>
          <p:nvPr/>
        </p:nvSpPr>
        <p:spPr>
          <a:xfrm xmlns:a="http://schemas.openxmlformats.org/drawingml/2006/main">
            <a:off x="609600" y="5369983"/>
            <a:ext cx="10972800" cy="4783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1B2533"/>
                </a:solidFill>
                <a:latin typeface="Microsoft YaHei"/>
                <a:ea typeface="Microsoft YaHei"/>
                <a:cs typeface="Microsoft YaHei"/>
              </a:defRPr>
            </a:defPPr>
          </a:lstStyle>
          <a:p xmlns:a="http://schemas.openxmlformats.org/drawingml/2006/main">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[T06] Ku Onoda et al. Multi-Axis Max@K Reinforcement Learning for Representative Diversity in Text-to-Image Generation. arXiv 2607.14962v2 (2026)，原文注记WACV 2027接收.</a:t>
            </a:r>
          </a:p>
        </p:txBody>
      </p:sp>
      <p:sp>
        <p:nvSpPr>
          <p:cNvPr id="11" name="separator">
            <a:extLst xmlns:a="http://schemas.openxmlformats.org/drawingml/2006/main">
              <a:ext uri="{FF2B5EF4-FFF2-40B4-BE49-F238E27FC236}">
                <a16:creationId xmlns:a16="http://schemas.microsoft.com/office/drawing/2014/main" id="{921DDA9F-033A-492D-868F-F0AE16C3B1A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ln xmlns:a="http://schemas.openxmlformats.org/drawingml/2006/main" w="9525">
            <a:solidFill>
              <a:srgbClr val="D5DCE3"/>
            </a:solidFill>
          </a:ln>
        </p:spPr>
      </p:sp>
      <p:sp>
        <p:nvSpPr>
          <p:cNvPr id="12" name="sources">
            <a:extLst xmlns:a="http://schemas.openxmlformats.org/drawingml/2006/main">
              <a:ext uri="{FF2B5EF4-FFF2-40B4-BE49-F238E27FC236}">
                <a16:creationId xmlns:a16="http://schemas.microsoft.com/office/drawing/2014/main" id="{06CA0E62-E138-471F-9E07-F658F237FA8E}"/>
              </a:ext>
            </a:extLst>
          </p:cNvPr>
          <p:cNvSpPr>
            <a:spLocks xmlns:a="http://schemas.openxmlformats.org/drawingml/2006/main" noGrp="1"/>
          </p:cNvSpPr>
          <p:nvPr/>
        </p:nvSpPr>
        <p:spPr>
          <a:xfrm xmlns:a="http://schemas.openxmlformats.org/drawingml/2006/main">
            <a:off x="609600" y="635317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26170"/>
                </a:solidFill>
                <a:latin typeface="Microsoft YaHei"/>
                <a:ea typeface="Microsoft YaHei"/>
                <a:cs typeface="Microsoft YaHei"/>
              </a:defRPr>
            </a:defPPr>
          </a:lstStyle>
          <a:p xmlns:a="http://schemas.openxmlformats.org/drawingml/2006/main">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完整来源、任务和文献角色见配套“任务与文献演化”材料，以及本页备注。</a:t>
            </a:r>
          </a:p>
        </p:txBody>
      </p:sp>
      <p:sp>
        <p:nvSpPr>
          <p:cNvPr id="13" name="page-number">
            <a:extLst xmlns:a="http://schemas.openxmlformats.org/drawingml/2006/main">
              <a:ext uri="{FF2B5EF4-FFF2-40B4-BE49-F238E27FC236}">
                <a16:creationId xmlns:a16="http://schemas.microsoft.com/office/drawing/2014/main" id="{FC36235A-CA25-4591-8594-6CF434571A4B}"/>
              </a:ext>
            </a:extLst>
          </p:cNvPr>
          <p:cNvSpPr>
            <a:spLocks xmlns:a="http://schemas.openxmlformats.org/drawingml/2006/main" noGrp="1"/>
          </p:cNvSpPr>
          <p:nvPr/>
        </p:nvSpPr>
        <p:spPr>
          <a:xfrm xmlns:a="http://schemas.openxmlformats.org/drawingml/2006/main">
            <a:off x="11334750" y="63341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70"/>
                </a:solidFill>
                <a:latin typeface="Microsoft YaHei"/>
                <a:ea typeface="Microsoft YaHei"/>
                <a:cs typeface="Microsoft YaHei"/>
              </a:defRPr>
            </a:defPPr>
          </a:lstStyle>
          <a:p xmlns:a="http://schemas.openxmlformats.org/drawingml/2006/main">
            <a:pPr algn="r">
              <a:lnSpc>
                <a:spcPct val="118000"/>
              </a:lnSpc>
              <a:buNone/>
              <a:defRPr sz="1275" b="0">
                <a:solidFill>
                  <a:srgbClr val="526170"/>
                </a:solidFill>
                <a:latin typeface="Microsoft YaHei"/>
                <a:ea typeface="Microsoft YaHei"/>
                <a:cs typeface="Microsoft YaHei"/>
              </a:defRPr>
            </a:pPr>
            <a:r>
              <a:rPr sz="1275" b="0">
                <a:solidFill>
                  <a:srgbClr val="526170"/>
                </a:solidFill>
                <a:latin typeface="Microsoft YaHei"/>
                <a:ea typeface="Microsoft YaHei"/>
                <a:cs typeface="Microsoft YaHei"/>
              </a:rPr>
              <a:t>30</a:t>
            </a:r>
          </a:p>
        </p:txBody>
      </p:sp>
    </p:spTree>
    <p:extLst>
      <p:ext uri="{BB962C8B-B14F-4D97-AF65-F5344CB8AC3E}">
        <p14:creationId xmlns:p14="http://schemas.microsoft.com/office/powerpoint/2010/main" val="2102578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2026-10-12T01:13:52.7150000Z</dcterms:created>
  <dcterms:modified xsi:type="dcterms:W3CDTF">2026-10-12T01:13:52.7150000Z</dcterms:modified>
</coreProperties>
</file>